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4" r:id="rId3"/>
    <p:sldId id="265" r:id="rId4"/>
    <p:sldId id="267" r:id="rId5"/>
    <p:sldId id="266" r:id="rId6"/>
    <p:sldId id="268" r:id="rId7"/>
    <p:sldId id="269" r:id="rId8"/>
    <p:sldId id="270" r:id="rId9"/>
    <p:sldId id="271" r:id="rId10"/>
    <p:sldId id="272" r:id="rId11"/>
    <p:sldId id="262" r:id="rId12"/>
    <p:sldId id="257" r:id="rId13"/>
    <p:sldId id="258" r:id="rId14"/>
    <p:sldId id="259" r:id="rId15"/>
    <p:sldId id="260" r:id="rId16"/>
    <p:sldId id="261" r:id="rId17"/>
    <p:sldId id="263"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32"/>
  </p:normalViewPr>
  <p:slideViewPr>
    <p:cSldViewPr snapToGrid="0" snapToObjects="1">
      <p:cViewPr varScale="1">
        <p:scale>
          <a:sx n="106" d="100"/>
          <a:sy n="106" d="100"/>
        </p:scale>
        <p:origin x="79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A1B5E-50E9-1249-A9C5-4179F72F695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014A4908-707D-904A-BF94-BFF166CADF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80EDB052-6448-3649-BAE5-51632AFBFA4E}"/>
              </a:ext>
            </a:extLst>
          </p:cNvPr>
          <p:cNvSpPr>
            <a:spLocks noGrp="1"/>
          </p:cNvSpPr>
          <p:nvPr>
            <p:ph type="dt" sz="half" idx="10"/>
          </p:nvPr>
        </p:nvSpPr>
        <p:spPr/>
        <p:txBody>
          <a:bodyPr/>
          <a:lstStyle/>
          <a:p>
            <a:fld id="{A796E0F1-E7C5-D348-9537-39F0C444037C}" type="datetimeFigureOut">
              <a:rPr lang="en-US" smtClean="0"/>
              <a:t>8/4/22</a:t>
            </a:fld>
            <a:endParaRPr lang="en-US"/>
          </a:p>
        </p:txBody>
      </p:sp>
      <p:sp>
        <p:nvSpPr>
          <p:cNvPr id="5" name="Footer Placeholder 4">
            <a:extLst>
              <a:ext uri="{FF2B5EF4-FFF2-40B4-BE49-F238E27FC236}">
                <a16:creationId xmlns:a16="http://schemas.microsoft.com/office/drawing/2014/main" id="{47D3C8B2-33A5-6247-8614-5BA48A62DE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FC79B8-A2CE-ED4C-8723-6EC9DC995C28}"/>
              </a:ext>
            </a:extLst>
          </p:cNvPr>
          <p:cNvSpPr>
            <a:spLocks noGrp="1"/>
          </p:cNvSpPr>
          <p:nvPr>
            <p:ph type="sldNum" sz="quarter" idx="12"/>
          </p:nvPr>
        </p:nvSpPr>
        <p:spPr/>
        <p:txBody>
          <a:bodyPr/>
          <a:lstStyle/>
          <a:p>
            <a:fld id="{8D5FF0A1-DCB3-0A48-94F7-BE5C48C2CA0A}" type="slidenum">
              <a:rPr lang="en-US" smtClean="0"/>
              <a:t>‹#›</a:t>
            </a:fld>
            <a:endParaRPr lang="en-US"/>
          </a:p>
        </p:txBody>
      </p:sp>
    </p:spTree>
    <p:extLst>
      <p:ext uri="{BB962C8B-B14F-4D97-AF65-F5344CB8AC3E}">
        <p14:creationId xmlns:p14="http://schemas.microsoft.com/office/powerpoint/2010/main" val="1175391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90E9F-702F-954B-A971-A866DE51736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B9AD38E-69DB-EF43-A694-F0057F2A836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7DB273A-9F8C-8048-A265-5D67C0DF4263}"/>
              </a:ext>
            </a:extLst>
          </p:cNvPr>
          <p:cNvSpPr>
            <a:spLocks noGrp="1"/>
          </p:cNvSpPr>
          <p:nvPr>
            <p:ph type="dt" sz="half" idx="10"/>
          </p:nvPr>
        </p:nvSpPr>
        <p:spPr/>
        <p:txBody>
          <a:bodyPr/>
          <a:lstStyle/>
          <a:p>
            <a:fld id="{A796E0F1-E7C5-D348-9537-39F0C444037C}" type="datetimeFigureOut">
              <a:rPr lang="en-US" smtClean="0"/>
              <a:t>8/4/22</a:t>
            </a:fld>
            <a:endParaRPr lang="en-US"/>
          </a:p>
        </p:txBody>
      </p:sp>
      <p:sp>
        <p:nvSpPr>
          <p:cNvPr id="5" name="Footer Placeholder 4">
            <a:extLst>
              <a:ext uri="{FF2B5EF4-FFF2-40B4-BE49-F238E27FC236}">
                <a16:creationId xmlns:a16="http://schemas.microsoft.com/office/drawing/2014/main" id="{0C6EDD11-4B7F-E24D-A544-80AF7E1A87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3AC9CC-D989-DC49-B241-DFC7166BC6D9}"/>
              </a:ext>
            </a:extLst>
          </p:cNvPr>
          <p:cNvSpPr>
            <a:spLocks noGrp="1"/>
          </p:cNvSpPr>
          <p:nvPr>
            <p:ph type="sldNum" sz="quarter" idx="12"/>
          </p:nvPr>
        </p:nvSpPr>
        <p:spPr/>
        <p:txBody>
          <a:bodyPr/>
          <a:lstStyle/>
          <a:p>
            <a:fld id="{8D5FF0A1-DCB3-0A48-94F7-BE5C48C2CA0A}" type="slidenum">
              <a:rPr lang="en-US" smtClean="0"/>
              <a:t>‹#›</a:t>
            </a:fld>
            <a:endParaRPr lang="en-US"/>
          </a:p>
        </p:txBody>
      </p:sp>
    </p:spTree>
    <p:extLst>
      <p:ext uri="{BB962C8B-B14F-4D97-AF65-F5344CB8AC3E}">
        <p14:creationId xmlns:p14="http://schemas.microsoft.com/office/powerpoint/2010/main" val="1501060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46097-B58E-9344-B8F3-8B3D327E7AA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FD76D2BF-8F78-4F47-9FBE-BB339436AF7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3175CFD-E837-B442-8DFB-6A2F750157AD}"/>
              </a:ext>
            </a:extLst>
          </p:cNvPr>
          <p:cNvSpPr>
            <a:spLocks noGrp="1"/>
          </p:cNvSpPr>
          <p:nvPr>
            <p:ph type="dt" sz="half" idx="10"/>
          </p:nvPr>
        </p:nvSpPr>
        <p:spPr/>
        <p:txBody>
          <a:bodyPr/>
          <a:lstStyle/>
          <a:p>
            <a:fld id="{A796E0F1-E7C5-D348-9537-39F0C444037C}" type="datetimeFigureOut">
              <a:rPr lang="en-US" smtClean="0"/>
              <a:t>8/4/22</a:t>
            </a:fld>
            <a:endParaRPr lang="en-US"/>
          </a:p>
        </p:txBody>
      </p:sp>
      <p:sp>
        <p:nvSpPr>
          <p:cNvPr id="5" name="Footer Placeholder 4">
            <a:extLst>
              <a:ext uri="{FF2B5EF4-FFF2-40B4-BE49-F238E27FC236}">
                <a16:creationId xmlns:a16="http://schemas.microsoft.com/office/drawing/2014/main" id="{71D346AB-4338-974A-A824-037A731506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F185DD-85D4-2644-9B36-72757F8DFC93}"/>
              </a:ext>
            </a:extLst>
          </p:cNvPr>
          <p:cNvSpPr>
            <a:spLocks noGrp="1"/>
          </p:cNvSpPr>
          <p:nvPr>
            <p:ph type="sldNum" sz="quarter" idx="12"/>
          </p:nvPr>
        </p:nvSpPr>
        <p:spPr/>
        <p:txBody>
          <a:bodyPr/>
          <a:lstStyle/>
          <a:p>
            <a:fld id="{8D5FF0A1-DCB3-0A48-94F7-BE5C48C2CA0A}" type="slidenum">
              <a:rPr lang="en-US" smtClean="0"/>
              <a:t>‹#›</a:t>
            </a:fld>
            <a:endParaRPr lang="en-US"/>
          </a:p>
        </p:txBody>
      </p:sp>
    </p:spTree>
    <p:extLst>
      <p:ext uri="{BB962C8B-B14F-4D97-AF65-F5344CB8AC3E}">
        <p14:creationId xmlns:p14="http://schemas.microsoft.com/office/powerpoint/2010/main" val="14735605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B3121-D119-2440-8599-6453716B7AA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34E31FB-9860-A640-8A74-22EC8CBD52E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AEA1C296-E8AA-7B49-917E-E7D9088ED90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5CBC41C0-4873-7248-BBD7-B88FE558423D}"/>
              </a:ext>
            </a:extLst>
          </p:cNvPr>
          <p:cNvSpPr>
            <a:spLocks noGrp="1"/>
          </p:cNvSpPr>
          <p:nvPr>
            <p:ph type="dt" sz="half" idx="10"/>
          </p:nvPr>
        </p:nvSpPr>
        <p:spPr/>
        <p:txBody>
          <a:bodyPr/>
          <a:lstStyle/>
          <a:p>
            <a:fld id="{A796E0F1-E7C5-D348-9537-39F0C444037C}" type="datetimeFigureOut">
              <a:rPr lang="en-US" smtClean="0"/>
              <a:t>8/4/22</a:t>
            </a:fld>
            <a:endParaRPr lang="en-US"/>
          </a:p>
        </p:txBody>
      </p:sp>
      <p:sp>
        <p:nvSpPr>
          <p:cNvPr id="6" name="Footer Placeholder 5">
            <a:extLst>
              <a:ext uri="{FF2B5EF4-FFF2-40B4-BE49-F238E27FC236}">
                <a16:creationId xmlns:a16="http://schemas.microsoft.com/office/drawing/2014/main" id="{C3194A6D-4CC2-F840-BA41-570163208E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C8FB81-99EA-F141-92DC-DA365A974960}"/>
              </a:ext>
            </a:extLst>
          </p:cNvPr>
          <p:cNvSpPr>
            <a:spLocks noGrp="1"/>
          </p:cNvSpPr>
          <p:nvPr>
            <p:ph type="sldNum" sz="quarter" idx="12"/>
          </p:nvPr>
        </p:nvSpPr>
        <p:spPr/>
        <p:txBody>
          <a:bodyPr/>
          <a:lstStyle/>
          <a:p>
            <a:fld id="{8D5FF0A1-DCB3-0A48-94F7-BE5C48C2CA0A}" type="slidenum">
              <a:rPr lang="en-US" smtClean="0"/>
              <a:t>‹#›</a:t>
            </a:fld>
            <a:endParaRPr lang="en-US"/>
          </a:p>
        </p:txBody>
      </p:sp>
    </p:spTree>
    <p:extLst>
      <p:ext uri="{BB962C8B-B14F-4D97-AF65-F5344CB8AC3E}">
        <p14:creationId xmlns:p14="http://schemas.microsoft.com/office/powerpoint/2010/main" val="3623404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1FDA3-61A8-4749-B788-48B34AD0D8DB}"/>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A339DC6-B18D-BC4F-891D-52A5AC04B1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E293749-DA2D-EC4E-BA29-0356D54E2E18}"/>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A845C22B-0051-484B-A171-CA079A2D3D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392A7A0-85E8-F947-81C9-DE81D4151A0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881ADA3-C427-D047-9934-38C83E2DA7F3}"/>
              </a:ext>
            </a:extLst>
          </p:cNvPr>
          <p:cNvSpPr>
            <a:spLocks noGrp="1"/>
          </p:cNvSpPr>
          <p:nvPr>
            <p:ph type="dt" sz="half" idx="10"/>
          </p:nvPr>
        </p:nvSpPr>
        <p:spPr/>
        <p:txBody>
          <a:bodyPr/>
          <a:lstStyle/>
          <a:p>
            <a:fld id="{A796E0F1-E7C5-D348-9537-39F0C444037C}" type="datetimeFigureOut">
              <a:rPr lang="en-US" smtClean="0"/>
              <a:t>8/4/22</a:t>
            </a:fld>
            <a:endParaRPr lang="en-US"/>
          </a:p>
        </p:txBody>
      </p:sp>
      <p:sp>
        <p:nvSpPr>
          <p:cNvPr id="8" name="Footer Placeholder 7">
            <a:extLst>
              <a:ext uri="{FF2B5EF4-FFF2-40B4-BE49-F238E27FC236}">
                <a16:creationId xmlns:a16="http://schemas.microsoft.com/office/drawing/2014/main" id="{69916AF6-FDC2-9B4E-B597-96227DC15A0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7DDB19-BC82-D04D-85CA-DAB3A071D29D}"/>
              </a:ext>
            </a:extLst>
          </p:cNvPr>
          <p:cNvSpPr>
            <a:spLocks noGrp="1"/>
          </p:cNvSpPr>
          <p:nvPr>
            <p:ph type="sldNum" sz="quarter" idx="12"/>
          </p:nvPr>
        </p:nvSpPr>
        <p:spPr/>
        <p:txBody>
          <a:bodyPr/>
          <a:lstStyle/>
          <a:p>
            <a:fld id="{8D5FF0A1-DCB3-0A48-94F7-BE5C48C2CA0A}" type="slidenum">
              <a:rPr lang="en-US" smtClean="0"/>
              <a:t>‹#›</a:t>
            </a:fld>
            <a:endParaRPr lang="en-US"/>
          </a:p>
        </p:txBody>
      </p:sp>
    </p:spTree>
    <p:extLst>
      <p:ext uri="{BB962C8B-B14F-4D97-AF65-F5344CB8AC3E}">
        <p14:creationId xmlns:p14="http://schemas.microsoft.com/office/powerpoint/2010/main" val="15716071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D517E-F1EF-F140-A5EB-9A56A308A13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AA9D7BD1-7AF9-3147-B338-E27874244E51}"/>
              </a:ext>
            </a:extLst>
          </p:cNvPr>
          <p:cNvSpPr>
            <a:spLocks noGrp="1"/>
          </p:cNvSpPr>
          <p:nvPr>
            <p:ph type="dt" sz="half" idx="10"/>
          </p:nvPr>
        </p:nvSpPr>
        <p:spPr/>
        <p:txBody>
          <a:bodyPr/>
          <a:lstStyle/>
          <a:p>
            <a:fld id="{A796E0F1-E7C5-D348-9537-39F0C444037C}" type="datetimeFigureOut">
              <a:rPr lang="en-US" smtClean="0"/>
              <a:t>8/4/22</a:t>
            </a:fld>
            <a:endParaRPr lang="en-US"/>
          </a:p>
        </p:txBody>
      </p:sp>
      <p:sp>
        <p:nvSpPr>
          <p:cNvPr id="4" name="Footer Placeholder 3">
            <a:extLst>
              <a:ext uri="{FF2B5EF4-FFF2-40B4-BE49-F238E27FC236}">
                <a16:creationId xmlns:a16="http://schemas.microsoft.com/office/drawing/2014/main" id="{9E5CABB1-B8BE-5C4E-8574-5245730B18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498EBC0-C19F-2341-A663-EEA32F270FD2}"/>
              </a:ext>
            </a:extLst>
          </p:cNvPr>
          <p:cNvSpPr>
            <a:spLocks noGrp="1"/>
          </p:cNvSpPr>
          <p:nvPr>
            <p:ph type="sldNum" sz="quarter" idx="12"/>
          </p:nvPr>
        </p:nvSpPr>
        <p:spPr/>
        <p:txBody>
          <a:bodyPr/>
          <a:lstStyle/>
          <a:p>
            <a:fld id="{8D5FF0A1-DCB3-0A48-94F7-BE5C48C2CA0A}" type="slidenum">
              <a:rPr lang="en-US" smtClean="0"/>
              <a:t>‹#›</a:t>
            </a:fld>
            <a:endParaRPr lang="en-US"/>
          </a:p>
        </p:txBody>
      </p:sp>
    </p:spTree>
    <p:extLst>
      <p:ext uri="{BB962C8B-B14F-4D97-AF65-F5344CB8AC3E}">
        <p14:creationId xmlns:p14="http://schemas.microsoft.com/office/powerpoint/2010/main" val="211183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6829B8-F8E4-E14F-8A22-0A08E1F624BB}"/>
              </a:ext>
            </a:extLst>
          </p:cNvPr>
          <p:cNvSpPr>
            <a:spLocks noGrp="1"/>
          </p:cNvSpPr>
          <p:nvPr>
            <p:ph type="dt" sz="half" idx="10"/>
          </p:nvPr>
        </p:nvSpPr>
        <p:spPr/>
        <p:txBody>
          <a:bodyPr/>
          <a:lstStyle/>
          <a:p>
            <a:fld id="{A796E0F1-E7C5-D348-9537-39F0C444037C}" type="datetimeFigureOut">
              <a:rPr lang="en-US" smtClean="0"/>
              <a:t>8/4/22</a:t>
            </a:fld>
            <a:endParaRPr lang="en-US"/>
          </a:p>
        </p:txBody>
      </p:sp>
      <p:sp>
        <p:nvSpPr>
          <p:cNvPr id="3" name="Footer Placeholder 2">
            <a:extLst>
              <a:ext uri="{FF2B5EF4-FFF2-40B4-BE49-F238E27FC236}">
                <a16:creationId xmlns:a16="http://schemas.microsoft.com/office/drawing/2014/main" id="{FED269A1-3621-F246-B1D6-815B808CACE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95E826-9227-9A4D-B7F6-4487C86AE821}"/>
              </a:ext>
            </a:extLst>
          </p:cNvPr>
          <p:cNvSpPr>
            <a:spLocks noGrp="1"/>
          </p:cNvSpPr>
          <p:nvPr>
            <p:ph type="sldNum" sz="quarter" idx="12"/>
          </p:nvPr>
        </p:nvSpPr>
        <p:spPr/>
        <p:txBody>
          <a:bodyPr/>
          <a:lstStyle/>
          <a:p>
            <a:fld id="{8D5FF0A1-DCB3-0A48-94F7-BE5C48C2CA0A}" type="slidenum">
              <a:rPr lang="en-US" smtClean="0"/>
              <a:t>‹#›</a:t>
            </a:fld>
            <a:endParaRPr lang="en-US"/>
          </a:p>
        </p:txBody>
      </p:sp>
    </p:spTree>
    <p:extLst>
      <p:ext uri="{BB962C8B-B14F-4D97-AF65-F5344CB8AC3E}">
        <p14:creationId xmlns:p14="http://schemas.microsoft.com/office/powerpoint/2010/main" val="5303063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C445F-7C6E-4745-ACA0-3777BC324AE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1A8DB0C1-02F2-A74F-A634-10C3193442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A4F561F-4AF6-4F47-A4A4-E600AFB13C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76BCCC2-5402-1148-90B0-B57E3BBE7ED0}"/>
              </a:ext>
            </a:extLst>
          </p:cNvPr>
          <p:cNvSpPr>
            <a:spLocks noGrp="1"/>
          </p:cNvSpPr>
          <p:nvPr>
            <p:ph type="dt" sz="half" idx="10"/>
          </p:nvPr>
        </p:nvSpPr>
        <p:spPr/>
        <p:txBody>
          <a:bodyPr/>
          <a:lstStyle/>
          <a:p>
            <a:fld id="{A796E0F1-E7C5-D348-9537-39F0C444037C}" type="datetimeFigureOut">
              <a:rPr lang="en-US" smtClean="0"/>
              <a:t>8/4/22</a:t>
            </a:fld>
            <a:endParaRPr lang="en-US"/>
          </a:p>
        </p:txBody>
      </p:sp>
      <p:sp>
        <p:nvSpPr>
          <p:cNvPr id="6" name="Footer Placeholder 5">
            <a:extLst>
              <a:ext uri="{FF2B5EF4-FFF2-40B4-BE49-F238E27FC236}">
                <a16:creationId xmlns:a16="http://schemas.microsoft.com/office/drawing/2014/main" id="{1F08E264-1B2A-3F4D-ACC7-F9C2F0F2BE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78FB15-AB5C-D64A-9105-A9EC7C75A148}"/>
              </a:ext>
            </a:extLst>
          </p:cNvPr>
          <p:cNvSpPr>
            <a:spLocks noGrp="1"/>
          </p:cNvSpPr>
          <p:nvPr>
            <p:ph type="sldNum" sz="quarter" idx="12"/>
          </p:nvPr>
        </p:nvSpPr>
        <p:spPr/>
        <p:txBody>
          <a:bodyPr/>
          <a:lstStyle/>
          <a:p>
            <a:fld id="{8D5FF0A1-DCB3-0A48-94F7-BE5C48C2CA0A}" type="slidenum">
              <a:rPr lang="en-US" smtClean="0"/>
              <a:t>‹#›</a:t>
            </a:fld>
            <a:endParaRPr lang="en-US"/>
          </a:p>
        </p:txBody>
      </p:sp>
    </p:spTree>
    <p:extLst>
      <p:ext uri="{BB962C8B-B14F-4D97-AF65-F5344CB8AC3E}">
        <p14:creationId xmlns:p14="http://schemas.microsoft.com/office/powerpoint/2010/main" val="1151809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AF4DD-C3C1-E24B-806B-C9D6375D98B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290C3BFA-A810-684F-8951-E48B72C76B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241187D-4FB7-B148-9392-3B1B36A532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BAF40DB-AB5C-9A41-8C60-6DD25A9915B5}"/>
              </a:ext>
            </a:extLst>
          </p:cNvPr>
          <p:cNvSpPr>
            <a:spLocks noGrp="1"/>
          </p:cNvSpPr>
          <p:nvPr>
            <p:ph type="dt" sz="half" idx="10"/>
          </p:nvPr>
        </p:nvSpPr>
        <p:spPr/>
        <p:txBody>
          <a:bodyPr/>
          <a:lstStyle/>
          <a:p>
            <a:fld id="{A796E0F1-E7C5-D348-9537-39F0C444037C}" type="datetimeFigureOut">
              <a:rPr lang="en-US" smtClean="0"/>
              <a:t>8/4/22</a:t>
            </a:fld>
            <a:endParaRPr lang="en-US"/>
          </a:p>
        </p:txBody>
      </p:sp>
      <p:sp>
        <p:nvSpPr>
          <p:cNvPr id="6" name="Footer Placeholder 5">
            <a:extLst>
              <a:ext uri="{FF2B5EF4-FFF2-40B4-BE49-F238E27FC236}">
                <a16:creationId xmlns:a16="http://schemas.microsoft.com/office/drawing/2014/main" id="{0C136FCA-50A6-234C-92A0-A0347AA0D9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C4382A-F08A-0B4A-ABBD-2D6FA995B9AC}"/>
              </a:ext>
            </a:extLst>
          </p:cNvPr>
          <p:cNvSpPr>
            <a:spLocks noGrp="1"/>
          </p:cNvSpPr>
          <p:nvPr>
            <p:ph type="sldNum" sz="quarter" idx="12"/>
          </p:nvPr>
        </p:nvSpPr>
        <p:spPr/>
        <p:txBody>
          <a:bodyPr/>
          <a:lstStyle/>
          <a:p>
            <a:fld id="{8D5FF0A1-DCB3-0A48-94F7-BE5C48C2CA0A}" type="slidenum">
              <a:rPr lang="en-US" smtClean="0"/>
              <a:t>‹#›</a:t>
            </a:fld>
            <a:endParaRPr lang="en-US"/>
          </a:p>
        </p:txBody>
      </p:sp>
    </p:spTree>
    <p:extLst>
      <p:ext uri="{BB962C8B-B14F-4D97-AF65-F5344CB8AC3E}">
        <p14:creationId xmlns:p14="http://schemas.microsoft.com/office/powerpoint/2010/main" val="3819982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22B7A-4913-FD42-B4CD-25273E3D45B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8A09036-F27D-2A4E-A19A-9E7D1D86ACD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469DE1C-5530-5142-98B6-2D671D95064C}"/>
              </a:ext>
            </a:extLst>
          </p:cNvPr>
          <p:cNvSpPr>
            <a:spLocks noGrp="1"/>
          </p:cNvSpPr>
          <p:nvPr>
            <p:ph type="dt" sz="half" idx="10"/>
          </p:nvPr>
        </p:nvSpPr>
        <p:spPr/>
        <p:txBody>
          <a:bodyPr/>
          <a:lstStyle/>
          <a:p>
            <a:fld id="{A796E0F1-E7C5-D348-9537-39F0C444037C}" type="datetimeFigureOut">
              <a:rPr lang="en-US" smtClean="0"/>
              <a:t>8/4/22</a:t>
            </a:fld>
            <a:endParaRPr lang="en-US"/>
          </a:p>
        </p:txBody>
      </p:sp>
      <p:sp>
        <p:nvSpPr>
          <p:cNvPr id="5" name="Footer Placeholder 4">
            <a:extLst>
              <a:ext uri="{FF2B5EF4-FFF2-40B4-BE49-F238E27FC236}">
                <a16:creationId xmlns:a16="http://schemas.microsoft.com/office/drawing/2014/main" id="{58D82F16-7C94-7847-A570-1984FFAD6A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92BA7A-58B0-B24F-B4CC-132001C8F9AB}"/>
              </a:ext>
            </a:extLst>
          </p:cNvPr>
          <p:cNvSpPr>
            <a:spLocks noGrp="1"/>
          </p:cNvSpPr>
          <p:nvPr>
            <p:ph type="sldNum" sz="quarter" idx="12"/>
          </p:nvPr>
        </p:nvSpPr>
        <p:spPr/>
        <p:txBody>
          <a:bodyPr/>
          <a:lstStyle/>
          <a:p>
            <a:fld id="{8D5FF0A1-DCB3-0A48-94F7-BE5C48C2CA0A}" type="slidenum">
              <a:rPr lang="en-US" smtClean="0"/>
              <a:t>‹#›</a:t>
            </a:fld>
            <a:endParaRPr lang="en-US"/>
          </a:p>
        </p:txBody>
      </p:sp>
    </p:spTree>
    <p:extLst>
      <p:ext uri="{BB962C8B-B14F-4D97-AF65-F5344CB8AC3E}">
        <p14:creationId xmlns:p14="http://schemas.microsoft.com/office/powerpoint/2010/main" val="4103669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F3B28F-5894-D348-A905-B3E4D354715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89D3EC4-4574-544B-8AD0-FF58D4E4CC9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92319FA-C1C8-1042-8848-5F68B6C31B0C}"/>
              </a:ext>
            </a:extLst>
          </p:cNvPr>
          <p:cNvSpPr>
            <a:spLocks noGrp="1"/>
          </p:cNvSpPr>
          <p:nvPr>
            <p:ph type="dt" sz="half" idx="10"/>
          </p:nvPr>
        </p:nvSpPr>
        <p:spPr/>
        <p:txBody>
          <a:bodyPr/>
          <a:lstStyle/>
          <a:p>
            <a:fld id="{A796E0F1-E7C5-D348-9537-39F0C444037C}" type="datetimeFigureOut">
              <a:rPr lang="en-US" smtClean="0"/>
              <a:t>8/4/22</a:t>
            </a:fld>
            <a:endParaRPr lang="en-US"/>
          </a:p>
        </p:txBody>
      </p:sp>
      <p:sp>
        <p:nvSpPr>
          <p:cNvPr id="5" name="Footer Placeholder 4">
            <a:extLst>
              <a:ext uri="{FF2B5EF4-FFF2-40B4-BE49-F238E27FC236}">
                <a16:creationId xmlns:a16="http://schemas.microsoft.com/office/drawing/2014/main" id="{5FD5F113-BA88-F341-A9B5-2281256B89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7C3972-BE1B-5E4B-9007-A00F4477CF0D}"/>
              </a:ext>
            </a:extLst>
          </p:cNvPr>
          <p:cNvSpPr>
            <a:spLocks noGrp="1"/>
          </p:cNvSpPr>
          <p:nvPr>
            <p:ph type="sldNum" sz="quarter" idx="12"/>
          </p:nvPr>
        </p:nvSpPr>
        <p:spPr/>
        <p:txBody>
          <a:bodyPr/>
          <a:lstStyle/>
          <a:p>
            <a:fld id="{8D5FF0A1-DCB3-0A48-94F7-BE5C48C2CA0A}" type="slidenum">
              <a:rPr lang="en-US" smtClean="0"/>
              <a:t>‹#›</a:t>
            </a:fld>
            <a:endParaRPr lang="en-US"/>
          </a:p>
        </p:txBody>
      </p:sp>
    </p:spTree>
    <p:extLst>
      <p:ext uri="{BB962C8B-B14F-4D97-AF65-F5344CB8AC3E}">
        <p14:creationId xmlns:p14="http://schemas.microsoft.com/office/powerpoint/2010/main" val="3595831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DB5832-03B4-2548-9EDB-1C33D3412E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D5F3C67-72BB-D247-AAAB-17894CC63A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2D581B1-F7BB-DD4E-B642-68567A9D3E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96E0F1-E7C5-D348-9537-39F0C444037C}" type="datetimeFigureOut">
              <a:rPr lang="en-US" smtClean="0"/>
              <a:t>8/4/22</a:t>
            </a:fld>
            <a:endParaRPr lang="en-US"/>
          </a:p>
        </p:txBody>
      </p:sp>
      <p:sp>
        <p:nvSpPr>
          <p:cNvPr id="5" name="Footer Placeholder 4">
            <a:extLst>
              <a:ext uri="{FF2B5EF4-FFF2-40B4-BE49-F238E27FC236}">
                <a16:creationId xmlns:a16="http://schemas.microsoft.com/office/drawing/2014/main" id="{9C055094-2F25-464F-BEFC-E52A2728B8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AD2EA20-8FF5-0845-A71E-300C087529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5FF0A1-DCB3-0A48-94F7-BE5C48C2CA0A}" type="slidenum">
              <a:rPr lang="en-US" smtClean="0"/>
              <a:t>‹#›</a:t>
            </a:fld>
            <a:endParaRPr lang="en-US"/>
          </a:p>
        </p:txBody>
      </p:sp>
    </p:spTree>
    <p:extLst>
      <p:ext uri="{BB962C8B-B14F-4D97-AF65-F5344CB8AC3E}">
        <p14:creationId xmlns:p14="http://schemas.microsoft.com/office/powerpoint/2010/main" val="3659339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corporatefinanceinstitute.com/resources/excel/study/pivot-table-guide/" TargetMode="External"/><Relationship Id="rId2" Type="http://schemas.openxmlformats.org/officeDocument/2006/relationships/hyperlink" Target="https://courses.corporatefinanceinstitute.com/courses/excel-dashboard-and-data-visualization-course-online"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chrome.google.com/webstore/detail/google-docs-offline/ghbmnnjooekpmoecnnnilnnbdlolhkhi" TargetMode="External"/><Relationship Id="rId1" Type="http://schemas.openxmlformats.org/officeDocument/2006/relationships/slideLayout" Target="../slideLayouts/slideLayout2.xml"/><Relationship Id="rId4" Type="http://schemas.openxmlformats.org/officeDocument/2006/relationships/hyperlink" Target="https://habr.com/en/post/493276/"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C6647-1466-1946-AB07-13ECF8EA4137}"/>
              </a:ext>
            </a:extLst>
          </p:cNvPr>
          <p:cNvSpPr>
            <a:spLocks noGrp="1"/>
          </p:cNvSpPr>
          <p:nvPr>
            <p:ph type="ctrTitle"/>
          </p:nvPr>
        </p:nvSpPr>
        <p:spPr>
          <a:xfrm>
            <a:off x="1187116" y="1585495"/>
            <a:ext cx="9144000" cy="2387600"/>
          </a:xfrm>
        </p:spPr>
        <p:txBody>
          <a:bodyPr>
            <a:normAutofit fontScale="90000"/>
          </a:bodyPr>
          <a:lstStyle/>
          <a:p>
            <a:r>
              <a:rPr lang="en-IN" b="1" dirty="0">
                <a:latin typeface="+mn-lt"/>
              </a:rPr>
              <a:t>CAP748:PROBABILITY AND STATISTICS (LAB)</a:t>
            </a:r>
            <a:br>
              <a:rPr lang="en-IN" b="1" dirty="0">
                <a:latin typeface="+mn-lt"/>
              </a:rPr>
            </a:br>
            <a:br>
              <a:rPr lang="en-US" b="1" dirty="0">
                <a:latin typeface="+mn-lt"/>
              </a:rPr>
            </a:br>
            <a:endParaRPr lang="en-US" b="1" dirty="0">
              <a:latin typeface="+mn-lt"/>
            </a:endParaRPr>
          </a:p>
        </p:txBody>
      </p:sp>
    </p:spTree>
    <p:extLst>
      <p:ext uri="{BB962C8B-B14F-4D97-AF65-F5344CB8AC3E}">
        <p14:creationId xmlns:p14="http://schemas.microsoft.com/office/powerpoint/2010/main" val="652923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B55D4-403B-4F48-88BE-4A615EFAF1AF}"/>
              </a:ext>
            </a:extLst>
          </p:cNvPr>
          <p:cNvSpPr>
            <a:spLocks noGrp="1"/>
          </p:cNvSpPr>
          <p:nvPr>
            <p:ph type="title"/>
          </p:nvPr>
        </p:nvSpPr>
        <p:spPr>
          <a:xfrm>
            <a:off x="92242" y="-152233"/>
            <a:ext cx="10515600" cy="1325563"/>
          </a:xfrm>
        </p:spPr>
        <p:txBody>
          <a:bodyPr/>
          <a:lstStyle/>
          <a:p>
            <a:r>
              <a:rPr lang="en-US" b="1" dirty="0">
                <a:latin typeface="+mn-lt"/>
              </a:rPr>
              <a:t>Introduction to </a:t>
            </a:r>
            <a:r>
              <a:rPr lang="en-US" b="1" dirty="0" err="1">
                <a:latin typeface="+mn-lt"/>
              </a:rPr>
              <a:t>Googlesheets</a:t>
            </a:r>
            <a:endParaRPr lang="en-US" b="1" dirty="0">
              <a:latin typeface="+mn-lt"/>
            </a:endParaRPr>
          </a:p>
        </p:txBody>
      </p:sp>
      <p:sp>
        <p:nvSpPr>
          <p:cNvPr id="7" name="Content Placeholder 6">
            <a:extLst>
              <a:ext uri="{FF2B5EF4-FFF2-40B4-BE49-F238E27FC236}">
                <a16:creationId xmlns:a16="http://schemas.microsoft.com/office/drawing/2014/main" id="{15E08919-46E3-4C4D-8808-423FE329F806}"/>
              </a:ext>
            </a:extLst>
          </p:cNvPr>
          <p:cNvSpPr>
            <a:spLocks noGrp="1"/>
          </p:cNvSpPr>
          <p:nvPr>
            <p:ph idx="1"/>
          </p:nvPr>
        </p:nvSpPr>
        <p:spPr>
          <a:xfrm>
            <a:off x="356936" y="1007477"/>
            <a:ext cx="11590421" cy="5694112"/>
          </a:xfrm>
        </p:spPr>
        <p:txBody>
          <a:bodyPr>
            <a:normAutofit/>
          </a:bodyPr>
          <a:lstStyle/>
          <a:p>
            <a:pPr marL="0" indent="0" algn="just">
              <a:buNone/>
            </a:pPr>
            <a:r>
              <a:rPr lang="en-IN" dirty="0"/>
              <a:t>Google Sheets is a free, web-based spreadsheet application that is provided by Google within the Google Drive service. The application is also available as a desktop application on </a:t>
            </a:r>
            <a:r>
              <a:rPr lang="en-IN" dirty="0" err="1"/>
              <a:t>ChromeOS</a:t>
            </a:r>
            <a:r>
              <a:rPr lang="en-IN" dirty="0"/>
              <a:t>, and as a mobile app on Android, Windows, iOS, and BlackBerry. </a:t>
            </a:r>
            <a:r>
              <a:rPr lang="en-IN" b="1" dirty="0"/>
              <a:t>Google Sheets allows users to edit, organize, and </a:t>
            </a:r>
            <a:r>
              <a:rPr lang="en-IN" b="1" dirty="0" err="1"/>
              <a:t>analyze</a:t>
            </a:r>
            <a:r>
              <a:rPr lang="en-IN" b="1" dirty="0"/>
              <a:t> different types of information. </a:t>
            </a:r>
            <a:r>
              <a:rPr lang="en-IN" dirty="0"/>
              <a:t>It allows collaborations, and multiple users can edit and format files in real-time, and any changes made to the spreadsheet can be tracked by a revision history.</a:t>
            </a:r>
          </a:p>
          <a:p>
            <a:pPr marL="0" indent="0" algn="just">
              <a:buNone/>
            </a:pPr>
            <a:br>
              <a:rPr lang="en-IN" dirty="0"/>
            </a:br>
            <a:endParaRPr lang="en-US" dirty="0"/>
          </a:p>
        </p:txBody>
      </p:sp>
    </p:spTree>
    <p:extLst>
      <p:ext uri="{BB962C8B-B14F-4D97-AF65-F5344CB8AC3E}">
        <p14:creationId xmlns:p14="http://schemas.microsoft.com/office/powerpoint/2010/main" val="12624024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9FAAEBED-324E-4F43-AC22-5E3F93DFE432}"/>
              </a:ext>
            </a:extLst>
          </p:cNvPr>
          <p:cNvPicPr>
            <a:picLocks noGrp="1" noChangeAspect="1"/>
          </p:cNvPicPr>
          <p:nvPr>
            <p:ph idx="1"/>
          </p:nvPr>
        </p:nvPicPr>
        <p:blipFill rotWithShape="1">
          <a:blip r:embed="rId2"/>
          <a:srcRect l="3442" t="11307" r="4894" b="9421"/>
          <a:stretch/>
        </p:blipFill>
        <p:spPr>
          <a:xfrm>
            <a:off x="290087" y="538246"/>
            <a:ext cx="11313861" cy="6115218"/>
          </a:xfrm>
        </p:spPr>
      </p:pic>
    </p:spTree>
    <p:extLst>
      <p:ext uri="{BB962C8B-B14F-4D97-AF65-F5344CB8AC3E}">
        <p14:creationId xmlns:p14="http://schemas.microsoft.com/office/powerpoint/2010/main" val="2491109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FCDF91-FE51-724F-A6FF-E36C4A9AC11C}"/>
              </a:ext>
            </a:extLst>
          </p:cNvPr>
          <p:cNvSpPr>
            <a:spLocks noGrp="1"/>
          </p:cNvSpPr>
          <p:nvPr>
            <p:ph idx="1"/>
          </p:nvPr>
        </p:nvSpPr>
        <p:spPr/>
        <p:txBody>
          <a:bodyPr>
            <a:normAutofit/>
          </a:bodyPr>
          <a:lstStyle/>
          <a:p>
            <a:pPr marL="0" indent="0" algn="ctr">
              <a:buNone/>
            </a:pPr>
            <a:r>
              <a:rPr lang="en-US" sz="7200" b="1" dirty="0"/>
              <a:t>Features</a:t>
            </a:r>
            <a:endParaRPr lang="en-US" sz="7200" dirty="0"/>
          </a:p>
        </p:txBody>
      </p:sp>
    </p:spTree>
    <p:extLst>
      <p:ext uri="{BB962C8B-B14F-4D97-AF65-F5344CB8AC3E}">
        <p14:creationId xmlns:p14="http://schemas.microsoft.com/office/powerpoint/2010/main" val="2686595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C69215-EFD0-564C-9111-42E017D1F36D}"/>
              </a:ext>
            </a:extLst>
          </p:cNvPr>
          <p:cNvSpPr>
            <a:spLocks noGrp="1"/>
          </p:cNvSpPr>
          <p:nvPr>
            <p:ph idx="1"/>
          </p:nvPr>
        </p:nvSpPr>
        <p:spPr>
          <a:xfrm>
            <a:off x="0" y="210880"/>
            <a:ext cx="11470105" cy="5670049"/>
          </a:xfrm>
        </p:spPr>
        <p:txBody>
          <a:bodyPr/>
          <a:lstStyle/>
          <a:p>
            <a:pPr marL="0" indent="0">
              <a:buNone/>
            </a:pPr>
            <a:r>
              <a:rPr lang="en-IN" b="1" dirty="0"/>
              <a:t>1. Editing</a:t>
            </a:r>
          </a:p>
          <a:p>
            <a:pPr marL="0" indent="0" algn="just">
              <a:buNone/>
            </a:pPr>
            <a:r>
              <a:rPr lang="en-IN" sz="1800" dirty="0"/>
              <a:t>One of the key features of Google Sheets is that it allows collaborative editing of spreadsheets in real-time. Rather than emailing one document to multiple people, a single document can be opened and edited by multiple users simultaneously. Users can see every change made by other collaborators, and all changes are automatically saved to Google </a:t>
            </a:r>
            <a:r>
              <a:rPr lang="en-IN" sz="1800" b="1" dirty="0"/>
              <a:t>servers</a:t>
            </a:r>
            <a:r>
              <a:rPr lang="en-IN" sz="1800" dirty="0"/>
              <a:t>. Google Sheets also includes a sidebar chat feature that allows collaborators to discuss edits in real-time and make recommendations on certain changes. Any changes that the collaborators make can be tracked using the Revision History feature. An editor can review past edits and revert any unwanted changes.</a:t>
            </a:r>
          </a:p>
          <a:p>
            <a:pPr marL="0" indent="0">
              <a:buNone/>
            </a:pPr>
            <a:endParaRPr lang="en-US" dirty="0"/>
          </a:p>
        </p:txBody>
      </p:sp>
      <p:pic>
        <p:nvPicPr>
          <p:cNvPr id="4" name="Content Placeholder 4">
            <a:extLst>
              <a:ext uri="{FF2B5EF4-FFF2-40B4-BE49-F238E27FC236}">
                <a16:creationId xmlns:a16="http://schemas.microsoft.com/office/drawing/2014/main" id="{42521A1C-DC28-C84B-88AF-369038EC8681}"/>
              </a:ext>
            </a:extLst>
          </p:cNvPr>
          <p:cNvPicPr>
            <a:picLocks noChangeAspect="1"/>
          </p:cNvPicPr>
          <p:nvPr/>
        </p:nvPicPr>
        <p:blipFill rotWithShape="1">
          <a:blip r:embed="rId2"/>
          <a:srcRect l="3442" t="11307" r="4894" b="9421"/>
          <a:stretch/>
        </p:blipFill>
        <p:spPr>
          <a:xfrm>
            <a:off x="0" y="3235383"/>
            <a:ext cx="5799221" cy="3134518"/>
          </a:xfrm>
          <a:prstGeom prst="rect">
            <a:avLst/>
          </a:prstGeom>
        </p:spPr>
      </p:pic>
      <p:pic>
        <p:nvPicPr>
          <p:cNvPr id="5" name="Content Placeholder 4">
            <a:extLst>
              <a:ext uri="{FF2B5EF4-FFF2-40B4-BE49-F238E27FC236}">
                <a16:creationId xmlns:a16="http://schemas.microsoft.com/office/drawing/2014/main" id="{FF690E2C-1406-F744-9F86-1EDFF243F348}"/>
              </a:ext>
            </a:extLst>
          </p:cNvPr>
          <p:cNvPicPr>
            <a:picLocks noChangeAspect="1"/>
          </p:cNvPicPr>
          <p:nvPr/>
        </p:nvPicPr>
        <p:blipFill rotWithShape="1">
          <a:blip r:embed="rId2"/>
          <a:srcRect l="3442" t="11307" r="4894" b="9421"/>
          <a:stretch/>
        </p:blipFill>
        <p:spPr>
          <a:xfrm>
            <a:off x="6096000" y="3235383"/>
            <a:ext cx="5799222" cy="3134518"/>
          </a:xfrm>
          <a:prstGeom prst="rect">
            <a:avLst/>
          </a:prstGeom>
        </p:spPr>
      </p:pic>
      <p:sp>
        <p:nvSpPr>
          <p:cNvPr id="6" name="TextBox 5">
            <a:extLst>
              <a:ext uri="{FF2B5EF4-FFF2-40B4-BE49-F238E27FC236}">
                <a16:creationId xmlns:a16="http://schemas.microsoft.com/office/drawing/2014/main" id="{76D41E79-86D2-D249-984A-DDE6BD8CC825}"/>
              </a:ext>
            </a:extLst>
          </p:cNvPr>
          <p:cNvSpPr txBox="1"/>
          <p:nvPr/>
        </p:nvSpPr>
        <p:spPr>
          <a:xfrm>
            <a:off x="1648326" y="2654423"/>
            <a:ext cx="2045369" cy="369332"/>
          </a:xfrm>
          <a:prstGeom prst="rect">
            <a:avLst/>
          </a:prstGeom>
          <a:noFill/>
        </p:spPr>
        <p:txBody>
          <a:bodyPr wrap="square" rtlCol="0">
            <a:spAutoFit/>
          </a:bodyPr>
          <a:lstStyle/>
          <a:p>
            <a:r>
              <a:rPr lang="en-US" b="1" dirty="0"/>
              <a:t>USER1 </a:t>
            </a:r>
          </a:p>
        </p:txBody>
      </p:sp>
      <p:sp>
        <p:nvSpPr>
          <p:cNvPr id="7" name="TextBox 6">
            <a:extLst>
              <a:ext uri="{FF2B5EF4-FFF2-40B4-BE49-F238E27FC236}">
                <a16:creationId xmlns:a16="http://schemas.microsoft.com/office/drawing/2014/main" id="{FED28429-550C-DC41-A948-9B870AB19C54}"/>
              </a:ext>
            </a:extLst>
          </p:cNvPr>
          <p:cNvSpPr txBox="1"/>
          <p:nvPr/>
        </p:nvSpPr>
        <p:spPr>
          <a:xfrm>
            <a:off x="7154779" y="2746411"/>
            <a:ext cx="1840832" cy="369332"/>
          </a:xfrm>
          <a:prstGeom prst="rect">
            <a:avLst/>
          </a:prstGeom>
          <a:noFill/>
        </p:spPr>
        <p:txBody>
          <a:bodyPr wrap="square" rtlCol="0">
            <a:spAutoFit/>
          </a:bodyPr>
          <a:lstStyle/>
          <a:p>
            <a:r>
              <a:rPr lang="en-US" b="1" dirty="0"/>
              <a:t>USER2</a:t>
            </a:r>
          </a:p>
        </p:txBody>
      </p:sp>
    </p:spTree>
    <p:extLst>
      <p:ext uri="{BB962C8B-B14F-4D97-AF65-F5344CB8AC3E}">
        <p14:creationId xmlns:p14="http://schemas.microsoft.com/office/powerpoint/2010/main" val="18707378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C52449-664F-F34E-A9B3-D6E8A85D447C}"/>
              </a:ext>
            </a:extLst>
          </p:cNvPr>
          <p:cNvSpPr>
            <a:spLocks noGrp="1"/>
          </p:cNvSpPr>
          <p:nvPr>
            <p:ph idx="1"/>
          </p:nvPr>
        </p:nvSpPr>
        <p:spPr>
          <a:xfrm>
            <a:off x="144379" y="129172"/>
            <a:ext cx="11321716" cy="4286418"/>
          </a:xfrm>
        </p:spPr>
        <p:txBody>
          <a:bodyPr>
            <a:normAutofit fontScale="77500" lnSpcReduction="20000"/>
          </a:bodyPr>
          <a:lstStyle/>
          <a:p>
            <a:pPr marL="0" indent="0">
              <a:buNone/>
            </a:pPr>
            <a:r>
              <a:rPr lang="en-IN" b="1" dirty="0"/>
              <a:t>2. Explore</a:t>
            </a:r>
          </a:p>
          <a:p>
            <a:pPr marL="0" indent="0" algn="just">
              <a:buNone/>
            </a:pPr>
            <a:r>
              <a:rPr lang="en-IN" dirty="0"/>
              <a:t>The Explore feature in Google Sheets was first introduced in September 2016, and it uses machine learning to bring additional functionalities. This feature provides a lot of information based on the data added to the spreadsheet, and it can auto-update itself depending on the selected data.</a:t>
            </a:r>
          </a:p>
          <a:p>
            <a:pPr marL="0" indent="0" algn="just">
              <a:buNone/>
            </a:pPr>
            <a:r>
              <a:rPr lang="en-IN" dirty="0"/>
              <a:t>With the Explore feature, users can ask questions, build charts, </a:t>
            </a:r>
            <a:r>
              <a:rPr lang="en-IN" dirty="0">
                <a:hlinkClick r:id="rId2">
                  <a:extLst>
                    <a:ext uri="{A12FA001-AC4F-418D-AE19-62706E023703}">
                      <ahyp:hlinkClr xmlns:ahyp="http://schemas.microsoft.com/office/drawing/2018/hyperlinkcolor" val="tx"/>
                    </a:ext>
                  </a:extLst>
                </a:hlinkClick>
              </a:rPr>
              <a:t>visualize data</a:t>
            </a:r>
            <a:r>
              <a:rPr lang="en-IN" dirty="0"/>
              <a:t>, create </a:t>
            </a:r>
            <a:r>
              <a:rPr lang="en-IN" dirty="0">
                <a:hlinkClick r:id="rId3">
                  <a:extLst>
                    <a:ext uri="{A12FA001-AC4F-418D-AE19-62706E023703}">
                      <ahyp:hlinkClr xmlns:ahyp="http://schemas.microsoft.com/office/drawing/2018/hyperlinkcolor" val="tx"/>
                    </a:ext>
                  </a:extLst>
                </a:hlinkClick>
              </a:rPr>
              <a:t>pivot tables</a:t>
            </a:r>
            <a:r>
              <a:rPr lang="en-IN" dirty="0"/>
              <a:t>, and format the spreadsheet with different </a:t>
            </a:r>
            <a:r>
              <a:rPr lang="en-IN" dirty="0" err="1"/>
              <a:t>colors</a:t>
            </a:r>
            <a:r>
              <a:rPr lang="en-IN" dirty="0"/>
              <a:t>. For example, if you are preparing a monthly budget and you’ve added all the expenses to the spreadsheet, you can use the Explore feature to get the cost of specific expenses such as food, travel, clothing, etc. On the sidebar, there is a box where you can type the question, and it will return the answer.  When you scroll down further in the Explore panel, there is a list of suggested graphs that are representative of the data entered in the spreadsheet, and you can choose between a pivot table, pie chart, or bar chart.</a:t>
            </a:r>
          </a:p>
          <a:p>
            <a:pPr marL="0" indent="0">
              <a:buNone/>
            </a:pPr>
            <a:br>
              <a:rPr lang="en-IN" dirty="0"/>
            </a:br>
            <a:endParaRPr lang="en-IN" dirty="0"/>
          </a:p>
          <a:p>
            <a:pPr marL="0" indent="0">
              <a:buNone/>
            </a:pPr>
            <a:endParaRPr lang="en-US" dirty="0"/>
          </a:p>
        </p:txBody>
      </p:sp>
      <p:pic>
        <p:nvPicPr>
          <p:cNvPr id="5" name="Picture 4">
            <a:extLst>
              <a:ext uri="{FF2B5EF4-FFF2-40B4-BE49-F238E27FC236}">
                <a16:creationId xmlns:a16="http://schemas.microsoft.com/office/drawing/2014/main" id="{C2B80C6B-303D-6849-B712-C9749C849364}"/>
              </a:ext>
            </a:extLst>
          </p:cNvPr>
          <p:cNvPicPr>
            <a:picLocks noChangeAspect="1"/>
          </p:cNvPicPr>
          <p:nvPr/>
        </p:nvPicPr>
        <p:blipFill>
          <a:blip r:embed="rId4"/>
          <a:stretch>
            <a:fillRect/>
          </a:stretch>
        </p:blipFill>
        <p:spPr>
          <a:xfrm>
            <a:off x="2360862" y="3042652"/>
            <a:ext cx="7470275" cy="3461835"/>
          </a:xfrm>
          <a:prstGeom prst="rect">
            <a:avLst/>
          </a:prstGeom>
        </p:spPr>
      </p:pic>
    </p:spTree>
    <p:extLst>
      <p:ext uri="{BB962C8B-B14F-4D97-AF65-F5344CB8AC3E}">
        <p14:creationId xmlns:p14="http://schemas.microsoft.com/office/powerpoint/2010/main" val="2795522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E886D2-017F-F342-ABA9-E5DBF18B67C0}"/>
              </a:ext>
            </a:extLst>
          </p:cNvPr>
          <p:cNvSpPr>
            <a:spLocks noGrp="1"/>
          </p:cNvSpPr>
          <p:nvPr>
            <p:ph idx="1"/>
          </p:nvPr>
        </p:nvSpPr>
        <p:spPr>
          <a:xfrm>
            <a:off x="164432" y="345740"/>
            <a:ext cx="11782926" cy="6403975"/>
          </a:xfrm>
        </p:spPr>
        <p:txBody>
          <a:bodyPr/>
          <a:lstStyle/>
          <a:p>
            <a:pPr marL="0" indent="0">
              <a:buNone/>
            </a:pPr>
            <a:r>
              <a:rPr lang="en-IN" b="1" dirty="0"/>
              <a:t>3. Offline editing</a:t>
            </a:r>
          </a:p>
          <a:p>
            <a:pPr marL="0" indent="0">
              <a:buNone/>
            </a:pPr>
            <a:r>
              <a:rPr lang="en-IN" dirty="0"/>
              <a:t>Google Sheets supports offline editing, and users can edit the spreadsheet offline either on desktop or mobile apps. On the desktop, users need to use the Chrome browser and install the “</a:t>
            </a:r>
            <a:r>
              <a:rPr lang="en-IN" dirty="0">
                <a:hlinkClick r:id="rId2">
                  <a:extLst>
                    <a:ext uri="{A12FA001-AC4F-418D-AE19-62706E023703}">
                      <ahyp:hlinkClr xmlns:ahyp="http://schemas.microsoft.com/office/drawing/2018/hyperlinkcolor" val="tx"/>
                    </a:ext>
                  </a:extLst>
                </a:hlinkClick>
              </a:rPr>
              <a:t>Google Docs Offline</a:t>
            </a:r>
            <a:r>
              <a:rPr lang="en-IN" dirty="0"/>
              <a:t>” Chrome extension to enable offline editing for Google Sheets and other Google applications. When using mobile, users need to use the Google Sheets mobile app for Android and iOS, which support offline editing.</a:t>
            </a:r>
          </a:p>
          <a:p>
            <a:pPr marL="0" indent="0">
              <a:buNone/>
            </a:pPr>
            <a:endParaRPr lang="en-US" dirty="0"/>
          </a:p>
        </p:txBody>
      </p:sp>
      <p:pic>
        <p:nvPicPr>
          <p:cNvPr id="5" name="Picture 4">
            <a:extLst>
              <a:ext uri="{FF2B5EF4-FFF2-40B4-BE49-F238E27FC236}">
                <a16:creationId xmlns:a16="http://schemas.microsoft.com/office/drawing/2014/main" id="{68272D10-F81E-0649-B275-20E9AE53CB94}"/>
              </a:ext>
            </a:extLst>
          </p:cNvPr>
          <p:cNvPicPr>
            <a:picLocks noChangeAspect="1"/>
          </p:cNvPicPr>
          <p:nvPr/>
        </p:nvPicPr>
        <p:blipFill>
          <a:blip r:embed="rId3"/>
          <a:stretch>
            <a:fillRect/>
          </a:stretch>
        </p:blipFill>
        <p:spPr>
          <a:xfrm>
            <a:off x="164432" y="3547727"/>
            <a:ext cx="6104021" cy="2885744"/>
          </a:xfrm>
          <a:prstGeom prst="rect">
            <a:avLst/>
          </a:prstGeom>
        </p:spPr>
      </p:pic>
      <p:sp>
        <p:nvSpPr>
          <p:cNvPr id="6" name="TextBox 5">
            <a:extLst>
              <a:ext uri="{FF2B5EF4-FFF2-40B4-BE49-F238E27FC236}">
                <a16:creationId xmlns:a16="http://schemas.microsoft.com/office/drawing/2014/main" id="{54C55D38-1E49-8A40-8D3E-E8EB11D40D94}"/>
              </a:ext>
            </a:extLst>
          </p:cNvPr>
          <p:cNvSpPr txBox="1"/>
          <p:nvPr/>
        </p:nvSpPr>
        <p:spPr>
          <a:xfrm>
            <a:off x="7279105" y="3765884"/>
            <a:ext cx="4223084" cy="1200329"/>
          </a:xfrm>
          <a:prstGeom prst="rect">
            <a:avLst/>
          </a:prstGeom>
          <a:noFill/>
        </p:spPr>
        <p:txBody>
          <a:bodyPr wrap="square" rtlCol="0">
            <a:spAutoFit/>
          </a:bodyPr>
          <a:lstStyle/>
          <a:p>
            <a:r>
              <a:rPr lang="en-US" dirty="0">
                <a:hlinkClick r:id="rId4">
                  <a:extLst>
                    <a:ext uri="{A12FA001-AC4F-418D-AE19-62706E023703}">
                      <ahyp:hlinkClr xmlns:ahyp="http://schemas.microsoft.com/office/drawing/2018/hyperlinkcolor" val="tx"/>
                    </a:ext>
                  </a:extLst>
                </a:hlinkClick>
              </a:rPr>
              <a:t>STEPS TO WORK WITH OFFLINE EDITING</a:t>
            </a:r>
          </a:p>
          <a:p>
            <a:endParaRPr lang="en-US" dirty="0">
              <a:solidFill>
                <a:srgbClr val="0563C1"/>
              </a:solidFill>
              <a:hlinkClick r:id="rId4">
                <a:extLst>
                  <a:ext uri="{A12FA001-AC4F-418D-AE19-62706E023703}">
                    <ahyp:hlinkClr xmlns:ahyp="http://schemas.microsoft.com/office/drawing/2018/hyperlinkcolor" val="tx"/>
                  </a:ext>
                </a:extLst>
              </a:hlinkClick>
            </a:endParaRPr>
          </a:p>
          <a:p>
            <a:r>
              <a:rPr lang="en-US" dirty="0">
                <a:solidFill>
                  <a:srgbClr val="0563C1"/>
                </a:solidFill>
                <a:hlinkClick r:id="rId4">
                  <a:extLst>
                    <a:ext uri="{A12FA001-AC4F-418D-AE19-62706E023703}">
                      <ahyp:hlinkClr xmlns:ahyp="http://schemas.microsoft.com/office/drawing/2018/hyperlinkcolor" val="tx"/>
                    </a:ext>
                  </a:extLst>
                </a:hlinkClick>
              </a:rPr>
              <a:t>https://habr.com/en/post/493276/</a:t>
            </a:r>
            <a:endParaRPr lang="en-US" dirty="0"/>
          </a:p>
          <a:p>
            <a:endParaRPr lang="en-US" dirty="0"/>
          </a:p>
        </p:txBody>
      </p:sp>
    </p:spTree>
    <p:extLst>
      <p:ext uri="{BB962C8B-B14F-4D97-AF65-F5344CB8AC3E}">
        <p14:creationId xmlns:p14="http://schemas.microsoft.com/office/powerpoint/2010/main" val="3185571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37F84A-E760-0340-A727-3EF7A63ED23D}"/>
              </a:ext>
            </a:extLst>
          </p:cNvPr>
          <p:cNvSpPr>
            <a:spLocks noGrp="1"/>
          </p:cNvSpPr>
          <p:nvPr>
            <p:ph idx="1"/>
          </p:nvPr>
        </p:nvSpPr>
        <p:spPr>
          <a:xfrm>
            <a:off x="272716" y="237456"/>
            <a:ext cx="11782926" cy="6500228"/>
          </a:xfrm>
        </p:spPr>
        <p:txBody>
          <a:bodyPr>
            <a:normAutofit fontScale="92500" lnSpcReduction="10000"/>
          </a:bodyPr>
          <a:lstStyle/>
          <a:p>
            <a:pPr marL="0" indent="0">
              <a:buNone/>
            </a:pPr>
            <a:r>
              <a:rPr lang="en-IN" b="1" dirty="0"/>
              <a:t>4. Supported file formats</a:t>
            </a:r>
          </a:p>
          <a:p>
            <a:pPr marL="0" indent="0">
              <a:buNone/>
            </a:pPr>
            <a:r>
              <a:rPr lang="en-IN" dirty="0"/>
              <a:t>Google Sheets supports multiple spreadsheet file formats and file types. Users can open, edit, save or export spreadsheets and document files into Google Sheets. Some of the formats that can be viewed and converted to Google Sheets include:</a:t>
            </a:r>
          </a:p>
          <a:p>
            <a:r>
              <a:rPr lang="en-IN" dirty="0"/>
              <a:t>.xlsx</a:t>
            </a:r>
          </a:p>
          <a:p>
            <a:r>
              <a:rPr lang="en-IN" dirty="0"/>
              <a:t>.</a:t>
            </a:r>
            <a:r>
              <a:rPr lang="en-IN" dirty="0" err="1"/>
              <a:t>xls</a:t>
            </a:r>
            <a:endParaRPr lang="en-IN" dirty="0"/>
          </a:p>
          <a:p>
            <a:r>
              <a:rPr lang="en-IN" dirty="0"/>
              <a:t>.</a:t>
            </a:r>
            <a:r>
              <a:rPr lang="en-IN" dirty="0" err="1"/>
              <a:t>xlsm</a:t>
            </a:r>
            <a:endParaRPr lang="en-IN" dirty="0"/>
          </a:p>
          <a:p>
            <a:r>
              <a:rPr lang="en-IN" dirty="0"/>
              <a:t>.</a:t>
            </a:r>
            <a:r>
              <a:rPr lang="en-IN" dirty="0" err="1"/>
              <a:t>xlt</a:t>
            </a:r>
            <a:endParaRPr lang="en-IN" dirty="0"/>
          </a:p>
          <a:p>
            <a:r>
              <a:rPr lang="en-IN" dirty="0"/>
              <a:t>.</a:t>
            </a:r>
            <a:r>
              <a:rPr lang="en-IN" dirty="0" err="1"/>
              <a:t>xltx</a:t>
            </a:r>
            <a:endParaRPr lang="en-IN" dirty="0"/>
          </a:p>
          <a:p>
            <a:r>
              <a:rPr lang="en-IN" dirty="0"/>
              <a:t>.</a:t>
            </a:r>
            <a:r>
              <a:rPr lang="en-IN" dirty="0" err="1"/>
              <a:t>xltxm</a:t>
            </a:r>
            <a:endParaRPr lang="en-IN" dirty="0"/>
          </a:p>
          <a:p>
            <a:r>
              <a:rPr lang="en-IN" dirty="0"/>
              <a:t>.</a:t>
            </a:r>
            <a:r>
              <a:rPr lang="en-IN" dirty="0" err="1"/>
              <a:t>ods</a:t>
            </a:r>
            <a:endParaRPr lang="en-IN" dirty="0"/>
          </a:p>
          <a:p>
            <a:r>
              <a:rPr lang="en-IN" dirty="0"/>
              <a:t>.csv</a:t>
            </a:r>
          </a:p>
          <a:p>
            <a:r>
              <a:rPr lang="en-IN" dirty="0"/>
              <a:t>.</a:t>
            </a:r>
            <a:r>
              <a:rPr lang="en-IN" dirty="0" err="1"/>
              <a:t>tsv</a:t>
            </a:r>
            <a:endParaRPr lang="en-IN" dirty="0"/>
          </a:p>
          <a:p>
            <a:pPr marL="0" indent="0">
              <a:buNone/>
            </a:pPr>
            <a:br>
              <a:rPr lang="en-IN" dirty="0"/>
            </a:br>
            <a:endParaRPr lang="en-US" dirty="0"/>
          </a:p>
        </p:txBody>
      </p:sp>
      <p:pic>
        <p:nvPicPr>
          <p:cNvPr id="7" name="Picture 6">
            <a:extLst>
              <a:ext uri="{FF2B5EF4-FFF2-40B4-BE49-F238E27FC236}">
                <a16:creationId xmlns:a16="http://schemas.microsoft.com/office/drawing/2014/main" id="{62529B37-6BC7-1C43-9E50-AB2D13FDD6C9}"/>
              </a:ext>
            </a:extLst>
          </p:cNvPr>
          <p:cNvPicPr>
            <a:picLocks noChangeAspect="1"/>
          </p:cNvPicPr>
          <p:nvPr/>
        </p:nvPicPr>
        <p:blipFill rotWithShape="1">
          <a:blip r:embed="rId2"/>
          <a:srcRect l="46815" t="59302" b="1"/>
          <a:stretch/>
        </p:blipFill>
        <p:spPr>
          <a:xfrm>
            <a:off x="3595379" y="1676950"/>
            <a:ext cx="6126137" cy="4687755"/>
          </a:xfrm>
          <a:prstGeom prst="rect">
            <a:avLst/>
          </a:prstGeom>
        </p:spPr>
      </p:pic>
    </p:spTree>
    <p:extLst>
      <p:ext uri="{BB962C8B-B14F-4D97-AF65-F5344CB8AC3E}">
        <p14:creationId xmlns:p14="http://schemas.microsoft.com/office/powerpoint/2010/main" val="1569208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4F9C61-E53D-EE40-A029-F8023A8FF861}"/>
              </a:ext>
            </a:extLst>
          </p:cNvPr>
          <p:cNvSpPr>
            <a:spLocks noGrp="1"/>
          </p:cNvSpPr>
          <p:nvPr>
            <p:ph idx="1"/>
          </p:nvPr>
        </p:nvSpPr>
        <p:spPr>
          <a:xfrm>
            <a:off x="260684" y="273551"/>
            <a:ext cx="11686674" cy="6488195"/>
          </a:xfrm>
        </p:spPr>
        <p:txBody>
          <a:bodyPr/>
          <a:lstStyle/>
          <a:p>
            <a:r>
              <a:rPr lang="en-IN" b="1" dirty="0"/>
              <a:t>5. Integration with other Google products</a:t>
            </a:r>
          </a:p>
          <a:p>
            <a:pPr marL="0" indent="0">
              <a:buNone/>
            </a:pPr>
            <a:r>
              <a:rPr lang="en-IN" dirty="0"/>
              <a:t>Google Sheets can be integrated with other Google products such as Google Form, Google Finance, Google Translate, and Google Drawings. For example, if you want to create a poll or questionnaire, you can input the questions in Google Forms, and then import the Google Forms into Google Sheets.</a:t>
            </a:r>
          </a:p>
          <a:p>
            <a:pPr marL="0" indent="0">
              <a:buNone/>
            </a:pPr>
            <a:endParaRPr lang="en-US" dirty="0"/>
          </a:p>
        </p:txBody>
      </p:sp>
      <p:pic>
        <p:nvPicPr>
          <p:cNvPr id="5" name="Picture 4">
            <a:extLst>
              <a:ext uri="{FF2B5EF4-FFF2-40B4-BE49-F238E27FC236}">
                <a16:creationId xmlns:a16="http://schemas.microsoft.com/office/drawing/2014/main" id="{74A5566D-84A4-6040-9D00-D2A1ADB896E8}"/>
              </a:ext>
            </a:extLst>
          </p:cNvPr>
          <p:cNvPicPr>
            <a:picLocks noChangeAspect="1"/>
          </p:cNvPicPr>
          <p:nvPr/>
        </p:nvPicPr>
        <p:blipFill>
          <a:blip r:embed="rId2"/>
          <a:stretch>
            <a:fillRect/>
          </a:stretch>
        </p:blipFill>
        <p:spPr>
          <a:xfrm>
            <a:off x="5429584" y="3005220"/>
            <a:ext cx="5779535" cy="2926347"/>
          </a:xfrm>
          <a:prstGeom prst="rect">
            <a:avLst/>
          </a:prstGeom>
        </p:spPr>
      </p:pic>
    </p:spTree>
    <p:extLst>
      <p:ext uri="{BB962C8B-B14F-4D97-AF65-F5344CB8AC3E}">
        <p14:creationId xmlns:p14="http://schemas.microsoft.com/office/powerpoint/2010/main" val="3803914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9F8463-8E77-F04C-8F5F-01CA01162AB8}"/>
              </a:ext>
            </a:extLst>
          </p:cNvPr>
          <p:cNvSpPr>
            <a:spLocks noGrp="1"/>
          </p:cNvSpPr>
          <p:nvPr>
            <p:ph idx="1"/>
          </p:nvPr>
        </p:nvSpPr>
        <p:spPr>
          <a:xfrm>
            <a:off x="332874" y="405898"/>
            <a:ext cx="11337758" cy="6187407"/>
          </a:xfrm>
        </p:spPr>
        <p:txBody>
          <a:bodyPr>
            <a:normAutofit fontScale="77500" lnSpcReduction="20000"/>
          </a:bodyPr>
          <a:lstStyle/>
          <a:p>
            <a:pPr marL="0" indent="0" algn="just">
              <a:buNone/>
            </a:pPr>
            <a:r>
              <a:rPr lang="en-IN" sz="5800" b="1" dirty="0"/>
              <a:t>Common Terms</a:t>
            </a:r>
          </a:p>
          <a:p>
            <a:pPr marL="0" indent="0" algn="just">
              <a:buNone/>
            </a:pPr>
            <a:endParaRPr lang="en-IN" sz="5800" b="1" dirty="0"/>
          </a:p>
          <a:p>
            <a:pPr algn="just"/>
            <a:r>
              <a:rPr lang="en-IN" dirty="0"/>
              <a:t>The following are some of the common terms associated with Google spreadsheets:</a:t>
            </a:r>
          </a:p>
          <a:p>
            <a:pPr algn="just"/>
            <a:r>
              <a:rPr lang="en-IN" b="1" dirty="0"/>
              <a:t>Cell</a:t>
            </a:r>
            <a:r>
              <a:rPr lang="en-IN" dirty="0"/>
              <a:t>: A single data-point.</a:t>
            </a:r>
          </a:p>
          <a:p>
            <a:pPr algn="just"/>
            <a:r>
              <a:rPr lang="en-IN" b="1" dirty="0"/>
              <a:t>Column</a:t>
            </a:r>
            <a:r>
              <a:rPr lang="en-IN" dirty="0"/>
              <a:t>: A vertical range of cells that runs down from the top of the sheet.</a:t>
            </a:r>
          </a:p>
          <a:p>
            <a:pPr algn="just"/>
            <a:r>
              <a:rPr lang="en-IN" b="1" dirty="0"/>
              <a:t>Row</a:t>
            </a:r>
            <a:r>
              <a:rPr lang="en-IN" dirty="0"/>
              <a:t>: A horizontal range of cells that run across from the left side of the sheet.</a:t>
            </a:r>
          </a:p>
          <a:p>
            <a:pPr algn="just"/>
            <a:r>
              <a:rPr lang="en-IN" b="1" dirty="0"/>
              <a:t>Range</a:t>
            </a:r>
            <a:r>
              <a:rPr lang="en-IN" dirty="0"/>
              <a:t>: A selection of multiple cells that runs across a column, row, or a combination of both.</a:t>
            </a:r>
          </a:p>
          <a:p>
            <a:pPr algn="just"/>
            <a:r>
              <a:rPr lang="en-IN" b="1" dirty="0"/>
              <a:t>Function</a:t>
            </a:r>
            <a:r>
              <a:rPr lang="en-IN" dirty="0"/>
              <a:t>: A built-in feature in Google Sheet that is used to calculate values and manipulate data.</a:t>
            </a:r>
          </a:p>
          <a:p>
            <a:pPr algn="just"/>
            <a:r>
              <a:rPr lang="en-IN" b="1" dirty="0"/>
              <a:t>Formula</a:t>
            </a:r>
            <a:r>
              <a:rPr lang="en-IN" dirty="0"/>
              <a:t>: A combination of functions, columns, rows, cells, and ranges that are used to obtain a specific end result.</a:t>
            </a:r>
          </a:p>
          <a:p>
            <a:pPr algn="just"/>
            <a:r>
              <a:rPr lang="en-IN" b="1" dirty="0"/>
              <a:t>Worksheet</a:t>
            </a:r>
            <a:r>
              <a:rPr lang="en-IN" dirty="0"/>
              <a:t>: Sets of columns and rows that make up a spreadsheet.</a:t>
            </a:r>
          </a:p>
          <a:p>
            <a:pPr algn="just"/>
            <a:r>
              <a:rPr lang="en-IN" b="1" dirty="0"/>
              <a:t>Spreadsheet</a:t>
            </a:r>
            <a:r>
              <a:rPr lang="en-IN" dirty="0"/>
              <a:t>: Entire document that contains Google Excel sheets. One spreadsheet can have more than one worksheet.</a:t>
            </a:r>
          </a:p>
          <a:p>
            <a:pPr algn="just"/>
            <a:br>
              <a:rPr lang="en-IN" dirty="0"/>
            </a:br>
            <a:endParaRPr lang="en-US" dirty="0"/>
          </a:p>
        </p:txBody>
      </p:sp>
    </p:spTree>
    <p:extLst>
      <p:ext uri="{BB962C8B-B14F-4D97-AF65-F5344CB8AC3E}">
        <p14:creationId xmlns:p14="http://schemas.microsoft.com/office/powerpoint/2010/main" val="41667524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20D11-2405-EF4B-ABBB-F3B452960771}"/>
              </a:ext>
            </a:extLst>
          </p:cNvPr>
          <p:cNvSpPr>
            <a:spLocks noGrp="1"/>
          </p:cNvSpPr>
          <p:nvPr>
            <p:ph type="title"/>
          </p:nvPr>
        </p:nvSpPr>
        <p:spPr>
          <a:xfrm>
            <a:off x="838200" y="4077021"/>
            <a:ext cx="10515600" cy="1325563"/>
          </a:xfrm>
        </p:spPr>
        <p:txBody>
          <a:bodyPr/>
          <a:lstStyle/>
          <a:p>
            <a:r>
              <a:rPr lang="en-IN" b="1" dirty="0">
                <a:latin typeface="+mn-lt"/>
              </a:rPr>
              <a:t>Shortcuts on Windows</a:t>
            </a:r>
            <a:endParaRPr lang="en-US" b="1" dirty="0">
              <a:latin typeface="+mn-lt"/>
            </a:endParaRPr>
          </a:p>
        </p:txBody>
      </p:sp>
      <p:pic>
        <p:nvPicPr>
          <p:cNvPr id="5" name="Content Placeholder 4">
            <a:extLst>
              <a:ext uri="{FF2B5EF4-FFF2-40B4-BE49-F238E27FC236}">
                <a16:creationId xmlns:a16="http://schemas.microsoft.com/office/drawing/2014/main" id="{B1FD6F52-DE14-A04C-B4AF-4F780FB00F70}"/>
              </a:ext>
            </a:extLst>
          </p:cNvPr>
          <p:cNvPicPr>
            <a:picLocks noGrp="1" noChangeAspect="1"/>
          </p:cNvPicPr>
          <p:nvPr>
            <p:ph idx="1"/>
          </p:nvPr>
        </p:nvPicPr>
        <p:blipFill>
          <a:blip r:embed="rId2"/>
          <a:stretch>
            <a:fillRect/>
          </a:stretch>
        </p:blipFill>
        <p:spPr>
          <a:xfrm>
            <a:off x="5232065" y="1241048"/>
            <a:ext cx="3214103" cy="2835973"/>
          </a:xfrm>
        </p:spPr>
      </p:pic>
    </p:spTree>
    <p:extLst>
      <p:ext uri="{BB962C8B-B14F-4D97-AF65-F5344CB8AC3E}">
        <p14:creationId xmlns:p14="http://schemas.microsoft.com/office/powerpoint/2010/main" val="5862106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97A5D5E-847C-0043-B5B1-C04588CC909F}"/>
              </a:ext>
            </a:extLst>
          </p:cNvPr>
          <p:cNvPicPr>
            <a:picLocks noGrp="1" noChangeAspect="1"/>
          </p:cNvPicPr>
          <p:nvPr>
            <p:ph idx="1"/>
          </p:nvPr>
        </p:nvPicPr>
        <p:blipFill rotWithShape="1">
          <a:blip r:embed="rId2"/>
          <a:srcRect l="13859" t="18135" r="42199" b="18540"/>
          <a:stretch/>
        </p:blipFill>
        <p:spPr>
          <a:xfrm>
            <a:off x="0" y="938463"/>
            <a:ext cx="6112043" cy="5505025"/>
          </a:xfrm>
        </p:spPr>
      </p:pic>
      <p:pic>
        <p:nvPicPr>
          <p:cNvPr id="7" name="Picture 6">
            <a:extLst>
              <a:ext uri="{FF2B5EF4-FFF2-40B4-BE49-F238E27FC236}">
                <a16:creationId xmlns:a16="http://schemas.microsoft.com/office/drawing/2014/main" id="{200827C5-7E23-1740-B21D-8F6F0C7A2B7D}"/>
              </a:ext>
            </a:extLst>
          </p:cNvPr>
          <p:cNvPicPr>
            <a:picLocks noChangeAspect="1"/>
          </p:cNvPicPr>
          <p:nvPr/>
        </p:nvPicPr>
        <p:blipFill rotWithShape="1">
          <a:blip r:embed="rId3"/>
          <a:srcRect l="12208" t="18246" r="43713" b="16667"/>
          <a:stretch/>
        </p:blipFill>
        <p:spPr>
          <a:xfrm>
            <a:off x="5150959" y="938463"/>
            <a:ext cx="5821842" cy="5372894"/>
          </a:xfrm>
          <a:prstGeom prst="rect">
            <a:avLst/>
          </a:prstGeom>
        </p:spPr>
      </p:pic>
    </p:spTree>
    <p:extLst>
      <p:ext uri="{BB962C8B-B14F-4D97-AF65-F5344CB8AC3E}">
        <p14:creationId xmlns:p14="http://schemas.microsoft.com/office/powerpoint/2010/main" val="13862558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Content Placeholder 14">
            <a:extLst>
              <a:ext uri="{FF2B5EF4-FFF2-40B4-BE49-F238E27FC236}">
                <a16:creationId xmlns:a16="http://schemas.microsoft.com/office/drawing/2014/main" id="{0EB3D53B-2442-F349-AC31-31DD968D8E87}"/>
              </a:ext>
            </a:extLst>
          </p:cNvPr>
          <p:cNvPicPr>
            <a:picLocks noGrp="1" noChangeAspect="1"/>
          </p:cNvPicPr>
          <p:nvPr>
            <p:ph idx="1"/>
          </p:nvPr>
        </p:nvPicPr>
        <p:blipFill rotWithShape="1">
          <a:blip r:embed="rId2"/>
          <a:srcRect l="18433" t="17216" r="34735" b="22506"/>
          <a:stretch/>
        </p:blipFill>
        <p:spPr>
          <a:xfrm>
            <a:off x="180474" y="1191125"/>
            <a:ext cx="6132242" cy="4932949"/>
          </a:xfrm>
        </p:spPr>
      </p:pic>
      <p:pic>
        <p:nvPicPr>
          <p:cNvPr id="17" name="Picture 16">
            <a:extLst>
              <a:ext uri="{FF2B5EF4-FFF2-40B4-BE49-F238E27FC236}">
                <a16:creationId xmlns:a16="http://schemas.microsoft.com/office/drawing/2014/main" id="{42E908B5-1330-4147-8356-D4F2D05B74C5}"/>
              </a:ext>
            </a:extLst>
          </p:cNvPr>
          <p:cNvPicPr>
            <a:picLocks noChangeAspect="1"/>
          </p:cNvPicPr>
          <p:nvPr/>
        </p:nvPicPr>
        <p:blipFill rotWithShape="1">
          <a:blip r:embed="rId3"/>
          <a:srcRect l="18896" t="18772" r="35161" b="53333"/>
          <a:stretch/>
        </p:blipFill>
        <p:spPr>
          <a:xfrm>
            <a:off x="6448927" y="1046747"/>
            <a:ext cx="5041232" cy="1913022"/>
          </a:xfrm>
          <a:prstGeom prst="rect">
            <a:avLst/>
          </a:prstGeom>
        </p:spPr>
      </p:pic>
    </p:spTree>
    <p:extLst>
      <p:ext uri="{BB962C8B-B14F-4D97-AF65-F5344CB8AC3E}">
        <p14:creationId xmlns:p14="http://schemas.microsoft.com/office/powerpoint/2010/main" val="37829863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1F343-A144-214B-A0A6-DAE4AA31926B}"/>
              </a:ext>
            </a:extLst>
          </p:cNvPr>
          <p:cNvSpPr>
            <a:spLocks noGrp="1"/>
          </p:cNvSpPr>
          <p:nvPr>
            <p:ph type="title"/>
          </p:nvPr>
        </p:nvSpPr>
        <p:spPr>
          <a:xfrm>
            <a:off x="1138989" y="4787356"/>
            <a:ext cx="10515600" cy="1325563"/>
          </a:xfrm>
        </p:spPr>
        <p:txBody>
          <a:bodyPr/>
          <a:lstStyle/>
          <a:p>
            <a:r>
              <a:rPr lang="en-IN" b="1" dirty="0">
                <a:latin typeface="+mn-lt"/>
              </a:rPr>
              <a:t>Shortcuts on Mac</a:t>
            </a:r>
            <a:br>
              <a:rPr lang="en-IN" b="1" dirty="0"/>
            </a:br>
            <a:endParaRPr lang="en-US" dirty="0"/>
          </a:p>
        </p:txBody>
      </p:sp>
      <p:pic>
        <p:nvPicPr>
          <p:cNvPr id="9" name="Content Placeholder 8">
            <a:extLst>
              <a:ext uri="{FF2B5EF4-FFF2-40B4-BE49-F238E27FC236}">
                <a16:creationId xmlns:a16="http://schemas.microsoft.com/office/drawing/2014/main" id="{7B3F221F-1D54-994D-93C2-D6F8A52CED76}"/>
              </a:ext>
            </a:extLst>
          </p:cNvPr>
          <p:cNvPicPr>
            <a:picLocks noGrp="1" noChangeAspect="1"/>
          </p:cNvPicPr>
          <p:nvPr>
            <p:ph idx="1"/>
          </p:nvPr>
        </p:nvPicPr>
        <p:blipFill>
          <a:blip r:embed="rId2"/>
          <a:stretch>
            <a:fillRect/>
          </a:stretch>
        </p:blipFill>
        <p:spPr>
          <a:xfrm>
            <a:off x="4061326" y="1208630"/>
            <a:ext cx="3578726" cy="3578726"/>
          </a:xfrm>
        </p:spPr>
      </p:pic>
    </p:spTree>
    <p:extLst>
      <p:ext uri="{BB962C8B-B14F-4D97-AF65-F5344CB8AC3E}">
        <p14:creationId xmlns:p14="http://schemas.microsoft.com/office/powerpoint/2010/main" val="18560928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0EA0D6F-6BED-0749-AC99-2BE3F83A8152}"/>
              </a:ext>
            </a:extLst>
          </p:cNvPr>
          <p:cNvPicPr>
            <a:picLocks noGrp="1" noChangeAspect="1"/>
          </p:cNvPicPr>
          <p:nvPr>
            <p:ph idx="1"/>
          </p:nvPr>
        </p:nvPicPr>
        <p:blipFill rotWithShape="1">
          <a:blip r:embed="rId2"/>
          <a:srcRect l="17191" t="17913" r="37630" b="18099"/>
          <a:stretch/>
        </p:blipFill>
        <p:spPr>
          <a:xfrm>
            <a:off x="0" y="842210"/>
            <a:ext cx="6374586" cy="5642811"/>
          </a:xfrm>
        </p:spPr>
      </p:pic>
      <p:pic>
        <p:nvPicPr>
          <p:cNvPr id="7" name="Picture 6">
            <a:extLst>
              <a:ext uri="{FF2B5EF4-FFF2-40B4-BE49-F238E27FC236}">
                <a16:creationId xmlns:a16="http://schemas.microsoft.com/office/drawing/2014/main" id="{80AD03B9-8820-E94A-843E-7120402CC014}"/>
              </a:ext>
            </a:extLst>
          </p:cNvPr>
          <p:cNvPicPr>
            <a:picLocks noChangeAspect="1"/>
          </p:cNvPicPr>
          <p:nvPr/>
        </p:nvPicPr>
        <p:blipFill rotWithShape="1">
          <a:blip r:embed="rId3"/>
          <a:srcRect l="17883" t="17719" r="41277" b="19123"/>
          <a:stretch/>
        </p:blipFill>
        <p:spPr>
          <a:xfrm>
            <a:off x="5979695" y="842210"/>
            <a:ext cx="5654842" cy="5457758"/>
          </a:xfrm>
          <a:prstGeom prst="rect">
            <a:avLst/>
          </a:prstGeom>
        </p:spPr>
      </p:pic>
    </p:spTree>
    <p:extLst>
      <p:ext uri="{BB962C8B-B14F-4D97-AF65-F5344CB8AC3E}">
        <p14:creationId xmlns:p14="http://schemas.microsoft.com/office/powerpoint/2010/main" val="17804038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3EEDB26-A7AC-CD4A-9E3B-ECEE351D11EA}"/>
              </a:ext>
            </a:extLst>
          </p:cNvPr>
          <p:cNvPicPr>
            <a:picLocks noGrp="1" noChangeAspect="1"/>
          </p:cNvPicPr>
          <p:nvPr>
            <p:ph idx="1"/>
          </p:nvPr>
        </p:nvPicPr>
        <p:blipFill rotWithShape="1">
          <a:blip r:embed="rId2"/>
          <a:srcRect l="15002" t="18494" r="34633" b="16965"/>
          <a:stretch/>
        </p:blipFill>
        <p:spPr>
          <a:xfrm>
            <a:off x="108283" y="600753"/>
            <a:ext cx="7062537" cy="5656494"/>
          </a:xfrm>
        </p:spPr>
      </p:pic>
      <p:pic>
        <p:nvPicPr>
          <p:cNvPr id="7" name="Picture 6">
            <a:extLst>
              <a:ext uri="{FF2B5EF4-FFF2-40B4-BE49-F238E27FC236}">
                <a16:creationId xmlns:a16="http://schemas.microsoft.com/office/drawing/2014/main" id="{BC52F846-2B71-2646-8042-C47CCC4011BF}"/>
              </a:ext>
            </a:extLst>
          </p:cNvPr>
          <p:cNvPicPr>
            <a:picLocks noChangeAspect="1"/>
          </p:cNvPicPr>
          <p:nvPr/>
        </p:nvPicPr>
        <p:blipFill rotWithShape="1">
          <a:blip r:embed="rId3"/>
          <a:srcRect l="18238" t="17520" r="35636" b="59649"/>
          <a:stretch/>
        </p:blipFill>
        <p:spPr>
          <a:xfrm>
            <a:off x="6316579" y="732272"/>
            <a:ext cx="5061284" cy="1565759"/>
          </a:xfrm>
          <a:prstGeom prst="rect">
            <a:avLst/>
          </a:prstGeom>
        </p:spPr>
      </p:pic>
    </p:spTree>
    <p:extLst>
      <p:ext uri="{BB962C8B-B14F-4D97-AF65-F5344CB8AC3E}">
        <p14:creationId xmlns:p14="http://schemas.microsoft.com/office/powerpoint/2010/main" val="24574987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F03B2A-F967-624C-A32F-2C45A41E974E}"/>
              </a:ext>
            </a:extLst>
          </p:cNvPr>
          <p:cNvSpPr>
            <a:spLocks noGrp="1"/>
          </p:cNvSpPr>
          <p:nvPr>
            <p:ph idx="1"/>
          </p:nvPr>
        </p:nvSpPr>
        <p:spPr>
          <a:xfrm>
            <a:off x="838200" y="2270794"/>
            <a:ext cx="10515600" cy="4351338"/>
          </a:xfrm>
        </p:spPr>
        <p:txBody>
          <a:bodyPr/>
          <a:lstStyle/>
          <a:p>
            <a:pPr marL="0" indent="0">
              <a:buNone/>
            </a:pPr>
            <a:r>
              <a:rPr lang="en-US" dirty="0"/>
              <a:t>https://</a:t>
            </a:r>
            <a:r>
              <a:rPr lang="en-US" dirty="0" err="1"/>
              <a:t>youtu.be</a:t>
            </a:r>
            <a:r>
              <a:rPr lang="en-US" dirty="0"/>
              <a:t>/FIkZ1sPmKNw</a:t>
            </a:r>
          </a:p>
        </p:txBody>
      </p:sp>
    </p:spTree>
    <p:extLst>
      <p:ext uri="{BB962C8B-B14F-4D97-AF65-F5344CB8AC3E}">
        <p14:creationId xmlns:p14="http://schemas.microsoft.com/office/powerpoint/2010/main" val="24929225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41696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417</TotalTime>
  <Words>810</Words>
  <Application>Microsoft Macintosh PowerPoint</Application>
  <PresentationFormat>Widescreen</PresentationFormat>
  <Paragraphs>47</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CAP748:PROBABILITY AND STATISTICS (LAB)  </vt:lpstr>
      <vt:lpstr>Introduction to Googlesheets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Shortcuts on Windows</vt:lpstr>
      <vt:lpstr>PowerPoint Presentation</vt:lpstr>
      <vt:lpstr>PowerPoint Presentation</vt:lpstr>
      <vt:lpstr>Shortcuts on Mac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CAP464</dc:title>
  <dc:creator>cosmosscripto@gmail.com</dc:creator>
  <cp:lastModifiedBy>cosmosscripto@gmail.com</cp:lastModifiedBy>
  <cp:revision>9</cp:revision>
  <dcterms:created xsi:type="dcterms:W3CDTF">2022-01-22T05:46:45Z</dcterms:created>
  <dcterms:modified xsi:type="dcterms:W3CDTF">2022-08-04T04:58:34Z</dcterms:modified>
</cp:coreProperties>
</file>