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3" r:id="rId7"/>
    <p:sldId id="264" r:id="rId8"/>
    <p:sldId id="265" r:id="rId9"/>
    <p:sldId id="263" r:id="rId10"/>
    <p:sldId id="262" r:id="rId11"/>
    <p:sldId id="273" r:id="rId12"/>
    <p:sldId id="274" r:id="rId13"/>
    <p:sldId id="278" r:id="rId14"/>
    <p:sldId id="277" r:id="rId15"/>
    <p:sldId id="275" r:id="rId16"/>
    <p:sldId id="276" r:id="rId17"/>
    <p:sldId id="266" r:id="rId18"/>
    <p:sldId id="267" r:id="rId19"/>
    <p:sldId id="268" r:id="rId20"/>
    <p:sldId id="269" r:id="rId21"/>
    <p:sldId id="270" r:id="rId22"/>
    <p:sldId id="271" r:id="rId23"/>
    <p:sldId id="279" r:id="rId24"/>
    <p:sldId id="280"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84"/>
  </p:normalViewPr>
  <p:slideViewPr>
    <p:cSldViewPr>
      <p:cViewPr varScale="1">
        <p:scale>
          <a:sx n="106" d="100"/>
          <a:sy n="106" d="100"/>
        </p:scale>
        <p:origin x="1800"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4003731-5DAE-4471-9E51-76060D2422DC}" type="datetimeFigureOut">
              <a:rPr lang="en-IN" smtClean="0"/>
              <a:t>03/08/22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4190686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003731-5DAE-4471-9E51-76060D2422DC}" type="datetimeFigureOut">
              <a:rPr lang="en-IN" smtClean="0"/>
              <a:t>03/08/22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2461313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003731-5DAE-4471-9E51-76060D2422DC}" type="datetimeFigureOut">
              <a:rPr lang="en-IN" smtClean="0"/>
              <a:t>03/08/22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65136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4003731-5DAE-4471-9E51-76060D2422DC}" type="datetimeFigureOut">
              <a:rPr lang="en-IN" smtClean="0"/>
              <a:t>03/08/22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392982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4003731-5DAE-4471-9E51-76060D2422DC}" type="datetimeFigureOut">
              <a:rPr lang="en-IN" smtClean="0"/>
              <a:t>03/08/22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4032316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003731-5DAE-4471-9E51-76060D2422DC}" type="datetimeFigureOut">
              <a:rPr lang="en-IN" smtClean="0"/>
              <a:t>03/08/22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966940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003731-5DAE-4471-9E51-76060D2422DC}" type="datetimeFigureOut">
              <a:rPr lang="en-IN" smtClean="0"/>
              <a:t>03/08/22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2958653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03731-5DAE-4471-9E51-76060D2422DC}" type="datetimeFigureOut">
              <a:rPr lang="en-IN" smtClean="0"/>
              <a:t>03/08/22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68092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03731-5DAE-4471-9E51-76060D2422DC}" type="datetimeFigureOut">
              <a:rPr lang="en-IN" smtClean="0"/>
              <a:t>03/08/22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3210022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003731-5DAE-4471-9E51-76060D2422DC}" type="datetimeFigureOut">
              <a:rPr lang="en-IN" smtClean="0"/>
              <a:t>03/08/22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3581695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003731-5DAE-4471-9E51-76060D2422DC}" type="datetimeFigureOut">
              <a:rPr lang="en-IN" smtClean="0"/>
              <a:t>03/08/22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06EFC9-CE83-49FA-810F-569C6128B52C}" type="slidenum">
              <a:rPr lang="en-IN" smtClean="0"/>
              <a:t>‹#›</a:t>
            </a:fld>
            <a:endParaRPr lang="en-IN"/>
          </a:p>
        </p:txBody>
      </p:sp>
    </p:spTree>
    <p:extLst>
      <p:ext uri="{BB962C8B-B14F-4D97-AF65-F5344CB8AC3E}">
        <p14:creationId xmlns:p14="http://schemas.microsoft.com/office/powerpoint/2010/main" val="241331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003731-5DAE-4471-9E51-76060D2422DC}" type="datetimeFigureOut">
              <a:rPr lang="en-IN" smtClean="0"/>
              <a:t>03/08/22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06EFC9-CE83-49FA-810F-569C6128B52C}" type="slidenum">
              <a:rPr lang="en-IN" smtClean="0"/>
              <a:t>‹#›</a:t>
            </a:fld>
            <a:endParaRPr lang="en-IN"/>
          </a:p>
        </p:txBody>
      </p:sp>
    </p:spTree>
    <p:extLst>
      <p:ext uri="{BB962C8B-B14F-4D97-AF65-F5344CB8AC3E}">
        <p14:creationId xmlns:p14="http://schemas.microsoft.com/office/powerpoint/2010/main" val="972855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yjus.com/maths/categorical-dat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extrahop.com/8.9/eh-cloud-services/#connect-to-extrahop-cloud-services"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CAP747:PROBABILITY AND STATISTICS</a:t>
            </a:r>
          </a:p>
        </p:txBody>
      </p:sp>
    </p:spTree>
    <p:extLst>
      <p:ext uri="{BB962C8B-B14F-4D97-AF65-F5344CB8AC3E}">
        <p14:creationId xmlns:p14="http://schemas.microsoft.com/office/powerpoint/2010/main" val="4043054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Introduction to statistics :</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ü"/>
            </a:pPr>
            <a:r>
              <a:rPr lang="en-IN" dirty="0"/>
              <a:t>different types of data</a:t>
            </a:r>
          </a:p>
          <a:p>
            <a:pPr>
              <a:buFont typeface="Wingdings" panose="05000000000000000000" pitchFamily="2" charset="2"/>
              <a:buChar char="ü"/>
            </a:pPr>
            <a:r>
              <a:rPr lang="en-IN" dirty="0"/>
              <a:t>Tables</a:t>
            </a:r>
          </a:p>
          <a:p>
            <a:pPr>
              <a:buFont typeface="Wingdings" panose="05000000000000000000" pitchFamily="2" charset="2"/>
              <a:buChar char="ü"/>
            </a:pPr>
            <a:r>
              <a:rPr lang="en-IN" dirty="0"/>
              <a:t>Charts</a:t>
            </a:r>
          </a:p>
          <a:p>
            <a:pPr>
              <a:buFont typeface="Wingdings" panose="05000000000000000000" pitchFamily="2" charset="2"/>
              <a:buChar char="ü"/>
            </a:pPr>
            <a:r>
              <a:rPr lang="en-IN" dirty="0"/>
              <a:t>histograms</a:t>
            </a:r>
          </a:p>
          <a:p>
            <a:pPr>
              <a:buFont typeface="Wingdings" panose="05000000000000000000" pitchFamily="2" charset="2"/>
              <a:buChar char="ü"/>
            </a:pPr>
            <a:r>
              <a:rPr lang="en-IN" dirty="0"/>
              <a:t>frequency distributions</a:t>
            </a:r>
          </a:p>
          <a:p>
            <a:pPr>
              <a:buFont typeface="Wingdings" panose="05000000000000000000" pitchFamily="2" charset="2"/>
              <a:buChar char="ü"/>
            </a:pPr>
            <a:r>
              <a:rPr lang="en-IN" dirty="0"/>
              <a:t>measures of central tendency: mean, median, mode, box whisker plot</a:t>
            </a:r>
          </a:p>
          <a:p>
            <a:pPr>
              <a:buFont typeface="Wingdings" panose="05000000000000000000" pitchFamily="2" charset="2"/>
              <a:buChar char="ü"/>
            </a:pPr>
            <a:r>
              <a:rPr lang="en-IN" dirty="0"/>
              <a:t>measures of dispersion: range, inter-quartile range, deviation, variance, standard deviation, standard error</a:t>
            </a:r>
          </a:p>
        </p:txBody>
      </p:sp>
    </p:spTree>
    <p:extLst>
      <p:ext uri="{BB962C8B-B14F-4D97-AF65-F5344CB8AC3E}">
        <p14:creationId xmlns:p14="http://schemas.microsoft.com/office/powerpoint/2010/main" val="1865490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96944" cy="6120680"/>
          </a:xfrm>
        </p:spPr>
        <p:txBody>
          <a:bodyPr>
            <a:normAutofit fontScale="92500" lnSpcReduction="10000"/>
          </a:bodyPr>
          <a:lstStyle/>
          <a:p>
            <a:pPr marL="0" indent="0">
              <a:buNone/>
            </a:pPr>
            <a:r>
              <a:rPr lang="en-IN" dirty="0"/>
              <a:t>		</a:t>
            </a:r>
            <a:r>
              <a:rPr lang="en-IN" b="1" dirty="0"/>
              <a:t>Different types of data</a:t>
            </a:r>
          </a:p>
          <a:p>
            <a:pPr marL="0" indent="0">
              <a:buNone/>
            </a:pPr>
            <a:r>
              <a:rPr lang="en-US" dirty="0"/>
              <a:t>There are different types of data in Statistics, that are collected, </a:t>
            </a:r>
            <a:r>
              <a:rPr lang="en-US" dirty="0" err="1"/>
              <a:t>analysed</a:t>
            </a:r>
            <a:r>
              <a:rPr lang="en-US" dirty="0"/>
              <a:t>, interpreted and presented. The data are the individual pieces of factual information recorded, and it is used for the purpose of the analysis process</a:t>
            </a:r>
          </a:p>
          <a:p>
            <a:pPr marL="0" indent="0">
              <a:buNone/>
            </a:pPr>
            <a:r>
              <a:rPr lang="en-US" b="1" dirty="0"/>
              <a:t>What are Types of Data in Statistics?</a:t>
            </a:r>
          </a:p>
          <a:p>
            <a:pPr marL="0" indent="0">
              <a:buNone/>
            </a:pPr>
            <a:r>
              <a:rPr lang="en-US" dirty="0"/>
              <a:t>The data is classified into majorly four categories:</a:t>
            </a:r>
          </a:p>
          <a:p>
            <a:r>
              <a:rPr lang="en-US" dirty="0"/>
              <a:t>Nominal data</a:t>
            </a:r>
          </a:p>
          <a:p>
            <a:r>
              <a:rPr lang="en-US" dirty="0"/>
              <a:t>Ordinal data</a:t>
            </a:r>
          </a:p>
          <a:p>
            <a:r>
              <a:rPr lang="en-US" dirty="0"/>
              <a:t>Discrete data</a:t>
            </a:r>
          </a:p>
          <a:p>
            <a:r>
              <a:rPr lang="en-US" dirty="0"/>
              <a:t>Continuous data</a:t>
            </a:r>
          </a:p>
          <a:p>
            <a:pPr marL="0" indent="0">
              <a:buNone/>
            </a:pPr>
            <a:endParaRPr lang="en-IN" dirty="0"/>
          </a:p>
        </p:txBody>
      </p:sp>
    </p:spTree>
    <p:extLst>
      <p:ext uri="{BB962C8B-B14F-4D97-AF65-F5344CB8AC3E}">
        <p14:creationId xmlns:p14="http://schemas.microsoft.com/office/powerpoint/2010/main" val="113065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Further, we can classify these data as follows:</a:t>
            </a:r>
          </a:p>
          <a:p>
            <a:pPr marL="0" indent="0">
              <a:buNone/>
            </a:pPr>
            <a:br>
              <a:rPr lang="en-US" dirty="0"/>
            </a:br>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982" t="11674" r="2509" b="993"/>
          <a:stretch/>
        </p:blipFill>
        <p:spPr>
          <a:xfrm>
            <a:off x="467544" y="2430349"/>
            <a:ext cx="7666020" cy="3168352"/>
          </a:xfrm>
          <a:prstGeom prst="rect">
            <a:avLst/>
          </a:prstGeom>
        </p:spPr>
      </p:pic>
    </p:spTree>
    <p:extLst>
      <p:ext uri="{BB962C8B-B14F-4D97-AF65-F5344CB8AC3E}">
        <p14:creationId xmlns:p14="http://schemas.microsoft.com/office/powerpoint/2010/main" val="4265138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712968" cy="6192688"/>
          </a:xfrm>
        </p:spPr>
        <p:txBody>
          <a:bodyPr>
            <a:normAutofit fontScale="85000" lnSpcReduction="20000"/>
          </a:bodyPr>
          <a:lstStyle/>
          <a:p>
            <a:r>
              <a:rPr lang="en-US" sz="2800" b="1" dirty="0"/>
              <a:t>1.Qualitative data</a:t>
            </a:r>
            <a:r>
              <a:rPr lang="en-US" sz="2800" dirty="0"/>
              <a:t>, also known as the </a:t>
            </a:r>
            <a:r>
              <a:rPr lang="en-US" sz="2800" dirty="0">
                <a:hlinkClick r:id="rId2"/>
              </a:rPr>
              <a:t>categorical data</a:t>
            </a:r>
            <a:r>
              <a:rPr lang="en-US" sz="2800" dirty="0"/>
              <a:t>, describes the data that fits into the categories. Qualitative data is a bunch of information that cannot be measured in the form of numbers. It is also known as categorical data. It normally comprises words, narratives, and we </a:t>
            </a:r>
            <a:r>
              <a:rPr lang="en-US" sz="2800" dirty="0" err="1"/>
              <a:t>labelled</a:t>
            </a:r>
            <a:r>
              <a:rPr lang="en-US" sz="2800" dirty="0"/>
              <a:t> them with names.</a:t>
            </a:r>
          </a:p>
          <a:p>
            <a:pPr marL="0" indent="0">
              <a:buNone/>
            </a:pPr>
            <a:r>
              <a:rPr lang="en-US" sz="2800" dirty="0"/>
              <a:t> </a:t>
            </a:r>
          </a:p>
          <a:p>
            <a:r>
              <a:rPr lang="en-US" sz="2800" dirty="0"/>
              <a:t>It delivers information about the qualities of things in data. The outcome of qualitative data analysis can come in the type of featuring key words, extracting data, and ideas elaboration.</a:t>
            </a:r>
          </a:p>
          <a:p>
            <a:pPr marL="0" indent="0">
              <a:buNone/>
            </a:pPr>
            <a:r>
              <a:rPr lang="en-US" sz="2800" dirty="0"/>
              <a:t> </a:t>
            </a:r>
          </a:p>
          <a:p>
            <a:pPr marL="0" indent="0">
              <a:buNone/>
            </a:pPr>
            <a:r>
              <a:rPr lang="en-US" sz="2800" u="sng" dirty="0"/>
              <a:t>For examples</a:t>
            </a:r>
            <a:r>
              <a:rPr lang="en-US" sz="2800" dirty="0"/>
              <a:t>: </a:t>
            </a:r>
          </a:p>
          <a:p>
            <a:pPr marL="0" indent="0">
              <a:buNone/>
            </a:pPr>
            <a:r>
              <a:rPr lang="en-US" sz="2800" dirty="0"/>
              <a:t> </a:t>
            </a:r>
          </a:p>
          <a:p>
            <a:r>
              <a:rPr lang="en-US" sz="2800" dirty="0"/>
              <a:t>Hair </a:t>
            </a:r>
            <a:r>
              <a:rPr lang="en-US" sz="2800" dirty="0" err="1"/>
              <a:t>colour</a:t>
            </a:r>
            <a:r>
              <a:rPr lang="en-US" sz="2800" dirty="0"/>
              <a:t>- black, brown, red</a:t>
            </a:r>
          </a:p>
          <a:p>
            <a:r>
              <a:rPr lang="en-US" sz="2800" dirty="0"/>
              <a:t>Opinion- agree, disagree, neutral</a:t>
            </a:r>
          </a:p>
          <a:p>
            <a:pPr marL="0" indent="0" algn="just">
              <a:buNone/>
            </a:pPr>
            <a:endParaRPr lang="en-US" sz="2800" dirty="0"/>
          </a:p>
          <a:p>
            <a:pPr marL="0" indent="0" algn="just">
              <a:buNone/>
            </a:pPr>
            <a:r>
              <a:rPr lang="en-US" sz="2800" b="1" dirty="0"/>
              <a:t>Question :</a:t>
            </a:r>
          </a:p>
          <a:p>
            <a:pPr marL="0" indent="0" algn="just">
              <a:buNone/>
            </a:pPr>
            <a:r>
              <a:rPr lang="en-US" sz="2800" dirty="0"/>
              <a:t>Is there any chance that categorical data can hold numerical values ??</a:t>
            </a:r>
            <a:endParaRPr lang="en-IN" sz="2800" dirty="0"/>
          </a:p>
        </p:txBody>
      </p:sp>
    </p:spTree>
    <p:extLst>
      <p:ext uri="{BB962C8B-B14F-4D97-AF65-F5344CB8AC3E}">
        <p14:creationId xmlns:p14="http://schemas.microsoft.com/office/powerpoint/2010/main" val="3243003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4517C-2A5B-BB42-9BA2-549196A59BBA}"/>
              </a:ext>
            </a:extLst>
          </p:cNvPr>
          <p:cNvSpPr>
            <a:spLocks noGrp="1"/>
          </p:cNvSpPr>
          <p:nvPr>
            <p:ph idx="1"/>
          </p:nvPr>
        </p:nvSpPr>
        <p:spPr>
          <a:xfrm>
            <a:off x="107504" y="188640"/>
            <a:ext cx="8640960" cy="6408712"/>
          </a:xfrm>
        </p:spPr>
        <p:txBody>
          <a:bodyPr>
            <a:normAutofit fontScale="92500"/>
          </a:bodyPr>
          <a:lstStyle/>
          <a:p>
            <a:pPr marL="0" indent="0" algn="just">
              <a:buNone/>
            </a:pPr>
            <a:r>
              <a:rPr lang="en-US" b="1" dirty="0"/>
              <a:t>Question :</a:t>
            </a:r>
          </a:p>
          <a:p>
            <a:pPr marL="0" indent="0" algn="just">
              <a:buNone/>
            </a:pPr>
            <a:r>
              <a:rPr lang="en-US" dirty="0"/>
              <a:t>Is there any chance that categorical data can hold numerical values ??</a:t>
            </a:r>
            <a:endParaRPr lang="en-IN" dirty="0"/>
          </a:p>
          <a:p>
            <a:pPr marL="0" indent="0">
              <a:buNone/>
            </a:pPr>
            <a:r>
              <a:rPr lang="en-IN" b="1" dirty="0"/>
              <a:t>-Even if categorical variables are not quantifiable, they can appear as numbers in a data set</a:t>
            </a:r>
            <a:r>
              <a:rPr lang="en-IN" dirty="0"/>
              <a:t>. Correspondence between these numbers and the categories is established during data coding.</a:t>
            </a:r>
          </a:p>
          <a:p>
            <a:pPr marL="0" indent="0">
              <a:buNone/>
            </a:pPr>
            <a:r>
              <a:rPr lang="en-IN" b="1" dirty="0"/>
              <a:t>-Counts can be either of the three options: Scale (interval or ratio), categorical (ordinal, most likely), count</a:t>
            </a:r>
            <a:r>
              <a:rPr lang="en-IN" dirty="0"/>
              <a:t>. The third option, count, means it is a special quantitative feature called "frequency" which is similar but not identical to ratio scale. The choice is the investigator's and in a particular project.</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354349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b="1" dirty="0"/>
              <a:t>Subdivision</a:t>
            </a:r>
            <a:r>
              <a:rPr lang="it-IT" b="1" i="1" dirty="0"/>
              <a:t> of qualitative data</a:t>
            </a:r>
            <a:endParaRPr lang="en-IN" b="1" dirty="0"/>
          </a:p>
        </p:txBody>
      </p:sp>
      <p:sp>
        <p:nvSpPr>
          <p:cNvPr id="3" name="Content Placeholder 2"/>
          <p:cNvSpPr>
            <a:spLocks noGrp="1"/>
          </p:cNvSpPr>
          <p:nvPr>
            <p:ph idx="1"/>
          </p:nvPr>
        </p:nvSpPr>
        <p:spPr>
          <a:xfrm>
            <a:off x="323528" y="1340768"/>
            <a:ext cx="8229600" cy="4525963"/>
          </a:xfrm>
        </p:spPr>
        <p:txBody>
          <a:bodyPr>
            <a:normAutofit fontScale="77500" lnSpcReduction="20000"/>
          </a:bodyPr>
          <a:lstStyle/>
          <a:p>
            <a:pPr marL="0" indent="0">
              <a:buNone/>
            </a:pPr>
            <a:r>
              <a:rPr lang="en-US" b="1" dirty="0"/>
              <a:t>1. Nominal data </a:t>
            </a:r>
            <a:r>
              <a:rPr lang="en-US" dirty="0"/>
              <a:t>is one of the types of qualitative information which helps to label the variables without providing the numerical value. Nominal data is also called the nominal scale. It cannot be ordered and measured. Examples of nominal data are letters, symbols, words, gender etc.</a:t>
            </a:r>
          </a:p>
          <a:p>
            <a:pPr marL="0" indent="0">
              <a:buNone/>
            </a:pPr>
            <a:r>
              <a:rPr lang="en-US" dirty="0"/>
              <a:t>The nominal data are examined using the grouping method. In this method, the data are grouped into categories, and then the frequency or the percentage of the data can be calculated. These data are visually represented using the pie charts.</a:t>
            </a:r>
          </a:p>
          <a:p>
            <a:pPr marL="0" indent="0">
              <a:buNone/>
            </a:pPr>
            <a:r>
              <a:rPr lang="en-US" b="1" dirty="0"/>
              <a:t>Question:</a:t>
            </a:r>
          </a:p>
          <a:p>
            <a:pPr marL="0" indent="0">
              <a:buNone/>
            </a:pPr>
            <a:r>
              <a:rPr lang="en-US" dirty="0"/>
              <a:t>Can nominal data be quantitative ??</a:t>
            </a:r>
            <a:endParaRPr lang="en-IN" dirty="0"/>
          </a:p>
          <a:p>
            <a:pPr marL="0" indent="0">
              <a:buNone/>
            </a:pPr>
            <a:endParaRPr lang="en-IN" dirty="0"/>
          </a:p>
        </p:txBody>
      </p:sp>
    </p:spTree>
    <p:extLst>
      <p:ext uri="{BB962C8B-B14F-4D97-AF65-F5344CB8AC3E}">
        <p14:creationId xmlns:p14="http://schemas.microsoft.com/office/powerpoint/2010/main" val="287575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260648"/>
            <a:ext cx="8568952" cy="4525963"/>
          </a:xfrm>
        </p:spPr>
        <p:txBody>
          <a:bodyPr>
            <a:normAutofit lnSpcReduction="10000"/>
          </a:bodyPr>
          <a:lstStyle/>
          <a:p>
            <a:pPr marL="0" indent="0">
              <a:buNone/>
            </a:pPr>
            <a:r>
              <a:rPr lang="en-US" b="1" u="sng" dirty="0"/>
              <a:t>2. Ordinal Data</a:t>
            </a:r>
            <a:endParaRPr lang="en-US" dirty="0"/>
          </a:p>
          <a:p>
            <a:pPr marL="0" indent="0" algn="just">
              <a:buNone/>
            </a:pPr>
            <a:r>
              <a:rPr lang="en-US" dirty="0"/>
              <a:t>Ordinal data is almost the same as nominal data but not in the case of order as their categories can be ordered like 1st, 2nd, etc. </a:t>
            </a:r>
          </a:p>
          <a:p>
            <a:pPr marL="0" indent="0" algn="just">
              <a:buNone/>
            </a:pPr>
            <a:r>
              <a:rPr lang="en-US" dirty="0"/>
              <a:t>Ordinal Data is observed but not measured</a:t>
            </a:r>
          </a:p>
          <a:p>
            <a:pPr marL="0" indent="0" algn="just">
              <a:buNone/>
            </a:pPr>
            <a:r>
              <a:rPr lang="en-US" dirty="0"/>
              <a:t>for example, greater or less than, higher or lower etc.</a:t>
            </a:r>
          </a:p>
          <a:p>
            <a:pPr marL="0" indent="0" algn="just">
              <a:buNone/>
            </a:pPr>
            <a:r>
              <a:rPr lang="en-US" dirty="0"/>
              <a:t>You can't do any numerical activities with ordinal data, however, as they are numerical data.</a:t>
            </a:r>
          </a:p>
        </p:txBody>
      </p:sp>
    </p:spTree>
    <p:extLst>
      <p:ext uri="{BB962C8B-B14F-4D97-AF65-F5344CB8AC3E}">
        <p14:creationId xmlns:p14="http://schemas.microsoft.com/office/powerpoint/2010/main" val="280578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640960" cy="6192688"/>
          </a:xfrm>
        </p:spPr>
        <p:txBody>
          <a:bodyPr>
            <a:normAutofit lnSpcReduction="10000"/>
          </a:bodyPr>
          <a:lstStyle/>
          <a:p>
            <a:r>
              <a:rPr lang="en-US" b="1" dirty="0"/>
              <a:t>Quantitative data </a:t>
            </a:r>
            <a:r>
              <a:rPr lang="en-US" dirty="0"/>
              <a:t>is a bunch of information gathered from a group of individuals and includes statistical data analysis. Numerical data is another name for quantitative data. Simply, it gives information about quantities of items in the data and the items that can be estimated. And, we can formulate them in terms of numbers.</a:t>
            </a:r>
          </a:p>
          <a:p>
            <a:pPr marL="0" indent="0">
              <a:buNone/>
            </a:pPr>
            <a:r>
              <a:rPr lang="en-US" u="sng" dirty="0"/>
              <a:t>For examples:</a:t>
            </a:r>
            <a:r>
              <a:rPr lang="en-US" dirty="0"/>
              <a:t> </a:t>
            </a:r>
          </a:p>
          <a:p>
            <a:r>
              <a:rPr lang="en-US" dirty="0"/>
              <a:t>We can measure the height (1.70 meters), distance (1.35 miles)  with the help of a ruler or tape.</a:t>
            </a:r>
          </a:p>
          <a:p>
            <a:r>
              <a:rPr lang="en-US" dirty="0"/>
              <a:t>We can measure water (1.5 </a:t>
            </a:r>
            <a:r>
              <a:rPr lang="en-US" dirty="0" err="1"/>
              <a:t>litres</a:t>
            </a:r>
            <a:r>
              <a:rPr lang="en-US" dirty="0"/>
              <a:t>) with a jug.</a:t>
            </a:r>
          </a:p>
          <a:p>
            <a:pPr marL="0" indent="0">
              <a:buNone/>
            </a:pPr>
            <a:endParaRPr lang="en-IN" dirty="0"/>
          </a:p>
        </p:txBody>
      </p:sp>
    </p:spTree>
    <p:extLst>
      <p:ext uri="{BB962C8B-B14F-4D97-AF65-F5344CB8AC3E}">
        <p14:creationId xmlns:p14="http://schemas.microsoft.com/office/powerpoint/2010/main" val="2948204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76672"/>
            <a:ext cx="8424936" cy="6120680"/>
          </a:xfrm>
        </p:spPr>
        <p:txBody>
          <a:bodyPr>
            <a:normAutofit fontScale="92500"/>
          </a:bodyPr>
          <a:lstStyle/>
          <a:p>
            <a:pPr marL="0" indent="0">
              <a:buNone/>
            </a:pPr>
            <a:r>
              <a:rPr lang="en-US" b="1" dirty="0"/>
              <a:t>Discrete Data</a:t>
            </a:r>
          </a:p>
          <a:p>
            <a:r>
              <a:rPr lang="en-US" dirty="0"/>
              <a:t>Discrete data can take only discrete values. Discrete information contains only a finite number of possible values. Those values cannot be subdivided meaningfully. Here, things can be counted in whole numbers.</a:t>
            </a:r>
          </a:p>
          <a:p>
            <a:pPr marL="0" indent="0">
              <a:buNone/>
            </a:pPr>
            <a:r>
              <a:rPr lang="en-US" b="1" dirty="0"/>
              <a:t>Example:</a:t>
            </a:r>
            <a:r>
              <a:rPr lang="en-US" dirty="0"/>
              <a:t> Number of students in the class</a:t>
            </a:r>
          </a:p>
          <a:p>
            <a:pPr marL="0" indent="0">
              <a:buNone/>
            </a:pPr>
            <a:r>
              <a:rPr lang="en-US" b="1" dirty="0"/>
              <a:t>Continuous Data</a:t>
            </a:r>
          </a:p>
          <a:p>
            <a:r>
              <a:rPr lang="en-US" dirty="0"/>
              <a:t>Continuous data is data that can be calculated. It has an infinite number of probable values that can be selected within a given specific range.</a:t>
            </a:r>
          </a:p>
          <a:p>
            <a:r>
              <a:rPr lang="en-US" b="1" dirty="0"/>
              <a:t>Example:</a:t>
            </a:r>
            <a:r>
              <a:rPr lang="en-US" dirty="0"/>
              <a:t> Temperature range</a:t>
            </a:r>
          </a:p>
          <a:p>
            <a:pPr marL="0" indent="0">
              <a:buNone/>
            </a:pPr>
            <a:endParaRPr lang="en-IN" dirty="0"/>
          </a:p>
        </p:txBody>
      </p:sp>
    </p:spTree>
    <p:extLst>
      <p:ext uri="{BB962C8B-B14F-4D97-AF65-F5344CB8AC3E}">
        <p14:creationId xmlns:p14="http://schemas.microsoft.com/office/powerpoint/2010/main" val="344656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2863-D88A-0C7D-3677-38D3BF2852B3}"/>
              </a:ext>
            </a:extLst>
          </p:cNvPr>
          <p:cNvSpPr>
            <a:spLocks noGrp="1"/>
          </p:cNvSpPr>
          <p:nvPr>
            <p:ph type="title"/>
          </p:nvPr>
        </p:nvSpPr>
        <p:spPr>
          <a:xfrm>
            <a:off x="-252536" y="0"/>
            <a:ext cx="8229600" cy="1143000"/>
          </a:xfrm>
        </p:spPr>
        <p:txBody>
          <a:bodyPr/>
          <a:lstStyle/>
          <a:p>
            <a:r>
              <a:rPr lang="en-IN" b="1" dirty="0"/>
              <a:t>Types of Statistics </a:t>
            </a:r>
            <a:endParaRPr lang="en-US" dirty="0"/>
          </a:p>
        </p:txBody>
      </p:sp>
      <p:pic>
        <p:nvPicPr>
          <p:cNvPr id="5" name="Content Placeholder 4">
            <a:extLst>
              <a:ext uri="{FF2B5EF4-FFF2-40B4-BE49-F238E27FC236}">
                <a16:creationId xmlns:a16="http://schemas.microsoft.com/office/drawing/2014/main" id="{9BA6551A-77A5-7031-E239-2C17CA4C2A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04" y="1556792"/>
            <a:ext cx="8637972" cy="4248472"/>
          </a:xfrm>
        </p:spPr>
      </p:pic>
    </p:spTree>
    <p:extLst>
      <p:ext uri="{BB962C8B-B14F-4D97-AF65-F5344CB8AC3E}">
        <p14:creationId xmlns:p14="http://schemas.microsoft.com/office/powerpoint/2010/main" val="64761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22700C-74BA-124D-7522-2311A9DD8385}"/>
              </a:ext>
            </a:extLst>
          </p:cNvPr>
          <p:cNvSpPr>
            <a:spLocks noGrp="1"/>
          </p:cNvSpPr>
          <p:nvPr>
            <p:ph idx="1"/>
          </p:nvPr>
        </p:nvSpPr>
        <p:spPr>
          <a:xfrm>
            <a:off x="179512" y="476672"/>
            <a:ext cx="8784976" cy="6264696"/>
          </a:xfrm>
        </p:spPr>
        <p:txBody>
          <a:bodyPr>
            <a:normAutofit/>
          </a:bodyPr>
          <a:lstStyle/>
          <a:p>
            <a:pPr marL="0" indent="0">
              <a:buNone/>
            </a:pPr>
            <a:r>
              <a:rPr lang="en-IN" b="1" dirty="0">
                <a:solidFill>
                  <a:srgbClr val="FF0000"/>
                </a:solidFill>
              </a:rPr>
              <a:t>		</a:t>
            </a:r>
            <a:r>
              <a:rPr lang="en-IN" sz="3600" b="1" dirty="0">
                <a:solidFill>
                  <a:srgbClr val="FF0000"/>
                </a:solidFill>
              </a:rPr>
              <a:t>Descriptive Statistics </a:t>
            </a:r>
            <a:br>
              <a:rPr lang="en-IN" sz="2800" dirty="0">
                <a:solidFill>
                  <a:srgbClr val="FF0000"/>
                </a:solidFill>
              </a:rPr>
            </a:br>
            <a:r>
              <a:rPr lang="en-IN" sz="2400" dirty="0"/>
              <a:t>Descriptive statistics uses data that provides a description of the population either through numerical calculation or graph or table. It provides a graphical summary of data. It is simply used for summarizing objects, etc. </a:t>
            </a:r>
          </a:p>
          <a:p>
            <a:endParaRPr lang="en-IN" sz="2400" dirty="0"/>
          </a:p>
          <a:p>
            <a:pPr marL="0" indent="0">
              <a:buNone/>
            </a:pPr>
            <a:r>
              <a:rPr lang="en-IN" sz="2800" dirty="0"/>
              <a:t>There are two categories in this as following below. </a:t>
            </a:r>
          </a:p>
          <a:p>
            <a:pPr marL="0" indent="0">
              <a:buNone/>
            </a:pPr>
            <a:r>
              <a:rPr lang="en-IN" sz="3600" b="1" dirty="0"/>
              <a:t>1.Measure of central tendency </a:t>
            </a:r>
          </a:p>
          <a:p>
            <a:pPr marL="571500" indent="-571500">
              <a:buFont typeface="+mj-lt"/>
              <a:buAutoNum type="romanUcPeriod"/>
            </a:pPr>
            <a:r>
              <a:rPr lang="en-IN" b="1" dirty="0"/>
              <a:t>Mean </a:t>
            </a:r>
          </a:p>
          <a:p>
            <a:pPr marL="571500" indent="-571500">
              <a:buFont typeface="+mj-lt"/>
              <a:buAutoNum type="romanUcPeriod"/>
            </a:pPr>
            <a:r>
              <a:rPr lang="en-IN" b="1" dirty="0"/>
              <a:t>Median </a:t>
            </a:r>
          </a:p>
          <a:p>
            <a:pPr marL="571500" indent="-571500">
              <a:buFont typeface="+mj-lt"/>
              <a:buAutoNum type="romanUcPeriod"/>
            </a:pPr>
            <a:r>
              <a:rPr lang="en-IN" b="1" dirty="0"/>
              <a:t>Mode </a:t>
            </a:r>
          </a:p>
        </p:txBody>
      </p:sp>
    </p:spTree>
    <p:extLst>
      <p:ext uri="{BB962C8B-B14F-4D97-AF65-F5344CB8AC3E}">
        <p14:creationId xmlns:p14="http://schemas.microsoft.com/office/powerpoint/2010/main" val="968881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D523BB-13D7-B2EF-3A5F-46BB8A93A589}"/>
              </a:ext>
            </a:extLst>
          </p:cNvPr>
          <p:cNvSpPr>
            <a:spLocks noGrp="1"/>
          </p:cNvSpPr>
          <p:nvPr>
            <p:ph idx="1"/>
          </p:nvPr>
        </p:nvSpPr>
        <p:spPr>
          <a:xfrm>
            <a:off x="179512" y="404664"/>
            <a:ext cx="8229600" cy="4525963"/>
          </a:xfrm>
        </p:spPr>
        <p:txBody>
          <a:bodyPr/>
          <a:lstStyle/>
          <a:p>
            <a:pPr marL="0" indent="0">
              <a:buNone/>
            </a:pPr>
            <a:r>
              <a:rPr lang="en-IN" sz="3600" b="1" dirty="0"/>
              <a:t>2.Measure of Variability </a:t>
            </a:r>
          </a:p>
          <a:p>
            <a:pPr marL="571500" indent="-571500">
              <a:buFont typeface="+mj-lt"/>
              <a:buAutoNum type="romanLcPeriod"/>
            </a:pPr>
            <a:r>
              <a:rPr lang="en-IN" b="1" dirty="0"/>
              <a:t>Range </a:t>
            </a:r>
          </a:p>
          <a:p>
            <a:pPr marL="571500" indent="-571500">
              <a:buFont typeface="+mj-lt"/>
              <a:buAutoNum type="romanLcPeriod"/>
            </a:pPr>
            <a:r>
              <a:rPr lang="en-IN" b="1" dirty="0"/>
              <a:t>Variance </a:t>
            </a:r>
          </a:p>
          <a:p>
            <a:pPr marL="571500" indent="-571500">
              <a:buFont typeface="+mj-lt"/>
              <a:buAutoNum type="romanLcPeriod"/>
            </a:pPr>
            <a:r>
              <a:rPr lang="en-IN" b="1" dirty="0"/>
              <a:t>Dispersion</a:t>
            </a:r>
          </a:p>
        </p:txBody>
      </p:sp>
    </p:spTree>
    <p:extLst>
      <p:ext uri="{BB962C8B-B14F-4D97-AF65-F5344CB8AC3E}">
        <p14:creationId xmlns:p14="http://schemas.microsoft.com/office/powerpoint/2010/main" val="101497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D811-EA0D-8FCD-E2DE-12EFE3AA8FFB}"/>
              </a:ext>
            </a:extLst>
          </p:cNvPr>
          <p:cNvSpPr>
            <a:spLocks noGrp="1"/>
          </p:cNvSpPr>
          <p:nvPr>
            <p:ph type="title"/>
          </p:nvPr>
        </p:nvSpPr>
        <p:spPr/>
        <p:txBody>
          <a:bodyPr/>
          <a:lstStyle/>
          <a:p>
            <a:r>
              <a:rPr lang="sk-SK" altLang="en-US" b="1" dirty="0" err="1">
                <a:solidFill>
                  <a:srgbClr val="FF0000"/>
                </a:solidFill>
                <a:sym typeface="+mn-ea"/>
              </a:rPr>
              <a:t>Inferential</a:t>
            </a:r>
            <a:r>
              <a:rPr lang="sk-SK" altLang="en-US" b="1" dirty="0">
                <a:solidFill>
                  <a:srgbClr val="FF0000"/>
                </a:solidFill>
                <a:sym typeface="+mn-ea"/>
              </a:rPr>
              <a:t> </a:t>
            </a:r>
            <a:r>
              <a:rPr lang="sk-SK" altLang="en-US" b="1" dirty="0" err="1">
                <a:solidFill>
                  <a:srgbClr val="FF0000"/>
                </a:solidFill>
                <a:sym typeface="+mn-ea"/>
              </a:rPr>
              <a:t>statistics</a:t>
            </a:r>
            <a:endParaRPr lang="en-US" b="1" dirty="0">
              <a:solidFill>
                <a:srgbClr val="FF0000"/>
              </a:solidFill>
            </a:endParaRPr>
          </a:p>
        </p:txBody>
      </p:sp>
      <p:sp>
        <p:nvSpPr>
          <p:cNvPr id="3" name="Content Placeholder 2">
            <a:extLst>
              <a:ext uri="{FF2B5EF4-FFF2-40B4-BE49-F238E27FC236}">
                <a16:creationId xmlns:a16="http://schemas.microsoft.com/office/drawing/2014/main" id="{C53042BF-6200-610C-A40D-835D3DB0B745}"/>
              </a:ext>
            </a:extLst>
          </p:cNvPr>
          <p:cNvSpPr>
            <a:spLocks noGrp="1"/>
          </p:cNvSpPr>
          <p:nvPr>
            <p:ph idx="1"/>
          </p:nvPr>
        </p:nvSpPr>
        <p:spPr/>
        <p:txBody>
          <a:bodyPr/>
          <a:lstStyle/>
          <a:p>
            <a:r>
              <a:rPr lang="sk-SK" altLang="en-US" sz="3000" b="1" dirty="0" err="1">
                <a:sym typeface="+mn-ea"/>
              </a:rPr>
              <a:t>Inferential</a:t>
            </a:r>
            <a:r>
              <a:rPr lang="sk-SK" altLang="en-US" sz="3000" b="1" dirty="0">
                <a:sym typeface="+mn-ea"/>
              </a:rPr>
              <a:t> </a:t>
            </a:r>
            <a:r>
              <a:rPr lang="sk-SK" altLang="en-US" sz="3000" b="1" dirty="0" err="1">
                <a:sym typeface="+mn-ea"/>
              </a:rPr>
              <a:t>statistics</a:t>
            </a:r>
            <a:r>
              <a:rPr lang="sk-SK" altLang="en-US" sz="3000" b="1" dirty="0">
                <a:sym typeface="+mn-ea"/>
              </a:rPr>
              <a:t> </a:t>
            </a:r>
            <a:r>
              <a:rPr lang="sk-SK" altLang="en-US" sz="3000" dirty="0">
                <a:sym typeface="+mn-ea"/>
              </a:rPr>
              <a:t>– </a:t>
            </a:r>
            <a:r>
              <a:rPr lang="sk-SK" altLang="en-US" sz="3000" dirty="0" err="1">
                <a:sym typeface="+mn-ea"/>
              </a:rPr>
              <a:t>The</a:t>
            </a:r>
            <a:r>
              <a:rPr lang="sk-SK" altLang="en-US" sz="3000" dirty="0">
                <a:sym typeface="+mn-ea"/>
              </a:rPr>
              <a:t> </a:t>
            </a:r>
            <a:r>
              <a:rPr lang="sk-SK" altLang="en-US" sz="3000" dirty="0" err="1">
                <a:sym typeface="+mn-ea"/>
              </a:rPr>
              <a:t>methods</a:t>
            </a:r>
            <a:r>
              <a:rPr lang="sk-SK" altLang="en-US" sz="3000" dirty="0">
                <a:sym typeface="+mn-ea"/>
              </a:rPr>
              <a:t> </a:t>
            </a:r>
            <a:r>
              <a:rPr lang="sk-SK" altLang="en-US" sz="3000" dirty="0" err="1">
                <a:sym typeface="+mn-ea"/>
              </a:rPr>
              <a:t>used</a:t>
            </a:r>
            <a:r>
              <a:rPr lang="sk-SK" altLang="en-US" sz="3000" dirty="0">
                <a:sym typeface="+mn-ea"/>
              </a:rPr>
              <a:t> to </a:t>
            </a:r>
            <a:r>
              <a:rPr lang="sk-SK" altLang="en-US" sz="3000" dirty="0" err="1">
                <a:sym typeface="+mn-ea"/>
              </a:rPr>
              <a:t>determine</a:t>
            </a:r>
            <a:r>
              <a:rPr lang="sk-SK" altLang="en-US" sz="3000" dirty="0">
                <a:sym typeface="+mn-ea"/>
              </a:rPr>
              <a:t> </a:t>
            </a:r>
            <a:r>
              <a:rPr lang="sk-SK" altLang="en-US" sz="3000" dirty="0" err="1">
                <a:sym typeface="+mn-ea"/>
              </a:rPr>
              <a:t>something</a:t>
            </a:r>
            <a:r>
              <a:rPr lang="sk-SK" altLang="en-US" sz="3000" dirty="0">
                <a:sym typeface="+mn-ea"/>
              </a:rPr>
              <a:t> </a:t>
            </a:r>
            <a:r>
              <a:rPr lang="sk-SK" altLang="en-US" sz="3000" dirty="0" err="1">
                <a:sym typeface="+mn-ea"/>
              </a:rPr>
              <a:t>about</a:t>
            </a:r>
            <a:r>
              <a:rPr lang="sk-SK" altLang="en-US" sz="3000" dirty="0">
                <a:sym typeface="+mn-ea"/>
              </a:rPr>
              <a:t> a </a:t>
            </a:r>
            <a:r>
              <a:rPr lang="sk-SK" altLang="en-US" sz="3000" dirty="0" err="1">
                <a:sym typeface="+mn-ea"/>
              </a:rPr>
              <a:t>population</a:t>
            </a:r>
            <a:r>
              <a:rPr lang="sk-SK" altLang="en-US" sz="3000" dirty="0">
                <a:sym typeface="+mn-ea"/>
              </a:rPr>
              <a:t> on </a:t>
            </a:r>
            <a:r>
              <a:rPr lang="sk-SK" altLang="en-US" sz="3000" dirty="0" err="1">
                <a:sym typeface="+mn-ea"/>
              </a:rPr>
              <a:t>the</a:t>
            </a:r>
            <a:r>
              <a:rPr lang="sk-SK" altLang="en-US" sz="3000" dirty="0">
                <a:sym typeface="+mn-ea"/>
              </a:rPr>
              <a:t> </a:t>
            </a:r>
            <a:r>
              <a:rPr lang="sk-SK" altLang="en-US" sz="3000" dirty="0" err="1">
                <a:sym typeface="+mn-ea"/>
              </a:rPr>
              <a:t>basis</a:t>
            </a:r>
            <a:r>
              <a:rPr lang="sk-SK" altLang="en-US" sz="3000" dirty="0">
                <a:sym typeface="+mn-ea"/>
              </a:rPr>
              <a:t> of a </a:t>
            </a:r>
            <a:r>
              <a:rPr lang="sk-SK" altLang="en-US" sz="3000" dirty="0" err="1">
                <a:sym typeface="+mn-ea"/>
              </a:rPr>
              <a:t>sample</a:t>
            </a:r>
            <a:endParaRPr lang="sk-SK" altLang="en-US" sz="3000" dirty="0">
              <a:sym typeface="+mn-ea"/>
            </a:endParaRPr>
          </a:p>
          <a:p>
            <a:pPr lvl="1"/>
            <a:r>
              <a:rPr lang="sk-SK" altLang="en-US" sz="3000" b="1" dirty="0" err="1">
                <a:sym typeface="+mn-ea"/>
              </a:rPr>
              <a:t>Population</a:t>
            </a:r>
            <a:r>
              <a:rPr lang="sk-SK" altLang="en-US" sz="3000" dirty="0">
                <a:sym typeface="+mn-ea"/>
              </a:rPr>
              <a:t> –</a:t>
            </a:r>
            <a:r>
              <a:rPr lang="sk-SK" altLang="en-US" sz="3000" dirty="0" err="1">
                <a:sym typeface="+mn-ea"/>
              </a:rPr>
              <a:t>The</a:t>
            </a:r>
            <a:r>
              <a:rPr lang="sk-SK" altLang="en-US" sz="3000" dirty="0">
                <a:sym typeface="+mn-ea"/>
              </a:rPr>
              <a:t> </a:t>
            </a:r>
            <a:r>
              <a:rPr lang="sk-SK" altLang="en-US" sz="3000" dirty="0" err="1">
                <a:sym typeface="+mn-ea"/>
              </a:rPr>
              <a:t>entire</a:t>
            </a:r>
            <a:r>
              <a:rPr lang="sk-SK" altLang="en-US" sz="3000" dirty="0">
                <a:sym typeface="+mn-ea"/>
              </a:rPr>
              <a:t> set of </a:t>
            </a:r>
            <a:r>
              <a:rPr lang="sk-SK" altLang="en-US" sz="3000" dirty="0" err="1">
                <a:sym typeface="+mn-ea"/>
              </a:rPr>
              <a:t>individuals</a:t>
            </a:r>
            <a:r>
              <a:rPr lang="sk-SK" altLang="en-US" sz="3000" dirty="0">
                <a:sym typeface="+mn-ea"/>
              </a:rPr>
              <a:t> or </a:t>
            </a:r>
            <a:r>
              <a:rPr lang="sk-SK" altLang="en-US" sz="3000" dirty="0" err="1">
                <a:sym typeface="+mn-ea"/>
              </a:rPr>
              <a:t>ob</a:t>
            </a:r>
            <a:endParaRPr lang="sk-SK" altLang="en-US" sz="3000" dirty="0">
              <a:sym typeface="+mn-ea"/>
            </a:endParaRPr>
          </a:p>
          <a:p>
            <a:pPr lvl="1"/>
            <a:r>
              <a:rPr lang="sk-SK" altLang="en-US" sz="3000" dirty="0" err="1">
                <a:sym typeface="+mn-ea"/>
              </a:rPr>
              <a:t>jects</a:t>
            </a:r>
            <a:r>
              <a:rPr lang="sk-SK" altLang="en-US" sz="3000" dirty="0">
                <a:sym typeface="+mn-ea"/>
              </a:rPr>
              <a:t> of </a:t>
            </a:r>
            <a:r>
              <a:rPr lang="sk-SK" altLang="en-US" sz="3000" dirty="0" err="1">
                <a:sym typeface="+mn-ea"/>
              </a:rPr>
              <a:t>interest</a:t>
            </a:r>
            <a:r>
              <a:rPr lang="sk-SK" altLang="en-US" sz="3000" dirty="0">
                <a:sym typeface="+mn-ea"/>
              </a:rPr>
              <a:t> or </a:t>
            </a:r>
            <a:r>
              <a:rPr lang="sk-SK" altLang="en-US" sz="3000" dirty="0" err="1">
                <a:sym typeface="+mn-ea"/>
              </a:rPr>
              <a:t>the</a:t>
            </a:r>
            <a:r>
              <a:rPr lang="sk-SK" altLang="en-US" sz="3000" dirty="0">
                <a:sym typeface="+mn-ea"/>
              </a:rPr>
              <a:t> </a:t>
            </a:r>
            <a:r>
              <a:rPr lang="sk-SK" altLang="en-US" sz="3000" dirty="0" err="1">
                <a:sym typeface="+mn-ea"/>
              </a:rPr>
              <a:t>measurements</a:t>
            </a:r>
            <a:r>
              <a:rPr lang="sk-SK" altLang="en-US" sz="3000" dirty="0">
                <a:sym typeface="+mn-ea"/>
              </a:rPr>
              <a:t> </a:t>
            </a:r>
            <a:r>
              <a:rPr lang="sk-SK" altLang="en-US" sz="3000" dirty="0" err="1">
                <a:sym typeface="+mn-ea"/>
              </a:rPr>
              <a:t>obtained</a:t>
            </a:r>
            <a:r>
              <a:rPr lang="sk-SK" altLang="en-US" sz="3000" dirty="0">
                <a:sym typeface="+mn-ea"/>
              </a:rPr>
              <a:t> </a:t>
            </a:r>
            <a:r>
              <a:rPr lang="sk-SK" altLang="en-US" sz="3000" dirty="0" err="1">
                <a:sym typeface="+mn-ea"/>
              </a:rPr>
              <a:t>from</a:t>
            </a:r>
            <a:r>
              <a:rPr lang="sk-SK" altLang="en-US" sz="3000" dirty="0">
                <a:sym typeface="+mn-ea"/>
              </a:rPr>
              <a:t> </a:t>
            </a:r>
            <a:r>
              <a:rPr lang="sk-SK" altLang="en-US" sz="3000" dirty="0" err="1">
                <a:sym typeface="+mn-ea"/>
              </a:rPr>
              <a:t>all</a:t>
            </a:r>
            <a:r>
              <a:rPr lang="sk-SK" altLang="en-US" sz="3000" dirty="0">
                <a:sym typeface="+mn-ea"/>
              </a:rPr>
              <a:t> </a:t>
            </a:r>
            <a:r>
              <a:rPr lang="sk-SK" altLang="en-US" sz="3000" dirty="0" err="1">
                <a:sym typeface="+mn-ea"/>
              </a:rPr>
              <a:t>individuals</a:t>
            </a:r>
            <a:r>
              <a:rPr lang="sk-SK" altLang="en-US" sz="3000" dirty="0">
                <a:sym typeface="+mn-ea"/>
              </a:rPr>
              <a:t> or </a:t>
            </a:r>
            <a:r>
              <a:rPr lang="sk-SK" altLang="en-US" sz="3000" dirty="0" err="1">
                <a:sym typeface="+mn-ea"/>
              </a:rPr>
              <a:t>objects</a:t>
            </a:r>
            <a:r>
              <a:rPr lang="sk-SK" altLang="en-US" sz="3000" dirty="0">
                <a:sym typeface="+mn-ea"/>
              </a:rPr>
              <a:t> of </a:t>
            </a:r>
            <a:r>
              <a:rPr lang="sk-SK" altLang="en-US" sz="3000" dirty="0" err="1">
                <a:sym typeface="+mn-ea"/>
              </a:rPr>
              <a:t>interest</a:t>
            </a:r>
            <a:endParaRPr lang="sk-SK" altLang="en-US" sz="3000" dirty="0">
              <a:sym typeface="+mn-ea"/>
            </a:endParaRPr>
          </a:p>
          <a:p>
            <a:pPr lvl="1"/>
            <a:r>
              <a:rPr lang="sk-SK" altLang="en-US" sz="3000" b="1" dirty="0" err="1">
                <a:sym typeface="+mn-ea"/>
              </a:rPr>
              <a:t>Sample</a:t>
            </a:r>
            <a:r>
              <a:rPr lang="sk-SK" altLang="en-US" sz="3000" dirty="0">
                <a:sym typeface="+mn-ea"/>
              </a:rPr>
              <a:t> – A </a:t>
            </a:r>
            <a:r>
              <a:rPr lang="sk-SK" altLang="en-US" sz="3000" dirty="0" err="1">
                <a:sym typeface="+mn-ea"/>
              </a:rPr>
              <a:t>portion</a:t>
            </a:r>
            <a:r>
              <a:rPr lang="sk-SK" altLang="en-US" sz="3000" dirty="0">
                <a:sym typeface="+mn-ea"/>
              </a:rPr>
              <a:t>, or part, of </a:t>
            </a:r>
            <a:r>
              <a:rPr lang="sk-SK" altLang="en-US" sz="3000" dirty="0" err="1">
                <a:sym typeface="+mn-ea"/>
              </a:rPr>
              <a:t>the</a:t>
            </a:r>
            <a:r>
              <a:rPr lang="sk-SK" altLang="en-US" sz="3000" dirty="0">
                <a:sym typeface="+mn-ea"/>
              </a:rPr>
              <a:t> </a:t>
            </a:r>
            <a:r>
              <a:rPr lang="sk-SK" altLang="en-US" sz="3000" dirty="0" err="1">
                <a:sym typeface="+mn-ea"/>
              </a:rPr>
              <a:t>population</a:t>
            </a:r>
            <a:r>
              <a:rPr lang="sk-SK" altLang="en-US" sz="3000" dirty="0">
                <a:sym typeface="+mn-ea"/>
              </a:rPr>
              <a:t> of </a:t>
            </a:r>
            <a:r>
              <a:rPr lang="sk-SK" altLang="en-US" sz="3000" dirty="0" err="1">
                <a:sym typeface="+mn-ea"/>
              </a:rPr>
              <a:t>interest</a:t>
            </a:r>
            <a:endParaRPr lang="en-US" dirty="0"/>
          </a:p>
          <a:p>
            <a:pPr marL="0" indent="0">
              <a:buNone/>
            </a:pPr>
            <a:endParaRPr lang="en-US" dirty="0"/>
          </a:p>
        </p:txBody>
      </p:sp>
    </p:spTree>
    <p:extLst>
      <p:ext uri="{BB962C8B-B14F-4D97-AF65-F5344CB8AC3E}">
        <p14:creationId xmlns:p14="http://schemas.microsoft.com/office/powerpoint/2010/main" val="88962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207E-59DE-6B1F-8F00-29B808D15B20}"/>
              </a:ext>
            </a:extLst>
          </p:cNvPr>
          <p:cNvSpPr>
            <a:spLocks noGrp="1"/>
          </p:cNvSpPr>
          <p:nvPr>
            <p:ph type="title"/>
          </p:nvPr>
        </p:nvSpPr>
        <p:spPr>
          <a:xfrm>
            <a:off x="323528" y="692696"/>
            <a:ext cx="8229600" cy="1143000"/>
          </a:xfrm>
        </p:spPr>
        <p:txBody>
          <a:bodyPr>
            <a:normAutofit fontScale="90000"/>
          </a:bodyPr>
          <a:lstStyle/>
          <a:p>
            <a:r>
              <a:rPr lang="en-IN" b="1" dirty="0"/>
              <a:t>Inferential statistics can be done with help of various steps as given below:</a:t>
            </a:r>
            <a:br>
              <a:rPr lang="en-IN" dirty="0"/>
            </a:br>
            <a:endParaRPr lang="en-US" dirty="0"/>
          </a:p>
        </p:txBody>
      </p:sp>
      <p:sp>
        <p:nvSpPr>
          <p:cNvPr id="3" name="Content Placeholder 2">
            <a:extLst>
              <a:ext uri="{FF2B5EF4-FFF2-40B4-BE49-F238E27FC236}">
                <a16:creationId xmlns:a16="http://schemas.microsoft.com/office/drawing/2014/main" id="{4474A50B-1590-5512-FC77-39ABEC409E50}"/>
              </a:ext>
            </a:extLst>
          </p:cNvPr>
          <p:cNvSpPr>
            <a:spLocks noGrp="1"/>
          </p:cNvSpPr>
          <p:nvPr>
            <p:ph idx="1"/>
          </p:nvPr>
        </p:nvSpPr>
        <p:spPr>
          <a:xfrm>
            <a:off x="457200" y="2204864"/>
            <a:ext cx="8229600" cy="4525963"/>
          </a:xfrm>
        </p:spPr>
        <p:txBody>
          <a:bodyPr>
            <a:normAutofit fontScale="77500" lnSpcReduction="20000"/>
          </a:bodyPr>
          <a:lstStyle/>
          <a:p>
            <a:pPr fontAlgn="base"/>
            <a:r>
              <a:rPr lang="en-IN" dirty="0"/>
              <a:t>Obtain and start with a theory.</a:t>
            </a:r>
          </a:p>
          <a:p>
            <a:pPr fontAlgn="base"/>
            <a:r>
              <a:rPr lang="en-IN" dirty="0"/>
              <a:t>Generate a research hypothesis.</a:t>
            </a:r>
          </a:p>
          <a:p>
            <a:pPr fontAlgn="base"/>
            <a:r>
              <a:rPr lang="en-IN" dirty="0"/>
              <a:t>Operationalize or use variables</a:t>
            </a:r>
          </a:p>
          <a:p>
            <a:pPr fontAlgn="base"/>
            <a:r>
              <a:rPr lang="en-IN" dirty="0"/>
              <a:t>Identify or find out population to which we can apply study material.</a:t>
            </a:r>
          </a:p>
          <a:p>
            <a:pPr fontAlgn="base"/>
            <a:r>
              <a:rPr lang="en-IN" dirty="0"/>
              <a:t>Generate or form a null hypothesis for these population.</a:t>
            </a:r>
          </a:p>
          <a:p>
            <a:pPr fontAlgn="base"/>
            <a:r>
              <a:rPr lang="en-IN" dirty="0"/>
              <a:t>Collect and gather a sample of children from population and simply run study.</a:t>
            </a:r>
          </a:p>
          <a:p>
            <a:pPr fontAlgn="base"/>
            <a:r>
              <a:rPr lang="en-IN" dirty="0"/>
              <a:t>Then, perform all tests of statistical to clarify if obtained characteristics of sample are sufficiently different from what would be expected under null hypothesis so that we can be able to find and reject null hypothesis.</a:t>
            </a:r>
          </a:p>
          <a:p>
            <a:pPr marL="0" indent="0">
              <a:buNone/>
            </a:pPr>
            <a:endParaRPr lang="en-US" dirty="0"/>
          </a:p>
        </p:txBody>
      </p:sp>
    </p:spTree>
    <p:extLst>
      <p:ext uri="{BB962C8B-B14F-4D97-AF65-F5344CB8AC3E}">
        <p14:creationId xmlns:p14="http://schemas.microsoft.com/office/powerpoint/2010/main" val="816901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58BD-805B-882D-AF0E-3D997897720A}"/>
              </a:ext>
            </a:extLst>
          </p:cNvPr>
          <p:cNvSpPr>
            <a:spLocks noGrp="1"/>
          </p:cNvSpPr>
          <p:nvPr>
            <p:ph type="title"/>
          </p:nvPr>
        </p:nvSpPr>
        <p:spPr/>
        <p:txBody>
          <a:bodyPr/>
          <a:lstStyle/>
          <a:p>
            <a:r>
              <a:rPr lang="en-IN" b="1" dirty="0"/>
              <a:t>Types of inferential statistics </a:t>
            </a:r>
            <a:endParaRPr lang="en-US" dirty="0"/>
          </a:p>
        </p:txBody>
      </p:sp>
      <p:sp>
        <p:nvSpPr>
          <p:cNvPr id="3" name="Content Placeholder 2">
            <a:extLst>
              <a:ext uri="{FF2B5EF4-FFF2-40B4-BE49-F238E27FC236}">
                <a16:creationId xmlns:a16="http://schemas.microsoft.com/office/drawing/2014/main" id="{1002128B-66DF-046C-05FD-45FA75E4072F}"/>
              </a:ext>
            </a:extLst>
          </p:cNvPr>
          <p:cNvSpPr>
            <a:spLocks noGrp="1"/>
          </p:cNvSpPr>
          <p:nvPr>
            <p:ph idx="1"/>
          </p:nvPr>
        </p:nvSpPr>
        <p:spPr/>
        <p:txBody>
          <a:bodyPr>
            <a:normAutofit fontScale="77500" lnSpcReduction="20000"/>
          </a:bodyPr>
          <a:lstStyle/>
          <a:p>
            <a:pPr marL="0" indent="0" fontAlgn="base">
              <a:buNone/>
            </a:pPr>
            <a:br>
              <a:rPr lang="en-IN" dirty="0"/>
            </a:br>
            <a:r>
              <a:rPr lang="en-IN" dirty="0"/>
              <a:t>Various types of inferential statistics are used widely nowadays and are very easy to interpret. These are given below:</a:t>
            </a:r>
          </a:p>
          <a:p>
            <a:pPr fontAlgn="base"/>
            <a:r>
              <a:rPr lang="en-IN" dirty="0"/>
              <a:t>One sample test of difference/One sample hypothesis test</a:t>
            </a:r>
          </a:p>
          <a:p>
            <a:pPr fontAlgn="base"/>
            <a:r>
              <a:rPr lang="en-IN" dirty="0"/>
              <a:t>Confidence Interval</a:t>
            </a:r>
          </a:p>
          <a:p>
            <a:pPr fontAlgn="base"/>
            <a:r>
              <a:rPr lang="en-IN" dirty="0"/>
              <a:t>Contingency Tables and Chi-Square Statistic</a:t>
            </a:r>
          </a:p>
          <a:p>
            <a:pPr fontAlgn="base"/>
            <a:r>
              <a:rPr lang="en-IN" dirty="0"/>
              <a:t>T-test or </a:t>
            </a:r>
            <a:r>
              <a:rPr lang="en-IN" dirty="0" err="1"/>
              <a:t>Anova</a:t>
            </a:r>
            <a:endParaRPr lang="en-IN" dirty="0"/>
          </a:p>
          <a:p>
            <a:pPr fontAlgn="base"/>
            <a:r>
              <a:rPr lang="en-IN" dirty="0"/>
              <a:t>Pearson Correlation</a:t>
            </a:r>
          </a:p>
          <a:p>
            <a:pPr fontAlgn="base"/>
            <a:r>
              <a:rPr lang="en-IN" dirty="0"/>
              <a:t>Bi-variate Regression</a:t>
            </a:r>
          </a:p>
          <a:p>
            <a:pPr fontAlgn="base"/>
            <a:r>
              <a:rPr lang="en-IN" dirty="0"/>
              <a:t>Multi-variate Regression</a:t>
            </a:r>
          </a:p>
          <a:p>
            <a:pPr marL="0" indent="0">
              <a:buNone/>
            </a:pPr>
            <a:endParaRPr lang="en-US" dirty="0"/>
          </a:p>
        </p:txBody>
      </p:sp>
    </p:spTree>
    <p:extLst>
      <p:ext uri="{BB962C8B-B14F-4D97-AF65-F5344CB8AC3E}">
        <p14:creationId xmlns:p14="http://schemas.microsoft.com/office/powerpoint/2010/main" val="709816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4ABF-941D-A06F-70D5-C8211A797D57}"/>
              </a:ext>
            </a:extLst>
          </p:cNvPr>
          <p:cNvSpPr>
            <a:spLocks noGrp="1"/>
          </p:cNvSpPr>
          <p:nvPr>
            <p:ph type="title"/>
          </p:nvPr>
        </p:nvSpPr>
        <p:spPr>
          <a:xfrm>
            <a:off x="179512" y="0"/>
            <a:ext cx="8229600" cy="1143000"/>
          </a:xfrm>
        </p:spPr>
        <p:txBody>
          <a:bodyPr/>
          <a:lstStyle/>
          <a:p>
            <a:r>
              <a:rPr lang="en-IN" b="1" dirty="0"/>
              <a:t>Tables</a:t>
            </a:r>
            <a:r>
              <a:rPr lang="en-IN" sz="1600" b="1" dirty="0"/>
              <a:t>(descriptive)</a:t>
            </a:r>
            <a:endParaRPr lang="en-US" sz="1600" dirty="0"/>
          </a:p>
        </p:txBody>
      </p:sp>
      <p:sp>
        <p:nvSpPr>
          <p:cNvPr id="3" name="Content Placeholder 2">
            <a:extLst>
              <a:ext uri="{FF2B5EF4-FFF2-40B4-BE49-F238E27FC236}">
                <a16:creationId xmlns:a16="http://schemas.microsoft.com/office/drawing/2014/main" id="{F5CABC8C-2339-7A22-2E4B-CB71B0FCF71B}"/>
              </a:ext>
            </a:extLst>
          </p:cNvPr>
          <p:cNvSpPr>
            <a:spLocks noGrp="1"/>
          </p:cNvSpPr>
          <p:nvPr>
            <p:ph idx="1"/>
          </p:nvPr>
        </p:nvSpPr>
        <p:spPr>
          <a:xfrm>
            <a:off x="213428" y="1111624"/>
            <a:ext cx="8751059" cy="4525963"/>
          </a:xfrm>
        </p:spPr>
        <p:txBody>
          <a:bodyPr/>
          <a:lstStyle/>
          <a:p>
            <a:pPr marL="0" indent="0">
              <a:buNone/>
            </a:pPr>
            <a:r>
              <a:rPr lang="en-IN" dirty="0"/>
              <a:t>A </a:t>
            </a:r>
            <a:r>
              <a:rPr lang="en-IN" b="1" dirty="0"/>
              <a:t>table</a:t>
            </a:r>
            <a:r>
              <a:rPr lang="en-IN" dirty="0"/>
              <a:t> is an arrangement of information or data, typically in rows and columns</a:t>
            </a:r>
            <a:endParaRPr lang="en-US" dirty="0"/>
          </a:p>
        </p:txBody>
      </p:sp>
      <p:sp>
        <p:nvSpPr>
          <p:cNvPr id="5" name="TextBox 4">
            <a:extLst>
              <a:ext uri="{FF2B5EF4-FFF2-40B4-BE49-F238E27FC236}">
                <a16:creationId xmlns:a16="http://schemas.microsoft.com/office/drawing/2014/main" id="{0D8CF90E-59FD-C9CB-14B7-DCFCA45613AF}"/>
              </a:ext>
            </a:extLst>
          </p:cNvPr>
          <p:cNvSpPr txBox="1"/>
          <p:nvPr/>
        </p:nvSpPr>
        <p:spPr>
          <a:xfrm>
            <a:off x="3491880" y="2492896"/>
            <a:ext cx="4572000" cy="707886"/>
          </a:xfrm>
          <a:prstGeom prst="rect">
            <a:avLst/>
          </a:prstGeom>
          <a:noFill/>
        </p:spPr>
        <p:txBody>
          <a:bodyPr wrap="square">
            <a:spAutoFit/>
          </a:bodyPr>
          <a:lstStyle/>
          <a:p>
            <a:r>
              <a:rPr lang="en-IN" sz="4000" b="1" i="0" dirty="0">
                <a:effectLst/>
                <a:latin typeface="Times New Roman" panose="02020603050405020304" pitchFamily="18" charset="0"/>
              </a:rPr>
              <a:t>Types of Tables</a:t>
            </a:r>
            <a:endParaRPr lang="en-US" sz="4000" dirty="0"/>
          </a:p>
        </p:txBody>
      </p:sp>
      <p:sp>
        <p:nvSpPr>
          <p:cNvPr id="7" name="TextBox 6">
            <a:extLst>
              <a:ext uri="{FF2B5EF4-FFF2-40B4-BE49-F238E27FC236}">
                <a16:creationId xmlns:a16="http://schemas.microsoft.com/office/drawing/2014/main" id="{3429E757-0E81-C37E-5D5C-BA1000958C54}"/>
              </a:ext>
            </a:extLst>
          </p:cNvPr>
          <p:cNvSpPr txBox="1"/>
          <p:nvPr/>
        </p:nvSpPr>
        <p:spPr>
          <a:xfrm>
            <a:off x="179512" y="3461828"/>
            <a:ext cx="7310900" cy="1569660"/>
          </a:xfrm>
          <a:prstGeom prst="rect">
            <a:avLst/>
          </a:prstGeom>
          <a:noFill/>
        </p:spPr>
        <p:txBody>
          <a:bodyPr wrap="square">
            <a:spAutoFit/>
          </a:bodyPr>
          <a:lstStyle/>
          <a:p>
            <a:r>
              <a:rPr lang="en-IN" sz="4800" b="0" i="0" dirty="0">
                <a:solidFill>
                  <a:srgbClr val="231F20"/>
                </a:solidFill>
                <a:effectLst/>
                <a:latin typeface="+mj-lt"/>
              </a:rPr>
              <a:t>1.General table</a:t>
            </a:r>
          </a:p>
          <a:p>
            <a:r>
              <a:rPr lang="en-IN" sz="4800" dirty="0">
                <a:solidFill>
                  <a:srgbClr val="231F20"/>
                </a:solidFill>
                <a:latin typeface="+mj-lt"/>
              </a:rPr>
              <a:t>2. S</a:t>
            </a:r>
            <a:r>
              <a:rPr lang="en-IN" sz="4800" dirty="0">
                <a:latin typeface="+mj-lt"/>
              </a:rPr>
              <a:t>ummary tables.</a:t>
            </a:r>
            <a:endParaRPr lang="en-US" sz="4800" dirty="0">
              <a:latin typeface="+mj-lt"/>
            </a:endParaRPr>
          </a:p>
        </p:txBody>
      </p:sp>
    </p:spTree>
    <p:extLst>
      <p:ext uri="{BB962C8B-B14F-4D97-AF65-F5344CB8AC3E}">
        <p14:creationId xmlns:p14="http://schemas.microsoft.com/office/powerpoint/2010/main" val="3042024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DFDA-22B5-DF13-2EF0-E5A2FF66808C}"/>
              </a:ext>
            </a:extLst>
          </p:cNvPr>
          <p:cNvSpPr>
            <a:spLocks noGrp="1"/>
          </p:cNvSpPr>
          <p:nvPr>
            <p:ph type="title"/>
          </p:nvPr>
        </p:nvSpPr>
        <p:spPr/>
        <p:txBody>
          <a:bodyPr>
            <a:normAutofit fontScale="90000"/>
          </a:bodyPr>
          <a:lstStyle/>
          <a:p>
            <a:pPr algn="l"/>
            <a:r>
              <a:rPr lang="en-IN" b="1" dirty="0">
                <a:solidFill>
                  <a:srgbClr val="231F20"/>
                </a:solidFill>
              </a:rPr>
              <a:t>1.General table</a:t>
            </a:r>
            <a:br>
              <a:rPr lang="en-IN" dirty="0">
                <a:solidFill>
                  <a:srgbClr val="231F20"/>
                </a:solidFill>
              </a:rPr>
            </a:br>
            <a:endParaRPr lang="en-US" dirty="0"/>
          </a:p>
        </p:txBody>
      </p:sp>
      <p:sp>
        <p:nvSpPr>
          <p:cNvPr id="3" name="Content Placeholder 2">
            <a:extLst>
              <a:ext uri="{FF2B5EF4-FFF2-40B4-BE49-F238E27FC236}">
                <a16:creationId xmlns:a16="http://schemas.microsoft.com/office/drawing/2014/main" id="{235CE8C1-9EDE-9196-0E0B-33E283B8BC70}"/>
              </a:ext>
            </a:extLst>
          </p:cNvPr>
          <p:cNvSpPr>
            <a:spLocks noGrp="1"/>
          </p:cNvSpPr>
          <p:nvPr>
            <p:ph idx="1"/>
          </p:nvPr>
        </p:nvSpPr>
        <p:spPr>
          <a:xfrm>
            <a:off x="323528" y="1052736"/>
            <a:ext cx="8640960" cy="5688632"/>
          </a:xfrm>
        </p:spPr>
        <p:txBody>
          <a:bodyPr/>
          <a:lstStyle/>
          <a:p>
            <a:pPr marL="0" indent="0" algn="just">
              <a:buNone/>
            </a:pPr>
            <a:r>
              <a:rPr lang="en-IN" sz="2400" dirty="0"/>
              <a:t>General tables contain a collection of detailed information including all that is relevant to the subject or theme. The main purpose of such tables is to present all the information available on a certain problem at one place for easy reference and they are usually placed in the appendices of reports.</a:t>
            </a:r>
          </a:p>
          <a:p>
            <a:pPr marL="0" indent="0">
              <a:buNone/>
            </a:pPr>
            <a:endParaRPr lang="en-US" dirty="0"/>
          </a:p>
        </p:txBody>
      </p:sp>
      <p:pic>
        <p:nvPicPr>
          <p:cNvPr id="5" name="Picture 4">
            <a:extLst>
              <a:ext uri="{FF2B5EF4-FFF2-40B4-BE49-F238E27FC236}">
                <a16:creationId xmlns:a16="http://schemas.microsoft.com/office/drawing/2014/main" id="{40FCAF11-2A3F-E2F1-EEA5-039656441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0619" y="2867749"/>
            <a:ext cx="4680520" cy="3715613"/>
          </a:xfrm>
          <a:prstGeom prst="rect">
            <a:avLst/>
          </a:prstGeom>
        </p:spPr>
      </p:pic>
    </p:spTree>
    <p:extLst>
      <p:ext uri="{BB962C8B-B14F-4D97-AF65-F5344CB8AC3E}">
        <p14:creationId xmlns:p14="http://schemas.microsoft.com/office/powerpoint/2010/main" val="2905622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2B67-D0EC-BE7F-29DA-65128E7B460B}"/>
              </a:ext>
            </a:extLst>
          </p:cNvPr>
          <p:cNvSpPr>
            <a:spLocks noGrp="1"/>
          </p:cNvSpPr>
          <p:nvPr>
            <p:ph type="title"/>
          </p:nvPr>
        </p:nvSpPr>
        <p:spPr>
          <a:xfrm>
            <a:off x="323528" y="20016"/>
            <a:ext cx="8229600" cy="1143000"/>
          </a:xfrm>
        </p:spPr>
        <p:txBody>
          <a:bodyPr/>
          <a:lstStyle/>
          <a:p>
            <a:pPr algn="l"/>
            <a:r>
              <a:rPr lang="en-IN" b="1" dirty="0"/>
              <a:t>2.Summary table</a:t>
            </a:r>
            <a:endParaRPr lang="en-US" b="1" dirty="0"/>
          </a:p>
        </p:txBody>
      </p:sp>
      <p:sp>
        <p:nvSpPr>
          <p:cNvPr id="3" name="Content Placeholder 2">
            <a:extLst>
              <a:ext uri="{FF2B5EF4-FFF2-40B4-BE49-F238E27FC236}">
                <a16:creationId xmlns:a16="http://schemas.microsoft.com/office/drawing/2014/main" id="{FDB5E276-8F34-07DF-E89D-65E4CBA699FC}"/>
              </a:ext>
            </a:extLst>
          </p:cNvPr>
          <p:cNvSpPr>
            <a:spLocks noGrp="1"/>
          </p:cNvSpPr>
          <p:nvPr>
            <p:ph idx="1"/>
          </p:nvPr>
        </p:nvSpPr>
        <p:spPr>
          <a:xfrm>
            <a:off x="179512" y="1163016"/>
            <a:ext cx="8784976" cy="5506344"/>
          </a:xfrm>
        </p:spPr>
        <p:txBody>
          <a:bodyPr>
            <a:normAutofit lnSpcReduction="10000"/>
          </a:bodyPr>
          <a:lstStyle/>
          <a:p>
            <a:pPr marL="0" indent="0" algn="just">
              <a:buNone/>
            </a:pPr>
            <a:r>
              <a:rPr lang="en-IN" dirty="0"/>
              <a:t>Summary tables are designed to serve some specific purposes. They are smaller in size than general tables, emphasize on some aspect of data and are generally incorporated within the text. The summary tables are also called </a:t>
            </a:r>
            <a:r>
              <a:rPr lang="en-IN" b="1" dirty="0"/>
              <a:t>derivative</a:t>
            </a:r>
            <a:r>
              <a:rPr lang="en-IN" dirty="0"/>
              <a:t> tables because they are derived from the general tables. The information contained in the summary table aims at analysis and inference. Hence, they are also known as </a:t>
            </a:r>
            <a:r>
              <a:rPr lang="en-IN" b="1" dirty="0"/>
              <a:t>interpretative</a:t>
            </a:r>
            <a:r>
              <a:rPr lang="en-IN" dirty="0"/>
              <a:t> tables.</a:t>
            </a:r>
          </a:p>
          <a:p>
            <a:pPr marL="0" indent="0">
              <a:buNone/>
            </a:pPr>
            <a:br>
              <a:rPr lang="en-IN" dirty="0"/>
            </a:br>
            <a:endParaRPr lang="en-US" dirty="0"/>
          </a:p>
        </p:txBody>
      </p:sp>
    </p:spTree>
    <p:extLst>
      <p:ext uri="{BB962C8B-B14F-4D97-AF65-F5344CB8AC3E}">
        <p14:creationId xmlns:p14="http://schemas.microsoft.com/office/powerpoint/2010/main" val="256228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8C23-853B-06F4-4050-AABA6033CD7A}"/>
              </a:ext>
            </a:extLst>
          </p:cNvPr>
          <p:cNvSpPr>
            <a:spLocks noGrp="1"/>
          </p:cNvSpPr>
          <p:nvPr>
            <p:ph type="title"/>
          </p:nvPr>
        </p:nvSpPr>
        <p:spPr>
          <a:xfrm>
            <a:off x="179512" y="160337"/>
            <a:ext cx="8507288" cy="1143000"/>
          </a:xfrm>
        </p:spPr>
        <p:txBody>
          <a:bodyPr>
            <a:normAutofit fontScale="90000"/>
          </a:bodyPr>
          <a:lstStyle/>
          <a:p>
            <a:pPr algn="l"/>
            <a:r>
              <a:rPr lang="en-IN" b="1" dirty="0"/>
              <a:t>Classification</a:t>
            </a:r>
            <a:r>
              <a:rPr lang="en-IN" b="1" u="sng" dirty="0"/>
              <a:t> </a:t>
            </a:r>
            <a:r>
              <a:rPr lang="en-IN" b="1" dirty="0"/>
              <a:t>on the basis of characteristic </a:t>
            </a:r>
            <a:endParaRPr lang="en-US" b="1" dirty="0"/>
          </a:p>
        </p:txBody>
      </p:sp>
      <p:sp>
        <p:nvSpPr>
          <p:cNvPr id="3" name="Content Placeholder 2">
            <a:extLst>
              <a:ext uri="{FF2B5EF4-FFF2-40B4-BE49-F238E27FC236}">
                <a16:creationId xmlns:a16="http://schemas.microsoft.com/office/drawing/2014/main" id="{D3370541-045E-DDA1-DB41-F60EE40B0D69}"/>
              </a:ext>
            </a:extLst>
          </p:cNvPr>
          <p:cNvSpPr>
            <a:spLocks noGrp="1"/>
          </p:cNvSpPr>
          <p:nvPr>
            <p:ph idx="1"/>
          </p:nvPr>
        </p:nvSpPr>
        <p:spPr>
          <a:xfrm>
            <a:off x="318356" y="1556792"/>
            <a:ext cx="8574124" cy="4968552"/>
          </a:xfrm>
        </p:spPr>
        <p:txBody>
          <a:bodyPr/>
          <a:lstStyle/>
          <a:p>
            <a:pPr marL="0" indent="0">
              <a:buNone/>
            </a:pPr>
            <a:r>
              <a:rPr lang="en-IN" b="1" dirty="0"/>
              <a:t>1.simple table </a:t>
            </a:r>
          </a:p>
          <a:p>
            <a:pPr marL="0" indent="0">
              <a:buNone/>
            </a:pPr>
            <a:r>
              <a:rPr lang="en-IN" dirty="0"/>
              <a:t>A simple table summarizes information on a single characteristic and is also called a univariate table.</a:t>
            </a:r>
          </a:p>
          <a:p>
            <a:pPr marL="0" indent="0">
              <a:buNone/>
            </a:pPr>
            <a:r>
              <a:rPr lang="en-IN" b="1" dirty="0"/>
              <a:t>Example </a:t>
            </a:r>
          </a:p>
          <a:p>
            <a:pPr marL="0" indent="0">
              <a:buNone/>
            </a:pPr>
            <a:endParaRPr lang="en-US" b="1" dirty="0"/>
          </a:p>
        </p:txBody>
      </p:sp>
      <p:pic>
        <p:nvPicPr>
          <p:cNvPr id="5" name="Picture 4">
            <a:extLst>
              <a:ext uri="{FF2B5EF4-FFF2-40B4-BE49-F238E27FC236}">
                <a16:creationId xmlns:a16="http://schemas.microsoft.com/office/drawing/2014/main" id="{EED0F2A9-086F-088D-4A9D-8B7255BDC2AE}"/>
              </a:ext>
            </a:extLst>
          </p:cNvPr>
          <p:cNvPicPr>
            <a:picLocks noChangeAspect="1"/>
          </p:cNvPicPr>
          <p:nvPr/>
        </p:nvPicPr>
        <p:blipFill rotWithShape="1">
          <a:blip r:embed="rId2">
            <a:extLst>
              <a:ext uri="{28A0092B-C50C-407E-A947-70E740481C1C}">
                <a14:useLocalDpi xmlns:a14="http://schemas.microsoft.com/office/drawing/2010/main" val="0"/>
              </a:ext>
            </a:extLst>
          </a:blip>
          <a:srcRect t="17643"/>
          <a:stretch/>
        </p:blipFill>
        <p:spPr>
          <a:xfrm>
            <a:off x="337519" y="4365104"/>
            <a:ext cx="7835244" cy="1680651"/>
          </a:xfrm>
          <a:prstGeom prst="rect">
            <a:avLst/>
          </a:prstGeom>
        </p:spPr>
      </p:pic>
    </p:spTree>
    <p:extLst>
      <p:ext uri="{BB962C8B-B14F-4D97-AF65-F5344CB8AC3E}">
        <p14:creationId xmlns:p14="http://schemas.microsoft.com/office/powerpoint/2010/main" val="1594610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F565F-BC9B-D3AF-DEBD-1E694FF8429E}"/>
              </a:ext>
            </a:extLst>
          </p:cNvPr>
          <p:cNvSpPr>
            <a:spLocks noGrp="1"/>
          </p:cNvSpPr>
          <p:nvPr>
            <p:ph idx="1"/>
          </p:nvPr>
        </p:nvSpPr>
        <p:spPr>
          <a:xfrm>
            <a:off x="107504" y="188640"/>
            <a:ext cx="8229600" cy="4525963"/>
          </a:xfrm>
        </p:spPr>
        <p:txBody>
          <a:bodyPr/>
          <a:lstStyle/>
          <a:p>
            <a:pPr marL="0" indent="0">
              <a:buNone/>
            </a:pPr>
            <a:r>
              <a:rPr lang="en-IN" b="1" dirty="0"/>
              <a:t>2.complex table</a:t>
            </a:r>
            <a:endParaRPr lang="en-US" b="1" dirty="0"/>
          </a:p>
        </p:txBody>
      </p:sp>
      <p:sp>
        <p:nvSpPr>
          <p:cNvPr id="5" name="TextBox 4">
            <a:extLst>
              <a:ext uri="{FF2B5EF4-FFF2-40B4-BE49-F238E27FC236}">
                <a16:creationId xmlns:a16="http://schemas.microsoft.com/office/drawing/2014/main" id="{6ADEEF61-5FCF-DA26-67A3-8BDD902309F1}"/>
              </a:ext>
            </a:extLst>
          </p:cNvPr>
          <p:cNvSpPr txBox="1"/>
          <p:nvPr/>
        </p:nvSpPr>
        <p:spPr>
          <a:xfrm>
            <a:off x="109500" y="764704"/>
            <a:ext cx="8712968" cy="2677656"/>
          </a:xfrm>
          <a:prstGeom prst="rect">
            <a:avLst/>
          </a:prstGeom>
          <a:noFill/>
        </p:spPr>
        <p:txBody>
          <a:bodyPr wrap="square">
            <a:spAutoFit/>
          </a:bodyPr>
          <a:lstStyle/>
          <a:p>
            <a:pPr algn="just"/>
            <a:r>
              <a:rPr lang="en-IN" sz="2400" b="0" i="0" dirty="0">
                <a:solidFill>
                  <a:srgbClr val="231F20"/>
                </a:solidFill>
                <a:effectLst/>
                <a:latin typeface="Times New Roman" panose="02020603050405020304" pitchFamily="18" charset="0"/>
              </a:rPr>
              <a:t>A complex table summarizes the complicated information and presents them into two or more interrelated categories. For example, if there are two coordinate factors, the table is called a two-way table or bi-variate table; if the number of coordinate groups is three, it is a case of three-way tabulation, and if it is based on </a:t>
            </a:r>
            <a:r>
              <a:rPr lang="en-IN" sz="2400" b="1" i="0" dirty="0">
                <a:solidFill>
                  <a:srgbClr val="231F20"/>
                </a:solidFill>
                <a:effectLst/>
                <a:latin typeface="Times New Roman" panose="02020603050405020304" pitchFamily="18" charset="0"/>
              </a:rPr>
              <a:t>more than three coordinate </a:t>
            </a:r>
            <a:r>
              <a:rPr lang="en-IN" sz="2400" b="0" i="0" dirty="0">
                <a:solidFill>
                  <a:srgbClr val="231F20"/>
                </a:solidFill>
                <a:effectLst/>
                <a:latin typeface="Times New Roman" panose="02020603050405020304" pitchFamily="18" charset="0"/>
              </a:rPr>
              <a:t>groups, the table is known as higher order tabulation or a manifold tabulation.</a:t>
            </a:r>
            <a:endParaRPr lang="en-US" sz="2400" dirty="0"/>
          </a:p>
        </p:txBody>
      </p:sp>
      <p:pic>
        <p:nvPicPr>
          <p:cNvPr id="7" name="Picture 6">
            <a:extLst>
              <a:ext uri="{FF2B5EF4-FFF2-40B4-BE49-F238E27FC236}">
                <a16:creationId xmlns:a16="http://schemas.microsoft.com/office/drawing/2014/main" id="{B2F65398-9269-9BCB-8127-C2900EF682D6}"/>
              </a:ext>
            </a:extLst>
          </p:cNvPr>
          <p:cNvPicPr>
            <a:picLocks noChangeAspect="1"/>
          </p:cNvPicPr>
          <p:nvPr/>
        </p:nvPicPr>
        <p:blipFill rotWithShape="1">
          <a:blip r:embed="rId2">
            <a:extLst>
              <a:ext uri="{28A0092B-C50C-407E-A947-70E740481C1C}">
                <a14:useLocalDpi xmlns:a14="http://schemas.microsoft.com/office/drawing/2010/main" val="0"/>
              </a:ext>
            </a:extLst>
          </a:blip>
          <a:srcRect t="7454"/>
          <a:stretch/>
        </p:blipFill>
        <p:spPr>
          <a:xfrm>
            <a:off x="3008512" y="3284984"/>
            <a:ext cx="5328592" cy="3227000"/>
          </a:xfrm>
          <a:prstGeom prst="rect">
            <a:avLst/>
          </a:prstGeom>
        </p:spPr>
      </p:pic>
    </p:spTree>
    <p:extLst>
      <p:ext uri="{BB962C8B-B14F-4D97-AF65-F5344CB8AC3E}">
        <p14:creationId xmlns:p14="http://schemas.microsoft.com/office/powerpoint/2010/main" val="2452928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64D8-351E-15F9-1559-BFF8CFD80DA4}"/>
              </a:ext>
            </a:extLst>
          </p:cNvPr>
          <p:cNvSpPr>
            <a:spLocks noGrp="1"/>
          </p:cNvSpPr>
          <p:nvPr>
            <p:ph type="title"/>
          </p:nvPr>
        </p:nvSpPr>
        <p:spPr>
          <a:xfrm>
            <a:off x="0" y="0"/>
            <a:ext cx="8229600" cy="1143000"/>
          </a:xfrm>
        </p:spPr>
        <p:txBody>
          <a:bodyPr/>
          <a:lstStyle/>
          <a:p>
            <a:r>
              <a:rPr lang="en-US" b="1" dirty="0"/>
              <a:t>Charts</a:t>
            </a:r>
            <a:r>
              <a:rPr lang="en-IN" b="1" dirty="0"/>
              <a:t> </a:t>
            </a:r>
            <a:r>
              <a:rPr lang="en-IN" sz="2000" b="1" dirty="0"/>
              <a:t>(descriptive)</a:t>
            </a:r>
            <a:endParaRPr lang="en-US" sz="2000" b="1" dirty="0"/>
          </a:p>
        </p:txBody>
      </p:sp>
      <p:sp>
        <p:nvSpPr>
          <p:cNvPr id="3" name="Content Placeholder 2">
            <a:extLst>
              <a:ext uri="{FF2B5EF4-FFF2-40B4-BE49-F238E27FC236}">
                <a16:creationId xmlns:a16="http://schemas.microsoft.com/office/drawing/2014/main" id="{329CCD67-D606-5CE1-E0AE-580C63BCEDA2}"/>
              </a:ext>
            </a:extLst>
          </p:cNvPr>
          <p:cNvSpPr>
            <a:spLocks noGrp="1"/>
          </p:cNvSpPr>
          <p:nvPr>
            <p:ph idx="1"/>
          </p:nvPr>
        </p:nvSpPr>
        <p:spPr>
          <a:xfrm>
            <a:off x="107504" y="908720"/>
            <a:ext cx="8856984" cy="4525963"/>
          </a:xfrm>
        </p:spPr>
        <p:txBody>
          <a:bodyPr>
            <a:normAutofit/>
          </a:bodyPr>
          <a:lstStyle/>
          <a:p>
            <a:pPr marL="0" indent="0" algn="just">
              <a:buNone/>
            </a:pPr>
            <a:r>
              <a:rPr lang="en-IN" sz="3600" b="1" dirty="0"/>
              <a:t>Area chart</a:t>
            </a:r>
            <a:endParaRPr lang="en-IN" sz="2400" b="1" dirty="0"/>
          </a:p>
          <a:p>
            <a:pPr marL="0" indent="0" algn="just">
              <a:buNone/>
            </a:pPr>
            <a:r>
              <a:rPr lang="en-IN" sz="2000" dirty="0"/>
              <a:t>Metric data is displayed as data points over time connected by a line, with the area between the line and the x-axis filled in with </a:t>
            </a:r>
            <a:r>
              <a:rPr lang="en-IN" sz="2000" dirty="0" err="1"/>
              <a:t>color</a:t>
            </a:r>
            <a:r>
              <a:rPr lang="en-IN" sz="2000" dirty="0"/>
              <a:t>. If your chart contains more than one metric, data for each metric is displayed as an individual line, or a series. Each series is stacked together to illustrate the cumulative value of the data.</a:t>
            </a:r>
            <a:endParaRPr lang="en-US" sz="2000" dirty="0"/>
          </a:p>
        </p:txBody>
      </p:sp>
      <p:pic>
        <p:nvPicPr>
          <p:cNvPr id="5" name="Picture 4">
            <a:extLst>
              <a:ext uri="{FF2B5EF4-FFF2-40B4-BE49-F238E27FC236}">
                <a16:creationId xmlns:a16="http://schemas.microsoft.com/office/drawing/2014/main" id="{FB627E03-CEAD-BB23-7D3B-C6E99D9A52EB}"/>
              </a:ext>
            </a:extLst>
          </p:cNvPr>
          <p:cNvPicPr>
            <a:picLocks noChangeAspect="1"/>
          </p:cNvPicPr>
          <p:nvPr/>
        </p:nvPicPr>
        <p:blipFill rotWithShape="1">
          <a:blip r:embed="rId2">
            <a:extLst>
              <a:ext uri="{28A0092B-C50C-407E-A947-70E740481C1C}">
                <a14:useLocalDpi xmlns:a14="http://schemas.microsoft.com/office/drawing/2010/main" val="0"/>
              </a:ext>
            </a:extLst>
          </a:blip>
          <a:srcRect l="24801" t="65121" r="31888" b="17239"/>
          <a:stretch/>
        </p:blipFill>
        <p:spPr>
          <a:xfrm>
            <a:off x="19109" y="2817068"/>
            <a:ext cx="8365920" cy="2129507"/>
          </a:xfrm>
          <a:prstGeom prst="rect">
            <a:avLst/>
          </a:prstGeom>
        </p:spPr>
      </p:pic>
      <p:sp>
        <p:nvSpPr>
          <p:cNvPr id="6" name="TextBox 5">
            <a:extLst>
              <a:ext uri="{FF2B5EF4-FFF2-40B4-BE49-F238E27FC236}">
                <a16:creationId xmlns:a16="http://schemas.microsoft.com/office/drawing/2014/main" id="{F6E15531-5036-10F1-1286-453E6F7DC554}"/>
              </a:ext>
            </a:extLst>
          </p:cNvPr>
          <p:cNvSpPr txBox="1"/>
          <p:nvPr/>
        </p:nvSpPr>
        <p:spPr>
          <a:xfrm>
            <a:off x="198440" y="4478408"/>
            <a:ext cx="8496944" cy="1200329"/>
          </a:xfrm>
          <a:prstGeom prst="rect">
            <a:avLst/>
          </a:prstGeom>
          <a:noFill/>
        </p:spPr>
        <p:txBody>
          <a:bodyPr wrap="square" rtlCol="0">
            <a:spAutoFit/>
          </a:bodyPr>
          <a:lstStyle/>
          <a:p>
            <a:r>
              <a:rPr lang="en-IN" dirty="0"/>
              <a:t>-This chart supports detection markers , which indicate detections associated</a:t>
            </a:r>
          </a:p>
          <a:p>
            <a:r>
              <a:rPr lang="en-IN" dirty="0"/>
              <a:t> with chart data. </a:t>
            </a:r>
          </a:p>
          <a:p>
            <a:endParaRPr lang="en-IN" dirty="0"/>
          </a:p>
          <a:p>
            <a:r>
              <a:rPr lang="en-IN" dirty="0"/>
              <a:t>-Machine learning detections require a connection to </a:t>
            </a:r>
            <a:r>
              <a:rPr lang="en-IN" dirty="0" err="1"/>
              <a:t>ExtraHop</a:t>
            </a:r>
            <a:r>
              <a:rPr lang="en-IN" dirty="0"/>
              <a:t> Cloud Services .</a:t>
            </a:r>
            <a:endParaRPr lang="en-US" dirty="0"/>
          </a:p>
        </p:txBody>
      </p:sp>
      <p:sp>
        <p:nvSpPr>
          <p:cNvPr id="7" name="TextBox 6">
            <a:extLst>
              <a:ext uri="{FF2B5EF4-FFF2-40B4-BE49-F238E27FC236}">
                <a16:creationId xmlns:a16="http://schemas.microsoft.com/office/drawing/2014/main" id="{2645AB50-8DA8-A9C7-306A-C8F90C791435}"/>
              </a:ext>
            </a:extLst>
          </p:cNvPr>
          <p:cNvSpPr txBox="1"/>
          <p:nvPr/>
        </p:nvSpPr>
        <p:spPr>
          <a:xfrm>
            <a:off x="395536" y="5949280"/>
            <a:ext cx="7344816" cy="1200329"/>
          </a:xfrm>
          <a:prstGeom prst="rect">
            <a:avLst/>
          </a:prstGeom>
          <a:noFill/>
        </p:spPr>
        <p:txBody>
          <a:bodyPr wrap="square" rtlCol="0">
            <a:spAutoFit/>
          </a:bodyPr>
          <a:lstStyle/>
          <a:p>
            <a:r>
              <a:rPr lang="en-US" b="1" dirty="0"/>
              <a:t>Depth to </a:t>
            </a:r>
            <a:r>
              <a:rPr lang="en-IN" b="1" dirty="0" err="1"/>
              <a:t>ExtraHop</a:t>
            </a:r>
            <a:r>
              <a:rPr lang="en-IN" b="1" dirty="0"/>
              <a:t> :</a:t>
            </a:r>
            <a:endParaRPr lang="en-US" b="1" dirty="0"/>
          </a:p>
          <a:p>
            <a:r>
              <a:rPr lang="en-US" dirty="0">
                <a:hlinkClick r:id="rId3"/>
              </a:rPr>
              <a:t>https://docs.extrahop.com/8.9/eh-cloud-services/#connect-to-extrahop-cloud-services</a:t>
            </a:r>
            <a:endParaRPr lang="en-US" dirty="0"/>
          </a:p>
          <a:p>
            <a:endParaRPr lang="en-US" dirty="0"/>
          </a:p>
        </p:txBody>
      </p:sp>
    </p:spTree>
    <p:extLst>
      <p:ext uri="{BB962C8B-B14F-4D97-AF65-F5344CB8AC3E}">
        <p14:creationId xmlns:p14="http://schemas.microsoft.com/office/powerpoint/2010/main" val="3263883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16AA74-444A-AE4F-D85D-EC8FA7CF0AAD}"/>
              </a:ext>
            </a:extLst>
          </p:cNvPr>
          <p:cNvSpPr>
            <a:spLocks noGrp="1"/>
          </p:cNvSpPr>
          <p:nvPr>
            <p:ph idx="1"/>
          </p:nvPr>
        </p:nvSpPr>
        <p:spPr>
          <a:xfrm>
            <a:off x="251520" y="548680"/>
            <a:ext cx="8229600" cy="4525963"/>
          </a:xfrm>
        </p:spPr>
        <p:txBody>
          <a:bodyPr/>
          <a:lstStyle/>
          <a:p>
            <a:pPr marL="0" indent="0">
              <a:buNone/>
            </a:pPr>
            <a:r>
              <a:rPr lang="en-IN" b="1" dirty="0"/>
              <a:t>Bar chart </a:t>
            </a:r>
          </a:p>
          <a:p>
            <a:pPr marL="0" indent="0">
              <a:buNone/>
            </a:pPr>
            <a:r>
              <a:rPr lang="en-IN" dirty="0"/>
              <a:t>The total value of metric data is displayed as horizontal bars. Select the bar chart when you want to compare the data for more than one metric </a:t>
            </a:r>
            <a:endParaRPr lang="en-US" dirty="0"/>
          </a:p>
        </p:txBody>
      </p:sp>
      <p:pic>
        <p:nvPicPr>
          <p:cNvPr id="5" name="Picture 4">
            <a:extLst>
              <a:ext uri="{FF2B5EF4-FFF2-40B4-BE49-F238E27FC236}">
                <a16:creationId xmlns:a16="http://schemas.microsoft.com/office/drawing/2014/main" id="{75954E05-1B08-8858-8CAC-E87B14B3CAC4}"/>
              </a:ext>
            </a:extLst>
          </p:cNvPr>
          <p:cNvPicPr>
            <a:picLocks noChangeAspect="1"/>
          </p:cNvPicPr>
          <p:nvPr/>
        </p:nvPicPr>
        <p:blipFill rotWithShape="1">
          <a:blip r:embed="rId2">
            <a:extLst>
              <a:ext uri="{28A0092B-C50C-407E-A947-70E740481C1C}">
                <a14:useLocalDpi xmlns:a14="http://schemas.microsoft.com/office/drawing/2010/main" val="0"/>
              </a:ext>
            </a:extLst>
          </a:blip>
          <a:srcRect l="51575" t="45104" r="28738" b="33471"/>
          <a:stretch/>
        </p:blipFill>
        <p:spPr>
          <a:xfrm rot="5400000">
            <a:off x="2800224" y="3094243"/>
            <a:ext cx="3759576" cy="3240360"/>
          </a:xfrm>
          <a:prstGeom prst="rect">
            <a:avLst/>
          </a:prstGeom>
        </p:spPr>
      </p:pic>
    </p:spTree>
    <p:extLst>
      <p:ext uri="{BB962C8B-B14F-4D97-AF65-F5344CB8AC3E}">
        <p14:creationId xmlns:p14="http://schemas.microsoft.com/office/powerpoint/2010/main" val="507352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1164-7919-7F13-4EA7-29FF25F1B5B5}"/>
              </a:ext>
            </a:extLst>
          </p:cNvPr>
          <p:cNvSpPr>
            <a:spLocks noGrp="1"/>
          </p:cNvSpPr>
          <p:nvPr>
            <p:ph type="title"/>
          </p:nvPr>
        </p:nvSpPr>
        <p:spPr>
          <a:xfrm>
            <a:off x="107504" y="20016"/>
            <a:ext cx="8229600" cy="1143000"/>
          </a:xfrm>
        </p:spPr>
        <p:txBody>
          <a:bodyPr/>
          <a:lstStyle/>
          <a:p>
            <a:pPr algn="l"/>
            <a:r>
              <a:rPr lang="en-IN" b="1" dirty="0"/>
              <a:t>Box Plot chart</a:t>
            </a:r>
            <a:endParaRPr lang="en-US" b="1" dirty="0"/>
          </a:p>
        </p:txBody>
      </p:sp>
      <p:sp>
        <p:nvSpPr>
          <p:cNvPr id="3" name="Content Placeholder 2">
            <a:extLst>
              <a:ext uri="{FF2B5EF4-FFF2-40B4-BE49-F238E27FC236}">
                <a16:creationId xmlns:a16="http://schemas.microsoft.com/office/drawing/2014/main" id="{F45653F9-B150-F83A-D0F1-65483D179760}"/>
              </a:ext>
            </a:extLst>
          </p:cNvPr>
          <p:cNvSpPr>
            <a:spLocks noGrp="1"/>
          </p:cNvSpPr>
          <p:nvPr>
            <p:ph idx="1"/>
          </p:nvPr>
        </p:nvSpPr>
        <p:spPr>
          <a:xfrm>
            <a:off x="251520" y="1167734"/>
            <a:ext cx="8496944" cy="5670250"/>
          </a:xfrm>
        </p:spPr>
        <p:txBody>
          <a:bodyPr/>
          <a:lstStyle/>
          <a:p>
            <a:pPr marL="0" indent="0">
              <a:buNone/>
            </a:pPr>
            <a:r>
              <a:rPr lang="en-IN" dirty="0"/>
              <a:t>A box plot is a chart that summarizes data by dividing it into four parts (quartiles). </a:t>
            </a:r>
          </a:p>
          <a:p>
            <a:pPr marL="0" indent="0">
              <a:buNone/>
            </a:pPr>
            <a:r>
              <a:rPr lang="en-IN" dirty="0"/>
              <a:t> Box plot shows the spread (range) and median (middle) of the data.</a:t>
            </a:r>
            <a:endParaRPr lang="en-US" dirty="0"/>
          </a:p>
        </p:txBody>
      </p:sp>
      <p:pic>
        <p:nvPicPr>
          <p:cNvPr id="5" name="Picture 4">
            <a:extLst>
              <a:ext uri="{FF2B5EF4-FFF2-40B4-BE49-F238E27FC236}">
                <a16:creationId xmlns:a16="http://schemas.microsoft.com/office/drawing/2014/main" id="{D33A5890-26D3-DA13-5260-825C4192A090}"/>
              </a:ext>
            </a:extLst>
          </p:cNvPr>
          <p:cNvPicPr>
            <a:picLocks noChangeAspect="1"/>
          </p:cNvPicPr>
          <p:nvPr/>
        </p:nvPicPr>
        <p:blipFill rotWithShape="1">
          <a:blip r:embed="rId2">
            <a:extLst>
              <a:ext uri="{28A0092B-C50C-407E-A947-70E740481C1C}">
                <a14:useLocalDpi xmlns:a14="http://schemas.microsoft.com/office/drawing/2010/main" val="0"/>
              </a:ext>
            </a:extLst>
          </a:blip>
          <a:srcRect l="29526" t="47480" r="29525" b="34880"/>
          <a:stretch/>
        </p:blipFill>
        <p:spPr>
          <a:xfrm>
            <a:off x="1012804" y="3789040"/>
            <a:ext cx="7061697" cy="1901226"/>
          </a:xfrm>
          <a:prstGeom prst="rect">
            <a:avLst/>
          </a:prstGeom>
        </p:spPr>
      </p:pic>
    </p:spTree>
    <p:extLst>
      <p:ext uri="{BB962C8B-B14F-4D97-AF65-F5344CB8AC3E}">
        <p14:creationId xmlns:p14="http://schemas.microsoft.com/office/powerpoint/2010/main" val="2157253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FB29-4A47-6BD4-DEE4-ED921BC166E2}"/>
              </a:ext>
            </a:extLst>
          </p:cNvPr>
          <p:cNvSpPr>
            <a:spLocks noGrp="1"/>
          </p:cNvSpPr>
          <p:nvPr>
            <p:ph type="title"/>
          </p:nvPr>
        </p:nvSpPr>
        <p:spPr>
          <a:xfrm>
            <a:off x="20198" y="-99392"/>
            <a:ext cx="8229600" cy="1143000"/>
          </a:xfrm>
        </p:spPr>
        <p:txBody>
          <a:bodyPr/>
          <a:lstStyle/>
          <a:p>
            <a:pPr algn="l"/>
            <a:r>
              <a:rPr lang="en-IN" b="1" dirty="0"/>
              <a:t>Heatmap chart</a:t>
            </a:r>
            <a:endParaRPr lang="en-US" b="1" dirty="0"/>
          </a:p>
        </p:txBody>
      </p:sp>
      <p:sp>
        <p:nvSpPr>
          <p:cNvPr id="3" name="Content Placeholder 2">
            <a:extLst>
              <a:ext uri="{FF2B5EF4-FFF2-40B4-BE49-F238E27FC236}">
                <a16:creationId xmlns:a16="http://schemas.microsoft.com/office/drawing/2014/main" id="{97C69687-5FD3-01D3-2679-A9DA9856AD6D}"/>
              </a:ext>
            </a:extLst>
          </p:cNvPr>
          <p:cNvSpPr>
            <a:spLocks noGrp="1"/>
          </p:cNvSpPr>
          <p:nvPr>
            <p:ph idx="1"/>
          </p:nvPr>
        </p:nvSpPr>
        <p:spPr>
          <a:xfrm>
            <a:off x="107504" y="836712"/>
            <a:ext cx="8856984" cy="4525963"/>
          </a:xfrm>
        </p:spPr>
        <p:txBody>
          <a:bodyPr>
            <a:normAutofit/>
          </a:bodyPr>
          <a:lstStyle/>
          <a:p>
            <a:pPr marL="0" indent="0" algn="just">
              <a:buNone/>
            </a:pPr>
            <a:r>
              <a:rPr lang="en-IN" sz="2000" dirty="0"/>
              <a:t>The heatmap chart displays a distribution of metric data over time, where </a:t>
            </a:r>
            <a:r>
              <a:rPr lang="en-IN" sz="2000" dirty="0" err="1"/>
              <a:t>color</a:t>
            </a:r>
            <a:r>
              <a:rPr lang="en-IN" sz="2000" dirty="0"/>
              <a:t> represents a concentration of data. You can only select a dataset metric to display in the chart, such as server processing time or round trip time.</a:t>
            </a:r>
          </a:p>
          <a:p>
            <a:pPr marL="0" indent="0" algn="just">
              <a:buNone/>
            </a:pPr>
            <a:endParaRPr lang="en-IN" sz="2000" dirty="0"/>
          </a:p>
          <a:p>
            <a:pPr marL="0" indent="0" algn="just">
              <a:buNone/>
            </a:pPr>
            <a:endParaRPr lang="en-US" sz="2000" dirty="0"/>
          </a:p>
        </p:txBody>
      </p:sp>
      <p:pic>
        <p:nvPicPr>
          <p:cNvPr id="5" name="Picture 4">
            <a:extLst>
              <a:ext uri="{FF2B5EF4-FFF2-40B4-BE49-F238E27FC236}">
                <a16:creationId xmlns:a16="http://schemas.microsoft.com/office/drawing/2014/main" id="{5266BFCD-4B47-83FD-4EEC-F5E9EC11AE80}"/>
              </a:ext>
            </a:extLst>
          </p:cNvPr>
          <p:cNvPicPr>
            <a:picLocks noChangeAspect="1"/>
          </p:cNvPicPr>
          <p:nvPr/>
        </p:nvPicPr>
        <p:blipFill rotWithShape="1">
          <a:blip r:embed="rId2">
            <a:extLst>
              <a:ext uri="{28A0092B-C50C-407E-A947-70E740481C1C}">
                <a14:useLocalDpi xmlns:a14="http://schemas.microsoft.com/office/drawing/2010/main" val="0"/>
              </a:ext>
            </a:extLst>
          </a:blip>
          <a:srcRect l="27163" t="43700" r="38975" b="29840"/>
          <a:stretch/>
        </p:blipFill>
        <p:spPr>
          <a:xfrm>
            <a:off x="891208" y="2492895"/>
            <a:ext cx="7792999" cy="3805883"/>
          </a:xfrm>
          <a:prstGeom prst="rect">
            <a:avLst/>
          </a:prstGeom>
        </p:spPr>
      </p:pic>
    </p:spTree>
    <p:extLst>
      <p:ext uri="{BB962C8B-B14F-4D97-AF65-F5344CB8AC3E}">
        <p14:creationId xmlns:p14="http://schemas.microsoft.com/office/powerpoint/2010/main" val="1647401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447F-FF52-3A7B-2F71-055579F31AA9}"/>
              </a:ext>
            </a:extLst>
          </p:cNvPr>
          <p:cNvSpPr>
            <a:spLocks noGrp="1"/>
          </p:cNvSpPr>
          <p:nvPr>
            <p:ph type="title"/>
          </p:nvPr>
        </p:nvSpPr>
        <p:spPr>
          <a:xfrm>
            <a:off x="107504" y="-3684"/>
            <a:ext cx="8229600" cy="1143000"/>
          </a:xfrm>
        </p:spPr>
        <p:txBody>
          <a:bodyPr/>
          <a:lstStyle/>
          <a:p>
            <a:pPr algn="l"/>
            <a:r>
              <a:rPr lang="en-IN" b="1" dirty="0"/>
              <a:t>Line chart </a:t>
            </a:r>
            <a:endParaRPr lang="en-US" b="1" dirty="0"/>
          </a:p>
        </p:txBody>
      </p:sp>
      <p:sp>
        <p:nvSpPr>
          <p:cNvPr id="3" name="Content Placeholder 2">
            <a:extLst>
              <a:ext uri="{FF2B5EF4-FFF2-40B4-BE49-F238E27FC236}">
                <a16:creationId xmlns:a16="http://schemas.microsoft.com/office/drawing/2014/main" id="{238B632D-0A0F-2AE6-E81A-F1C8126A6460}"/>
              </a:ext>
            </a:extLst>
          </p:cNvPr>
          <p:cNvSpPr>
            <a:spLocks noGrp="1"/>
          </p:cNvSpPr>
          <p:nvPr>
            <p:ph idx="1"/>
          </p:nvPr>
        </p:nvSpPr>
        <p:spPr>
          <a:xfrm>
            <a:off x="251520" y="908720"/>
            <a:ext cx="8640960" cy="4525963"/>
          </a:xfrm>
        </p:spPr>
        <p:txBody>
          <a:bodyPr/>
          <a:lstStyle/>
          <a:p>
            <a:pPr marL="0" indent="0" algn="just">
              <a:buNone/>
            </a:pPr>
            <a:r>
              <a:rPr lang="en-IN" dirty="0"/>
              <a:t>Metric data is displayed as data points over time that are connected in a line. If your chart contains more than one metric, data for each metric is displayed as an individual line or as a series.</a:t>
            </a:r>
          </a:p>
          <a:p>
            <a:pPr marL="0" indent="0" algn="just">
              <a:buNone/>
            </a:pPr>
            <a:endParaRPr lang="en-US" dirty="0"/>
          </a:p>
        </p:txBody>
      </p:sp>
      <p:pic>
        <p:nvPicPr>
          <p:cNvPr id="5" name="Picture 4">
            <a:extLst>
              <a:ext uri="{FF2B5EF4-FFF2-40B4-BE49-F238E27FC236}">
                <a16:creationId xmlns:a16="http://schemas.microsoft.com/office/drawing/2014/main" id="{25606343-E9CA-A941-50AD-2015344E0B6B}"/>
              </a:ext>
            </a:extLst>
          </p:cNvPr>
          <p:cNvPicPr>
            <a:picLocks noChangeAspect="1"/>
          </p:cNvPicPr>
          <p:nvPr/>
        </p:nvPicPr>
        <p:blipFill rotWithShape="1">
          <a:blip r:embed="rId2">
            <a:extLst>
              <a:ext uri="{28A0092B-C50C-407E-A947-70E740481C1C}">
                <a14:useLocalDpi xmlns:a14="http://schemas.microsoft.com/office/drawing/2010/main" val="0"/>
              </a:ext>
            </a:extLst>
          </a:blip>
          <a:srcRect l="25588" t="41180" r="24013" b="19760"/>
          <a:stretch/>
        </p:blipFill>
        <p:spPr>
          <a:xfrm>
            <a:off x="251520" y="3093686"/>
            <a:ext cx="6768752" cy="3278614"/>
          </a:xfrm>
          <a:prstGeom prst="rect">
            <a:avLst/>
          </a:prstGeom>
        </p:spPr>
      </p:pic>
    </p:spTree>
    <p:extLst>
      <p:ext uri="{BB962C8B-B14F-4D97-AF65-F5344CB8AC3E}">
        <p14:creationId xmlns:p14="http://schemas.microsoft.com/office/powerpoint/2010/main" val="1894568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1567</Words>
  <Application>Microsoft Macintosh PowerPoint</Application>
  <PresentationFormat>On-screen Show (4:3)</PresentationFormat>
  <Paragraphs>122</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Times New Roman</vt:lpstr>
      <vt:lpstr>Wingdings</vt:lpstr>
      <vt:lpstr>Office Theme</vt:lpstr>
      <vt:lpstr>CAP747:PROBABILITY AND STATISTICS</vt:lpstr>
      <vt:lpstr>Introduction to statistics : </vt:lpstr>
      <vt:lpstr>PowerPoint Presentation</vt:lpstr>
      <vt:lpstr>PowerPoint Presentation</vt:lpstr>
      <vt:lpstr>PowerPoint Presentation</vt:lpstr>
      <vt:lpstr>PowerPoint Presentation</vt:lpstr>
      <vt:lpstr>Subdivision of qualitative data</vt:lpstr>
      <vt:lpstr>PowerPoint Presentation</vt:lpstr>
      <vt:lpstr>PowerPoint Presentation</vt:lpstr>
      <vt:lpstr>PowerPoint Presentation</vt:lpstr>
      <vt:lpstr>Types of Statistics </vt:lpstr>
      <vt:lpstr>PowerPoint Presentation</vt:lpstr>
      <vt:lpstr>PowerPoint Presentation</vt:lpstr>
      <vt:lpstr>Inferential statistics</vt:lpstr>
      <vt:lpstr>Inferential statistics can be done with help of various steps as given below: </vt:lpstr>
      <vt:lpstr>Types of inferential statistics </vt:lpstr>
      <vt:lpstr>Tables(descriptive)</vt:lpstr>
      <vt:lpstr>1.General table </vt:lpstr>
      <vt:lpstr>2.Summary table</vt:lpstr>
      <vt:lpstr>Classification on the basis of characteristic </vt:lpstr>
      <vt:lpstr>PowerPoint Presentation</vt:lpstr>
      <vt:lpstr>Charts (descriptive)</vt:lpstr>
      <vt:lpstr>PowerPoint Presentation</vt:lpstr>
      <vt:lpstr>Box Plot chart</vt:lpstr>
      <vt:lpstr>Heatmap chart</vt:lpstr>
      <vt:lpstr>Line chart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Athia</dc:creator>
  <cp:lastModifiedBy>cosmosscripto@gmail.com</cp:lastModifiedBy>
  <cp:revision>9</cp:revision>
  <dcterms:created xsi:type="dcterms:W3CDTF">2022-08-01T19:32:05Z</dcterms:created>
  <dcterms:modified xsi:type="dcterms:W3CDTF">2022-08-03T05:24:06Z</dcterms:modified>
</cp:coreProperties>
</file>