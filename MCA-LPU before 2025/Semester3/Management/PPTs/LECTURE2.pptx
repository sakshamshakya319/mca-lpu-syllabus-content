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59" r:id="rId3"/>
    <p:sldId id="261" r:id="rId4"/>
    <p:sldId id="279" r:id="rId5"/>
    <p:sldId id="262" r:id="rId6"/>
    <p:sldId id="263" r:id="rId7"/>
    <p:sldId id="276" r:id="rId8"/>
    <p:sldId id="264" r:id="rId9"/>
    <p:sldId id="266" r:id="rId10"/>
    <p:sldId id="267" r:id="rId11"/>
    <p:sldId id="265" r:id="rId12"/>
    <p:sldId id="268" r:id="rId13"/>
    <p:sldId id="269" r:id="rId14"/>
    <p:sldId id="270" r:id="rId15"/>
    <p:sldId id="271" r:id="rId16"/>
    <p:sldId id="272" r:id="rId17"/>
    <p:sldId id="273"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366"/>
  </p:normalViewPr>
  <p:slideViewPr>
    <p:cSldViewPr snapToGrid="0">
      <p:cViewPr varScale="1">
        <p:scale>
          <a:sx n="99" d="100"/>
          <a:sy n="99" d="100"/>
        </p:scale>
        <p:origin x="9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03T05:55:05.867"/>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03T05:56:43.013"/>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03T06:02:16.892"/>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03T06:05:09.717"/>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03T06:05:33.234"/>
    </inkml:context>
    <inkml:brush xml:id="br0">
      <inkml:brushProperty name="width" value="0.1" units="cm"/>
      <inkml:brushProperty name="height" value="0.1" units="cm"/>
      <inkml:brushProperty name="color" value="#FFFFFF"/>
    </inkml:brush>
  </inkml:definitions>
  <inkml:trace contextRef="#ctx0" brushRef="#br0">1 0 128,'0'6'0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D582E-4E7B-4643-87D9-9F32A57E054D}" type="datetimeFigureOut">
              <a:rPr lang="en-US" smtClean="0"/>
              <a:t>8/3/22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015055-7456-6847-91E3-F37B2A41F2FD}" type="slidenum">
              <a:rPr lang="en-US" smtClean="0"/>
              <a:t>‹#›</a:t>
            </a:fld>
            <a:endParaRPr lang="en-US"/>
          </a:p>
        </p:txBody>
      </p:sp>
    </p:spTree>
    <p:extLst>
      <p:ext uri="{BB962C8B-B14F-4D97-AF65-F5344CB8AC3E}">
        <p14:creationId xmlns:p14="http://schemas.microsoft.com/office/powerpoint/2010/main" val="3625613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22222"/>
                </a:solidFill>
                <a:effectLst/>
                <a:latin typeface="Droid Serif"/>
              </a:rPr>
              <a:t>interacting with people inside and outside the organization.</a:t>
            </a:r>
            <a:endParaRPr lang="en-US" dirty="0"/>
          </a:p>
        </p:txBody>
      </p:sp>
      <p:sp>
        <p:nvSpPr>
          <p:cNvPr id="4" name="Slide Number Placeholder 3"/>
          <p:cNvSpPr>
            <a:spLocks noGrp="1"/>
          </p:cNvSpPr>
          <p:nvPr>
            <p:ph type="sldNum" sz="quarter" idx="5"/>
          </p:nvPr>
        </p:nvSpPr>
        <p:spPr/>
        <p:txBody>
          <a:bodyPr/>
          <a:lstStyle/>
          <a:p>
            <a:fld id="{6D015055-7456-6847-91E3-F37B2A41F2FD}" type="slidenum">
              <a:rPr lang="en-US" smtClean="0"/>
              <a:t>8</a:t>
            </a:fld>
            <a:endParaRPr lang="en-US"/>
          </a:p>
        </p:txBody>
      </p:sp>
    </p:spTree>
    <p:extLst>
      <p:ext uri="{BB962C8B-B14F-4D97-AF65-F5344CB8AC3E}">
        <p14:creationId xmlns:p14="http://schemas.microsoft.com/office/powerpoint/2010/main" val="2829855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015055-7456-6847-91E3-F37B2A41F2FD}" type="slidenum">
              <a:rPr lang="en-US" smtClean="0"/>
              <a:t>10</a:t>
            </a:fld>
            <a:endParaRPr lang="en-US"/>
          </a:p>
        </p:txBody>
      </p:sp>
    </p:spTree>
    <p:extLst>
      <p:ext uri="{BB962C8B-B14F-4D97-AF65-F5344CB8AC3E}">
        <p14:creationId xmlns:p14="http://schemas.microsoft.com/office/powerpoint/2010/main" val="2982069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err="1">
                <a:solidFill>
                  <a:srgbClr val="222222"/>
                </a:solidFill>
                <a:effectLst/>
                <a:latin typeface="Droid Serif"/>
              </a:rPr>
              <a:t>ike</a:t>
            </a:r>
            <a:r>
              <a:rPr lang="en-IN" b="0" i="0" dirty="0">
                <a:solidFill>
                  <a:srgbClr val="222222"/>
                </a:solidFill>
                <a:effectLst/>
                <a:latin typeface="Droid Serif"/>
              </a:rPr>
              <a:t> serving as a focal point for the exchange of information. It includes communication, giving, and receiving information, both within and outside the organization. Information is required at every level in an organization to make decisions effective.</a:t>
            </a:r>
            <a:endParaRPr lang="en-US" dirty="0"/>
          </a:p>
        </p:txBody>
      </p:sp>
      <p:sp>
        <p:nvSpPr>
          <p:cNvPr id="4" name="Slide Number Placeholder 3"/>
          <p:cNvSpPr>
            <a:spLocks noGrp="1"/>
          </p:cNvSpPr>
          <p:nvPr>
            <p:ph type="sldNum" sz="quarter" idx="5"/>
          </p:nvPr>
        </p:nvSpPr>
        <p:spPr/>
        <p:txBody>
          <a:bodyPr/>
          <a:lstStyle/>
          <a:p>
            <a:fld id="{6D015055-7456-6847-91E3-F37B2A41F2FD}" type="slidenum">
              <a:rPr lang="en-US" smtClean="0"/>
              <a:t>11</a:t>
            </a:fld>
            <a:endParaRPr lang="en-US"/>
          </a:p>
        </p:txBody>
      </p:sp>
    </p:spTree>
    <p:extLst>
      <p:ext uri="{BB962C8B-B14F-4D97-AF65-F5344CB8AC3E}">
        <p14:creationId xmlns:p14="http://schemas.microsoft.com/office/powerpoint/2010/main" val="2531827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22222"/>
                </a:solidFill>
                <a:effectLst/>
                <a:latin typeface="Droid Serif"/>
              </a:rPr>
              <a:t>choosing the most appropriate and best alternative out of the available ones so that the organization achieves its objectives when the chosen alternative is put into action.</a:t>
            </a:r>
            <a:endParaRPr lang="en-US" dirty="0"/>
          </a:p>
        </p:txBody>
      </p:sp>
      <p:sp>
        <p:nvSpPr>
          <p:cNvPr id="4" name="Slide Number Placeholder 3"/>
          <p:cNvSpPr>
            <a:spLocks noGrp="1"/>
          </p:cNvSpPr>
          <p:nvPr>
            <p:ph type="sldNum" sz="quarter" idx="5"/>
          </p:nvPr>
        </p:nvSpPr>
        <p:spPr/>
        <p:txBody>
          <a:bodyPr/>
          <a:lstStyle/>
          <a:p>
            <a:fld id="{6D015055-7456-6847-91E3-F37B2A41F2FD}" type="slidenum">
              <a:rPr lang="en-US" smtClean="0"/>
              <a:t>14</a:t>
            </a:fld>
            <a:endParaRPr lang="en-US"/>
          </a:p>
        </p:txBody>
      </p:sp>
    </p:spTree>
    <p:extLst>
      <p:ext uri="{BB962C8B-B14F-4D97-AF65-F5344CB8AC3E}">
        <p14:creationId xmlns:p14="http://schemas.microsoft.com/office/powerpoint/2010/main" val="2049503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lstStyle>
            <a:lvl1pPr algn="l">
              <a:lnSpc>
                <a:spcPct val="105000"/>
              </a:lnSpc>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8/3/22</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823319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24354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9396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89594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21612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96848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433299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9971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31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87894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8/3/22</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29185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600" spc="40">
                <a:solidFill>
                  <a:schemeClr val="tx1">
                    <a:tint val="75000"/>
                  </a:schemeClr>
                </a:solidFill>
              </a:defRPr>
            </a:lvl1pPr>
          </a:lstStyle>
          <a:p>
            <a:fld id="{72345051-2045-45DA-935E-2E3CA1A69ADC}" type="datetimeFigureOut">
              <a:rPr lang="en-US" smtClean="0"/>
              <a:t>8/3/22</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600" spc="4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600" spc="4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419923205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800" kern="1200" spc="9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spc="9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spc="9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spc="9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spc="9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spc="9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F87819-B70D-4927-B657-7D175613F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CB3820D-C773-4632-9F79-C890E1B2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177668"/>
          </a:xfrm>
          <a:custGeom>
            <a:avLst/>
            <a:gdLst>
              <a:gd name="connsiteX0" fmla="*/ 6861986 w 12191999"/>
              <a:gd name="connsiteY0" fmla="*/ 6107659 h 6177668"/>
              <a:gd name="connsiteX1" fmla="*/ 6860986 w 12191999"/>
              <a:gd name="connsiteY1" fmla="*/ 6107739 h 6177668"/>
              <a:gd name="connsiteX2" fmla="*/ 6860759 w 12191999"/>
              <a:gd name="connsiteY2" fmla="*/ 6108287 h 6177668"/>
              <a:gd name="connsiteX3" fmla="*/ 0 w 12191999"/>
              <a:gd name="connsiteY3" fmla="*/ 0 h 6177668"/>
              <a:gd name="connsiteX4" fmla="*/ 12191999 w 12191999"/>
              <a:gd name="connsiteY4" fmla="*/ 0 h 6177668"/>
              <a:gd name="connsiteX5" fmla="*/ 12191999 w 12191999"/>
              <a:gd name="connsiteY5" fmla="*/ 5215324 h 6177668"/>
              <a:gd name="connsiteX6" fmla="*/ 12144282 w 12191999"/>
              <a:gd name="connsiteY6" fmla="*/ 5229900 h 6177668"/>
              <a:gd name="connsiteX7" fmla="*/ 11759192 w 12191999"/>
              <a:gd name="connsiteY7" fmla="*/ 5336208 h 6177668"/>
              <a:gd name="connsiteX8" fmla="*/ 10505159 w 12191999"/>
              <a:gd name="connsiteY8" fmla="*/ 5627228 h 6177668"/>
              <a:gd name="connsiteX9" fmla="*/ 9501755 w 12191999"/>
              <a:gd name="connsiteY9" fmla="*/ 5807012 h 6177668"/>
              <a:gd name="connsiteX10" fmla="*/ 8534155 w 12191999"/>
              <a:gd name="connsiteY10" fmla="*/ 5944240 h 6177668"/>
              <a:gd name="connsiteX11" fmla="*/ 7790171 w 12191999"/>
              <a:gd name="connsiteY11" fmla="*/ 6026297 h 6177668"/>
              <a:gd name="connsiteX12" fmla="*/ 7024337 w 12191999"/>
              <a:gd name="connsiteY12" fmla="*/ 6093812 h 6177668"/>
              <a:gd name="connsiteX13" fmla="*/ 7008892 w 12191999"/>
              <a:gd name="connsiteY13" fmla="*/ 6095938 h 6177668"/>
              <a:gd name="connsiteX14" fmla="*/ 6862735 w 12191999"/>
              <a:gd name="connsiteY14" fmla="*/ 6107599 h 6177668"/>
              <a:gd name="connsiteX15" fmla="*/ 6872248 w 12191999"/>
              <a:gd name="connsiteY15" fmla="*/ 6109467 h 6177668"/>
              <a:gd name="connsiteX16" fmla="*/ 6907812 w 12191999"/>
              <a:gd name="connsiteY16" fmla="*/ 6107715 h 6177668"/>
              <a:gd name="connsiteX17" fmla="*/ 6956484 w 12191999"/>
              <a:gd name="connsiteY17" fmla="*/ 6104658 h 6177668"/>
              <a:gd name="connsiteX18" fmla="*/ 7652688 w 12191999"/>
              <a:gd name="connsiteY18" fmla="*/ 6071273 h 6177668"/>
              <a:gd name="connsiteX19" fmla="*/ 8699923 w 12191999"/>
              <a:gd name="connsiteY19" fmla="*/ 5982083 h 6177668"/>
              <a:gd name="connsiteX20" fmla="*/ 9557819 w 12191999"/>
              <a:gd name="connsiteY20" fmla="*/ 5875435 h 6177668"/>
              <a:gd name="connsiteX21" fmla="*/ 10709534 w 12191999"/>
              <a:gd name="connsiteY21" fmla="*/ 5676156 h 6177668"/>
              <a:gd name="connsiteX22" fmla="*/ 12081554 w 12191999"/>
              <a:gd name="connsiteY22" fmla="*/ 5341561 h 6177668"/>
              <a:gd name="connsiteX23" fmla="*/ 12191999 w 12191999"/>
              <a:gd name="connsiteY23" fmla="*/ 5308238 h 6177668"/>
              <a:gd name="connsiteX24" fmla="*/ 12191999 w 12191999"/>
              <a:gd name="connsiteY24" fmla="*/ 5364054 h 6177668"/>
              <a:gd name="connsiteX25" fmla="*/ 11911964 w 12191999"/>
              <a:gd name="connsiteY25" fmla="*/ 5447316 h 6177668"/>
              <a:gd name="connsiteX26" fmla="*/ 11020049 w 12191999"/>
              <a:gd name="connsiteY26" fmla="*/ 5667491 h 6177668"/>
              <a:gd name="connsiteX27" fmla="*/ 10064425 w 12191999"/>
              <a:gd name="connsiteY27" fmla="*/ 5852245 h 6177668"/>
              <a:gd name="connsiteX28" fmla="*/ 9264124 w 12191999"/>
              <a:gd name="connsiteY28" fmla="*/ 5971252 h 6177668"/>
              <a:gd name="connsiteX29" fmla="*/ 8654182 w 12191999"/>
              <a:gd name="connsiteY29" fmla="*/ 6042605 h 6177668"/>
              <a:gd name="connsiteX30" fmla="*/ 7938866 w 12191999"/>
              <a:gd name="connsiteY30" fmla="*/ 6105677 h 6177668"/>
              <a:gd name="connsiteX31" fmla="*/ 7008089 w 12191999"/>
              <a:gd name="connsiteY31" fmla="*/ 6158427 h 6177668"/>
              <a:gd name="connsiteX32" fmla="*/ 6549390 w 12191999"/>
              <a:gd name="connsiteY32" fmla="*/ 6172697 h 6177668"/>
              <a:gd name="connsiteX33" fmla="*/ 6433696 w 12191999"/>
              <a:gd name="connsiteY33" fmla="*/ 6177668 h 6177668"/>
              <a:gd name="connsiteX34" fmla="*/ 6127899 w 12191999"/>
              <a:gd name="connsiteY34" fmla="*/ 6177668 h 6177668"/>
              <a:gd name="connsiteX35" fmla="*/ 6048391 w 12191999"/>
              <a:gd name="connsiteY35" fmla="*/ 6172953 h 6177668"/>
              <a:gd name="connsiteX36" fmla="*/ 5334221 w 12191999"/>
              <a:gd name="connsiteY36" fmla="*/ 6135747 h 6177668"/>
              <a:gd name="connsiteX37" fmla="*/ 4413510 w 12191999"/>
              <a:gd name="connsiteY37" fmla="*/ 6072039 h 6177668"/>
              <a:gd name="connsiteX38" fmla="*/ 3438265 w 12191999"/>
              <a:gd name="connsiteY38" fmla="*/ 5970870 h 6177668"/>
              <a:gd name="connsiteX39" fmla="*/ 2425303 w 12191999"/>
              <a:gd name="connsiteY39" fmla="*/ 5848805 h 6177668"/>
              <a:gd name="connsiteX40" fmla="*/ 1293973 w 12191999"/>
              <a:gd name="connsiteY40" fmla="*/ 5671060 h 6177668"/>
              <a:gd name="connsiteX41" fmla="*/ 126888 w 12191999"/>
              <a:gd name="connsiteY41" fmla="*/ 5425029 h 6177668"/>
              <a:gd name="connsiteX42" fmla="*/ 0 w 12191999"/>
              <a:gd name="connsiteY42" fmla="*/ 5392100 h 6177668"/>
              <a:gd name="connsiteX43" fmla="*/ 0 w 12191999"/>
              <a:gd name="connsiteY43" fmla="*/ 5333771 h 6177668"/>
              <a:gd name="connsiteX44" fmla="*/ 130837 w 12191999"/>
              <a:gd name="connsiteY44" fmla="*/ 5368509 h 6177668"/>
              <a:gd name="connsiteX45" fmla="*/ 660204 w 12191999"/>
              <a:gd name="connsiteY45" fmla="*/ 5490001 h 6177668"/>
              <a:gd name="connsiteX46" fmla="*/ 1831416 w 12191999"/>
              <a:gd name="connsiteY46" fmla="*/ 5705715 h 6177668"/>
              <a:gd name="connsiteX47" fmla="*/ 2677204 w 12191999"/>
              <a:gd name="connsiteY47" fmla="*/ 5825742 h 6177668"/>
              <a:gd name="connsiteX48" fmla="*/ 2644716 w 12191999"/>
              <a:gd name="connsiteY48" fmla="*/ 5815549 h 6177668"/>
              <a:gd name="connsiteX49" fmla="*/ 1173182 w 12191999"/>
              <a:gd name="connsiteY49" fmla="*/ 5474074 h 6177668"/>
              <a:gd name="connsiteX50" fmla="*/ 479527 w 12191999"/>
              <a:gd name="connsiteY50" fmla="*/ 5269379 h 6177668"/>
              <a:gd name="connsiteX51" fmla="*/ 0 w 12191999"/>
              <a:gd name="connsiteY51" fmla="*/ 5107083 h 617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81D227EE-B3FC-4457-B0C7-D56A02E1B819}"/>
              </a:ext>
            </a:extLst>
          </p:cNvPr>
          <p:cNvPicPr>
            <a:picLocks noChangeAspect="1"/>
          </p:cNvPicPr>
          <p:nvPr/>
        </p:nvPicPr>
        <p:blipFill rotWithShape="1">
          <a:blip r:embed="rId2">
            <a:alphaModFix amt="55000"/>
          </a:blip>
          <a:srcRect t="23805"/>
          <a:stretch/>
        </p:blipFill>
        <p:spPr>
          <a:xfrm>
            <a:off x="20" y="10"/>
            <a:ext cx="12191979" cy="6177658"/>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a:extLst>
              <a:ext uri="{FF2B5EF4-FFF2-40B4-BE49-F238E27FC236}">
                <a16:creationId xmlns:a16="http://schemas.microsoft.com/office/drawing/2014/main" id="{290C360D-F4EA-CF97-72D9-10D33585B3DE}"/>
              </a:ext>
            </a:extLst>
          </p:cNvPr>
          <p:cNvSpPr>
            <a:spLocks noGrp="1"/>
          </p:cNvSpPr>
          <p:nvPr>
            <p:ph type="ctrTitle"/>
          </p:nvPr>
        </p:nvSpPr>
        <p:spPr>
          <a:xfrm>
            <a:off x="1524000" y="1026747"/>
            <a:ext cx="9144000" cy="2387600"/>
          </a:xfrm>
        </p:spPr>
        <p:txBody>
          <a:bodyPr>
            <a:normAutofit/>
          </a:bodyPr>
          <a:lstStyle/>
          <a:p>
            <a:pPr algn="ctr">
              <a:lnSpc>
                <a:spcPct val="95000"/>
              </a:lnSpc>
            </a:pPr>
            <a:r>
              <a:rPr lang="en-US" sz="7400">
                <a:solidFill>
                  <a:schemeClr val="bg1"/>
                </a:solidFill>
              </a:rPr>
              <a:t>Skills and roles of a manager</a:t>
            </a:r>
          </a:p>
        </p:txBody>
      </p:sp>
      <p:sp>
        <p:nvSpPr>
          <p:cNvPr id="13" name="Rectangle 6">
            <a:extLst>
              <a:ext uri="{FF2B5EF4-FFF2-40B4-BE49-F238E27FC236}">
                <a16:creationId xmlns:a16="http://schemas.microsoft.com/office/drawing/2014/main" id="{DCB8EB4B-AFE9-41E8-95B0-F246E574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650059"/>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5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War Of The Skills Clouds – JOSH BERSIN">
            <a:extLst>
              <a:ext uri="{FF2B5EF4-FFF2-40B4-BE49-F238E27FC236}">
                <a16:creationId xmlns:a16="http://schemas.microsoft.com/office/drawing/2014/main" id="{6EBF8B88-2C1D-85FA-4EC5-81489BCB562B}"/>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l="11883" r="12117" b="-1"/>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86AA76B-9435-61CA-77CA-B2A2BAD8CBCD}"/>
              </a:ext>
            </a:extLst>
          </p:cNvPr>
          <p:cNvSpPr>
            <a:spLocks noGrp="1"/>
          </p:cNvSpPr>
          <p:nvPr>
            <p:ph type="title"/>
          </p:nvPr>
        </p:nvSpPr>
        <p:spPr>
          <a:xfrm>
            <a:off x="838200" y="365125"/>
            <a:ext cx="10515600" cy="1325563"/>
          </a:xfrm>
        </p:spPr>
        <p:txBody>
          <a:bodyPr>
            <a:normAutofit/>
          </a:bodyPr>
          <a:lstStyle/>
          <a:p>
            <a:r>
              <a:rPr lang="en-US" sz="7200" dirty="0"/>
              <a:t>Skills of a manager</a:t>
            </a:r>
          </a:p>
        </p:txBody>
      </p:sp>
      <p:sp>
        <p:nvSpPr>
          <p:cNvPr id="1033" name="Rectangle 6">
            <a:extLst>
              <a:ext uri="{FF2B5EF4-FFF2-40B4-BE49-F238E27FC236}">
                <a16:creationId xmlns:a16="http://schemas.microsoft.com/office/drawing/2014/main" id="{1CA8A97F-67F0-4D5F-A850-0C30727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578" y="1802192"/>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1B7026-9ABE-8C5F-0F8C-0F4467C433EB}"/>
              </a:ext>
            </a:extLst>
          </p:cNvPr>
          <p:cNvSpPr>
            <a:spLocks noGrp="1"/>
          </p:cNvSpPr>
          <p:nvPr>
            <p:ph idx="1"/>
          </p:nvPr>
        </p:nvSpPr>
        <p:spPr>
          <a:xfrm>
            <a:off x="838200" y="2004446"/>
            <a:ext cx="10515600" cy="4488429"/>
          </a:xfrm>
        </p:spPr>
        <p:txBody>
          <a:bodyPr>
            <a:normAutofit lnSpcReduction="10000"/>
          </a:bodyPr>
          <a:lstStyle/>
          <a:p>
            <a:pPr>
              <a:lnSpc>
                <a:spcPct val="100000"/>
              </a:lnSpc>
            </a:pPr>
            <a:r>
              <a:rPr lang="en-IN" sz="3600" b="1" dirty="0"/>
              <a:t>Communication and interpersonal skills</a:t>
            </a:r>
          </a:p>
          <a:p>
            <a:pPr>
              <a:lnSpc>
                <a:spcPct val="100000"/>
              </a:lnSpc>
            </a:pPr>
            <a:r>
              <a:rPr lang="en-IN" sz="3600" b="1" dirty="0"/>
              <a:t>Listening skills</a:t>
            </a:r>
          </a:p>
          <a:p>
            <a:pPr>
              <a:lnSpc>
                <a:spcPct val="100000"/>
              </a:lnSpc>
            </a:pPr>
            <a:r>
              <a:rPr lang="en-IN" sz="3600" b="1" dirty="0"/>
              <a:t>Relationship building skills</a:t>
            </a:r>
          </a:p>
          <a:p>
            <a:pPr>
              <a:lnSpc>
                <a:spcPct val="100000"/>
              </a:lnSpc>
            </a:pPr>
            <a:r>
              <a:rPr lang="en-IN" sz="3600" b="1" dirty="0"/>
              <a:t>Emotional intelligence</a:t>
            </a:r>
          </a:p>
          <a:p>
            <a:pPr>
              <a:lnSpc>
                <a:spcPct val="100000"/>
              </a:lnSpc>
            </a:pPr>
            <a:r>
              <a:rPr lang="en-IN" sz="3600" b="1" dirty="0"/>
              <a:t>Organisation and project management</a:t>
            </a:r>
          </a:p>
          <a:p>
            <a:pPr>
              <a:lnSpc>
                <a:spcPct val="100000"/>
              </a:lnSpc>
            </a:pPr>
            <a:r>
              <a:rPr lang="en-IN" sz="3600" b="1" dirty="0"/>
              <a:t>Strategic thinking</a:t>
            </a:r>
          </a:p>
          <a:p>
            <a:pPr>
              <a:lnSpc>
                <a:spcPct val="100000"/>
              </a:lnSpc>
            </a:pPr>
            <a:r>
              <a:rPr lang="en-IN" sz="3600" b="1" dirty="0"/>
              <a:t>Decision making</a:t>
            </a:r>
          </a:p>
          <a:p>
            <a:pPr>
              <a:lnSpc>
                <a:spcPct val="100000"/>
              </a:lnSpc>
            </a:pPr>
            <a:endParaRPr lang="en-US" sz="3600" b="1" dirty="0"/>
          </a:p>
        </p:txBody>
      </p:sp>
    </p:spTree>
    <p:extLst>
      <p:ext uri="{BB962C8B-B14F-4D97-AF65-F5344CB8AC3E}">
        <p14:creationId xmlns:p14="http://schemas.microsoft.com/office/powerpoint/2010/main" val="360676421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16 Best Skills to Include on a Resume (And How To Include) - Talent Economy">
            <a:extLst>
              <a:ext uri="{FF2B5EF4-FFF2-40B4-BE49-F238E27FC236}">
                <a16:creationId xmlns:a16="http://schemas.microsoft.com/office/drawing/2014/main" id="{DE46F48C-8956-1ACD-7E22-CADA8694F0C5}"/>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l="2720" r="3501" b="-1"/>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31140D-343E-3DDC-3636-E9A43123C903}"/>
              </a:ext>
            </a:extLst>
          </p:cNvPr>
          <p:cNvSpPr>
            <a:spLocks noGrp="1"/>
          </p:cNvSpPr>
          <p:nvPr>
            <p:ph type="title"/>
          </p:nvPr>
        </p:nvSpPr>
        <p:spPr>
          <a:xfrm>
            <a:off x="838200" y="365125"/>
            <a:ext cx="10515600" cy="1325563"/>
          </a:xfrm>
        </p:spPr>
        <p:txBody>
          <a:bodyPr>
            <a:normAutofit/>
          </a:bodyPr>
          <a:lstStyle/>
          <a:p>
            <a:r>
              <a:rPr lang="en-US" sz="7200" dirty="0"/>
              <a:t>Skills of a manager</a:t>
            </a:r>
          </a:p>
        </p:txBody>
      </p:sp>
      <p:sp>
        <p:nvSpPr>
          <p:cNvPr id="2057" name="Rectangle 6">
            <a:extLst>
              <a:ext uri="{FF2B5EF4-FFF2-40B4-BE49-F238E27FC236}">
                <a16:creationId xmlns:a16="http://schemas.microsoft.com/office/drawing/2014/main" id="{1CA8A97F-67F0-4D5F-A850-0C30727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578" y="1802192"/>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FC9FDD-5B50-BD3B-E92E-07591A61D2D6}"/>
              </a:ext>
            </a:extLst>
          </p:cNvPr>
          <p:cNvSpPr>
            <a:spLocks noGrp="1"/>
          </p:cNvSpPr>
          <p:nvPr>
            <p:ph idx="1"/>
          </p:nvPr>
        </p:nvSpPr>
        <p:spPr>
          <a:xfrm>
            <a:off x="838200" y="2004446"/>
            <a:ext cx="10515600" cy="4571249"/>
          </a:xfrm>
        </p:spPr>
        <p:txBody>
          <a:bodyPr>
            <a:normAutofit/>
          </a:bodyPr>
          <a:lstStyle/>
          <a:p>
            <a:pPr>
              <a:lnSpc>
                <a:spcPct val="100000"/>
              </a:lnSpc>
            </a:pPr>
            <a:r>
              <a:rPr lang="en-US" sz="3200" b="1" dirty="0"/>
              <a:t>Conflict resolution</a:t>
            </a:r>
          </a:p>
          <a:p>
            <a:pPr>
              <a:lnSpc>
                <a:spcPct val="100000"/>
              </a:lnSpc>
            </a:pPr>
            <a:r>
              <a:rPr lang="en-US" sz="3200" b="1" dirty="0"/>
              <a:t>Time management</a:t>
            </a:r>
          </a:p>
          <a:p>
            <a:pPr>
              <a:lnSpc>
                <a:spcPct val="100000"/>
              </a:lnSpc>
            </a:pPr>
            <a:r>
              <a:rPr lang="en-US" sz="3200" b="1" dirty="0"/>
              <a:t>Delegation</a:t>
            </a:r>
          </a:p>
          <a:p>
            <a:pPr>
              <a:lnSpc>
                <a:spcPct val="100000"/>
              </a:lnSpc>
            </a:pPr>
            <a:r>
              <a:rPr lang="en-US" sz="3200" b="1" dirty="0"/>
              <a:t>Motivation</a:t>
            </a:r>
          </a:p>
          <a:p>
            <a:pPr>
              <a:lnSpc>
                <a:spcPct val="100000"/>
              </a:lnSpc>
            </a:pPr>
            <a:r>
              <a:rPr lang="en-US" sz="3200" b="1" dirty="0"/>
              <a:t>Recognition</a:t>
            </a:r>
          </a:p>
          <a:p>
            <a:pPr>
              <a:lnSpc>
                <a:spcPct val="100000"/>
              </a:lnSpc>
            </a:pPr>
            <a:r>
              <a:rPr lang="en-US" sz="3200" b="1" dirty="0"/>
              <a:t>Confidence</a:t>
            </a:r>
          </a:p>
          <a:p>
            <a:pPr>
              <a:lnSpc>
                <a:spcPct val="100000"/>
              </a:lnSpc>
            </a:pPr>
            <a:r>
              <a:rPr lang="en-US" sz="3200" b="1" dirty="0"/>
              <a:t>Vision</a:t>
            </a:r>
          </a:p>
        </p:txBody>
      </p:sp>
    </p:spTree>
    <p:extLst>
      <p:ext uri="{BB962C8B-B14F-4D97-AF65-F5344CB8AC3E}">
        <p14:creationId xmlns:p14="http://schemas.microsoft.com/office/powerpoint/2010/main" val="276086847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0A29-4477-B3D1-47A8-77A29C5CA48F}"/>
              </a:ext>
            </a:extLst>
          </p:cNvPr>
          <p:cNvSpPr>
            <a:spLocks noGrp="1"/>
          </p:cNvSpPr>
          <p:nvPr>
            <p:ph type="title"/>
          </p:nvPr>
        </p:nvSpPr>
        <p:spPr/>
        <p:txBody>
          <a:bodyPr/>
          <a:lstStyle/>
          <a:p>
            <a:r>
              <a:rPr lang="en-US" sz="4800" dirty="0"/>
              <a:t>Skills of a manager</a:t>
            </a:r>
            <a:endParaRPr lang="en-US" dirty="0"/>
          </a:p>
        </p:txBody>
      </p:sp>
      <p:sp>
        <p:nvSpPr>
          <p:cNvPr id="3" name="Content Placeholder 2">
            <a:extLst>
              <a:ext uri="{FF2B5EF4-FFF2-40B4-BE49-F238E27FC236}">
                <a16:creationId xmlns:a16="http://schemas.microsoft.com/office/drawing/2014/main" id="{448FD2A6-84A7-4743-F981-E6E681F51B07}"/>
              </a:ext>
            </a:extLst>
          </p:cNvPr>
          <p:cNvSpPr>
            <a:spLocks noGrp="1"/>
          </p:cNvSpPr>
          <p:nvPr>
            <p:ph idx="1"/>
          </p:nvPr>
        </p:nvSpPr>
        <p:spPr>
          <a:xfrm>
            <a:off x="838200" y="1929383"/>
            <a:ext cx="10515600" cy="4716115"/>
          </a:xfrm>
        </p:spPr>
        <p:txBody>
          <a:bodyPr>
            <a:normAutofit lnSpcReduction="10000"/>
          </a:bodyPr>
          <a:lstStyle/>
          <a:p>
            <a:pPr>
              <a:lnSpc>
                <a:spcPct val="100000"/>
              </a:lnSpc>
            </a:pPr>
            <a:r>
              <a:rPr lang="en-IN" sz="3600" b="1" dirty="0"/>
              <a:t>Trustworthiness and respect</a:t>
            </a:r>
          </a:p>
          <a:p>
            <a:pPr>
              <a:lnSpc>
                <a:spcPct val="100000"/>
              </a:lnSpc>
            </a:pPr>
            <a:r>
              <a:rPr lang="en-US" sz="3600" b="1" dirty="0"/>
              <a:t>Teamwork</a:t>
            </a:r>
          </a:p>
          <a:p>
            <a:pPr>
              <a:lnSpc>
                <a:spcPct val="100000"/>
              </a:lnSpc>
            </a:pPr>
            <a:r>
              <a:rPr lang="en-US" sz="3600" b="1" dirty="0"/>
              <a:t>Team orientation</a:t>
            </a:r>
          </a:p>
          <a:p>
            <a:pPr>
              <a:lnSpc>
                <a:spcPct val="100000"/>
              </a:lnSpc>
            </a:pPr>
            <a:r>
              <a:rPr lang="en-US" sz="3600" b="1" dirty="0"/>
              <a:t>Problem solving</a:t>
            </a:r>
          </a:p>
          <a:p>
            <a:pPr>
              <a:lnSpc>
                <a:spcPct val="100000"/>
              </a:lnSpc>
            </a:pPr>
            <a:r>
              <a:rPr lang="en-US" sz="3600" b="1" dirty="0"/>
              <a:t>Functional skills</a:t>
            </a:r>
          </a:p>
          <a:p>
            <a:pPr>
              <a:lnSpc>
                <a:spcPct val="100000"/>
              </a:lnSpc>
            </a:pPr>
            <a:r>
              <a:rPr lang="en-US" sz="3600" b="1" dirty="0"/>
              <a:t>Technological skills</a:t>
            </a:r>
          </a:p>
          <a:p>
            <a:pPr>
              <a:lnSpc>
                <a:spcPct val="100000"/>
              </a:lnSpc>
            </a:pPr>
            <a:r>
              <a:rPr lang="en-US" sz="3600" b="1" dirty="0"/>
              <a:t>Adaptability</a:t>
            </a:r>
          </a:p>
          <a:p>
            <a:pPr>
              <a:lnSpc>
                <a:spcPct val="100000"/>
              </a:lnSpc>
            </a:pPr>
            <a:endParaRPr lang="en-US" sz="3600" b="1" dirty="0"/>
          </a:p>
        </p:txBody>
      </p:sp>
      <p:pic>
        <p:nvPicPr>
          <p:cNvPr id="2050" name="Picture 2" descr="Soft skills for a hard world | McKinsey">
            <a:extLst>
              <a:ext uri="{FF2B5EF4-FFF2-40B4-BE49-F238E27FC236}">
                <a16:creationId xmlns:a16="http://schemas.microsoft.com/office/drawing/2014/main" id="{86CF54E6-54E4-D845-176B-2CD03DC7DA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5453" y="2270706"/>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59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7" name="Rectangle 1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3B83F-DB95-40E2-B351-9382354A2D59}"/>
              </a:ext>
            </a:extLst>
          </p:cNvPr>
          <p:cNvSpPr>
            <a:spLocks noGrp="1"/>
          </p:cNvSpPr>
          <p:nvPr>
            <p:ph type="title"/>
          </p:nvPr>
        </p:nvSpPr>
        <p:spPr>
          <a:xfrm>
            <a:off x="640080" y="320040"/>
            <a:ext cx="6692827" cy="3892669"/>
          </a:xfrm>
        </p:spPr>
        <p:txBody>
          <a:bodyPr vert="horz" lIns="91440" tIns="45720" rIns="91440" bIns="45720" rtlCol="0" anchor="b">
            <a:normAutofit/>
          </a:bodyPr>
          <a:lstStyle/>
          <a:p>
            <a:pPr>
              <a:lnSpc>
                <a:spcPct val="90000"/>
              </a:lnSpc>
            </a:pPr>
            <a:r>
              <a:rPr lang="en-US" sz="8900" dirty="0"/>
              <a:t>What skills do you possess?</a:t>
            </a:r>
          </a:p>
        </p:txBody>
      </p:sp>
      <p:sp>
        <p:nvSpPr>
          <p:cNvPr id="1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6" descr="Fingerprint">
            <a:extLst>
              <a:ext uri="{FF2B5EF4-FFF2-40B4-BE49-F238E27FC236}">
                <a16:creationId xmlns:a16="http://schemas.microsoft.com/office/drawing/2014/main" id="{1429A8FF-90ED-2EF6-11EA-612A0968CE6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371600"/>
            <a:ext cx="4087368" cy="4087368"/>
          </a:xfrm>
          <a:prstGeom prst="rect">
            <a:avLst/>
          </a:prstGeom>
        </p:spPr>
      </p:pic>
    </p:spTree>
    <p:extLst>
      <p:ext uri="{BB962C8B-B14F-4D97-AF65-F5344CB8AC3E}">
        <p14:creationId xmlns:p14="http://schemas.microsoft.com/office/powerpoint/2010/main" val="163961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3081" name="Rectangle 3080">
            <a:extLst>
              <a:ext uri="{FF2B5EF4-FFF2-40B4-BE49-F238E27FC236}">
                <a16:creationId xmlns:a16="http://schemas.microsoft.com/office/drawing/2014/main" id="{168AB93A-48BC-4C25-A3AD-C17B5A682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Freeform: Shape 3082">
            <a:extLst>
              <a:ext uri="{FF2B5EF4-FFF2-40B4-BE49-F238E27FC236}">
                <a16:creationId xmlns:a16="http://schemas.microsoft.com/office/drawing/2014/main" id="{AF4AE179-A75B-4007-B5FA-8139ACF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969" y="1168517"/>
            <a:ext cx="4889565" cy="4424065"/>
          </a:xfrm>
          <a:custGeom>
            <a:avLst/>
            <a:gdLst>
              <a:gd name="connsiteX0" fmla="*/ 2612540 w 5531319"/>
              <a:gd name="connsiteY0" fmla="*/ 836 h 4424065"/>
              <a:gd name="connsiteX1" fmla="*/ 2946310 w 5531319"/>
              <a:gd name="connsiteY1" fmla="*/ 35548 h 4424065"/>
              <a:gd name="connsiteX2" fmla="*/ 3961099 w 5531319"/>
              <a:gd name="connsiteY2" fmla="*/ 303581 h 4424065"/>
              <a:gd name="connsiteX3" fmla="*/ 4854587 w 5531319"/>
              <a:gd name="connsiteY3" fmla="*/ 764502 h 4424065"/>
              <a:gd name="connsiteX4" fmla="*/ 5377812 w 5531319"/>
              <a:gd name="connsiteY4" fmla="*/ 1339732 h 4424065"/>
              <a:gd name="connsiteX5" fmla="*/ 5526197 w 5531319"/>
              <a:gd name="connsiteY5" fmla="*/ 1825829 h 4424065"/>
              <a:gd name="connsiteX6" fmla="*/ 5510557 w 5531319"/>
              <a:gd name="connsiteY6" fmla="*/ 2199398 h 4424065"/>
              <a:gd name="connsiteX7" fmla="*/ 5509795 w 5531319"/>
              <a:gd name="connsiteY7" fmla="*/ 2402839 h 4424065"/>
              <a:gd name="connsiteX8" fmla="*/ 5323519 w 5531319"/>
              <a:gd name="connsiteY8" fmla="*/ 3144890 h 4424065"/>
              <a:gd name="connsiteX9" fmla="*/ 4853061 w 5531319"/>
              <a:gd name="connsiteY9" fmla="*/ 3612932 h 4424065"/>
              <a:gd name="connsiteX10" fmla="*/ 4316358 w 5531319"/>
              <a:gd name="connsiteY10" fmla="*/ 3982940 h 4424065"/>
              <a:gd name="connsiteX11" fmla="*/ 3352556 w 5531319"/>
              <a:gd name="connsiteY11" fmla="*/ 4386771 h 4424065"/>
              <a:gd name="connsiteX12" fmla="*/ 2770206 w 5531319"/>
              <a:gd name="connsiteY12" fmla="*/ 4412201 h 4424065"/>
              <a:gd name="connsiteX13" fmla="*/ 2514888 w 5531319"/>
              <a:gd name="connsiteY13" fmla="*/ 4393637 h 4424065"/>
              <a:gd name="connsiteX14" fmla="*/ 1903166 w 5531319"/>
              <a:gd name="connsiteY14" fmla="*/ 4263562 h 4424065"/>
              <a:gd name="connsiteX15" fmla="*/ 948392 w 5531319"/>
              <a:gd name="connsiteY15" fmla="*/ 3794249 h 4424065"/>
              <a:gd name="connsiteX16" fmla="*/ 223633 w 5531319"/>
              <a:gd name="connsiteY16" fmla="*/ 2975526 h 4424065"/>
              <a:gd name="connsiteX17" fmla="*/ 39519 w 5531319"/>
              <a:gd name="connsiteY17" fmla="*/ 2401695 h 4424065"/>
              <a:gd name="connsiteX18" fmla="*/ 16251 w 5531319"/>
              <a:gd name="connsiteY18" fmla="*/ 2300991 h 4424065"/>
              <a:gd name="connsiteX19" fmla="*/ 11800 w 5531319"/>
              <a:gd name="connsiteY19" fmla="*/ 2053556 h 4424065"/>
              <a:gd name="connsiteX20" fmla="*/ 812849 w 5531319"/>
              <a:gd name="connsiteY20" fmla="*/ 651084 h 4424065"/>
              <a:gd name="connsiteX21" fmla="*/ 2066809 w 5531319"/>
              <a:gd name="connsiteY21" fmla="*/ 52586 h 4424065"/>
              <a:gd name="connsiteX22" fmla="*/ 2332045 w 5531319"/>
              <a:gd name="connsiteY22" fmla="*/ 14441 h 4424065"/>
              <a:gd name="connsiteX23" fmla="*/ 2612540 w 5531319"/>
              <a:gd name="connsiteY23" fmla="*/ 836 h 4424065"/>
              <a:gd name="connsiteX24" fmla="*/ 5468597 w 5531319"/>
              <a:gd name="connsiteY24" fmla="*/ 2088522 h 4424065"/>
              <a:gd name="connsiteX25" fmla="*/ 5471140 w 5531319"/>
              <a:gd name="connsiteY25" fmla="*/ 1826083 h 4424065"/>
              <a:gd name="connsiteX26" fmla="*/ 5327079 w 5531319"/>
              <a:gd name="connsiteY26" fmla="*/ 1361348 h 4424065"/>
              <a:gd name="connsiteX27" fmla="*/ 4833353 w 5531319"/>
              <a:gd name="connsiteY27" fmla="*/ 816507 h 4424065"/>
              <a:gd name="connsiteX28" fmla="*/ 4063456 w 5531319"/>
              <a:gd name="connsiteY28" fmla="*/ 400724 h 4424065"/>
              <a:gd name="connsiteX29" fmla="*/ 3972543 w 5531319"/>
              <a:gd name="connsiteY29" fmla="*/ 365631 h 4424065"/>
              <a:gd name="connsiteX30" fmla="*/ 3885571 w 5531319"/>
              <a:gd name="connsiteY30" fmla="*/ 334733 h 4424065"/>
              <a:gd name="connsiteX31" fmla="*/ 4355012 w 5531319"/>
              <a:gd name="connsiteY31" fmla="*/ 579880 h 4424065"/>
              <a:gd name="connsiteX32" fmla="*/ 5144618 w 5531319"/>
              <a:gd name="connsiteY32" fmla="*/ 1290779 h 4424065"/>
              <a:gd name="connsiteX33" fmla="*/ 5468597 w 5531319"/>
              <a:gd name="connsiteY33" fmla="*/ 2088522 h 4424065"/>
              <a:gd name="connsiteX34" fmla="*/ 2219771 w 5531319"/>
              <a:gd name="connsiteY34" fmla="*/ 85645 h 4424065"/>
              <a:gd name="connsiteX35" fmla="*/ 2181626 w 5531319"/>
              <a:gd name="connsiteY35" fmla="*/ 89333 h 4424065"/>
              <a:gd name="connsiteX36" fmla="*/ 1462971 w 5531319"/>
              <a:gd name="connsiteY36" fmla="*/ 303073 h 4424065"/>
              <a:gd name="connsiteX37" fmla="*/ 308697 w 5531319"/>
              <a:gd name="connsiteY37" fmla="*/ 1338461 h 4424065"/>
              <a:gd name="connsiteX38" fmla="*/ 65839 w 5531319"/>
              <a:gd name="connsiteY38" fmla="*/ 2064364 h 4424065"/>
              <a:gd name="connsiteX39" fmla="*/ 82114 w 5531319"/>
              <a:gd name="connsiteY39" fmla="*/ 2022150 h 4424065"/>
              <a:gd name="connsiteX40" fmla="*/ 423260 w 5531319"/>
              <a:gd name="connsiteY40" fmla="*/ 1282260 h 4424065"/>
              <a:gd name="connsiteX41" fmla="*/ 1231811 w 5531319"/>
              <a:gd name="connsiteY41" fmla="*/ 454001 h 4424065"/>
              <a:gd name="connsiteX42" fmla="*/ 2219771 w 5531319"/>
              <a:gd name="connsiteY42" fmla="*/ 85645 h 4424065"/>
              <a:gd name="connsiteX43" fmla="*/ 2855524 w 5531319"/>
              <a:gd name="connsiteY43" fmla="*/ 4364392 h 4424065"/>
              <a:gd name="connsiteX44" fmla="*/ 4292327 w 5531319"/>
              <a:gd name="connsiteY44" fmla="*/ 3931444 h 4424065"/>
              <a:gd name="connsiteX45" fmla="*/ 2855652 w 5531319"/>
              <a:gd name="connsiteY45" fmla="*/ 4364392 h 4424065"/>
              <a:gd name="connsiteX46" fmla="*/ 3869805 w 5531319"/>
              <a:gd name="connsiteY46" fmla="*/ 330156 h 4424065"/>
              <a:gd name="connsiteX47" fmla="*/ 3865736 w 5531319"/>
              <a:gd name="connsiteY47" fmla="*/ 329520 h 4424065"/>
              <a:gd name="connsiteX48" fmla="*/ 3866499 w 5531319"/>
              <a:gd name="connsiteY48" fmla="*/ 330537 h 4424065"/>
              <a:gd name="connsiteX49" fmla="*/ 4302117 w 5531319"/>
              <a:gd name="connsiteY49" fmla="*/ 3923561 h 4424065"/>
              <a:gd name="connsiteX50" fmla="*/ 4301101 w 5531319"/>
              <a:gd name="connsiteY50" fmla="*/ 3924959 h 4424065"/>
              <a:gd name="connsiteX51" fmla="*/ 4302880 w 5531319"/>
              <a:gd name="connsiteY51" fmla="*/ 3924959 h 442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31319" h="4424065">
                <a:moveTo>
                  <a:pt x="2612540" y="836"/>
                </a:moveTo>
                <a:cubicBezTo>
                  <a:pt x="2715913" y="-4250"/>
                  <a:pt x="2831239" y="14695"/>
                  <a:pt x="2946310" y="35548"/>
                </a:cubicBezTo>
                <a:cubicBezTo>
                  <a:pt x="3291651" y="98106"/>
                  <a:pt x="3631143" y="182915"/>
                  <a:pt x="3961099" y="303581"/>
                </a:cubicBezTo>
                <a:cubicBezTo>
                  <a:pt x="4278340" y="419543"/>
                  <a:pt x="4581340" y="563350"/>
                  <a:pt x="4854587" y="764502"/>
                </a:cubicBezTo>
                <a:cubicBezTo>
                  <a:pt x="5067437" y="921152"/>
                  <a:pt x="5250407" y="1105521"/>
                  <a:pt x="5377812" y="1339732"/>
                </a:cubicBezTo>
                <a:cubicBezTo>
                  <a:pt x="5459811" y="1489986"/>
                  <a:pt x="5510303" y="1655396"/>
                  <a:pt x="5526197" y="1825829"/>
                </a:cubicBezTo>
                <a:cubicBezTo>
                  <a:pt x="5538276" y="1951327"/>
                  <a:pt x="5527341" y="2074917"/>
                  <a:pt x="5510557" y="2199398"/>
                </a:cubicBezTo>
                <a:cubicBezTo>
                  <a:pt x="5502966" y="2266991"/>
                  <a:pt x="5502712" y="2335195"/>
                  <a:pt x="5509795" y="2402839"/>
                </a:cubicBezTo>
                <a:cubicBezTo>
                  <a:pt x="5534207" y="2664197"/>
                  <a:pt x="5468471" y="2926051"/>
                  <a:pt x="5323519" y="3144890"/>
                </a:cubicBezTo>
                <a:cubicBezTo>
                  <a:pt x="5201339" y="3332234"/>
                  <a:pt x="5041041" y="3491719"/>
                  <a:pt x="4853061" y="3612932"/>
                </a:cubicBezTo>
                <a:cubicBezTo>
                  <a:pt x="4671109" y="3732072"/>
                  <a:pt x="4498565" y="3864563"/>
                  <a:pt x="4316358" y="3982940"/>
                </a:cubicBezTo>
                <a:cubicBezTo>
                  <a:pt x="4019716" y="4175573"/>
                  <a:pt x="3701076" y="4317347"/>
                  <a:pt x="3352556" y="4386771"/>
                </a:cubicBezTo>
                <a:cubicBezTo>
                  <a:pt x="3160953" y="4425590"/>
                  <a:pt x="2964455" y="4434173"/>
                  <a:pt x="2770206" y="4412201"/>
                </a:cubicBezTo>
                <a:cubicBezTo>
                  <a:pt x="2685524" y="4402537"/>
                  <a:pt x="2599952" y="4402410"/>
                  <a:pt x="2514888" y="4393637"/>
                </a:cubicBezTo>
                <a:cubicBezTo>
                  <a:pt x="2307136" y="4370851"/>
                  <a:pt x="2102208" y="4327277"/>
                  <a:pt x="1903166" y="4263562"/>
                </a:cubicBezTo>
                <a:cubicBezTo>
                  <a:pt x="1560622" y="4156119"/>
                  <a:pt x="1238931" y="4006972"/>
                  <a:pt x="948392" y="3794249"/>
                </a:cubicBezTo>
                <a:cubicBezTo>
                  <a:pt x="647553" y="3573897"/>
                  <a:pt x="396812" y="3308660"/>
                  <a:pt x="223633" y="2975526"/>
                </a:cubicBezTo>
                <a:cubicBezTo>
                  <a:pt x="129453" y="2796370"/>
                  <a:pt x="67149" y="2602198"/>
                  <a:pt x="39519" y="2401695"/>
                </a:cubicBezTo>
                <a:cubicBezTo>
                  <a:pt x="34509" y="2367555"/>
                  <a:pt x="26728" y="2333872"/>
                  <a:pt x="16251" y="2300991"/>
                </a:cubicBezTo>
                <a:cubicBezTo>
                  <a:pt x="-9180" y="2218598"/>
                  <a:pt x="-25" y="2135695"/>
                  <a:pt x="11800" y="2053556"/>
                </a:cubicBezTo>
                <a:cubicBezTo>
                  <a:pt x="93685" y="1480615"/>
                  <a:pt x="377867" y="1021983"/>
                  <a:pt x="812849" y="651084"/>
                </a:cubicBezTo>
                <a:cubicBezTo>
                  <a:pt x="1176754" y="340201"/>
                  <a:pt x="1598259" y="146042"/>
                  <a:pt x="2066809" y="52586"/>
                </a:cubicBezTo>
                <a:cubicBezTo>
                  <a:pt x="2154543" y="35039"/>
                  <a:pt x="2243040" y="23087"/>
                  <a:pt x="2332045" y="14441"/>
                </a:cubicBezTo>
                <a:cubicBezTo>
                  <a:pt x="2421051" y="5794"/>
                  <a:pt x="2508912" y="2107"/>
                  <a:pt x="2612540" y="836"/>
                </a:cubicBezTo>
                <a:close/>
                <a:moveTo>
                  <a:pt x="5468597" y="2088522"/>
                </a:moveTo>
                <a:cubicBezTo>
                  <a:pt x="5479329" y="2001424"/>
                  <a:pt x="5480181" y="1913385"/>
                  <a:pt x="5471140" y="1826083"/>
                </a:cubicBezTo>
                <a:cubicBezTo>
                  <a:pt x="5455336" y="1662962"/>
                  <a:pt x="5406306" y="1504799"/>
                  <a:pt x="5327079" y="1361348"/>
                </a:cubicBezTo>
                <a:cubicBezTo>
                  <a:pt x="5206159" y="1140233"/>
                  <a:pt x="5033361" y="965782"/>
                  <a:pt x="4833353" y="816507"/>
                </a:cubicBezTo>
                <a:cubicBezTo>
                  <a:pt x="4597234" y="640276"/>
                  <a:pt x="4336321" y="509438"/>
                  <a:pt x="4063456" y="400724"/>
                </a:cubicBezTo>
                <a:cubicBezTo>
                  <a:pt x="4033359" y="388607"/>
                  <a:pt x="4003059" y="376909"/>
                  <a:pt x="3972543" y="365631"/>
                </a:cubicBezTo>
                <a:cubicBezTo>
                  <a:pt x="3943679" y="354950"/>
                  <a:pt x="3914562" y="345033"/>
                  <a:pt x="3885571" y="334733"/>
                </a:cubicBezTo>
                <a:cubicBezTo>
                  <a:pt x="4046888" y="406840"/>
                  <a:pt x="4203652" y="488713"/>
                  <a:pt x="4355012" y="579880"/>
                </a:cubicBezTo>
                <a:cubicBezTo>
                  <a:pt x="4662081" y="768063"/>
                  <a:pt x="4933802" y="995790"/>
                  <a:pt x="5144618" y="1290779"/>
                </a:cubicBezTo>
                <a:cubicBezTo>
                  <a:pt x="5314364" y="1528042"/>
                  <a:pt x="5426257" y="1789591"/>
                  <a:pt x="5468597" y="2088522"/>
                </a:cubicBezTo>
                <a:close/>
                <a:moveTo>
                  <a:pt x="2219771" y="85645"/>
                </a:moveTo>
                <a:cubicBezTo>
                  <a:pt x="2206942" y="84005"/>
                  <a:pt x="2193909" y="85264"/>
                  <a:pt x="2181626" y="89333"/>
                </a:cubicBezTo>
                <a:cubicBezTo>
                  <a:pt x="1932919" y="125113"/>
                  <a:pt x="1690799" y="197118"/>
                  <a:pt x="1462971" y="303073"/>
                </a:cubicBezTo>
                <a:cubicBezTo>
                  <a:pt x="971788" y="529528"/>
                  <a:pt x="578129" y="865460"/>
                  <a:pt x="308697" y="1338461"/>
                </a:cubicBezTo>
                <a:cubicBezTo>
                  <a:pt x="180224" y="1561852"/>
                  <a:pt x="97652" y="1808638"/>
                  <a:pt x="65839" y="2064364"/>
                </a:cubicBezTo>
                <a:cubicBezTo>
                  <a:pt x="71942" y="2050505"/>
                  <a:pt x="77283" y="2036391"/>
                  <a:pt x="82114" y="2022150"/>
                </a:cubicBezTo>
                <a:cubicBezTo>
                  <a:pt x="170103" y="1763653"/>
                  <a:pt x="279579" y="1515073"/>
                  <a:pt x="423260" y="1282260"/>
                </a:cubicBezTo>
                <a:cubicBezTo>
                  <a:pt x="630769" y="945565"/>
                  <a:pt x="895370" y="664944"/>
                  <a:pt x="1231811" y="454001"/>
                </a:cubicBezTo>
                <a:cubicBezTo>
                  <a:pt x="1535192" y="263783"/>
                  <a:pt x="1866801" y="149729"/>
                  <a:pt x="2219771" y="85645"/>
                </a:cubicBezTo>
                <a:close/>
                <a:moveTo>
                  <a:pt x="2855524" y="4364392"/>
                </a:moveTo>
                <a:cubicBezTo>
                  <a:pt x="3386633" y="4394018"/>
                  <a:pt x="3853530" y="4210158"/>
                  <a:pt x="4292327" y="3931444"/>
                </a:cubicBezTo>
                <a:cubicBezTo>
                  <a:pt x="3830134" y="4131325"/>
                  <a:pt x="3346707" y="4259111"/>
                  <a:pt x="2855652" y="4364392"/>
                </a:cubicBezTo>
                <a:close/>
                <a:moveTo>
                  <a:pt x="3869805" y="330156"/>
                </a:moveTo>
                <a:lnTo>
                  <a:pt x="3865736" y="329520"/>
                </a:lnTo>
                <a:cubicBezTo>
                  <a:pt x="3865736" y="329520"/>
                  <a:pt x="3865736" y="330410"/>
                  <a:pt x="3866499" y="330537"/>
                </a:cubicBezTo>
                <a:close/>
                <a:moveTo>
                  <a:pt x="4302117" y="3923561"/>
                </a:moveTo>
                <a:lnTo>
                  <a:pt x="4301101" y="3924959"/>
                </a:lnTo>
                <a:lnTo>
                  <a:pt x="4302880" y="3924959"/>
                </a:lnTo>
                <a:close/>
              </a:path>
            </a:pathLst>
          </a:custGeom>
          <a:solidFill>
            <a:srgbClr val="5E4DC3"/>
          </a:solidFill>
          <a:ln w="1270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0E39B2A-F7E4-7055-49F9-B1317096045E}"/>
              </a:ext>
            </a:extLst>
          </p:cNvPr>
          <p:cNvSpPr>
            <a:spLocks noGrp="1"/>
          </p:cNvSpPr>
          <p:nvPr>
            <p:ph type="title"/>
          </p:nvPr>
        </p:nvSpPr>
        <p:spPr>
          <a:xfrm>
            <a:off x="7124135" y="2156348"/>
            <a:ext cx="3971495" cy="1866748"/>
          </a:xfrm>
        </p:spPr>
        <p:txBody>
          <a:bodyPr vert="horz" lIns="91440" tIns="45720" rIns="91440" bIns="45720" rtlCol="0" anchor="b">
            <a:normAutofit/>
          </a:bodyPr>
          <a:lstStyle/>
          <a:p>
            <a:pPr algn="ctr"/>
            <a:r>
              <a:rPr lang="en-US" sz="5800" dirty="0">
                <a:solidFill>
                  <a:srgbClr val="FFFFFF"/>
                </a:solidFill>
              </a:rPr>
              <a:t>Roles of a Manager</a:t>
            </a:r>
          </a:p>
        </p:txBody>
      </p:sp>
      <p:sp>
        <p:nvSpPr>
          <p:cNvPr id="3085"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05874" y="4409267"/>
            <a:ext cx="3242551" cy="27432"/>
          </a:xfrm>
          <a:custGeom>
            <a:avLst/>
            <a:gdLst>
              <a:gd name="connsiteX0" fmla="*/ 0 w 3242551"/>
              <a:gd name="connsiteY0" fmla="*/ 0 h 27432"/>
              <a:gd name="connsiteX1" fmla="*/ 616085 w 3242551"/>
              <a:gd name="connsiteY1" fmla="*/ 0 h 27432"/>
              <a:gd name="connsiteX2" fmla="*/ 1264595 w 3242551"/>
              <a:gd name="connsiteY2" fmla="*/ 0 h 27432"/>
              <a:gd name="connsiteX3" fmla="*/ 1945531 w 3242551"/>
              <a:gd name="connsiteY3" fmla="*/ 0 h 27432"/>
              <a:gd name="connsiteX4" fmla="*/ 2626466 w 3242551"/>
              <a:gd name="connsiteY4" fmla="*/ 0 h 27432"/>
              <a:gd name="connsiteX5" fmla="*/ 3242551 w 3242551"/>
              <a:gd name="connsiteY5" fmla="*/ 0 h 27432"/>
              <a:gd name="connsiteX6" fmla="*/ 3242551 w 3242551"/>
              <a:gd name="connsiteY6" fmla="*/ 27432 h 27432"/>
              <a:gd name="connsiteX7" fmla="*/ 2529190 w 3242551"/>
              <a:gd name="connsiteY7" fmla="*/ 27432 h 27432"/>
              <a:gd name="connsiteX8" fmla="*/ 1815829 w 3242551"/>
              <a:gd name="connsiteY8" fmla="*/ 27432 h 27432"/>
              <a:gd name="connsiteX9" fmla="*/ 1167318 w 3242551"/>
              <a:gd name="connsiteY9" fmla="*/ 27432 h 27432"/>
              <a:gd name="connsiteX10" fmla="*/ 0 w 3242551"/>
              <a:gd name="connsiteY10" fmla="*/ 27432 h 27432"/>
              <a:gd name="connsiteX11" fmla="*/ 0 w 3242551"/>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42551" h="27432" fill="none" extrusionOk="0">
                <a:moveTo>
                  <a:pt x="0" y="0"/>
                </a:moveTo>
                <a:cubicBezTo>
                  <a:pt x="194108" y="-30346"/>
                  <a:pt x="476260" y="9901"/>
                  <a:pt x="616085" y="0"/>
                </a:cubicBezTo>
                <a:cubicBezTo>
                  <a:pt x="755911" y="-9901"/>
                  <a:pt x="955441" y="-31994"/>
                  <a:pt x="1264595" y="0"/>
                </a:cubicBezTo>
                <a:cubicBezTo>
                  <a:pt x="1573749" y="31994"/>
                  <a:pt x="1618785" y="-7447"/>
                  <a:pt x="1945531" y="0"/>
                </a:cubicBezTo>
                <a:cubicBezTo>
                  <a:pt x="2272277" y="7447"/>
                  <a:pt x="2390625" y="1646"/>
                  <a:pt x="2626466" y="0"/>
                </a:cubicBezTo>
                <a:cubicBezTo>
                  <a:pt x="2862308" y="-1646"/>
                  <a:pt x="3064770" y="5184"/>
                  <a:pt x="3242551" y="0"/>
                </a:cubicBezTo>
                <a:cubicBezTo>
                  <a:pt x="3241385" y="7395"/>
                  <a:pt x="3242596" y="21864"/>
                  <a:pt x="3242551" y="27432"/>
                </a:cubicBezTo>
                <a:cubicBezTo>
                  <a:pt x="3023282" y="59750"/>
                  <a:pt x="2875833" y="36030"/>
                  <a:pt x="2529190" y="27432"/>
                </a:cubicBezTo>
                <a:cubicBezTo>
                  <a:pt x="2182547" y="18834"/>
                  <a:pt x="2011286" y="10066"/>
                  <a:pt x="1815829" y="27432"/>
                </a:cubicBezTo>
                <a:cubicBezTo>
                  <a:pt x="1620372" y="44798"/>
                  <a:pt x="1410011" y="-1058"/>
                  <a:pt x="1167318" y="27432"/>
                </a:cubicBezTo>
                <a:cubicBezTo>
                  <a:pt x="924625" y="55922"/>
                  <a:pt x="241931" y="85033"/>
                  <a:pt x="0" y="27432"/>
                </a:cubicBezTo>
                <a:cubicBezTo>
                  <a:pt x="-503" y="20663"/>
                  <a:pt x="1168" y="5855"/>
                  <a:pt x="0" y="0"/>
                </a:cubicBezTo>
                <a:close/>
              </a:path>
              <a:path w="3242551" h="27432" stroke="0" extrusionOk="0">
                <a:moveTo>
                  <a:pt x="0" y="0"/>
                </a:moveTo>
                <a:cubicBezTo>
                  <a:pt x="292987" y="-12051"/>
                  <a:pt x="313221" y="-4437"/>
                  <a:pt x="616085" y="0"/>
                </a:cubicBezTo>
                <a:cubicBezTo>
                  <a:pt x="918950" y="4437"/>
                  <a:pt x="1001475" y="-7765"/>
                  <a:pt x="1167318" y="0"/>
                </a:cubicBezTo>
                <a:cubicBezTo>
                  <a:pt x="1333161" y="7765"/>
                  <a:pt x="1642740" y="34995"/>
                  <a:pt x="1880680" y="0"/>
                </a:cubicBezTo>
                <a:cubicBezTo>
                  <a:pt x="2118620" y="-34995"/>
                  <a:pt x="2326628" y="756"/>
                  <a:pt x="2496764" y="0"/>
                </a:cubicBezTo>
                <a:cubicBezTo>
                  <a:pt x="2666900" y="-756"/>
                  <a:pt x="2887316" y="25599"/>
                  <a:pt x="3242551" y="0"/>
                </a:cubicBezTo>
                <a:cubicBezTo>
                  <a:pt x="3242744" y="12649"/>
                  <a:pt x="3241563" y="17989"/>
                  <a:pt x="3242551" y="27432"/>
                </a:cubicBezTo>
                <a:cubicBezTo>
                  <a:pt x="3008998" y="-2757"/>
                  <a:pt x="2799879" y="44559"/>
                  <a:pt x="2594041" y="27432"/>
                </a:cubicBezTo>
                <a:cubicBezTo>
                  <a:pt x="2388203" y="10306"/>
                  <a:pt x="2212925" y="-2221"/>
                  <a:pt x="1880680" y="27432"/>
                </a:cubicBezTo>
                <a:cubicBezTo>
                  <a:pt x="1548435" y="57085"/>
                  <a:pt x="1523943" y="37041"/>
                  <a:pt x="1329446" y="27432"/>
                </a:cubicBezTo>
                <a:cubicBezTo>
                  <a:pt x="1134949" y="17823"/>
                  <a:pt x="919920" y="28299"/>
                  <a:pt x="680936" y="27432"/>
                </a:cubicBezTo>
                <a:cubicBezTo>
                  <a:pt x="441952" y="26566"/>
                  <a:pt x="273000" y="57219"/>
                  <a:pt x="0" y="27432"/>
                </a:cubicBezTo>
                <a:cubicBezTo>
                  <a:pt x="1300" y="19678"/>
                  <a:pt x="-86" y="12044"/>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Management Principles - Role of Managers">
            <a:extLst>
              <a:ext uri="{FF2B5EF4-FFF2-40B4-BE49-F238E27FC236}">
                <a16:creationId xmlns:a16="http://schemas.microsoft.com/office/drawing/2014/main" id="{889D2685-9C09-3E7C-C682-A2998C782F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1202" y="1168517"/>
            <a:ext cx="6121473" cy="488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06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70ABCC-3CAB-9DE4-AA8A-3DCD72E09875}"/>
              </a:ext>
            </a:extLst>
          </p:cNvPr>
          <p:cNvSpPr>
            <a:spLocks noGrp="1"/>
          </p:cNvSpPr>
          <p:nvPr>
            <p:ph type="title"/>
          </p:nvPr>
        </p:nvSpPr>
        <p:spPr>
          <a:xfrm>
            <a:off x="630936" y="639520"/>
            <a:ext cx="3429000" cy="1719072"/>
          </a:xfrm>
        </p:spPr>
        <p:txBody>
          <a:bodyPr anchor="b">
            <a:normAutofit/>
          </a:bodyPr>
          <a:lstStyle/>
          <a:p>
            <a:pPr>
              <a:lnSpc>
                <a:spcPct val="90000"/>
              </a:lnSpc>
            </a:pPr>
            <a:r>
              <a:rPr lang="en-US" sz="3400"/>
              <a:t>WHO CAME UP WITH THIS CONCEPT?</a:t>
            </a:r>
          </a:p>
        </p:txBody>
      </p:sp>
      <p:sp>
        <p:nvSpPr>
          <p:cNvPr id="4105"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onnsiteX0" fmla="*/ 0 w 3291840"/>
              <a:gd name="connsiteY0" fmla="*/ 0 h 18288"/>
              <a:gd name="connsiteX1" fmla="*/ 625450 w 3291840"/>
              <a:gd name="connsiteY1" fmla="*/ 0 h 18288"/>
              <a:gd name="connsiteX2" fmla="*/ 1283818 w 3291840"/>
              <a:gd name="connsiteY2" fmla="*/ 0 h 18288"/>
              <a:gd name="connsiteX3" fmla="*/ 1975104 w 3291840"/>
              <a:gd name="connsiteY3" fmla="*/ 0 h 18288"/>
              <a:gd name="connsiteX4" fmla="*/ 2666390 w 3291840"/>
              <a:gd name="connsiteY4" fmla="*/ 0 h 18288"/>
              <a:gd name="connsiteX5" fmla="*/ 3291840 w 3291840"/>
              <a:gd name="connsiteY5" fmla="*/ 0 h 18288"/>
              <a:gd name="connsiteX6" fmla="*/ 3291840 w 3291840"/>
              <a:gd name="connsiteY6" fmla="*/ 18288 h 18288"/>
              <a:gd name="connsiteX7" fmla="*/ 2567635 w 3291840"/>
              <a:gd name="connsiteY7" fmla="*/ 18288 h 18288"/>
              <a:gd name="connsiteX8" fmla="*/ 1843430 w 3291840"/>
              <a:gd name="connsiteY8" fmla="*/ 18288 h 18288"/>
              <a:gd name="connsiteX9" fmla="*/ 1185062 w 3291840"/>
              <a:gd name="connsiteY9" fmla="*/ 18288 h 18288"/>
              <a:gd name="connsiteX10" fmla="*/ 0 w 3291840"/>
              <a:gd name="connsiteY10" fmla="*/ 18288 h 18288"/>
              <a:gd name="connsiteX11" fmla="*/ 0 w 3291840"/>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193CF2-8573-C524-6E44-72FF4481ABF5}"/>
              </a:ext>
            </a:extLst>
          </p:cNvPr>
          <p:cNvSpPr>
            <a:spLocks noGrp="1"/>
          </p:cNvSpPr>
          <p:nvPr>
            <p:ph idx="1"/>
          </p:nvPr>
        </p:nvSpPr>
        <p:spPr>
          <a:xfrm>
            <a:off x="630936" y="2807208"/>
            <a:ext cx="3429000" cy="3410712"/>
          </a:xfrm>
        </p:spPr>
        <p:txBody>
          <a:bodyPr anchor="t">
            <a:normAutofit/>
          </a:bodyPr>
          <a:lstStyle/>
          <a:p>
            <a:pPr marL="0" indent="0" algn="just">
              <a:buNone/>
            </a:pPr>
            <a:r>
              <a:rPr lang="en-IN" sz="2400" b="0" i="0" dirty="0">
                <a:effectLst/>
                <a:latin typeface="ProximaNova-n4"/>
              </a:rPr>
              <a:t>Mintzberg published his Ten Management Roles in his book, "Mintzberg on Management: Inside our Strange World of Organizations," in 1990</a:t>
            </a:r>
            <a:endParaRPr lang="en-US" sz="2400" dirty="0"/>
          </a:p>
        </p:txBody>
      </p:sp>
      <mc:AlternateContent xmlns:mc="http://schemas.openxmlformats.org/markup-compatibility/2006" xmlns:p14="http://schemas.microsoft.com/office/powerpoint/2010/main">
        <mc:Choice Requires="p14">
          <p:contentPart p14:bwMode="auto" r:id="rId2">
            <p14:nvContentPartPr>
              <p14:cNvPr id="4107" name="Ink 4106">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4107" name="Ink 4106">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4098" name="Picture 2" descr="Debunking Management Myths">
            <a:extLst>
              <a:ext uri="{FF2B5EF4-FFF2-40B4-BE49-F238E27FC236}">
                <a16:creationId xmlns:a16="http://schemas.microsoft.com/office/drawing/2014/main" id="{BACDC1B0-D368-D116-AA9F-B0F2BE18090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317236" y="640080"/>
            <a:ext cx="5577840"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839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A0DE6-0514-F821-E9D0-3F7D1CD1AB06}"/>
              </a:ext>
            </a:extLst>
          </p:cNvPr>
          <p:cNvSpPr>
            <a:spLocks noGrp="1"/>
          </p:cNvSpPr>
          <p:nvPr>
            <p:ph type="title"/>
          </p:nvPr>
        </p:nvSpPr>
        <p:spPr>
          <a:xfrm>
            <a:off x="5297762" y="329184"/>
            <a:ext cx="6251110" cy="1783080"/>
          </a:xfrm>
        </p:spPr>
        <p:txBody>
          <a:bodyPr anchor="b">
            <a:normAutofit/>
          </a:bodyPr>
          <a:lstStyle/>
          <a:p>
            <a:pPr>
              <a:lnSpc>
                <a:spcPct val="90000"/>
              </a:lnSpc>
            </a:pPr>
            <a:r>
              <a:rPr lang="en-US" sz="5600"/>
              <a:t>INTERPERSONAL ROLES</a:t>
            </a:r>
          </a:p>
        </p:txBody>
      </p:sp>
      <p:sp>
        <p:nvSpPr>
          <p:cNvPr id="512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18C208-975F-B087-150E-471694A7AAC6}"/>
              </a:ext>
            </a:extLst>
          </p:cNvPr>
          <p:cNvSpPr>
            <a:spLocks noGrp="1"/>
          </p:cNvSpPr>
          <p:nvPr>
            <p:ph idx="1"/>
          </p:nvPr>
        </p:nvSpPr>
        <p:spPr>
          <a:xfrm>
            <a:off x="5297762" y="2706624"/>
            <a:ext cx="6251110" cy="3483864"/>
          </a:xfrm>
        </p:spPr>
        <p:txBody>
          <a:bodyPr>
            <a:normAutofit/>
          </a:bodyPr>
          <a:lstStyle/>
          <a:p>
            <a:pPr marL="0" indent="0">
              <a:lnSpc>
                <a:spcPct val="100000"/>
              </a:lnSpc>
              <a:buNone/>
            </a:pPr>
            <a:r>
              <a:rPr lang="en-IN" sz="2200" b="0" i="0">
                <a:effectLst/>
                <a:latin typeface="roboto" panose="02000000000000000000" pitchFamily="2" charset="0"/>
              </a:rPr>
              <a:t>Figurehead</a:t>
            </a:r>
          </a:p>
          <a:p>
            <a:pPr>
              <a:lnSpc>
                <a:spcPct val="100000"/>
              </a:lnSpc>
            </a:pPr>
            <a:r>
              <a:rPr lang="en-IN" sz="2200" b="0" i="0">
                <a:effectLst/>
                <a:latin typeface="Droid Serif"/>
              </a:rPr>
              <a:t>A manager plays a figurehead role when he performs activities such as attending ceremonial functions which have symbolic nature. </a:t>
            </a:r>
          </a:p>
          <a:p>
            <a:pPr>
              <a:lnSpc>
                <a:spcPct val="100000"/>
              </a:lnSpc>
            </a:pPr>
            <a:r>
              <a:rPr lang="en-IN" sz="2200" b="0" i="0">
                <a:effectLst/>
                <a:latin typeface="Droid Serif"/>
              </a:rPr>
              <a:t>Sometimes managers greet visitors, attend social functions involving employees, and handling out merit certificates and other awards to outstanding employees. </a:t>
            </a:r>
          </a:p>
          <a:p>
            <a:pPr>
              <a:lnSpc>
                <a:spcPct val="100000"/>
              </a:lnSpc>
            </a:pPr>
            <a:endParaRPr lang="en-US" sz="2200"/>
          </a:p>
        </p:txBody>
      </p:sp>
      <p:pic>
        <p:nvPicPr>
          <p:cNvPr id="5122" name="Picture 2" descr="Jerome Pecresse, president and CEO of GE RENEWABLE Energy attending a  contracts and economic agreements signing ceremony at Hotel de Matignon, in  Paris, France on October 19, 2020, after a meeting between">
            <a:extLst>
              <a:ext uri="{FF2B5EF4-FFF2-40B4-BE49-F238E27FC236}">
                <a16:creationId xmlns:a16="http://schemas.microsoft.com/office/drawing/2014/main" id="{4081B1F6-1035-6E50-3132-D7EAD06F94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68" r="-2" b="-2"/>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479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6" name="Rectangle 615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A0DE6-0514-F821-E9D0-3F7D1CD1AB06}"/>
              </a:ext>
            </a:extLst>
          </p:cNvPr>
          <p:cNvSpPr>
            <a:spLocks noGrp="1"/>
          </p:cNvSpPr>
          <p:nvPr>
            <p:ph type="title"/>
          </p:nvPr>
        </p:nvSpPr>
        <p:spPr>
          <a:xfrm>
            <a:off x="630936" y="640080"/>
            <a:ext cx="4818888" cy="1481328"/>
          </a:xfrm>
        </p:spPr>
        <p:txBody>
          <a:bodyPr anchor="b">
            <a:normAutofit/>
          </a:bodyPr>
          <a:lstStyle/>
          <a:p>
            <a:pPr>
              <a:lnSpc>
                <a:spcPct val="90000"/>
              </a:lnSpc>
            </a:pPr>
            <a:r>
              <a:rPr lang="en-US" sz="4300"/>
              <a:t>INTERPERSONAL ROLES</a:t>
            </a:r>
          </a:p>
        </p:txBody>
      </p:sp>
      <p:sp>
        <p:nvSpPr>
          <p:cNvPr id="6157"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18C208-975F-B087-150E-471694A7AAC6}"/>
              </a:ext>
            </a:extLst>
          </p:cNvPr>
          <p:cNvSpPr>
            <a:spLocks noGrp="1"/>
          </p:cNvSpPr>
          <p:nvPr>
            <p:ph idx="1"/>
          </p:nvPr>
        </p:nvSpPr>
        <p:spPr>
          <a:xfrm>
            <a:off x="630936" y="2660904"/>
            <a:ext cx="4818888" cy="3547872"/>
          </a:xfrm>
        </p:spPr>
        <p:txBody>
          <a:bodyPr anchor="t">
            <a:normAutofit/>
          </a:bodyPr>
          <a:lstStyle/>
          <a:p>
            <a:pPr marL="0" indent="0">
              <a:lnSpc>
                <a:spcPct val="100000"/>
              </a:lnSpc>
              <a:buNone/>
            </a:pPr>
            <a:r>
              <a:rPr lang="en-IN" sz="2200" b="0" i="0">
                <a:effectLst/>
                <a:latin typeface="roboto" panose="02000000000000000000" pitchFamily="2" charset="0"/>
              </a:rPr>
              <a:t>Leader </a:t>
            </a:r>
          </a:p>
          <a:p>
            <a:pPr>
              <a:lnSpc>
                <a:spcPct val="100000"/>
              </a:lnSpc>
            </a:pPr>
            <a:r>
              <a:rPr lang="en-IN" sz="2200" b="0" i="0">
                <a:effectLst/>
                <a:latin typeface="Droid Serif"/>
              </a:rPr>
              <a:t>The leader role of a manager involves leading and motivating his subordinates for willing contribution. Managers perform leader roles when they perform activities such as Hiring, Training, motivating, and guiding subordinates.</a:t>
            </a:r>
          </a:p>
          <a:p>
            <a:pPr>
              <a:lnSpc>
                <a:spcPct val="100000"/>
              </a:lnSpc>
            </a:pPr>
            <a:endParaRPr lang="en-US" sz="2200"/>
          </a:p>
        </p:txBody>
      </p:sp>
      <mc:AlternateContent xmlns:mc="http://schemas.openxmlformats.org/markup-compatibility/2006" xmlns:p14="http://schemas.microsoft.com/office/powerpoint/2010/main">
        <mc:Choice Requires="p14">
          <p:contentPart p14:bwMode="auto" r:id="rId2">
            <p14:nvContentPartPr>
              <p14:cNvPr id="6155" name="Ink 615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6155" name="Ink 615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6146" name="Picture 2" descr="11 Differences Between a Boss and a Leader - Elevate Corporate Training">
            <a:extLst>
              <a:ext uri="{FF2B5EF4-FFF2-40B4-BE49-F238E27FC236}">
                <a16:creationId xmlns:a16="http://schemas.microsoft.com/office/drawing/2014/main" id="{7C4217DD-8567-401E-7211-70F74D82D88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9048" y="1392385"/>
            <a:ext cx="5458968" cy="4073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904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A0DE6-0514-F821-E9D0-3F7D1CD1AB06}"/>
              </a:ext>
            </a:extLst>
          </p:cNvPr>
          <p:cNvSpPr>
            <a:spLocks noGrp="1"/>
          </p:cNvSpPr>
          <p:nvPr>
            <p:ph type="title"/>
          </p:nvPr>
        </p:nvSpPr>
        <p:spPr>
          <a:xfrm>
            <a:off x="7034585" y="703293"/>
            <a:ext cx="4584921" cy="1949815"/>
          </a:xfrm>
        </p:spPr>
        <p:txBody>
          <a:bodyPr anchor="b">
            <a:normAutofit/>
          </a:bodyPr>
          <a:lstStyle/>
          <a:p>
            <a:r>
              <a:rPr lang="en-US" sz="4200" dirty="0"/>
              <a:t>INTERPERSONAL ROLES</a:t>
            </a:r>
          </a:p>
        </p:txBody>
      </p:sp>
      <p:pic>
        <p:nvPicPr>
          <p:cNvPr id="7170" name="Picture 2" descr="European Drug Regulatory Affairs Consultants | Liaison with regulatory  authorities">
            <a:extLst>
              <a:ext uri="{FF2B5EF4-FFF2-40B4-BE49-F238E27FC236}">
                <a16:creationId xmlns:a16="http://schemas.microsoft.com/office/drawing/2014/main" id="{4DC02D67-47A6-3564-67EE-8EFCC5D9BB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58" r="28427" b="-2"/>
          <a:stretch/>
        </p:blipFill>
        <p:spPr bwMode="auto">
          <a:xfrm>
            <a:off x="866691" y="1216968"/>
            <a:ext cx="5416261" cy="4424065"/>
          </a:xfrm>
          <a:custGeom>
            <a:avLst/>
            <a:gdLst/>
            <a:ahLst/>
            <a:cxnLst/>
            <a:rect l="l" t="t" r="r" b="b"/>
            <a:pathLst>
              <a:path w="5531320" h="4424065">
                <a:moveTo>
                  <a:pt x="4292328" y="3931444"/>
                </a:moveTo>
                <a:cubicBezTo>
                  <a:pt x="3830135" y="4131325"/>
                  <a:pt x="3346708" y="4259111"/>
                  <a:pt x="2855653" y="4364392"/>
                </a:cubicBezTo>
                <a:lnTo>
                  <a:pt x="2855525" y="4364392"/>
                </a:lnTo>
                <a:cubicBezTo>
                  <a:pt x="3386634" y="4394018"/>
                  <a:pt x="3853531" y="4210158"/>
                  <a:pt x="4292328" y="3931444"/>
                </a:cubicBezTo>
                <a:close/>
                <a:moveTo>
                  <a:pt x="4302118" y="3923561"/>
                </a:moveTo>
                <a:lnTo>
                  <a:pt x="4301102" y="3924959"/>
                </a:lnTo>
                <a:lnTo>
                  <a:pt x="4302881" y="3924959"/>
                </a:lnTo>
                <a:close/>
                <a:moveTo>
                  <a:pt x="3885572" y="334733"/>
                </a:moveTo>
                <a:cubicBezTo>
                  <a:pt x="4046889" y="406840"/>
                  <a:pt x="4203653" y="488713"/>
                  <a:pt x="4355013" y="579880"/>
                </a:cubicBezTo>
                <a:cubicBezTo>
                  <a:pt x="4662082" y="768063"/>
                  <a:pt x="4933803" y="995790"/>
                  <a:pt x="5144619" y="1290779"/>
                </a:cubicBezTo>
                <a:cubicBezTo>
                  <a:pt x="5314365" y="1528042"/>
                  <a:pt x="5426258" y="1789591"/>
                  <a:pt x="5468598" y="2088522"/>
                </a:cubicBezTo>
                <a:cubicBezTo>
                  <a:pt x="5479330" y="2001424"/>
                  <a:pt x="5480182" y="1913385"/>
                  <a:pt x="5471141" y="1826083"/>
                </a:cubicBezTo>
                <a:cubicBezTo>
                  <a:pt x="5455337" y="1662962"/>
                  <a:pt x="5406307" y="1504799"/>
                  <a:pt x="5327080" y="1361348"/>
                </a:cubicBezTo>
                <a:cubicBezTo>
                  <a:pt x="5206160" y="1140233"/>
                  <a:pt x="5033362" y="965782"/>
                  <a:pt x="4833354" y="816507"/>
                </a:cubicBezTo>
                <a:cubicBezTo>
                  <a:pt x="4597235" y="640276"/>
                  <a:pt x="4336322" y="509438"/>
                  <a:pt x="4063457" y="400724"/>
                </a:cubicBezTo>
                <a:cubicBezTo>
                  <a:pt x="4033360" y="388607"/>
                  <a:pt x="4003060" y="376909"/>
                  <a:pt x="3972544" y="365631"/>
                </a:cubicBezTo>
                <a:cubicBezTo>
                  <a:pt x="3943680" y="354950"/>
                  <a:pt x="3914563" y="345033"/>
                  <a:pt x="3885572" y="334733"/>
                </a:cubicBezTo>
                <a:close/>
                <a:moveTo>
                  <a:pt x="3865737" y="329520"/>
                </a:moveTo>
                <a:cubicBezTo>
                  <a:pt x="3865737" y="329520"/>
                  <a:pt x="3865737" y="330410"/>
                  <a:pt x="3866500" y="330537"/>
                </a:cubicBezTo>
                <a:lnTo>
                  <a:pt x="3869806" y="330156"/>
                </a:lnTo>
                <a:close/>
                <a:moveTo>
                  <a:pt x="2219772" y="85645"/>
                </a:moveTo>
                <a:cubicBezTo>
                  <a:pt x="2206943" y="84005"/>
                  <a:pt x="2193910" y="85264"/>
                  <a:pt x="2181627" y="89333"/>
                </a:cubicBezTo>
                <a:cubicBezTo>
                  <a:pt x="1932920" y="125113"/>
                  <a:pt x="1690800" y="197118"/>
                  <a:pt x="1462972" y="303073"/>
                </a:cubicBezTo>
                <a:cubicBezTo>
                  <a:pt x="971789" y="529528"/>
                  <a:pt x="578130" y="865460"/>
                  <a:pt x="308698" y="1338461"/>
                </a:cubicBezTo>
                <a:cubicBezTo>
                  <a:pt x="180225" y="1561852"/>
                  <a:pt x="97653" y="1808638"/>
                  <a:pt x="65840" y="2064364"/>
                </a:cubicBezTo>
                <a:cubicBezTo>
                  <a:pt x="71943" y="2050505"/>
                  <a:pt x="77284" y="2036391"/>
                  <a:pt x="82115" y="2022150"/>
                </a:cubicBezTo>
                <a:cubicBezTo>
                  <a:pt x="170104" y="1763653"/>
                  <a:pt x="279580" y="1515073"/>
                  <a:pt x="423261" y="1282260"/>
                </a:cubicBezTo>
                <a:cubicBezTo>
                  <a:pt x="630770" y="945565"/>
                  <a:pt x="895371" y="664944"/>
                  <a:pt x="1231812" y="454001"/>
                </a:cubicBezTo>
                <a:cubicBezTo>
                  <a:pt x="1535193" y="263783"/>
                  <a:pt x="1866802" y="149729"/>
                  <a:pt x="2219772" y="85645"/>
                </a:cubicBezTo>
                <a:close/>
                <a:moveTo>
                  <a:pt x="2612541" y="836"/>
                </a:moveTo>
                <a:cubicBezTo>
                  <a:pt x="2715914" y="-4250"/>
                  <a:pt x="2831240" y="14695"/>
                  <a:pt x="2946311" y="35548"/>
                </a:cubicBezTo>
                <a:cubicBezTo>
                  <a:pt x="3291652" y="98106"/>
                  <a:pt x="3631144" y="182915"/>
                  <a:pt x="3961100" y="303581"/>
                </a:cubicBezTo>
                <a:cubicBezTo>
                  <a:pt x="4278341" y="419543"/>
                  <a:pt x="4581341" y="563350"/>
                  <a:pt x="4854588" y="764502"/>
                </a:cubicBezTo>
                <a:cubicBezTo>
                  <a:pt x="5067438" y="921152"/>
                  <a:pt x="5250408" y="1105521"/>
                  <a:pt x="5377813" y="1339732"/>
                </a:cubicBezTo>
                <a:cubicBezTo>
                  <a:pt x="5459812" y="1489986"/>
                  <a:pt x="5510304" y="1655396"/>
                  <a:pt x="5526198" y="1825829"/>
                </a:cubicBezTo>
                <a:cubicBezTo>
                  <a:pt x="5538277" y="1951327"/>
                  <a:pt x="5527342" y="2074917"/>
                  <a:pt x="5510558" y="2199398"/>
                </a:cubicBezTo>
                <a:cubicBezTo>
                  <a:pt x="5502967" y="2266991"/>
                  <a:pt x="5502713" y="2335195"/>
                  <a:pt x="5509796" y="2402839"/>
                </a:cubicBezTo>
                <a:cubicBezTo>
                  <a:pt x="5534208" y="2664197"/>
                  <a:pt x="5468472" y="2926051"/>
                  <a:pt x="5323520" y="3144890"/>
                </a:cubicBezTo>
                <a:cubicBezTo>
                  <a:pt x="5201340" y="3332234"/>
                  <a:pt x="5041042" y="3491719"/>
                  <a:pt x="4853062" y="3612932"/>
                </a:cubicBezTo>
                <a:cubicBezTo>
                  <a:pt x="4671110" y="3732072"/>
                  <a:pt x="4498566" y="3864563"/>
                  <a:pt x="4316359" y="3982940"/>
                </a:cubicBezTo>
                <a:cubicBezTo>
                  <a:pt x="4019717" y="4175573"/>
                  <a:pt x="3701077" y="4317347"/>
                  <a:pt x="3352557" y="4386771"/>
                </a:cubicBezTo>
                <a:cubicBezTo>
                  <a:pt x="3160954" y="4425590"/>
                  <a:pt x="2964456" y="4434173"/>
                  <a:pt x="2770207" y="4412201"/>
                </a:cubicBezTo>
                <a:cubicBezTo>
                  <a:pt x="2685525" y="4402537"/>
                  <a:pt x="2599953" y="4402410"/>
                  <a:pt x="2514889" y="4393637"/>
                </a:cubicBezTo>
                <a:cubicBezTo>
                  <a:pt x="2307137" y="4370851"/>
                  <a:pt x="2102209" y="4327277"/>
                  <a:pt x="1903167" y="4263562"/>
                </a:cubicBezTo>
                <a:cubicBezTo>
                  <a:pt x="1560623" y="4156119"/>
                  <a:pt x="1238932" y="4006972"/>
                  <a:pt x="948393" y="3794249"/>
                </a:cubicBezTo>
                <a:cubicBezTo>
                  <a:pt x="647554" y="3573897"/>
                  <a:pt x="396813" y="3308660"/>
                  <a:pt x="223634" y="2975526"/>
                </a:cubicBezTo>
                <a:cubicBezTo>
                  <a:pt x="129454" y="2796370"/>
                  <a:pt x="67150" y="2602198"/>
                  <a:pt x="39520" y="2401695"/>
                </a:cubicBezTo>
                <a:cubicBezTo>
                  <a:pt x="34510" y="2367555"/>
                  <a:pt x="26729" y="2333872"/>
                  <a:pt x="16252" y="2300991"/>
                </a:cubicBezTo>
                <a:cubicBezTo>
                  <a:pt x="-9179" y="2218598"/>
                  <a:pt x="-24" y="2135695"/>
                  <a:pt x="11801" y="2053556"/>
                </a:cubicBezTo>
                <a:cubicBezTo>
                  <a:pt x="93686" y="1480615"/>
                  <a:pt x="377868" y="1021983"/>
                  <a:pt x="812850" y="651084"/>
                </a:cubicBezTo>
                <a:cubicBezTo>
                  <a:pt x="1176755" y="340201"/>
                  <a:pt x="1598260" y="146042"/>
                  <a:pt x="2066810" y="52586"/>
                </a:cubicBezTo>
                <a:cubicBezTo>
                  <a:pt x="2154544" y="35039"/>
                  <a:pt x="2243041" y="23087"/>
                  <a:pt x="2332046" y="14441"/>
                </a:cubicBezTo>
                <a:cubicBezTo>
                  <a:pt x="2421052" y="5794"/>
                  <a:pt x="2508913" y="2107"/>
                  <a:pt x="2612541" y="836"/>
                </a:cubicBezTo>
                <a:close/>
              </a:path>
            </a:pathLst>
          </a:custGeom>
          <a:noFill/>
          <a:extLst>
            <a:ext uri="{909E8E84-426E-40DD-AFC4-6F175D3DCCD1}">
              <a14:hiddenFill xmlns:a14="http://schemas.microsoft.com/office/drawing/2010/main">
                <a:solidFill>
                  <a:srgbClr val="FFFFFF"/>
                </a:solidFill>
              </a14:hiddenFill>
            </a:ext>
          </a:extLst>
        </p:spPr>
      </p:pic>
      <p:sp>
        <p:nvSpPr>
          <p:cNvPr id="7177" name="Rectangle 6">
            <a:extLst>
              <a:ext uri="{FF2B5EF4-FFF2-40B4-BE49-F238E27FC236}">
                <a16:creationId xmlns:a16="http://schemas.microsoft.com/office/drawing/2014/main" id="{3EB27620-B0B1-4232-A055-99D347606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3815" y="289514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18C208-975F-B087-150E-471694A7AAC6}"/>
              </a:ext>
            </a:extLst>
          </p:cNvPr>
          <p:cNvSpPr>
            <a:spLocks noGrp="1"/>
          </p:cNvSpPr>
          <p:nvPr>
            <p:ph idx="1"/>
          </p:nvPr>
        </p:nvSpPr>
        <p:spPr>
          <a:xfrm>
            <a:off x="7034585" y="3164618"/>
            <a:ext cx="4584921" cy="3021497"/>
          </a:xfrm>
        </p:spPr>
        <p:txBody>
          <a:bodyPr anchor="t">
            <a:normAutofit fontScale="92500" lnSpcReduction="20000"/>
          </a:bodyPr>
          <a:lstStyle/>
          <a:p>
            <a:pPr marL="0" indent="0" algn="just">
              <a:lnSpc>
                <a:spcPct val="100000"/>
              </a:lnSpc>
              <a:buNone/>
            </a:pPr>
            <a:r>
              <a:rPr lang="en-IN" sz="2400" b="0" i="0" dirty="0">
                <a:effectLst/>
                <a:latin typeface="roboto" panose="02000000000000000000" pitchFamily="2" charset="0"/>
              </a:rPr>
              <a:t>Liaison</a:t>
            </a:r>
          </a:p>
          <a:p>
            <a:pPr algn="just">
              <a:lnSpc>
                <a:spcPct val="100000"/>
              </a:lnSpc>
            </a:pPr>
            <a:r>
              <a:rPr lang="en-IN" sz="2400" b="0" i="0" dirty="0">
                <a:effectLst/>
                <a:latin typeface="Droid Serif"/>
              </a:rPr>
              <a:t>In the Liaison role, the manager act as a mediator between the organization and the outsider.</a:t>
            </a:r>
          </a:p>
          <a:p>
            <a:pPr algn="just">
              <a:lnSpc>
                <a:spcPct val="100000"/>
              </a:lnSpc>
            </a:pPr>
            <a:r>
              <a:rPr lang="en-IN" sz="2400" b="0" i="0" dirty="0">
                <a:effectLst/>
                <a:latin typeface="Droid Serif"/>
              </a:rPr>
              <a:t>He serves as a connecting link between his units and organizational units, and sometimes with people from the external environment.</a:t>
            </a:r>
          </a:p>
          <a:p>
            <a:pPr algn="just">
              <a:lnSpc>
                <a:spcPct val="100000"/>
              </a:lnSpc>
            </a:pPr>
            <a:endParaRPr lang="en-US" sz="2400" dirty="0"/>
          </a:p>
        </p:txBody>
      </p:sp>
    </p:spTree>
    <p:extLst>
      <p:ext uri="{BB962C8B-B14F-4D97-AF65-F5344CB8AC3E}">
        <p14:creationId xmlns:p14="http://schemas.microsoft.com/office/powerpoint/2010/main" val="4027584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E51AA8-1C6A-09E2-D283-1B3A7B25BEB5}"/>
              </a:ext>
            </a:extLst>
          </p:cNvPr>
          <p:cNvSpPr>
            <a:spLocks noGrp="1"/>
          </p:cNvSpPr>
          <p:nvPr>
            <p:ph type="title"/>
          </p:nvPr>
        </p:nvSpPr>
        <p:spPr>
          <a:xfrm>
            <a:off x="576072" y="238539"/>
            <a:ext cx="11018520" cy="1434415"/>
          </a:xfrm>
        </p:spPr>
        <p:txBody>
          <a:bodyPr anchor="b">
            <a:normAutofit/>
          </a:bodyPr>
          <a:lstStyle/>
          <a:p>
            <a:r>
              <a:rPr lang="en-US" sz="7200"/>
              <a:t>INFORMATIONAL ROLES</a:t>
            </a:r>
          </a:p>
        </p:txBody>
      </p:sp>
      <p:sp>
        <p:nvSpPr>
          <p:cNvPr id="8201"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6072"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C8D095-4261-E4CA-5F16-AD22A463A264}"/>
              </a:ext>
            </a:extLst>
          </p:cNvPr>
          <p:cNvSpPr>
            <a:spLocks noGrp="1"/>
          </p:cNvSpPr>
          <p:nvPr>
            <p:ph idx="1"/>
          </p:nvPr>
        </p:nvSpPr>
        <p:spPr>
          <a:xfrm>
            <a:off x="572493" y="2071316"/>
            <a:ext cx="6713552" cy="4119172"/>
          </a:xfrm>
        </p:spPr>
        <p:txBody>
          <a:bodyPr anchor="t">
            <a:normAutofit/>
          </a:bodyPr>
          <a:lstStyle/>
          <a:p>
            <a:pPr marL="0" indent="0">
              <a:lnSpc>
                <a:spcPct val="100000"/>
              </a:lnSpc>
              <a:buNone/>
            </a:pPr>
            <a:r>
              <a:rPr lang="en-IN" sz="2600" b="0" i="0">
                <a:effectLst/>
                <a:latin typeface="roboto" panose="02000000000000000000" pitchFamily="2" charset="0"/>
              </a:rPr>
              <a:t>Monitor </a:t>
            </a:r>
          </a:p>
          <a:p>
            <a:pPr>
              <a:lnSpc>
                <a:spcPct val="100000"/>
              </a:lnSpc>
            </a:pPr>
            <a:r>
              <a:rPr lang="en-IN" sz="2600" b="0" i="0">
                <a:effectLst/>
                <a:latin typeface="Droid Serif"/>
              </a:rPr>
              <a:t>The manager seeks and receives information about those factors which affect his activities. These factors may be within the organization as well as outside it.</a:t>
            </a:r>
          </a:p>
          <a:p>
            <a:pPr>
              <a:lnSpc>
                <a:spcPct val="100000"/>
              </a:lnSpc>
            </a:pPr>
            <a:r>
              <a:rPr lang="en-IN" sz="2600" b="0" i="0">
                <a:effectLst/>
                <a:latin typeface="Droid Serif"/>
              </a:rPr>
              <a:t>By playing a monitor role, Managers gain an understanding of the Organization and its environment. </a:t>
            </a:r>
          </a:p>
          <a:p>
            <a:pPr>
              <a:lnSpc>
                <a:spcPct val="100000"/>
              </a:lnSpc>
            </a:pPr>
            <a:endParaRPr lang="en-US" sz="2600"/>
          </a:p>
        </p:txBody>
      </p:sp>
      <p:pic>
        <p:nvPicPr>
          <p:cNvPr id="8194" name="Picture 2" descr="POLICY CONTROL - SECNOLOGY : THE BIG DATA MINING COMPANY">
            <a:extLst>
              <a:ext uri="{FF2B5EF4-FFF2-40B4-BE49-F238E27FC236}">
                <a16:creationId xmlns:a16="http://schemas.microsoft.com/office/drawing/2014/main" id="{B6C66E04-8435-C6E4-8F8F-FAA7BF4B19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95" r="2" b="2"/>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681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The Role of &quot; Pattern Disseminator &quot; | Download Scientific Diagram">
            <a:extLst>
              <a:ext uri="{FF2B5EF4-FFF2-40B4-BE49-F238E27FC236}">
                <a16:creationId xmlns:a16="http://schemas.microsoft.com/office/drawing/2014/main" id="{F1EF4637-F1C0-5109-C391-CB58BBFEDD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4988" y="2081412"/>
            <a:ext cx="3368969" cy="2695175"/>
          </a:xfrm>
          <a:prstGeom prst="rect">
            <a:avLst/>
          </a:prstGeom>
          <a:noFill/>
          <a:extLst>
            <a:ext uri="{909E8E84-426E-40DD-AFC4-6F175D3DCCD1}">
              <a14:hiddenFill xmlns:a14="http://schemas.microsoft.com/office/drawing/2010/main">
                <a:solidFill>
                  <a:srgbClr val="FFFFFF"/>
                </a:solidFill>
              </a14:hiddenFill>
            </a:ext>
          </a:extLst>
        </p:spPr>
      </p:pic>
      <p:sp>
        <p:nvSpPr>
          <p:cNvPr id="9225" name="Freeform: Shape 9224">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rgbClr val="5E4DC3"/>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E51AA8-1C6A-09E2-D283-1B3A7B25BEB5}"/>
              </a:ext>
            </a:extLst>
          </p:cNvPr>
          <p:cNvSpPr>
            <a:spLocks noGrp="1"/>
          </p:cNvSpPr>
          <p:nvPr>
            <p:ph type="title"/>
          </p:nvPr>
        </p:nvSpPr>
        <p:spPr>
          <a:xfrm>
            <a:off x="5759354" y="638089"/>
            <a:ext cx="5337270" cy="1476801"/>
          </a:xfrm>
        </p:spPr>
        <p:txBody>
          <a:bodyPr anchor="b">
            <a:normAutofit/>
          </a:bodyPr>
          <a:lstStyle/>
          <a:p>
            <a:pPr>
              <a:lnSpc>
                <a:spcPct val="90000"/>
              </a:lnSpc>
            </a:pPr>
            <a:r>
              <a:rPr lang="en-US" sz="4300">
                <a:solidFill>
                  <a:srgbClr val="FFFFFF"/>
                </a:solidFill>
              </a:rPr>
              <a:t>INFORMATIONAL ROLES</a:t>
            </a:r>
          </a:p>
        </p:txBody>
      </p:sp>
      <p:sp>
        <p:nvSpPr>
          <p:cNvPr id="9227"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6304" y="2368177"/>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C8D095-4261-E4CA-5F16-AD22A463A264}"/>
              </a:ext>
            </a:extLst>
          </p:cNvPr>
          <p:cNvSpPr>
            <a:spLocks noGrp="1"/>
          </p:cNvSpPr>
          <p:nvPr>
            <p:ph idx="1"/>
          </p:nvPr>
        </p:nvSpPr>
        <p:spPr>
          <a:xfrm>
            <a:off x="5759354" y="2664886"/>
            <a:ext cx="5461095" cy="3550789"/>
          </a:xfrm>
        </p:spPr>
        <p:txBody>
          <a:bodyPr anchor="t">
            <a:normAutofit/>
          </a:bodyPr>
          <a:lstStyle/>
          <a:p>
            <a:pPr marL="0" indent="0" algn="just">
              <a:lnSpc>
                <a:spcPct val="100000"/>
              </a:lnSpc>
              <a:buNone/>
            </a:pPr>
            <a:r>
              <a:rPr lang="en-IN" sz="2000" b="0" i="0" dirty="0">
                <a:solidFill>
                  <a:srgbClr val="FFFFFF"/>
                </a:solidFill>
                <a:effectLst/>
                <a:latin typeface="roboto" panose="02000000000000000000" pitchFamily="2" charset="0"/>
              </a:rPr>
              <a:t>Disseminator</a:t>
            </a:r>
          </a:p>
          <a:p>
            <a:pPr algn="just">
              <a:lnSpc>
                <a:spcPct val="100000"/>
              </a:lnSpc>
            </a:pPr>
            <a:r>
              <a:rPr lang="en-IN" sz="2000" b="0" i="0" dirty="0">
                <a:solidFill>
                  <a:srgbClr val="FFFFFF"/>
                </a:solidFill>
                <a:effectLst/>
                <a:latin typeface="Droid Serif"/>
              </a:rPr>
              <a:t>In the disseminator role, the manager transmits information to subordinates, peers, and superiors within the Organization. </a:t>
            </a:r>
          </a:p>
          <a:p>
            <a:pPr algn="just">
              <a:lnSpc>
                <a:spcPct val="100000"/>
              </a:lnSpc>
            </a:pPr>
            <a:r>
              <a:rPr lang="en-IN" sz="2000" b="0" i="0" dirty="0">
                <a:solidFill>
                  <a:srgbClr val="FFFFFF"/>
                </a:solidFill>
                <a:effectLst/>
                <a:latin typeface="Droid Serif"/>
              </a:rPr>
              <a:t>The manager has to act as a disseminator and distributes the information to his subordinates because they may not be in a position to collect it.</a:t>
            </a:r>
          </a:p>
          <a:p>
            <a:pPr marL="0" indent="0" algn="just">
              <a:lnSpc>
                <a:spcPct val="100000"/>
              </a:lnSpc>
              <a:buNone/>
            </a:pPr>
            <a:endParaRPr lang="en-US" sz="2000" dirty="0">
              <a:solidFill>
                <a:srgbClr val="FFFFFF"/>
              </a:solidFill>
            </a:endParaRPr>
          </a:p>
        </p:txBody>
      </p:sp>
      <mc:AlternateContent xmlns:mc="http://schemas.openxmlformats.org/markup-compatibility/2006" xmlns:p14="http://schemas.microsoft.com/office/powerpoint/2010/main">
        <mc:Choice Requires="p14">
          <p:contentPart p14:bwMode="auto" r:id="rId3">
            <p14:nvContentPartPr>
              <p14:cNvPr id="9229" name="Ink 922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9229" name="Ink 922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spTree>
    <p:extLst>
      <p:ext uri="{BB962C8B-B14F-4D97-AF65-F5344CB8AC3E}">
        <p14:creationId xmlns:p14="http://schemas.microsoft.com/office/powerpoint/2010/main" val="1356145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E51AA8-1C6A-09E2-D283-1B3A7B25BEB5}"/>
              </a:ext>
            </a:extLst>
          </p:cNvPr>
          <p:cNvSpPr>
            <a:spLocks noGrp="1"/>
          </p:cNvSpPr>
          <p:nvPr>
            <p:ph type="title"/>
          </p:nvPr>
        </p:nvSpPr>
        <p:spPr>
          <a:xfrm>
            <a:off x="572493" y="238539"/>
            <a:ext cx="11047013" cy="1434415"/>
          </a:xfrm>
        </p:spPr>
        <p:txBody>
          <a:bodyPr anchor="b">
            <a:normAutofit/>
          </a:bodyPr>
          <a:lstStyle/>
          <a:p>
            <a:r>
              <a:rPr lang="en-US" sz="7200"/>
              <a:t>INFORMATIONAL ROLES</a:t>
            </a:r>
          </a:p>
        </p:txBody>
      </p:sp>
      <p:sp>
        <p:nvSpPr>
          <p:cNvPr id="10249"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4"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5 reasons to hire a spokesperson for your business - Bizwomen">
            <a:extLst>
              <a:ext uri="{FF2B5EF4-FFF2-40B4-BE49-F238E27FC236}">
                <a16:creationId xmlns:a16="http://schemas.microsoft.com/office/drawing/2014/main" id="{FEE72E33-F48F-D21E-555F-63001D5EC1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54" r="23184"/>
          <a:stretch/>
        </p:blipFill>
        <p:spPr bwMode="auto">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EC8D095-4261-E4CA-5F16-AD22A463A264}"/>
              </a:ext>
            </a:extLst>
          </p:cNvPr>
          <p:cNvSpPr>
            <a:spLocks noGrp="1"/>
          </p:cNvSpPr>
          <p:nvPr>
            <p:ph idx="1"/>
          </p:nvPr>
        </p:nvSpPr>
        <p:spPr>
          <a:xfrm>
            <a:off x="4905955" y="2071316"/>
            <a:ext cx="6713552" cy="4114800"/>
          </a:xfrm>
        </p:spPr>
        <p:txBody>
          <a:bodyPr anchor="t">
            <a:normAutofit/>
          </a:bodyPr>
          <a:lstStyle/>
          <a:p>
            <a:pPr marL="0" indent="0">
              <a:buNone/>
            </a:pPr>
            <a:r>
              <a:rPr lang="en-IN" sz="2600" b="0" i="0">
                <a:effectLst/>
                <a:latin typeface="roboto" panose="02000000000000000000" pitchFamily="2" charset="0"/>
              </a:rPr>
              <a:t>Spokesperson</a:t>
            </a:r>
          </a:p>
          <a:p>
            <a:r>
              <a:rPr lang="en-IN" sz="2600" b="0" i="0">
                <a:effectLst/>
                <a:latin typeface="Droid Serif"/>
              </a:rPr>
              <a:t>In the spokesperson role, the manager represents his organization or unit while interacting with outsiders. </a:t>
            </a:r>
          </a:p>
          <a:p>
            <a:r>
              <a:rPr lang="en-IN" sz="2600" b="0" i="0">
                <a:effectLst/>
                <a:latin typeface="Droid Serif"/>
              </a:rPr>
              <a:t>More precisely, the Spokesperson Speaks on behalf of the Organization and transmits information on Organization plans, policies, and actions to outsiders.</a:t>
            </a:r>
          </a:p>
          <a:p>
            <a:endParaRPr lang="en-US" sz="2600"/>
          </a:p>
        </p:txBody>
      </p:sp>
    </p:spTree>
    <p:extLst>
      <p:ext uri="{BB962C8B-B14F-4D97-AF65-F5344CB8AC3E}">
        <p14:creationId xmlns:p14="http://schemas.microsoft.com/office/powerpoint/2010/main" val="281869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F6082-494C-B1EA-28B5-2368CA21F25D}"/>
              </a:ext>
            </a:extLst>
          </p:cNvPr>
          <p:cNvSpPr>
            <a:spLocks noGrp="1"/>
          </p:cNvSpPr>
          <p:nvPr>
            <p:ph type="title"/>
          </p:nvPr>
        </p:nvSpPr>
        <p:spPr>
          <a:xfrm>
            <a:off x="7034585" y="703293"/>
            <a:ext cx="4584921" cy="1949815"/>
          </a:xfrm>
        </p:spPr>
        <p:txBody>
          <a:bodyPr anchor="b">
            <a:normAutofit/>
          </a:bodyPr>
          <a:lstStyle/>
          <a:p>
            <a:pPr>
              <a:lnSpc>
                <a:spcPct val="90000"/>
              </a:lnSpc>
            </a:pPr>
            <a:r>
              <a:rPr lang="en-US" sz="5600" dirty="0"/>
              <a:t>DECISIONAL ROLES</a:t>
            </a:r>
          </a:p>
        </p:txBody>
      </p:sp>
      <p:pic>
        <p:nvPicPr>
          <p:cNvPr id="11266" name="Picture 2" descr="What Entrepreneurs must learn about law - iPleaders">
            <a:extLst>
              <a:ext uri="{FF2B5EF4-FFF2-40B4-BE49-F238E27FC236}">
                <a16:creationId xmlns:a16="http://schemas.microsoft.com/office/drawing/2014/main" id="{69A8A175-B929-A6DE-A158-2E76D5E99E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6" r="15129" b="-1"/>
          <a:stretch/>
        </p:blipFill>
        <p:spPr bwMode="auto">
          <a:xfrm>
            <a:off x="866691" y="1216968"/>
            <a:ext cx="5354815" cy="4424065"/>
          </a:xfrm>
          <a:custGeom>
            <a:avLst/>
            <a:gdLst/>
            <a:ahLst/>
            <a:cxnLst/>
            <a:rect l="l" t="t" r="r" b="b"/>
            <a:pathLst>
              <a:path w="5531320" h="4424065">
                <a:moveTo>
                  <a:pt x="4292328" y="3931444"/>
                </a:moveTo>
                <a:cubicBezTo>
                  <a:pt x="3830135" y="4131325"/>
                  <a:pt x="3346708" y="4259111"/>
                  <a:pt x="2855653" y="4364392"/>
                </a:cubicBezTo>
                <a:lnTo>
                  <a:pt x="2855525" y="4364392"/>
                </a:lnTo>
                <a:cubicBezTo>
                  <a:pt x="3386634" y="4394018"/>
                  <a:pt x="3853531" y="4210158"/>
                  <a:pt x="4292328" y="3931444"/>
                </a:cubicBezTo>
                <a:close/>
                <a:moveTo>
                  <a:pt x="4302118" y="3923561"/>
                </a:moveTo>
                <a:lnTo>
                  <a:pt x="4301102" y="3924959"/>
                </a:lnTo>
                <a:lnTo>
                  <a:pt x="4302881" y="3924959"/>
                </a:lnTo>
                <a:close/>
                <a:moveTo>
                  <a:pt x="3885572" y="334733"/>
                </a:moveTo>
                <a:cubicBezTo>
                  <a:pt x="4046889" y="406840"/>
                  <a:pt x="4203653" y="488713"/>
                  <a:pt x="4355013" y="579880"/>
                </a:cubicBezTo>
                <a:cubicBezTo>
                  <a:pt x="4662082" y="768063"/>
                  <a:pt x="4933803" y="995790"/>
                  <a:pt x="5144619" y="1290779"/>
                </a:cubicBezTo>
                <a:cubicBezTo>
                  <a:pt x="5314365" y="1528042"/>
                  <a:pt x="5426258" y="1789591"/>
                  <a:pt x="5468598" y="2088522"/>
                </a:cubicBezTo>
                <a:cubicBezTo>
                  <a:pt x="5479330" y="2001424"/>
                  <a:pt x="5480182" y="1913385"/>
                  <a:pt x="5471141" y="1826083"/>
                </a:cubicBezTo>
                <a:cubicBezTo>
                  <a:pt x="5455337" y="1662962"/>
                  <a:pt x="5406307" y="1504799"/>
                  <a:pt x="5327080" y="1361348"/>
                </a:cubicBezTo>
                <a:cubicBezTo>
                  <a:pt x="5206160" y="1140233"/>
                  <a:pt x="5033362" y="965782"/>
                  <a:pt x="4833354" y="816507"/>
                </a:cubicBezTo>
                <a:cubicBezTo>
                  <a:pt x="4597235" y="640276"/>
                  <a:pt x="4336322" y="509438"/>
                  <a:pt x="4063457" y="400724"/>
                </a:cubicBezTo>
                <a:cubicBezTo>
                  <a:pt x="4033360" y="388607"/>
                  <a:pt x="4003060" y="376909"/>
                  <a:pt x="3972544" y="365631"/>
                </a:cubicBezTo>
                <a:cubicBezTo>
                  <a:pt x="3943680" y="354950"/>
                  <a:pt x="3914563" y="345033"/>
                  <a:pt x="3885572" y="334733"/>
                </a:cubicBezTo>
                <a:close/>
                <a:moveTo>
                  <a:pt x="3865737" y="329520"/>
                </a:moveTo>
                <a:cubicBezTo>
                  <a:pt x="3865737" y="329520"/>
                  <a:pt x="3865737" y="330410"/>
                  <a:pt x="3866500" y="330537"/>
                </a:cubicBezTo>
                <a:lnTo>
                  <a:pt x="3869806" y="330156"/>
                </a:lnTo>
                <a:close/>
                <a:moveTo>
                  <a:pt x="2219772" y="85645"/>
                </a:moveTo>
                <a:cubicBezTo>
                  <a:pt x="2206943" y="84005"/>
                  <a:pt x="2193910" y="85264"/>
                  <a:pt x="2181627" y="89333"/>
                </a:cubicBezTo>
                <a:cubicBezTo>
                  <a:pt x="1932920" y="125113"/>
                  <a:pt x="1690800" y="197118"/>
                  <a:pt x="1462972" y="303073"/>
                </a:cubicBezTo>
                <a:cubicBezTo>
                  <a:pt x="971789" y="529528"/>
                  <a:pt x="578130" y="865460"/>
                  <a:pt x="308698" y="1338461"/>
                </a:cubicBezTo>
                <a:cubicBezTo>
                  <a:pt x="180225" y="1561852"/>
                  <a:pt x="97653" y="1808638"/>
                  <a:pt x="65840" y="2064364"/>
                </a:cubicBezTo>
                <a:cubicBezTo>
                  <a:pt x="71943" y="2050505"/>
                  <a:pt x="77284" y="2036391"/>
                  <a:pt x="82115" y="2022150"/>
                </a:cubicBezTo>
                <a:cubicBezTo>
                  <a:pt x="170104" y="1763653"/>
                  <a:pt x="279580" y="1515073"/>
                  <a:pt x="423261" y="1282260"/>
                </a:cubicBezTo>
                <a:cubicBezTo>
                  <a:pt x="630770" y="945565"/>
                  <a:pt x="895371" y="664944"/>
                  <a:pt x="1231812" y="454001"/>
                </a:cubicBezTo>
                <a:cubicBezTo>
                  <a:pt x="1535193" y="263783"/>
                  <a:pt x="1866802" y="149729"/>
                  <a:pt x="2219772" y="85645"/>
                </a:cubicBezTo>
                <a:close/>
                <a:moveTo>
                  <a:pt x="2612541" y="836"/>
                </a:moveTo>
                <a:cubicBezTo>
                  <a:pt x="2715914" y="-4250"/>
                  <a:pt x="2831240" y="14695"/>
                  <a:pt x="2946311" y="35548"/>
                </a:cubicBezTo>
                <a:cubicBezTo>
                  <a:pt x="3291652" y="98106"/>
                  <a:pt x="3631144" y="182915"/>
                  <a:pt x="3961100" y="303581"/>
                </a:cubicBezTo>
                <a:cubicBezTo>
                  <a:pt x="4278341" y="419543"/>
                  <a:pt x="4581341" y="563350"/>
                  <a:pt x="4854588" y="764502"/>
                </a:cubicBezTo>
                <a:cubicBezTo>
                  <a:pt x="5067438" y="921152"/>
                  <a:pt x="5250408" y="1105521"/>
                  <a:pt x="5377813" y="1339732"/>
                </a:cubicBezTo>
                <a:cubicBezTo>
                  <a:pt x="5459812" y="1489986"/>
                  <a:pt x="5510304" y="1655396"/>
                  <a:pt x="5526198" y="1825829"/>
                </a:cubicBezTo>
                <a:cubicBezTo>
                  <a:pt x="5538277" y="1951327"/>
                  <a:pt x="5527342" y="2074917"/>
                  <a:pt x="5510558" y="2199398"/>
                </a:cubicBezTo>
                <a:cubicBezTo>
                  <a:pt x="5502967" y="2266991"/>
                  <a:pt x="5502713" y="2335195"/>
                  <a:pt x="5509796" y="2402839"/>
                </a:cubicBezTo>
                <a:cubicBezTo>
                  <a:pt x="5534208" y="2664197"/>
                  <a:pt x="5468472" y="2926051"/>
                  <a:pt x="5323520" y="3144890"/>
                </a:cubicBezTo>
                <a:cubicBezTo>
                  <a:pt x="5201340" y="3332234"/>
                  <a:pt x="5041042" y="3491719"/>
                  <a:pt x="4853062" y="3612932"/>
                </a:cubicBezTo>
                <a:cubicBezTo>
                  <a:pt x="4671110" y="3732072"/>
                  <a:pt x="4498566" y="3864563"/>
                  <a:pt x="4316359" y="3982940"/>
                </a:cubicBezTo>
                <a:cubicBezTo>
                  <a:pt x="4019717" y="4175573"/>
                  <a:pt x="3701077" y="4317347"/>
                  <a:pt x="3352557" y="4386771"/>
                </a:cubicBezTo>
                <a:cubicBezTo>
                  <a:pt x="3160954" y="4425590"/>
                  <a:pt x="2964456" y="4434173"/>
                  <a:pt x="2770207" y="4412201"/>
                </a:cubicBezTo>
                <a:cubicBezTo>
                  <a:pt x="2685525" y="4402537"/>
                  <a:pt x="2599953" y="4402410"/>
                  <a:pt x="2514889" y="4393637"/>
                </a:cubicBezTo>
                <a:cubicBezTo>
                  <a:pt x="2307137" y="4370851"/>
                  <a:pt x="2102209" y="4327277"/>
                  <a:pt x="1903167" y="4263562"/>
                </a:cubicBezTo>
                <a:cubicBezTo>
                  <a:pt x="1560623" y="4156119"/>
                  <a:pt x="1238932" y="4006972"/>
                  <a:pt x="948393" y="3794249"/>
                </a:cubicBezTo>
                <a:cubicBezTo>
                  <a:pt x="647554" y="3573897"/>
                  <a:pt x="396813" y="3308660"/>
                  <a:pt x="223634" y="2975526"/>
                </a:cubicBezTo>
                <a:cubicBezTo>
                  <a:pt x="129454" y="2796370"/>
                  <a:pt x="67150" y="2602198"/>
                  <a:pt x="39520" y="2401695"/>
                </a:cubicBezTo>
                <a:cubicBezTo>
                  <a:pt x="34510" y="2367555"/>
                  <a:pt x="26729" y="2333872"/>
                  <a:pt x="16252" y="2300991"/>
                </a:cubicBezTo>
                <a:cubicBezTo>
                  <a:pt x="-9179" y="2218598"/>
                  <a:pt x="-24" y="2135695"/>
                  <a:pt x="11801" y="2053556"/>
                </a:cubicBezTo>
                <a:cubicBezTo>
                  <a:pt x="93686" y="1480615"/>
                  <a:pt x="377868" y="1021983"/>
                  <a:pt x="812850" y="651084"/>
                </a:cubicBezTo>
                <a:cubicBezTo>
                  <a:pt x="1176755" y="340201"/>
                  <a:pt x="1598260" y="146042"/>
                  <a:pt x="2066810" y="52586"/>
                </a:cubicBezTo>
                <a:cubicBezTo>
                  <a:pt x="2154544" y="35039"/>
                  <a:pt x="2243041" y="23087"/>
                  <a:pt x="2332046" y="14441"/>
                </a:cubicBezTo>
                <a:cubicBezTo>
                  <a:pt x="2421052" y="5794"/>
                  <a:pt x="2508913" y="2107"/>
                  <a:pt x="2612541" y="836"/>
                </a:cubicBezTo>
                <a:close/>
              </a:path>
            </a:pathLst>
          </a:custGeom>
          <a:noFill/>
          <a:extLst>
            <a:ext uri="{909E8E84-426E-40DD-AFC4-6F175D3DCCD1}">
              <a14:hiddenFill xmlns:a14="http://schemas.microsoft.com/office/drawing/2010/main">
                <a:solidFill>
                  <a:srgbClr val="FFFFFF"/>
                </a:solidFill>
              </a14:hiddenFill>
            </a:ext>
          </a:extLst>
        </p:spPr>
      </p:pic>
      <p:sp>
        <p:nvSpPr>
          <p:cNvPr id="11273" name="Rectangle 6">
            <a:extLst>
              <a:ext uri="{FF2B5EF4-FFF2-40B4-BE49-F238E27FC236}">
                <a16:creationId xmlns:a16="http://schemas.microsoft.com/office/drawing/2014/main" id="{3EB27620-B0B1-4232-A055-99D347606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3815" y="289514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9B2931-BEA7-F379-7FC3-1596F29A6801}"/>
              </a:ext>
            </a:extLst>
          </p:cNvPr>
          <p:cNvSpPr>
            <a:spLocks noGrp="1"/>
          </p:cNvSpPr>
          <p:nvPr>
            <p:ph idx="1"/>
          </p:nvPr>
        </p:nvSpPr>
        <p:spPr>
          <a:xfrm>
            <a:off x="7034585" y="3164618"/>
            <a:ext cx="4584921" cy="3021497"/>
          </a:xfrm>
        </p:spPr>
        <p:txBody>
          <a:bodyPr anchor="t">
            <a:normAutofit fontScale="92500" lnSpcReduction="20000"/>
          </a:bodyPr>
          <a:lstStyle/>
          <a:p>
            <a:pPr marL="0" indent="0" algn="just">
              <a:lnSpc>
                <a:spcPct val="100000"/>
              </a:lnSpc>
              <a:buNone/>
            </a:pPr>
            <a:r>
              <a:rPr lang="en-IN" sz="2000" b="0" i="0" dirty="0">
                <a:effectLst/>
                <a:latin typeface="roboto" panose="02000000000000000000" pitchFamily="2" charset="0"/>
              </a:rPr>
              <a:t>Entrepreneur</a:t>
            </a:r>
          </a:p>
          <a:p>
            <a:pPr algn="just">
              <a:lnSpc>
                <a:spcPct val="100000"/>
              </a:lnSpc>
            </a:pPr>
            <a:r>
              <a:rPr lang="en-IN" sz="2000" b="0" i="0" dirty="0">
                <a:effectLst/>
                <a:latin typeface="Droid Serif"/>
              </a:rPr>
              <a:t>Manager as an Entrepreneur role, take initiative and make changes or improvements in the activities of the Organization. </a:t>
            </a:r>
          </a:p>
          <a:p>
            <a:pPr algn="just">
              <a:lnSpc>
                <a:spcPct val="100000"/>
              </a:lnSpc>
            </a:pPr>
            <a:r>
              <a:rPr lang="en-IN" sz="2000" b="0" i="0" dirty="0">
                <a:effectLst/>
                <a:latin typeface="Droid Serif"/>
              </a:rPr>
              <a:t>The manager assumes certain risk which is involved in terms of the outcomes of action because these are affected by a variety of external factors. </a:t>
            </a:r>
          </a:p>
          <a:p>
            <a:pPr algn="just">
              <a:lnSpc>
                <a:spcPct val="100000"/>
              </a:lnSpc>
            </a:pPr>
            <a:endParaRPr lang="en-US" sz="2000" dirty="0"/>
          </a:p>
        </p:txBody>
      </p:sp>
    </p:spTree>
    <p:extLst>
      <p:ext uri="{BB962C8B-B14F-4D97-AF65-F5344CB8AC3E}">
        <p14:creationId xmlns:p14="http://schemas.microsoft.com/office/powerpoint/2010/main" val="3903562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126354-9D8B-117F-EAC9-9C7D1E62B625}"/>
              </a:ext>
            </a:extLst>
          </p:cNvPr>
          <p:cNvSpPr>
            <a:spLocks noGrp="1"/>
          </p:cNvSpPr>
          <p:nvPr>
            <p:ph type="title"/>
          </p:nvPr>
        </p:nvSpPr>
        <p:spPr>
          <a:xfrm>
            <a:off x="6739128" y="638089"/>
            <a:ext cx="4818888" cy="1476801"/>
          </a:xfrm>
        </p:spPr>
        <p:txBody>
          <a:bodyPr anchor="b">
            <a:normAutofit/>
          </a:bodyPr>
          <a:lstStyle/>
          <a:p>
            <a:pPr>
              <a:lnSpc>
                <a:spcPct val="90000"/>
              </a:lnSpc>
            </a:pPr>
            <a:r>
              <a:rPr lang="en-US" sz="4300"/>
              <a:t>DECISIONAL ROLES</a:t>
            </a:r>
          </a:p>
        </p:txBody>
      </p:sp>
      <p:sp>
        <p:nvSpPr>
          <p:cNvPr id="12297"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81825"/>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FF22A5-70F9-0C03-7105-2B4B6E94B3D5}"/>
              </a:ext>
            </a:extLst>
          </p:cNvPr>
          <p:cNvSpPr>
            <a:spLocks noGrp="1"/>
          </p:cNvSpPr>
          <p:nvPr>
            <p:ph idx="1"/>
          </p:nvPr>
        </p:nvSpPr>
        <p:spPr>
          <a:xfrm>
            <a:off x="6739128" y="2664886"/>
            <a:ext cx="4818888" cy="3550789"/>
          </a:xfrm>
        </p:spPr>
        <p:txBody>
          <a:bodyPr anchor="t">
            <a:normAutofit/>
          </a:bodyPr>
          <a:lstStyle/>
          <a:p>
            <a:pPr marL="0" indent="0" algn="just">
              <a:lnSpc>
                <a:spcPct val="100000"/>
              </a:lnSpc>
              <a:buNone/>
            </a:pPr>
            <a:r>
              <a:rPr lang="en-IN" sz="2000" b="0" i="0" dirty="0">
                <a:effectLst/>
                <a:latin typeface="roboto" panose="02000000000000000000" pitchFamily="2" charset="0"/>
              </a:rPr>
              <a:t>Disturbance handler</a:t>
            </a:r>
          </a:p>
          <a:p>
            <a:pPr algn="just">
              <a:lnSpc>
                <a:spcPct val="100000"/>
              </a:lnSpc>
            </a:pPr>
            <a:r>
              <a:rPr lang="en-IN" sz="2000" b="0" i="0" dirty="0">
                <a:effectLst/>
                <a:latin typeface="Droid Serif"/>
              </a:rPr>
              <a:t>As a role of disturbance handler, the manager has in charge and takes corrective action when Organization faces unexpected crises.</a:t>
            </a:r>
          </a:p>
          <a:p>
            <a:pPr algn="just">
              <a:lnSpc>
                <a:spcPct val="100000"/>
              </a:lnSpc>
            </a:pPr>
            <a:r>
              <a:rPr lang="en-IN" sz="2000" b="0" i="0" dirty="0">
                <a:effectLst/>
                <a:latin typeface="Droid Serif"/>
              </a:rPr>
              <a:t>The manager is required to tackle those forces and events which tend to disturb the organizational equilibrium and normal functioning.</a:t>
            </a:r>
          </a:p>
          <a:p>
            <a:pPr algn="just">
              <a:lnSpc>
                <a:spcPct val="100000"/>
              </a:lnSpc>
            </a:pPr>
            <a:endParaRPr lang="en-US" sz="2000" dirty="0"/>
          </a:p>
        </p:txBody>
      </p:sp>
      <mc:AlternateContent xmlns:mc="http://schemas.openxmlformats.org/markup-compatibility/2006" xmlns:p14="http://schemas.microsoft.com/office/powerpoint/2010/main">
        <mc:Choice Requires="p14">
          <p:contentPart p14:bwMode="auto" r:id="rId2">
            <p14:nvContentPartPr>
              <p14:cNvPr id="12299" name="Ink 1229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2299" name="Ink 1229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6418237" y="1956150"/>
                <a:ext cx="36000" cy="32709"/>
              </a:xfrm>
              <a:prstGeom prst="rect">
                <a:avLst/>
              </a:prstGeom>
            </p:spPr>
          </p:pic>
        </mc:Fallback>
      </mc:AlternateContent>
      <p:pic>
        <p:nvPicPr>
          <p:cNvPr id="12290" name="Picture 2" descr="The Multiple Roles of a Company Officer - ppt download">
            <a:extLst>
              <a:ext uri="{FF2B5EF4-FFF2-40B4-BE49-F238E27FC236}">
                <a16:creationId xmlns:a16="http://schemas.microsoft.com/office/drawing/2014/main" id="{28E15719-8FC8-D540-8BE4-7DE4FF68B1D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124"/>
          <a:stretch/>
        </p:blipFill>
        <p:spPr bwMode="auto">
          <a:xfrm>
            <a:off x="630936" y="2370922"/>
            <a:ext cx="5458968" cy="3102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939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19" name="Rectangle 133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5E0256-2E13-76FA-C651-F5CC1270E252}"/>
              </a:ext>
            </a:extLst>
          </p:cNvPr>
          <p:cNvSpPr>
            <a:spLocks noGrp="1"/>
          </p:cNvSpPr>
          <p:nvPr>
            <p:ph type="title"/>
          </p:nvPr>
        </p:nvSpPr>
        <p:spPr>
          <a:xfrm>
            <a:off x="630936" y="640080"/>
            <a:ext cx="4818888" cy="1481328"/>
          </a:xfrm>
        </p:spPr>
        <p:txBody>
          <a:bodyPr anchor="b">
            <a:normAutofit/>
          </a:bodyPr>
          <a:lstStyle/>
          <a:p>
            <a:pPr>
              <a:lnSpc>
                <a:spcPct val="90000"/>
              </a:lnSpc>
            </a:pPr>
            <a:r>
              <a:rPr lang="en-US" sz="4300"/>
              <a:t>DECISIONAL ROLES</a:t>
            </a:r>
          </a:p>
        </p:txBody>
      </p:sp>
      <p:sp>
        <p:nvSpPr>
          <p:cNvPr id="13321"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55402F-AEAE-3917-5756-3CC8C502CC21}"/>
              </a:ext>
            </a:extLst>
          </p:cNvPr>
          <p:cNvSpPr>
            <a:spLocks noGrp="1"/>
          </p:cNvSpPr>
          <p:nvPr>
            <p:ph idx="1"/>
          </p:nvPr>
        </p:nvSpPr>
        <p:spPr>
          <a:xfrm>
            <a:off x="630936" y="2660904"/>
            <a:ext cx="4818888" cy="3547872"/>
          </a:xfrm>
        </p:spPr>
        <p:txBody>
          <a:bodyPr anchor="t">
            <a:normAutofit/>
          </a:bodyPr>
          <a:lstStyle/>
          <a:p>
            <a:pPr marL="0" indent="0">
              <a:lnSpc>
                <a:spcPct val="100000"/>
              </a:lnSpc>
              <a:buNone/>
            </a:pPr>
            <a:r>
              <a:rPr lang="en-IN" sz="2200" b="0" i="0">
                <a:effectLst/>
                <a:latin typeface="roboto" panose="02000000000000000000" pitchFamily="2" charset="0"/>
              </a:rPr>
              <a:t>Resource allocator</a:t>
            </a:r>
          </a:p>
          <a:p>
            <a:pPr>
              <a:lnSpc>
                <a:spcPct val="100000"/>
              </a:lnSpc>
            </a:pPr>
            <a:r>
              <a:rPr lang="en-IN" sz="2200" b="0" i="0">
                <a:effectLst/>
                <a:latin typeface="Droid Serif"/>
              </a:rPr>
              <a:t>A manager as the resource allocator role must divide work and delegate authority among his subordinates. He must decide who will get what work.</a:t>
            </a:r>
          </a:p>
          <a:p>
            <a:pPr>
              <a:lnSpc>
                <a:spcPct val="100000"/>
              </a:lnSpc>
            </a:pPr>
            <a:r>
              <a:rPr lang="en-IN" sz="2200" b="0" i="0">
                <a:effectLst/>
                <a:latin typeface="Droid Serif"/>
              </a:rPr>
              <a:t>The manager allocates resources such as human, physical and financial among his subordinates.</a:t>
            </a:r>
          </a:p>
          <a:p>
            <a:pPr marL="0" indent="0">
              <a:lnSpc>
                <a:spcPct val="100000"/>
              </a:lnSpc>
              <a:buNone/>
            </a:pPr>
            <a:endParaRPr lang="en-US" sz="2200"/>
          </a:p>
        </p:txBody>
      </p:sp>
      <mc:AlternateContent xmlns:mc="http://schemas.openxmlformats.org/markup-compatibility/2006" xmlns:p14="http://schemas.microsoft.com/office/powerpoint/2010/main">
        <mc:Choice Requires="p14">
          <p:contentPart p14:bwMode="auto" r:id="rId2">
            <p14:nvContentPartPr>
              <p14:cNvPr id="13323" name="Ink 1332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3323" name="Ink 1332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13314" name="Picture 2" descr="2,799 Resource allocation Images, Stock Photos &amp; Vectors | Shutterstock">
            <a:extLst>
              <a:ext uri="{FF2B5EF4-FFF2-40B4-BE49-F238E27FC236}">
                <a16:creationId xmlns:a16="http://schemas.microsoft.com/office/drawing/2014/main" id="{3AEBBABA-D4F0-F2F6-1FEC-826F2FD82E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7904"/>
          <a:stretch/>
        </p:blipFill>
        <p:spPr bwMode="auto">
          <a:xfrm>
            <a:off x="6436239" y="1380744"/>
            <a:ext cx="4924369" cy="4579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271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BA69C5-488A-1FA0-1C7C-2F9CFA086D08}"/>
              </a:ext>
            </a:extLst>
          </p:cNvPr>
          <p:cNvSpPr>
            <a:spLocks noGrp="1"/>
          </p:cNvSpPr>
          <p:nvPr>
            <p:ph type="title"/>
          </p:nvPr>
        </p:nvSpPr>
        <p:spPr>
          <a:xfrm>
            <a:off x="572493" y="238539"/>
            <a:ext cx="11047013" cy="1434415"/>
          </a:xfrm>
        </p:spPr>
        <p:txBody>
          <a:bodyPr anchor="b">
            <a:normAutofit/>
          </a:bodyPr>
          <a:lstStyle/>
          <a:p>
            <a:r>
              <a:rPr lang="en-US" sz="7200"/>
              <a:t>DECISIONAL ROLES</a:t>
            </a:r>
          </a:p>
        </p:txBody>
      </p:sp>
      <p:sp>
        <p:nvSpPr>
          <p:cNvPr id="14345"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4"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5E4DC3"/>
          </a:solidFill>
          <a:ln w="38100" cap="rnd">
            <a:solidFill>
              <a:srgbClr val="5E4DC3"/>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8" name="Picture 2" descr="208 Negotiator Illustrations &amp; Clip Art - iStock">
            <a:extLst>
              <a:ext uri="{FF2B5EF4-FFF2-40B4-BE49-F238E27FC236}">
                <a16:creationId xmlns:a16="http://schemas.microsoft.com/office/drawing/2014/main" id="{9BB77261-4144-C4BE-6E47-233A28011E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289" r="20989" b="1"/>
          <a:stretch/>
        </p:blipFill>
        <p:spPr bwMode="auto">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3E663CF-03FE-A7B4-E3B6-0AEE8A8EE8F5}"/>
              </a:ext>
            </a:extLst>
          </p:cNvPr>
          <p:cNvSpPr>
            <a:spLocks noGrp="1"/>
          </p:cNvSpPr>
          <p:nvPr>
            <p:ph idx="1"/>
          </p:nvPr>
        </p:nvSpPr>
        <p:spPr>
          <a:xfrm>
            <a:off x="4905955" y="2071316"/>
            <a:ext cx="6713552" cy="4114800"/>
          </a:xfrm>
        </p:spPr>
        <p:txBody>
          <a:bodyPr anchor="t">
            <a:normAutofit/>
          </a:bodyPr>
          <a:lstStyle/>
          <a:p>
            <a:pPr marL="0" indent="0" algn="just">
              <a:lnSpc>
                <a:spcPct val="100000"/>
              </a:lnSpc>
              <a:buNone/>
            </a:pPr>
            <a:r>
              <a:rPr lang="en-IN" sz="2600" b="0" i="0" dirty="0">
                <a:effectLst/>
                <a:latin typeface="roboto" panose="02000000000000000000" pitchFamily="2" charset="0"/>
              </a:rPr>
              <a:t>Negotiator</a:t>
            </a:r>
          </a:p>
          <a:p>
            <a:pPr algn="just">
              <a:lnSpc>
                <a:spcPct val="100000"/>
              </a:lnSpc>
            </a:pPr>
            <a:r>
              <a:rPr lang="en-IN" sz="2600" b="0" i="0" dirty="0">
                <a:effectLst/>
                <a:latin typeface="Droid Serif"/>
              </a:rPr>
              <a:t>the manager represents the organization in bargaining and negotiations with outsiders as well as insiders.</a:t>
            </a:r>
          </a:p>
          <a:p>
            <a:pPr algn="just">
              <a:lnSpc>
                <a:spcPct val="100000"/>
              </a:lnSpc>
            </a:pPr>
            <a:r>
              <a:rPr lang="en-IN" sz="2600" b="0" i="0" dirty="0">
                <a:effectLst/>
                <a:latin typeface="Droid Serif"/>
              </a:rPr>
              <a:t>In the negotiator role, the manager negotiates with various interest groups in the organization. Such interest groups are shareholders, employees, and outside agencies.</a:t>
            </a:r>
          </a:p>
          <a:p>
            <a:pPr algn="just">
              <a:lnSpc>
                <a:spcPct val="100000"/>
              </a:lnSpc>
            </a:pPr>
            <a:endParaRPr lang="en-US" sz="2600" dirty="0"/>
          </a:p>
        </p:txBody>
      </p:sp>
    </p:spTree>
    <p:extLst>
      <p:ext uri="{BB962C8B-B14F-4D97-AF65-F5344CB8AC3E}">
        <p14:creationId xmlns:p14="http://schemas.microsoft.com/office/powerpoint/2010/main" val="420638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erson wearing yellow">
            <a:extLst>
              <a:ext uri="{FF2B5EF4-FFF2-40B4-BE49-F238E27FC236}">
                <a16:creationId xmlns:a16="http://schemas.microsoft.com/office/drawing/2014/main" id="{A3D01A63-F666-9384-7B0A-3E5A4C00B93A}"/>
              </a:ext>
            </a:extLst>
          </p:cNvPr>
          <p:cNvPicPr>
            <a:picLocks noGrp="1" noChangeAspect="1"/>
          </p:cNvPicPr>
          <p:nvPr>
            <p:ph idx="1"/>
          </p:nvPr>
        </p:nvPicPr>
        <p:blipFill rotWithShape="1">
          <a:blip r:embed="rId2"/>
          <a:srcRect b="15730"/>
          <a:stretch/>
        </p:blipFill>
        <p:spPr>
          <a:xfrm>
            <a:off x="-2" y="10"/>
            <a:ext cx="12192002" cy="6857990"/>
          </a:xfrm>
          <a:prstGeom prst="rect">
            <a:avLst/>
          </a:prstGeom>
        </p:spPr>
      </p:pic>
      <p:sp>
        <p:nvSpPr>
          <p:cNvPr id="14" name="Rectangle 13">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tx1">
                  <a:alpha val="30000"/>
                </a:schemeClr>
              </a:gs>
              <a:gs pos="30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7D4E6F-A802-DF4A-FCBA-0EDC9FE4689B}"/>
              </a:ext>
            </a:extLst>
          </p:cNvPr>
          <p:cNvSpPr>
            <a:spLocks noGrp="1"/>
          </p:cNvSpPr>
          <p:nvPr>
            <p:ph type="title"/>
          </p:nvPr>
        </p:nvSpPr>
        <p:spPr>
          <a:xfrm>
            <a:off x="7848600" y="1122363"/>
            <a:ext cx="4023360" cy="2807208"/>
          </a:xfrm>
        </p:spPr>
        <p:txBody>
          <a:bodyPr vert="horz" lIns="91440" tIns="45720" rIns="91440" bIns="45720" rtlCol="0" anchor="b">
            <a:normAutofit/>
          </a:bodyPr>
          <a:lstStyle/>
          <a:p>
            <a:pPr>
              <a:lnSpc>
                <a:spcPct val="90000"/>
              </a:lnSpc>
            </a:pPr>
            <a:r>
              <a:rPr lang="en-US" sz="3000">
                <a:solidFill>
                  <a:schemeClr val="bg1"/>
                </a:solidFill>
              </a:rPr>
              <a:t>WHICH ROLE AS PER YOUR UNDERSTANDING IS THE MOST IMPORTANT OF ALL?</a:t>
            </a:r>
          </a:p>
        </p:txBody>
      </p:sp>
    </p:spTree>
    <p:extLst>
      <p:ext uri="{BB962C8B-B14F-4D97-AF65-F5344CB8AC3E}">
        <p14:creationId xmlns:p14="http://schemas.microsoft.com/office/powerpoint/2010/main" val="2716786476"/>
      </p:ext>
    </p:extLst>
  </p:cSld>
  <p:clrMapOvr>
    <a:masterClrMapping/>
  </p:clrMapOvr>
</p:sld>
</file>

<file path=ppt/theme/theme1.xml><?xml version="1.0" encoding="utf-8"?>
<a:theme xmlns:a="http://schemas.openxmlformats.org/drawingml/2006/main" name="SketchyVTI">
  <a:themeElements>
    <a:clrScheme name="AnalogousFromDarkSeedLeftStep">
      <a:dk1>
        <a:srgbClr val="000000"/>
      </a:dk1>
      <a:lt1>
        <a:srgbClr val="FFFFFF"/>
      </a:lt1>
      <a:dk2>
        <a:srgbClr val="243241"/>
      </a:dk2>
      <a:lt2>
        <a:srgbClr val="E7E8E2"/>
      </a:lt2>
      <a:accent1>
        <a:srgbClr val="5E4DC3"/>
      </a:accent1>
      <a:accent2>
        <a:srgbClr val="3B5BB1"/>
      </a:accent2>
      <a:accent3>
        <a:srgbClr val="4D9EC3"/>
      </a:accent3>
      <a:accent4>
        <a:srgbClr val="3BB1A5"/>
      </a:accent4>
      <a:accent5>
        <a:srgbClr val="48B77D"/>
      </a:accent5>
      <a:accent6>
        <a:srgbClr val="3BB142"/>
      </a:accent6>
      <a:hlink>
        <a:srgbClr val="319471"/>
      </a:hlink>
      <a:folHlink>
        <a:srgbClr val="7F7F7F"/>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655</Words>
  <Application>Microsoft Macintosh PowerPoint</Application>
  <PresentationFormat>Widescreen</PresentationFormat>
  <Paragraphs>76</Paragraphs>
  <Slides>18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Droid Serif</vt:lpstr>
      <vt:lpstr>Modern Love</vt:lpstr>
      <vt:lpstr>ProximaNova-n4</vt:lpstr>
      <vt:lpstr>roboto</vt:lpstr>
      <vt:lpstr>The Hand</vt:lpstr>
      <vt:lpstr>SketchyVTI</vt:lpstr>
      <vt:lpstr>Skills and roles of a manager</vt:lpstr>
      <vt:lpstr>Skills of a manager</vt:lpstr>
      <vt:lpstr>Skills of a manager</vt:lpstr>
      <vt:lpstr>Skills of a manager</vt:lpstr>
      <vt:lpstr>What skills do you possess?</vt:lpstr>
      <vt:lpstr>Roles of a Manager</vt:lpstr>
      <vt:lpstr>WHO CAME UP WITH THIS CONCEPT?</vt:lpstr>
      <vt:lpstr>INTERPERSONAL ROLES</vt:lpstr>
      <vt:lpstr>INTERPERSONAL ROLES</vt:lpstr>
      <vt:lpstr>INTERPERSONAL ROLES</vt:lpstr>
      <vt:lpstr>INFORMATIONAL ROLES</vt:lpstr>
      <vt:lpstr>INFORMATIONAL ROLES</vt:lpstr>
      <vt:lpstr>INFORMATIONAL ROLES</vt:lpstr>
      <vt:lpstr>DECISIONAL ROLES</vt:lpstr>
      <vt:lpstr>DECISIONAL ROLES</vt:lpstr>
      <vt:lpstr>DECISIONAL ROLES</vt:lpstr>
      <vt:lpstr>DECISIONAL ROLES</vt:lpstr>
      <vt:lpstr>WHICH ROLE AS PER YOUR UNDERSTANDING IS THE MOST IMPORTANT OF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and roles of a manager</dc:title>
  <dc:creator>Jaskiran Kaur</dc:creator>
  <cp:lastModifiedBy>Jaskiran Kaur</cp:lastModifiedBy>
  <cp:revision>3</cp:revision>
  <dcterms:created xsi:type="dcterms:W3CDTF">2022-08-03T05:23:27Z</dcterms:created>
  <dcterms:modified xsi:type="dcterms:W3CDTF">2022-08-03T09:00:05Z</dcterms:modified>
</cp:coreProperties>
</file>