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315" r:id="rId3"/>
    <p:sldId id="316" r:id="rId4"/>
    <p:sldId id="317" r:id="rId5"/>
    <p:sldId id="318" r:id="rId6"/>
    <p:sldId id="319" r:id="rId7"/>
    <p:sldId id="320" r:id="rId8"/>
    <p:sldId id="321" r:id="rId9"/>
    <p:sldId id="322" r:id="rId10"/>
    <p:sldId id="341" r:id="rId11"/>
    <p:sldId id="343" r:id="rId12"/>
    <p:sldId id="327" r:id="rId13"/>
    <p:sldId id="328" r:id="rId14"/>
    <p:sldId id="329" r:id="rId15"/>
    <p:sldId id="330" r:id="rId16"/>
    <p:sldId id="325" r:id="rId17"/>
    <p:sldId id="331" r:id="rId18"/>
    <p:sldId id="323" r:id="rId19"/>
    <p:sldId id="324" r:id="rId20"/>
    <p:sldId id="332" r:id="rId21"/>
    <p:sldId id="333" r:id="rId22"/>
    <p:sldId id="334" r:id="rId23"/>
    <p:sldId id="335" r:id="rId24"/>
    <p:sldId id="336" r:id="rId25"/>
    <p:sldId id="337" r:id="rId26"/>
    <p:sldId id="338" r:id="rId27"/>
    <p:sldId id="340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84225"/>
  </p:normalViewPr>
  <p:slideViewPr>
    <p:cSldViewPr snapToGrid="0">
      <p:cViewPr varScale="1">
        <p:scale>
          <a:sx n="101" d="100"/>
          <a:sy n="101" d="100"/>
        </p:scale>
        <p:origin x="90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8B861D-1D0F-4214-88BC-89B9A9E715D8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687DF50-18C4-4928-BBC0-44BF0DB0B204}">
      <dgm:prSet/>
      <dgm:spPr/>
      <dgm:t>
        <a:bodyPr/>
        <a:lstStyle/>
        <a:p>
          <a:r>
            <a:rPr lang="en-IN"/>
            <a:t>Give 1 point for Mostly True for 1, 2, 5, 6, 7, 8 </a:t>
          </a:r>
          <a:endParaRPr lang="en-US"/>
        </a:p>
      </dgm:t>
    </dgm:pt>
    <dgm:pt modelId="{4A74D2D0-80F2-4107-9705-DDE4E3BACB0B}" type="parTrans" cxnId="{B926B538-FFF4-45C3-9F71-C854F330D71F}">
      <dgm:prSet/>
      <dgm:spPr/>
      <dgm:t>
        <a:bodyPr/>
        <a:lstStyle/>
        <a:p>
          <a:endParaRPr lang="en-US"/>
        </a:p>
      </dgm:t>
    </dgm:pt>
    <dgm:pt modelId="{A6AB9B0E-6347-408A-BA72-D8959D848655}" type="sibTrans" cxnId="{B926B538-FFF4-45C3-9F71-C854F330D71F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F1B4A9DB-8853-4AFA-A227-F933D46C870B}">
      <dgm:prSet/>
      <dgm:spPr/>
      <dgm:t>
        <a:bodyPr/>
        <a:lstStyle/>
        <a:p>
          <a:r>
            <a:rPr lang="en-IN"/>
            <a:t>Except 3, 4 statement.</a:t>
          </a:r>
          <a:endParaRPr lang="en-US"/>
        </a:p>
      </dgm:t>
    </dgm:pt>
    <dgm:pt modelId="{D9D3F722-3F18-4F14-B427-005917FFD1C7}" type="parTrans" cxnId="{F9963987-8437-4CE1-A80B-14A13E8B5849}">
      <dgm:prSet/>
      <dgm:spPr/>
      <dgm:t>
        <a:bodyPr/>
        <a:lstStyle/>
        <a:p>
          <a:endParaRPr lang="en-US"/>
        </a:p>
      </dgm:t>
    </dgm:pt>
    <dgm:pt modelId="{53AD2C8E-1088-4284-B179-BB7AC837AD82}" type="sibTrans" cxnId="{F9963987-8437-4CE1-A80B-14A13E8B5849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8486D2D4-D6B7-4F47-A602-AA48FE28D6D6}">
      <dgm:prSet/>
      <dgm:spPr/>
      <dgm:t>
        <a:bodyPr/>
        <a:lstStyle/>
        <a:p>
          <a:r>
            <a:rPr lang="en-IN"/>
            <a:t>Give 1 point for Mostly False for 3, 4 statement.</a:t>
          </a:r>
          <a:endParaRPr lang="en-US"/>
        </a:p>
      </dgm:t>
    </dgm:pt>
    <dgm:pt modelId="{ECF0D8EE-DF3C-44E0-9309-16F55E976BED}" type="parTrans" cxnId="{F1DC53A7-F806-4C48-A44E-8D984B28FBFD}">
      <dgm:prSet/>
      <dgm:spPr/>
      <dgm:t>
        <a:bodyPr/>
        <a:lstStyle/>
        <a:p>
          <a:endParaRPr lang="en-US"/>
        </a:p>
      </dgm:t>
    </dgm:pt>
    <dgm:pt modelId="{0A2791DB-4FC6-4109-AFEA-A991578CC5CE}" type="sibTrans" cxnId="{F1DC53A7-F806-4C48-A44E-8D984B28FBFD}">
      <dgm:prSet/>
      <dgm:spPr/>
      <dgm:t>
        <a:bodyPr/>
        <a:lstStyle/>
        <a:p>
          <a:endParaRPr lang="en-US"/>
        </a:p>
      </dgm:t>
    </dgm:pt>
    <dgm:pt modelId="{29A5BC29-519E-4531-B50D-BCC9E38964B9}" type="pres">
      <dgm:prSet presAssocID="{8A8B861D-1D0F-4214-88BC-89B9A9E715D8}" presName="Name0" presStyleCnt="0">
        <dgm:presLayoutVars>
          <dgm:animLvl val="lvl"/>
          <dgm:resizeHandles val="exact"/>
        </dgm:presLayoutVars>
      </dgm:prSet>
      <dgm:spPr/>
    </dgm:pt>
    <dgm:pt modelId="{73E471DC-87A5-4814-8C54-63F5BA722FCB}" type="pres">
      <dgm:prSet presAssocID="{5687DF50-18C4-4928-BBC0-44BF0DB0B204}" presName="compositeNode" presStyleCnt="0">
        <dgm:presLayoutVars>
          <dgm:bulletEnabled val="1"/>
        </dgm:presLayoutVars>
      </dgm:prSet>
      <dgm:spPr/>
    </dgm:pt>
    <dgm:pt modelId="{73D12C89-D53A-4F4C-9515-9E232C21D7C6}" type="pres">
      <dgm:prSet presAssocID="{5687DF50-18C4-4928-BBC0-44BF0DB0B204}" presName="bgRect" presStyleLbl="bgAccFollowNode1" presStyleIdx="0" presStyleCnt="2"/>
      <dgm:spPr/>
    </dgm:pt>
    <dgm:pt modelId="{D347DAF4-7135-4F31-BCA1-0FFCCCC9EB89}" type="pres">
      <dgm:prSet presAssocID="{A6AB9B0E-6347-408A-BA72-D8959D848655}" presName="sibTransNodeCircle" presStyleLbl="alignNode1" presStyleIdx="0" presStyleCnt="4">
        <dgm:presLayoutVars>
          <dgm:chMax val="0"/>
          <dgm:bulletEnabled/>
        </dgm:presLayoutVars>
      </dgm:prSet>
      <dgm:spPr/>
    </dgm:pt>
    <dgm:pt modelId="{407672B9-F5EC-45EE-BF8D-35003B46A00B}" type="pres">
      <dgm:prSet presAssocID="{5687DF50-18C4-4928-BBC0-44BF0DB0B204}" presName="bottomLine" presStyleLbl="alignNode1" presStyleIdx="1" presStyleCnt="4">
        <dgm:presLayoutVars/>
      </dgm:prSet>
      <dgm:spPr/>
    </dgm:pt>
    <dgm:pt modelId="{88D24AB7-01F6-4146-80A2-BB82F6F9BC2D}" type="pres">
      <dgm:prSet presAssocID="{5687DF50-18C4-4928-BBC0-44BF0DB0B204}" presName="nodeText" presStyleLbl="bgAccFollowNode1" presStyleIdx="0" presStyleCnt="2">
        <dgm:presLayoutVars>
          <dgm:bulletEnabled val="1"/>
        </dgm:presLayoutVars>
      </dgm:prSet>
      <dgm:spPr/>
    </dgm:pt>
    <dgm:pt modelId="{464F10AB-7284-438F-8493-A0C100961E5E}" type="pres">
      <dgm:prSet presAssocID="{A6AB9B0E-6347-408A-BA72-D8959D848655}" presName="sibTrans" presStyleCnt="0"/>
      <dgm:spPr/>
    </dgm:pt>
    <dgm:pt modelId="{0E275859-E457-4319-9A8D-693B0757FA59}" type="pres">
      <dgm:prSet presAssocID="{F1B4A9DB-8853-4AFA-A227-F933D46C870B}" presName="compositeNode" presStyleCnt="0">
        <dgm:presLayoutVars>
          <dgm:bulletEnabled val="1"/>
        </dgm:presLayoutVars>
      </dgm:prSet>
      <dgm:spPr/>
    </dgm:pt>
    <dgm:pt modelId="{69D90D71-CA56-437B-8D88-BEF935E0E85E}" type="pres">
      <dgm:prSet presAssocID="{F1B4A9DB-8853-4AFA-A227-F933D46C870B}" presName="bgRect" presStyleLbl="bgAccFollowNode1" presStyleIdx="1" presStyleCnt="2"/>
      <dgm:spPr/>
    </dgm:pt>
    <dgm:pt modelId="{ECCB1001-9B09-4CF5-9549-0824896052A1}" type="pres">
      <dgm:prSet presAssocID="{53AD2C8E-1088-4284-B179-BB7AC837AD82}" presName="sibTransNodeCircle" presStyleLbl="alignNode1" presStyleIdx="2" presStyleCnt="4">
        <dgm:presLayoutVars>
          <dgm:chMax val="0"/>
          <dgm:bulletEnabled/>
        </dgm:presLayoutVars>
      </dgm:prSet>
      <dgm:spPr/>
    </dgm:pt>
    <dgm:pt modelId="{F6DD6310-EE7A-43F6-BC70-7677D94C6ACF}" type="pres">
      <dgm:prSet presAssocID="{F1B4A9DB-8853-4AFA-A227-F933D46C870B}" presName="bottomLine" presStyleLbl="alignNode1" presStyleIdx="3" presStyleCnt="4">
        <dgm:presLayoutVars/>
      </dgm:prSet>
      <dgm:spPr/>
    </dgm:pt>
    <dgm:pt modelId="{1857DC3A-C810-41EF-A753-014BECAF6828}" type="pres">
      <dgm:prSet presAssocID="{F1B4A9DB-8853-4AFA-A227-F933D46C870B}" presName="nodeText" presStyleLbl="bgAccFollowNode1" presStyleIdx="1" presStyleCnt="2">
        <dgm:presLayoutVars>
          <dgm:bulletEnabled val="1"/>
        </dgm:presLayoutVars>
      </dgm:prSet>
      <dgm:spPr/>
    </dgm:pt>
  </dgm:ptLst>
  <dgm:cxnLst>
    <dgm:cxn modelId="{60D1D803-37F3-4384-8C42-992ED4D86E34}" type="presOf" srcId="{5687DF50-18C4-4928-BBC0-44BF0DB0B204}" destId="{88D24AB7-01F6-4146-80A2-BB82F6F9BC2D}" srcOrd="1" destOrd="0" presId="urn:microsoft.com/office/officeart/2016/7/layout/BasicLinearProcessNumbered"/>
    <dgm:cxn modelId="{AB6DD61B-A0CB-4E03-A2CE-7ED7320B1590}" type="presOf" srcId="{8486D2D4-D6B7-4F47-A602-AA48FE28D6D6}" destId="{1857DC3A-C810-41EF-A753-014BECAF6828}" srcOrd="0" destOrd="1" presId="urn:microsoft.com/office/officeart/2016/7/layout/BasicLinearProcessNumbered"/>
    <dgm:cxn modelId="{B926B538-FFF4-45C3-9F71-C854F330D71F}" srcId="{8A8B861D-1D0F-4214-88BC-89B9A9E715D8}" destId="{5687DF50-18C4-4928-BBC0-44BF0DB0B204}" srcOrd="0" destOrd="0" parTransId="{4A74D2D0-80F2-4107-9705-DDE4E3BACB0B}" sibTransId="{A6AB9B0E-6347-408A-BA72-D8959D848655}"/>
    <dgm:cxn modelId="{81E9CB39-BAD9-490D-BE58-8BC684016F85}" type="presOf" srcId="{F1B4A9DB-8853-4AFA-A227-F933D46C870B}" destId="{69D90D71-CA56-437B-8D88-BEF935E0E85E}" srcOrd="0" destOrd="0" presId="urn:microsoft.com/office/officeart/2016/7/layout/BasicLinearProcessNumbered"/>
    <dgm:cxn modelId="{3A33C43C-A2EE-4DED-AA14-3C38D09F2621}" type="presOf" srcId="{A6AB9B0E-6347-408A-BA72-D8959D848655}" destId="{D347DAF4-7135-4F31-BCA1-0FFCCCC9EB89}" srcOrd="0" destOrd="0" presId="urn:microsoft.com/office/officeart/2016/7/layout/BasicLinearProcessNumbered"/>
    <dgm:cxn modelId="{F9963987-8437-4CE1-A80B-14A13E8B5849}" srcId="{8A8B861D-1D0F-4214-88BC-89B9A9E715D8}" destId="{F1B4A9DB-8853-4AFA-A227-F933D46C870B}" srcOrd="1" destOrd="0" parTransId="{D9D3F722-3F18-4F14-B427-005917FFD1C7}" sibTransId="{53AD2C8E-1088-4284-B179-BB7AC837AD82}"/>
    <dgm:cxn modelId="{4CEA519A-5104-4004-BB91-9378594004BC}" type="presOf" srcId="{53AD2C8E-1088-4284-B179-BB7AC837AD82}" destId="{ECCB1001-9B09-4CF5-9549-0824896052A1}" srcOrd="0" destOrd="0" presId="urn:microsoft.com/office/officeart/2016/7/layout/BasicLinearProcessNumbered"/>
    <dgm:cxn modelId="{F1DC53A7-F806-4C48-A44E-8D984B28FBFD}" srcId="{F1B4A9DB-8853-4AFA-A227-F933D46C870B}" destId="{8486D2D4-D6B7-4F47-A602-AA48FE28D6D6}" srcOrd="0" destOrd="0" parTransId="{ECF0D8EE-DF3C-44E0-9309-16F55E976BED}" sibTransId="{0A2791DB-4FC6-4109-AFEA-A991578CC5CE}"/>
    <dgm:cxn modelId="{F07776B1-E71D-4DEB-BDF2-50EC0F25326B}" type="presOf" srcId="{5687DF50-18C4-4928-BBC0-44BF0DB0B204}" destId="{73D12C89-D53A-4F4C-9515-9E232C21D7C6}" srcOrd="0" destOrd="0" presId="urn:microsoft.com/office/officeart/2016/7/layout/BasicLinearProcessNumbered"/>
    <dgm:cxn modelId="{97BCF5CC-3D9E-43BA-9BEB-335030130C44}" type="presOf" srcId="{F1B4A9DB-8853-4AFA-A227-F933D46C870B}" destId="{1857DC3A-C810-41EF-A753-014BECAF6828}" srcOrd="1" destOrd="0" presId="urn:microsoft.com/office/officeart/2016/7/layout/BasicLinearProcessNumbered"/>
    <dgm:cxn modelId="{7A3CEFEE-A251-41A4-8B85-9C2C5B6A5BD9}" type="presOf" srcId="{8A8B861D-1D0F-4214-88BC-89B9A9E715D8}" destId="{29A5BC29-519E-4531-B50D-BCC9E38964B9}" srcOrd="0" destOrd="0" presId="urn:microsoft.com/office/officeart/2016/7/layout/BasicLinearProcessNumbered"/>
    <dgm:cxn modelId="{666E249F-EEC2-4FF9-B776-0B4D78243D59}" type="presParOf" srcId="{29A5BC29-519E-4531-B50D-BCC9E38964B9}" destId="{73E471DC-87A5-4814-8C54-63F5BA722FCB}" srcOrd="0" destOrd="0" presId="urn:microsoft.com/office/officeart/2016/7/layout/BasicLinearProcessNumbered"/>
    <dgm:cxn modelId="{87924727-8A7E-4112-AA20-1570B113EDFF}" type="presParOf" srcId="{73E471DC-87A5-4814-8C54-63F5BA722FCB}" destId="{73D12C89-D53A-4F4C-9515-9E232C21D7C6}" srcOrd="0" destOrd="0" presId="urn:microsoft.com/office/officeart/2016/7/layout/BasicLinearProcessNumbered"/>
    <dgm:cxn modelId="{7AAD64B0-A5BD-4709-9E2F-00ECB7C9F7A9}" type="presParOf" srcId="{73E471DC-87A5-4814-8C54-63F5BA722FCB}" destId="{D347DAF4-7135-4F31-BCA1-0FFCCCC9EB89}" srcOrd="1" destOrd="0" presId="urn:microsoft.com/office/officeart/2016/7/layout/BasicLinearProcessNumbered"/>
    <dgm:cxn modelId="{20B07F69-62F6-4288-8991-C4DB65013CBF}" type="presParOf" srcId="{73E471DC-87A5-4814-8C54-63F5BA722FCB}" destId="{407672B9-F5EC-45EE-BF8D-35003B46A00B}" srcOrd="2" destOrd="0" presId="urn:microsoft.com/office/officeart/2016/7/layout/BasicLinearProcessNumbered"/>
    <dgm:cxn modelId="{31BF1035-0E1E-48E2-BD2F-205C5783FA94}" type="presParOf" srcId="{73E471DC-87A5-4814-8C54-63F5BA722FCB}" destId="{88D24AB7-01F6-4146-80A2-BB82F6F9BC2D}" srcOrd="3" destOrd="0" presId="urn:microsoft.com/office/officeart/2016/7/layout/BasicLinearProcessNumbered"/>
    <dgm:cxn modelId="{E1184A03-6191-400D-A21B-82FACADDAC09}" type="presParOf" srcId="{29A5BC29-519E-4531-B50D-BCC9E38964B9}" destId="{464F10AB-7284-438F-8493-A0C100961E5E}" srcOrd="1" destOrd="0" presId="urn:microsoft.com/office/officeart/2016/7/layout/BasicLinearProcessNumbered"/>
    <dgm:cxn modelId="{B58FEE19-B1CB-4871-BBB2-DB81AA93587A}" type="presParOf" srcId="{29A5BC29-519E-4531-B50D-BCC9E38964B9}" destId="{0E275859-E457-4319-9A8D-693B0757FA59}" srcOrd="2" destOrd="0" presId="urn:microsoft.com/office/officeart/2016/7/layout/BasicLinearProcessNumbered"/>
    <dgm:cxn modelId="{0A2172FD-F51F-4984-BE7E-2EF74B67F5ED}" type="presParOf" srcId="{0E275859-E457-4319-9A8D-693B0757FA59}" destId="{69D90D71-CA56-437B-8D88-BEF935E0E85E}" srcOrd="0" destOrd="0" presId="urn:microsoft.com/office/officeart/2016/7/layout/BasicLinearProcessNumbered"/>
    <dgm:cxn modelId="{2072C55E-9E1C-4619-B86C-21B2857249AF}" type="presParOf" srcId="{0E275859-E457-4319-9A8D-693B0757FA59}" destId="{ECCB1001-9B09-4CF5-9549-0824896052A1}" srcOrd="1" destOrd="0" presId="urn:microsoft.com/office/officeart/2016/7/layout/BasicLinearProcessNumbered"/>
    <dgm:cxn modelId="{3A6BA056-4864-403C-8FA4-9E08C28ECCE4}" type="presParOf" srcId="{0E275859-E457-4319-9A8D-693B0757FA59}" destId="{F6DD6310-EE7A-43F6-BC70-7677D94C6ACF}" srcOrd="2" destOrd="0" presId="urn:microsoft.com/office/officeart/2016/7/layout/BasicLinearProcessNumbered"/>
    <dgm:cxn modelId="{15EA06AF-5E36-4D10-8C50-8361CAA410AA}" type="presParOf" srcId="{0E275859-E457-4319-9A8D-693B0757FA59}" destId="{1857DC3A-C810-41EF-A753-014BECAF6828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240414E-A937-44A6-818E-250D995089C4}" type="doc">
      <dgm:prSet loTypeId="urn:microsoft.com/office/officeart/2005/8/layout/matrix1" loCatId="matrix" qsTypeId="urn:microsoft.com/office/officeart/2005/8/quickstyle/simple2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73BF7D8C-8F59-42E4-B933-ACCAD91647EF}">
      <dgm:prSet phldrT="[Text]"/>
      <dgm:spPr/>
      <dgm:t>
        <a:bodyPr/>
        <a:lstStyle/>
        <a:p>
          <a:r>
            <a:rPr lang="en-US"/>
            <a:t>Why to Plan</a:t>
          </a:r>
        </a:p>
      </dgm:t>
    </dgm:pt>
    <dgm:pt modelId="{62EEBA8E-EFA0-4AD4-9883-39F765F1267C}" type="parTrans" cxnId="{1CB9A4E3-CF4F-4198-99CD-F1AF24A84D70}">
      <dgm:prSet/>
      <dgm:spPr/>
      <dgm:t>
        <a:bodyPr/>
        <a:lstStyle/>
        <a:p>
          <a:endParaRPr lang="en-US"/>
        </a:p>
      </dgm:t>
    </dgm:pt>
    <dgm:pt modelId="{C3D3E3E9-5887-44DD-B3B3-188C56C30626}" type="sibTrans" cxnId="{1CB9A4E3-CF4F-4198-99CD-F1AF24A84D70}">
      <dgm:prSet/>
      <dgm:spPr/>
      <dgm:t>
        <a:bodyPr/>
        <a:lstStyle/>
        <a:p>
          <a:endParaRPr lang="en-US"/>
        </a:p>
      </dgm:t>
    </dgm:pt>
    <dgm:pt modelId="{56502658-0E98-4519-B9C9-E54E36B94AC2}">
      <dgm:prSet phldrT="[Text]"/>
      <dgm:spPr/>
      <dgm:t>
        <a:bodyPr/>
        <a:lstStyle/>
        <a:p>
          <a:r>
            <a:rPr lang="en-US" dirty="0"/>
            <a:t>Provides Direction</a:t>
          </a:r>
        </a:p>
      </dgm:t>
    </dgm:pt>
    <dgm:pt modelId="{AB6CE8F4-7DCB-4B0C-B43F-7B925BBF758D}" type="parTrans" cxnId="{49CBD898-9B10-4D1F-AC7A-9AE32A866C6A}">
      <dgm:prSet/>
      <dgm:spPr/>
      <dgm:t>
        <a:bodyPr/>
        <a:lstStyle/>
        <a:p>
          <a:endParaRPr lang="en-US"/>
        </a:p>
      </dgm:t>
    </dgm:pt>
    <dgm:pt modelId="{AB928AB9-FBC6-4F5D-AB0F-5B62B1F64420}" type="sibTrans" cxnId="{49CBD898-9B10-4D1F-AC7A-9AE32A866C6A}">
      <dgm:prSet/>
      <dgm:spPr/>
      <dgm:t>
        <a:bodyPr/>
        <a:lstStyle/>
        <a:p>
          <a:endParaRPr lang="en-US"/>
        </a:p>
      </dgm:t>
    </dgm:pt>
    <dgm:pt modelId="{1C49213A-3875-4F8D-880D-75F2498383C9}">
      <dgm:prSet phldrT="[Text]"/>
      <dgm:spPr/>
      <dgm:t>
        <a:bodyPr/>
        <a:lstStyle/>
        <a:p>
          <a:r>
            <a:rPr lang="en-US" dirty="0"/>
            <a:t>Reduces uncertainty</a:t>
          </a:r>
        </a:p>
      </dgm:t>
    </dgm:pt>
    <dgm:pt modelId="{57BBAF87-AA24-4855-9BB1-D46DB50BF456}" type="parTrans" cxnId="{F48CA337-36B0-4E63-AB3F-55FA879AD488}">
      <dgm:prSet/>
      <dgm:spPr/>
      <dgm:t>
        <a:bodyPr/>
        <a:lstStyle/>
        <a:p>
          <a:endParaRPr lang="en-US"/>
        </a:p>
      </dgm:t>
    </dgm:pt>
    <dgm:pt modelId="{77837EA9-6EA6-41A4-BA9F-E0F9E4FC3E70}" type="sibTrans" cxnId="{F48CA337-36B0-4E63-AB3F-55FA879AD488}">
      <dgm:prSet/>
      <dgm:spPr/>
      <dgm:t>
        <a:bodyPr/>
        <a:lstStyle/>
        <a:p>
          <a:endParaRPr lang="en-US"/>
        </a:p>
      </dgm:t>
    </dgm:pt>
    <dgm:pt modelId="{3AF55A21-C414-452A-AB7B-01C5878D4686}">
      <dgm:prSet phldrT="[Text]"/>
      <dgm:spPr/>
      <dgm:t>
        <a:bodyPr/>
        <a:lstStyle/>
        <a:p>
          <a:r>
            <a:rPr lang="en-US" dirty="0"/>
            <a:t>Minimizes waste and redundancy</a:t>
          </a:r>
        </a:p>
      </dgm:t>
    </dgm:pt>
    <dgm:pt modelId="{0B678740-C4BE-41C9-A458-09263FF020B1}" type="parTrans" cxnId="{9B893050-625D-4F92-827C-CA9D71A1F13F}">
      <dgm:prSet/>
      <dgm:spPr/>
      <dgm:t>
        <a:bodyPr/>
        <a:lstStyle/>
        <a:p>
          <a:endParaRPr lang="en-US"/>
        </a:p>
      </dgm:t>
    </dgm:pt>
    <dgm:pt modelId="{A3297989-7B5E-47E6-BC84-4294BBD39427}" type="sibTrans" cxnId="{9B893050-625D-4F92-827C-CA9D71A1F13F}">
      <dgm:prSet/>
      <dgm:spPr/>
      <dgm:t>
        <a:bodyPr/>
        <a:lstStyle/>
        <a:p>
          <a:endParaRPr lang="en-US"/>
        </a:p>
      </dgm:t>
    </dgm:pt>
    <dgm:pt modelId="{5CF3BE6A-AAB9-4D69-B9FE-D3DD046DA83B}">
      <dgm:prSet phldrT="[Text]"/>
      <dgm:spPr/>
      <dgm:t>
        <a:bodyPr/>
        <a:lstStyle/>
        <a:p>
          <a:r>
            <a:rPr lang="en-US" dirty="0"/>
            <a:t>Establishes the goals or standards used in controlling</a:t>
          </a:r>
        </a:p>
      </dgm:t>
    </dgm:pt>
    <dgm:pt modelId="{AA68B123-03D6-4E33-A09C-D4C89CE90780}" type="parTrans" cxnId="{068362AC-1B11-4AE3-BF95-F112C39CD9A5}">
      <dgm:prSet/>
      <dgm:spPr/>
      <dgm:t>
        <a:bodyPr/>
        <a:lstStyle/>
        <a:p>
          <a:endParaRPr lang="en-US"/>
        </a:p>
      </dgm:t>
    </dgm:pt>
    <dgm:pt modelId="{ACEC3A76-7935-4DC0-A717-AA47101D40DA}" type="sibTrans" cxnId="{068362AC-1B11-4AE3-BF95-F112C39CD9A5}">
      <dgm:prSet/>
      <dgm:spPr/>
      <dgm:t>
        <a:bodyPr/>
        <a:lstStyle/>
        <a:p>
          <a:endParaRPr lang="en-US"/>
        </a:p>
      </dgm:t>
    </dgm:pt>
    <dgm:pt modelId="{C1129EE6-FEF9-4E88-A9A4-39349D70F920}" type="pres">
      <dgm:prSet presAssocID="{7240414E-A937-44A6-818E-250D995089C4}" presName="diagram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0FDF9250-5FAE-4B3C-8C15-C77076E3BFBB}" type="pres">
      <dgm:prSet presAssocID="{7240414E-A937-44A6-818E-250D995089C4}" presName="matrix" presStyleCnt="0"/>
      <dgm:spPr/>
    </dgm:pt>
    <dgm:pt modelId="{14F6AFBC-7D50-4924-B463-163EF200569F}" type="pres">
      <dgm:prSet presAssocID="{7240414E-A937-44A6-818E-250D995089C4}" presName="tile1" presStyleLbl="node1" presStyleIdx="0" presStyleCnt="4"/>
      <dgm:spPr/>
    </dgm:pt>
    <dgm:pt modelId="{0D619678-6FDB-4C26-9CD4-3EF18DD880CD}" type="pres">
      <dgm:prSet presAssocID="{7240414E-A937-44A6-818E-250D995089C4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E6C86D88-D0F7-4CD6-B6BF-34983AB98064}" type="pres">
      <dgm:prSet presAssocID="{7240414E-A937-44A6-818E-250D995089C4}" presName="tile2" presStyleLbl="node1" presStyleIdx="1" presStyleCnt="4"/>
      <dgm:spPr/>
    </dgm:pt>
    <dgm:pt modelId="{25079C06-2763-4420-B39C-959A1049C32A}" type="pres">
      <dgm:prSet presAssocID="{7240414E-A937-44A6-818E-250D995089C4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768C5EF-D01D-4087-ACA5-DCBA0AB46767}" type="pres">
      <dgm:prSet presAssocID="{7240414E-A937-44A6-818E-250D995089C4}" presName="tile3" presStyleLbl="node1" presStyleIdx="2" presStyleCnt="4"/>
      <dgm:spPr/>
    </dgm:pt>
    <dgm:pt modelId="{999C9B4F-CB58-4F02-958D-FB3816CB347B}" type="pres">
      <dgm:prSet presAssocID="{7240414E-A937-44A6-818E-250D995089C4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2A95D6E8-6D60-4E8E-8CE4-4F750A0619A3}" type="pres">
      <dgm:prSet presAssocID="{7240414E-A937-44A6-818E-250D995089C4}" presName="tile4" presStyleLbl="node1" presStyleIdx="3" presStyleCnt="4"/>
      <dgm:spPr/>
    </dgm:pt>
    <dgm:pt modelId="{1F10103E-88C4-4F91-833F-E9EB81273B9F}" type="pres">
      <dgm:prSet presAssocID="{7240414E-A937-44A6-818E-250D995089C4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C0C2D3FC-F0C4-4F78-A577-C88BAC664F26}" type="pres">
      <dgm:prSet presAssocID="{7240414E-A937-44A6-818E-250D995089C4}" presName="centerTile" presStyleLbl="fgShp" presStyleIdx="0" presStyleCnt="1">
        <dgm:presLayoutVars>
          <dgm:chMax val="0"/>
          <dgm:chPref val="0"/>
        </dgm:presLayoutVars>
      </dgm:prSet>
      <dgm:spPr/>
    </dgm:pt>
  </dgm:ptLst>
  <dgm:cxnLst>
    <dgm:cxn modelId="{03A2E700-0472-447F-A7DD-212A4CF69756}" type="presOf" srcId="{73BF7D8C-8F59-42E4-B933-ACCAD91647EF}" destId="{C0C2D3FC-F0C4-4F78-A577-C88BAC664F26}" srcOrd="0" destOrd="0" presId="urn:microsoft.com/office/officeart/2005/8/layout/matrix1"/>
    <dgm:cxn modelId="{B01A6210-0924-469B-9163-5949CF9149CA}" type="presOf" srcId="{3AF55A21-C414-452A-AB7B-01C5878D4686}" destId="{999C9B4F-CB58-4F02-958D-FB3816CB347B}" srcOrd="1" destOrd="0" presId="urn:microsoft.com/office/officeart/2005/8/layout/matrix1"/>
    <dgm:cxn modelId="{1EE4AB28-F0FA-4F24-A233-F7CE179BC780}" type="presOf" srcId="{56502658-0E98-4519-B9C9-E54E36B94AC2}" destId="{14F6AFBC-7D50-4924-B463-163EF200569F}" srcOrd="0" destOrd="0" presId="urn:microsoft.com/office/officeart/2005/8/layout/matrix1"/>
    <dgm:cxn modelId="{F48CA337-36B0-4E63-AB3F-55FA879AD488}" srcId="{73BF7D8C-8F59-42E4-B933-ACCAD91647EF}" destId="{1C49213A-3875-4F8D-880D-75F2498383C9}" srcOrd="1" destOrd="0" parTransId="{57BBAF87-AA24-4855-9BB1-D46DB50BF456}" sibTransId="{77837EA9-6EA6-41A4-BA9F-E0F9E4FC3E70}"/>
    <dgm:cxn modelId="{9B893050-625D-4F92-827C-CA9D71A1F13F}" srcId="{73BF7D8C-8F59-42E4-B933-ACCAD91647EF}" destId="{3AF55A21-C414-452A-AB7B-01C5878D4686}" srcOrd="2" destOrd="0" parTransId="{0B678740-C4BE-41C9-A458-09263FF020B1}" sibTransId="{A3297989-7B5E-47E6-BC84-4294BBD39427}"/>
    <dgm:cxn modelId="{AA9A8E56-4B55-4A3E-A29C-1BEA696CA23E}" type="presOf" srcId="{1C49213A-3875-4F8D-880D-75F2498383C9}" destId="{25079C06-2763-4420-B39C-959A1049C32A}" srcOrd="1" destOrd="0" presId="urn:microsoft.com/office/officeart/2005/8/layout/matrix1"/>
    <dgm:cxn modelId="{49CBD898-9B10-4D1F-AC7A-9AE32A866C6A}" srcId="{73BF7D8C-8F59-42E4-B933-ACCAD91647EF}" destId="{56502658-0E98-4519-B9C9-E54E36B94AC2}" srcOrd="0" destOrd="0" parTransId="{AB6CE8F4-7DCB-4B0C-B43F-7B925BBF758D}" sibTransId="{AB928AB9-FBC6-4F5D-AB0F-5B62B1F64420}"/>
    <dgm:cxn modelId="{EEFDFE9F-9610-4CD6-ADE1-4E906C9B5BD7}" type="presOf" srcId="{5CF3BE6A-AAB9-4D69-B9FE-D3DD046DA83B}" destId="{2A95D6E8-6D60-4E8E-8CE4-4F750A0619A3}" srcOrd="0" destOrd="0" presId="urn:microsoft.com/office/officeart/2005/8/layout/matrix1"/>
    <dgm:cxn modelId="{068362AC-1B11-4AE3-BF95-F112C39CD9A5}" srcId="{73BF7D8C-8F59-42E4-B933-ACCAD91647EF}" destId="{5CF3BE6A-AAB9-4D69-B9FE-D3DD046DA83B}" srcOrd="3" destOrd="0" parTransId="{AA68B123-03D6-4E33-A09C-D4C89CE90780}" sibTransId="{ACEC3A76-7935-4DC0-A717-AA47101D40DA}"/>
    <dgm:cxn modelId="{9E8239B6-1D42-4EE2-AA4F-F0A78594BDEE}" type="presOf" srcId="{5CF3BE6A-AAB9-4D69-B9FE-D3DD046DA83B}" destId="{1F10103E-88C4-4F91-833F-E9EB81273B9F}" srcOrd="1" destOrd="0" presId="urn:microsoft.com/office/officeart/2005/8/layout/matrix1"/>
    <dgm:cxn modelId="{A28EA9CE-B0FA-47B6-851C-3996137E424F}" type="presOf" srcId="{1C49213A-3875-4F8D-880D-75F2498383C9}" destId="{E6C86D88-D0F7-4CD6-B6BF-34983AB98064}" srcOrd="0" destOrd="0" presId="urn:microsoft.com/office/officeart/2005/8/layout/matrix1"/>
    <dgm:cxn modelId="{1A5B9DCF-87FC-4C33-855A-2D8EF8C6A3A5}" type="presOf" srcId="{3AF55A21-C414-452A-AB7B-01C5878D4686}" destId="{5768C5EF-D01D-4087-ACA5-DCBA0AB46767}" srcOrd="0" destOrd="0" presId="urn:microsoft.com/office/officeart/2005/8/layout/matrix1"/>
    <dgm:cxn modelId="{29A13EDC-047A-43AA-A5A0-A45F0E1C8EC6}" type="presOf" srcId="{56502658-0E98-4519-B9C9-E54E36B94AC2}" destId="{0D619678-6FDB-4C26-9CD4-3EF18DD880CD}" srcOrd="1" destOrd="0" presId="urn:microsoft.com/office/officeart/2005/8/layout/matrix1"/>
    <dgm:cxn modelId="{1CB9A4E3-CF4F-4198-99CD-F1AF24A84D70}" srcId="{7240414E-A937-44A6-818E-250D995089C4}" destId="{73BF7D8C-8F59-42E4-B933-ACCAD91647EF}" srcOrd="0" destOrd="0" parTransId="{62EEBA8E-EFA0-4AD4-9883-39F765F1267C}" sibTransId="{C3D3E3E9-5887-44DD-B3B3-188C56C30626}"/>
    <dgm:cxn modelId="{D8E581EF-2B56-4FA4-BC13-EAB3679FB02E}" type="presOf" srcId="{7240414E-A937-44A6-818E-250D995089C4}" destId="{C1129EE6-FEF9-4E88-A9A4-39349D70F920}" srcOrd="0" destOrd="0" presId="urn:microsoft.com/office/officeart/2005/8/layout/matrix1"/>
    <dgm:cxn modelId="{36207870-6371-4A59-B118-C4B4CBAC83DC}" type="presParOf" srcId="{C1129EE6-FEF9-4E88-A9A4-39349D70F920}" destId="{0FDF9250-5FAE-4B3C-8C15-C77076E3BFBB}" srcOrd="0" destOrd="0" presId="urn:microsoft.com/office/officeart/2005/8/layout/matrix1"/>
    <dgm:cxn modelId="{66619080-AD5F-42D7-BC68-E738AFBFE6AC}" type="presParOf" srcId="{0FDF9250-5FAE-4B3C-8C15-C77076E3BFBB}" destId="{14F6AFBC-7D50-4924-B463-163EF200569F}" srcOrd="0" destOrd="0" presId="urn:microsoft.com/office/officeart/2005/8/layout/matrix1"/>
    <dgm:cxn modelId="{1F12C798-B016-40CF-8CEC-54E6CB5E4194}" type="presParOf" srcId="{0FDF9250-5FAE-4B3C-8C15-C77076E3BFBB}" destId="{0D619678-6FDB-4C26-9CD4-3EF18DD880CD}" srcOrd="1" destOrd="0" presId="urn:microsoft.com/office/officeart/2005/8/layout/matrix1"/>
    <dgm:cxn modelId="{2FF06DD0-33E0-4465-B949-5C650C28FE06}" type="presParOf" srcId="{0FDF9250-5FAE-4B3C-8C15-C77076E3BFBB}" destId="{E6C86D88-D0F7-4CD6-B6BF-34983AB98064}" srcOrd="2" destOrd="0" presId="urn:microsoft.com/office/officeart/2005/8/layout/matrix1"/>
    <dgm:cxn modelId="{DD274D48-3723-4C1C-80AE-7F4A4A1BC299}" type="presParOf" srcId="{0FDF9250-5FAE-4B3C-8C15-C77076E3BFBB}" destId="{25079C06-2763-4420-B39C-959A1049C32A}" srcOrd="3" destOrd="0" presId="urn:microsoft.com/office/officeart/2005/8/layout/matrix1"/>
    <dgm:cxn modelId="{17155090-7DBE-4BA4-B760-FF826DCCD345}" type="presParOf" srcId="{0FDF9250-5FAE-4B3C-8C15-C77076E3BFBB}" destId="{5768C5EF-D01D-4087-ACA5-DCBA0AB46767}" srcOrd="4" destOrd="0" presId="urn:microsoft.com/office/officeart/2005/8/layout/matrix1"/>
    <dgm:cxn modelId="{65BFD359-8D26-4367-86A9-25876F8A4CA3}" type="presParOf" srcId="{0FDF9250-5FAE-4B3C-8C15-C77076E3BFBB}" destId="{999C9B4F-CB58-4F02-958D-FB3816CB347B}" srcOrd="5" destOrd="0" presId="urn:microsoft.com/office/officeart/2005/8/layout/matrix1"/>
    <dgm:cxn modelId="{F8041C5B-58CE-404B-AF25-20ACF4F15634}" type="presParOf" srcId="{0FDF9250-5FAE-4B3C-8C15-C77076E3BFBB}" destId="{2A95D6E8-6D60-4E8E-8CE4-4F750A0619A3}" srcOrd="6" destOrd="0" presId="urn:microsoft.com/office/officeart/2005/8/layout/matrix1"/>
    <dgm:cxn modelId="{4A7D15F6-0FC2-4346-BF78-0463E0B83622}" type="presParOf" srcId="{0FDF9250-5FAE-4B3C-8C15-C77076E3BFBB}" destId="{1F10103E-88C4-4F91-833F-E9EB81273B9F}" srcOrd="7" destOrd="0" presId="urn:microsoft.com/office/officeart/2005/8/layout/matrix1"/>
    <dgm:cxn modelId="{34BD2D0D-BF17-431F-9937-B290DF070EA0}" type="presParOf" srcId="{C1129EE6-FEF9-4E88-A9A4-39349D70F920}" destId="{C0C2D3FC-F0C4-4F78-A577-C88BAC664F26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8F14C73-93A4-4E7D-9C7E-5FCBC3A72CDD}" type="doc">
      <dgm:prSet loTypeId="urn:microsoft.com/office/officeart/2005/8/layout/hierarchy1" loCatId="hierarchy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8FC2C1A-56F0-429C-BBDC-0DE94A5B0CD0}">
      <dgm:prSet/>
      <dgm:spPr/>
      <dgm:t>
        <a:bodyPr/>
        <a:lstStyle/>
        <a:p>
          <a:r>
            <a:rPr lang="en-US"/>
            <a:t>“One plan can be used at every place.”</a:t>
          </a:r>
        </a:p>
      </dgm:t>
    </dgm:pt>
    <dgm:pt modelId="{A494016A-817D-498C-B8FC-CAF499D7E3DD}" type="parTrans" cxnId="{843B1BE8-4E3B-46C4-804F-CD8451054490}">
      <dgm:prSet/>
      <dgm:spPr/>
      <dgm:t>
        <a:bodyPr/>
        <a:lstStyle/>
        <a:p>
          <a:endParaRPr lang="en-US"/>
        </a:p>
      </dgm:t>
    </dgm:pt>
    <dgm:pt modelId="{1E1AAE85-F874-43E0-AD39-63A398AEF78F}" type="sibTrans" cxnId="{843B1BE8-4E3B-46C4-804F-CD8451054490}">
      <dgm:prSet/>
      <dgm:spPr/>
      <dgm:t>
        <a:bodyPr/>
        <a:lstStyle/>
        <a:p>
          <a:endParaRPr lang="en-US"/>
        </a:p>
      </dgm:t>
    </dgm:pt>
    <dgm:pt modelId="{0865C15A-6D01-434A-A319-93091619EA17}">
      <dgm:prSet/>
      <dgm:spPr/>
      <dgm:t>
        <a:bodyPr/>
        <a:lstStyle/>
        <a:p>
          <a:r>
            <a:rPr lang="en-US"/>
            <a:t>Is this statement correct or need modification?</a:t>
          </a:r>
        </a:p>
      </dgm:t>
    </dgm:pt>
    <dgm:pt modelId="{BF30248B-7379-447D-9BAA-FF2815265FAC}" type="parTrans" cxnId="{292ABDBB-ACD4-410C-86D5-8A2F279860A0}">
      <dgm:prSet/>
      <dgm:spPr/>
      <dgm:t>
        <a:bodyPr/>
        <a:lstStyle/>
        <a:p>
          <a:endParaRPr lang="en-US"/>
        </a:p>
      </dgm:t>
    </dgm:pt>
    <dgm:pt modelId="{E84DE8F3-5BE4-4037-B857-16EFA7AA2827}" type="sibTrans" cxnId="{292ABDBB-ACD4-410C-86D5-8A2F279860A0}">
      <dgm:prSet/>
      <dgm:spPr/>
      <dgm:t>
        <a:bodyPr/>
        <a:lstStyle/>
        <a:p>
          <a:endParaRPr lang="en-US"/>
        </a:p>
      </dgm:t>
    </dgm:pt>
    <dgm:pt modelId="{098D49D0-718F-4A6E-8A73-CF0B31C1BA4A}" type="pres">
      <dgm:prSet presAssocID="{78F14C73-93A4-4E7D-9C7E-5FCBC3A72CD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1AD7A55-73D5-4154-97DB-2CBDD2328DD9}" type="pres">
      <dgm:prSet presAssocID="{58FC2C1A-56F0-429C-BBDC-0DE94A5B0CD0}" presName="hierRoot1" presStyleCnt="0"/>
      <dgm:spPr/>
    </dgm:pt>
    <dgm:pt modelId="{50ABDB26-C82F-4D10-B5BA-ED2E512A25CF}" type="pres">
      <dgm:prSet presAssocID="{58FC2C1A-56F0-429C-BBDC-0DE94A5B0CD0}" presName="composite" presStyleCnt="0"/>
      <dgm:spPr/>
    </dgm:pt>
    <dgm:pt modelId="{75328EC8-5F70-4E47-8A65-B8775986AF0A}" type="pres">
      <dgm:prSet presAssocID="{58FC2C1A-56F0-429C-BBDC-0DE94A5B0CD0}" presName="background" presStyleLbl="node0" presStyleIdx="0" presStyleCnt="2"/>
      <dgm:spPr/>
    </dgm:pt>
    <dgm:pt modelId="{FFC4233D-22C1-47FC-97EF-EAA6FD000072}" type="pres">
      <dgm:prSet presAssocID="{58FC2C1A-56F0-429C-BBDC-0DE94A5B0CD0}" presName="text" presStyleLbl="fgAcc0" presStyleIdx="0" presStyleCnt="2">
        <dgm:presLayoutVars>
          <dgm:chPref val="3"/>
        </dgm:presLayoutVars>
      </dgm:prSet>
      <dgm:spPr/>
    </dgm:pt>
    <dgm:pt modelId="{017C8296-DD25-4B22-A4B0-51F9A04DC42F}" type="pres">
      <dgm:prSet presAssocID="{58FC2C1A-56F0-429C-BBDC-0DE94A5B0CD0}" presName="hierChild2" presStyleCnt="0"/>
      <dgm:spPr/>
    </dgm:pt>
    <dgm:pt modelId="{80A77F40-7BE1-4697-BB2E-C08BA8DE5713}" type="pres">
      <dgm:prSet presAssocID="{0865C15A-6D01-434A-A319-93091619EA17}" presName="hierRoot1" presStyleCnt="0"/>
      <dgm:spPr/>
    </dgm:pt>
    <dgm:pt modelId="{E340D0D9-5436-42AF-AC4A-47A8474012DA}" type="pres">
      <dgm:prSet presAssocID="{0865C15A-6D01-434A-A319-93091619EA17}" presName="composite" presStyleCnt="0"/>
      <dgm:spPr/>
    </dgm:pt>
    <dgm:pt modelId="{D33587FB-2795-4517-A84C-FCAC28BF0C5A}" type="pres">
      <dgm:prSet presAssocID="{0865C15A-6D01-434A-A319-93091619EA17}" presName="background" presStyleLbl="node0" presStyleIdx="1" presStyleCnt="2"/>
      <dgm:spPr/>
    </dgm:pt>
    <dgm:pt modelId="{D19D354F-3A3E-47EB-8D67-FBB900E7F48E}" type="pres">
      <dgm:prSet presAssocID="{0865C15A-6D01-434A-A319-93091619EA17}" presName="text" presStyleLbl="fgAcc0" presStyleIdx="1" presStyleCnt="2">
        <dgm:presLayoutVars>
          <dgm:chPref val="3"/>
        </dgm:presLayoutVars>
      </dgm:prSet>
      <dgm:spPr/>
    </dgm:pt>
    <dgm:pt modelId="{117969C8-7598-4ABC-9293-58F4B6F409C6}" type="pres">
      <dgm:prSet presAssocID="{0865C15A-6D01-434A-A319-93091619EA17}" presName="hierChild2" presStyleCnt="0"/>
      <dgm:spPr/>
    </dgm:pt>
  </dgm:ptLst>
  <dgm:cxnLst>
    <dgm:cxn modelId="{A8FA2B03-720D-4669-BE39-B555DEE40683}" type="presOf" srcId="{78F14C73-93A4-4E7D-9C7E-5FCBC3A72CDD}" destId="{098D49D0-718F-4A6E-8A73-CF0B31C1BA4A}" srcOrd="0" destOrd="0" presId="urn:microsoft.com/office/officeart/2005/8/layout/hierarchy1"/>
    <dgm:cxn modelId="{16E07033-EA09-47B9-9B34-C0E5930532F6}" type="presOf" srcId="{0865C15A-6D01-434A-A319-93091619EA17}" destId="{D19D354F-3A3E-47EB-8D67-FBB900E7F48E}" srcOrd="0" destOrd="0" presId="urn:microsoft.com/office/officeart/2005/8/layout/hierarchy1"/>
    <dgm:cxn modelId="{5150E55B-7A71-4B8F-B999-FC0E41600BD9}" type="presOf" srcId="{58FC2C1A-56F0-429C-BBDC-0DE94A5B0CD0}" destId="{FFC4233D-22C1-47FC-97EF-EAA6FD000072}" srcOrd="0" destOrd="0" presId="urn:microsoft.com/office/officeart/2005/8/layout/hierarchy1"/>
    <dgm:cxn modelId="{292ABDBB-ACD4-410C-86D5-8A2F279860A0}" srcId="{78F14C73-93A4-4E7D-9C7E-5FCBC3A72CDD}" destId="{0865C15A-6D01-434A-A319-93091619EA17}" srcOrd="1" destOrd="0" parTransId="{BF30248B-7379-447D-9BAA-FF2815265FAC}" sibTransId="{E84DE8F3-5BE4-4037-B857-16EFA7AA2827}"/>
    <dgm:cxn modelId="{843B1BE8-4E3B-46C4-804F-CD8451054490}" srcId="{78F14C73-93A4-4E7D-9C7E-5FCBC3A72CDD}" destId="{58FC2C1A-56F0-429C-BBDC-0DE94A5B0CD0}" srcOrd="0" destOrd="0" parTransId="{A494016A-817D-498C-B8FC-CAF499D7E3DD}" sibTransId="{1E1AAE85-F874-43E0-AD39-63A398AEF78F}"/>
    <dgm:cxn modelId="{83F56BAB-B51D-43F2-B952-86083099805D}" type="presParOf" srcId="{098D49D0-718F-4A6E-8A73-CF0B31C1BA4A}" destId="{31AD7A55-73D5-4154-97DB-2CBDD2328DD9}" srcOrd="0" destOrd="0" presId="urn:microsoft.com/office/officeart/2005/8/layout/hierarchy1"/>
    <dgm:cxn modelId="{69C9613B-BBAD-46AA-9374-FAE38370B105}" type="presParOf" srcId="{31AD7A55-73D5-4154-97DB-2CBDD2328DD9}" destId="{50ABDB26-C82F-4D10-B5BA-ED2E512A25CF}" srcOrd="0" destOrd="0" presId="urn:microsoft.com/office/officeart/2005/8/layout/hierarchy1"/>
    <dgm:cxn modelId="{0F9BBC87-F535-4D13-91D7-CDDA2098C087}" type="presParOf" srcId="{50ABDB26-C82F-4D10-B5BA-ED2E512A25CF}" destId="{75328EC8-5F70-4E47-8A65-B8775986AF0A}" srcOrd="0" destOrd="0" presId="urn:microsoft.com/office/officeart/2005/8/layout/hierarchy1"/>
    <dgm:cxn modelId="{9CCEEC0B-982C-4A8B-B61B-8F493BBB645F}" type="presParOf" srcId="{50ABDB26-C82F-4D10-B5BA-ED2E512A25CF}" destId="{FFC4233D-22C1-47FC-97EF-EAA6FD000072}" srcOrd="1" destOrd="0" presId="urn:microsoft.com/office/officeart/2005/8/layout/hierarchy1"/>
    <dgm:cxn modelId="{DE600F78-3587-4C7A-B83E-5A78E9F5C858}" type="presParOf" srcId="{31AD7A55-73D5-4154-97DB-2CBDD2328DD9}" destId="{017C8296-DD25-4B22-A4B0-51F9A04DC42F}" srcOrd="1" destOrd="0" presId="urn:microsoft.com/office/officeart/2005/8/layout/hierarchy1"/>
    <dgm:cxn modelId="{100E3162-1D7C-47B8-8D20-1ACF023E327B}" type="presParOf" srcId="{098D49D0-718F-4A6E-8A73-CF0B31C1BA4A}" destId="{80A77F40-7BE1-4697-BB2E-C08BA8DE5713}" srcOrd="1" destOrd="0" presId="urn:microsoft.com/office/officeart/2005/8/layout/hierarchy1"/>
    <dgm:cxn modelId="{0719B828-7C65-46AB-A420-9FBE82B65E73}" type="presParOf" srcId="{80A77F40-7BE1-4697-BB2E-C08BA8DE5713}" destId="{E340D0D9-5436-42AF-AC4A-47A8474012DA}" srcOrd="0" destOrd="0" presId="urn:microsoft.com/office/officeart/2005/8/layout/hierarchy1"/>
    <dgm:cxn modelId="{F53A4B3B-0CAC-4026-9821-FE39EB922EE9}" type="presParOf" srcId="{E340D0D9-5436-42AF-AC4A-47A8474012DA}" destId="{D33587FB-2795-4517-A84C-FCAC28BF0C5A}" srcOrd="0" destOrd="0" presId="urn:microsoft.com/office/officeart/2005/8/layout/hierarchy1"/>
    <dgm:cxn modelId="{9A78F75D-734E-429A-A457-69D852FD68B5}" type="presParOf" srcId="{E340D0D9-5436-42AF-AC4A-47A8474012DA}" destId="{D19D354F-3A3E-47EB-8D67-FBB900E7F48E}" srcOrd="1" destOrd="0" presId="urn:microsoft.com/office/officeart/2005/8/layout/hierarchy1"/>
    <dgm:cxn modelId="{9436BD3C-7108-4BF0-9779-22555976A7F0}" type="presParOf" srcId="{80A77F40-7BE1-4697-BB2E-C08BA8DE5713}" destId="{117969C8-7598-4ABC-9293-58F4B6F409C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CE2EF66-813F-4A15-BF42-9799C0FC89C7}" type="doc">
      <dgm:prSet loTypeId="urn:microsoft.com/office/officeart/2005/8/layout/hierarchy1" loCatId="hierarchy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EFE5456-6A50-494E-8CDF-95119CB339BE}">
      <dgm:prSet/>
      <dgm:spPr/>
      <dgm:t>
        <a:bodyPr/>
        <a:lstStyle/>
        <a:p>
          <a:r>
            <a:rPr lang="en-US"/>
            <a:t>Strategic Planning is about being </a:t>
          </a:r>
          <a:r>
            <a:rPr lang="en-US" b="1"/>
            <a:t>different.</a:t>
          </a:r>
          <a:endParaRPr lang="en-US"/>
        </a:p>
      </dgm:t>
    </dgm:pt>
    <dgm:pt modelId="{DDC7BE91-3169-400F-AB9C-EC856E9F0EA3}" type="parTrans" cxnId="{37F44511-5496-454F-897B-0E881DC8ECDE}">
      <dgm:prSet/>
      <dgm:spPr/>
      <dgm:t>
        <a:bodyPr/>
        <a:lstStyle/>
        <a:p>
          <a:endParaRPr lang="en-US"/>
        </a:p>
      </dgm:t>
    </dgm:pt>
    <dgm:pt modelId="{5E6A3D2D-FB1F-4954-8FEF-6207C00AD159}" type="sibTrans" cxnId="{37F44511-5496-454F-897B-0E881DC8ECDE}">
      <dgm:prSet/>
      <dgm:spPr/>
      <dgm:t>
        <a:bodyPr/>
        <a:lstStyle/>
        <a:p>
          <a:endParaRPr lang="en-US"/>
        </a:p>
      </dgm:t>
    </dgm:pt>
    <dgm:pt modelId="{CDAE92C7-FD5B-47A9-868E-98CED77AD6A1}">
      <dgm:prSet/>
      <dgm:spPr/>
      <dgm:t>
        <a:bodyPr/>
        <a:lstStyle/>
        <a:p>
          <a:r>
            <a:rPr lang="en-IN"/>
            <a:t>Operational Planning is about being </a:t>
          </a:r>
          <a:r>
            <a:rPr lang="en-IN" b="1"/>
            <a:t>better</a:t>
          </a:r>
          <a:r>
            <a:rPr lang="en-IN"/>
            <a:t>.</a:t>
          </a:r>
          <a:endParaRPr lang="en-US"/>
        </a:p>
      </dgm:t>
    </dgm:pt>
    <dgm:pt modelId="{6A653B03-6E07-4750-8684-DF3F884875ED}" type="parTrans" cxnId="{B92F8F5C-7166-4806-8A6B-4C135987DAAF}">
      <dgm:prSet/>
      <dgm:spPr/>
      <dgm:t>
        <a:bodyPr/>
        <a:lstStyle/>
        <a:p>
          <a:endParaRPr lang="en-US"/>
        </a:p>
      </dgm:t>
    </dgm:pt>
    <dgm:pt modelId="{E54D1F3D-0852-4F05-9671-D2BC19C79E76}" type="sibTrans" cxnId="{B92F8F5C-7166-4806-8A6B-4C135987DAAF}">
      <dgm:prSet/>
      <dgm:spPr/>
      <dgm:t>
        <a:bodyPr/>
        <a:lstStyle/>
        <a:p>
          <a:endParaRPr lang="en-US"/>
        </a:p>
      </dgm:t>
    </dgm:pt>
    <dgm:pt modelId="{2A669EA5-C817-468C-88CB-A3F3B2BCE154}" type="pres">
      <dgm:prSet presAssocID="{ACE2EF66-813F-4A15-BF42-9799C0FC89C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0655DEB-57DF-4E3D-BDA5-1206040F249A}" type="pres">
      <dgm:prSet presAssocID="{FEFE5456-6A50-494E-8CDF-95119CB339BE}" presName="hierRoot1" presStyleCnt="0"/>
      <dgm:spPr/>
    </dgm:pt>
    <dgm:pt modelId="{03E0CF0E-5DB6-4AC6-AAA1-35C8342257AA}" type="pres">
      <dgm:prSet presAssocID="{FEFE5456-6A50-494E-8CDF-95119CB339BE}" presName="composite" presStyleCnt="0"/>
      <dgm:spPr/>
    </dgm:pt>
    <dgm:pt modelId="{BB6B2CE9-9582-4188-AC01-668AE61CEB3F}" type="pres">
      <dgm:prSet presAssocID="{FEFE5456-6A50-494E-8CDF-95119CB339BE}" presName="background" presStyleLbl="node0" presStyleIdx="0" presStyleCnt="2"/>
      <dgm:spPr/>
    </dgm:pt>
    <dgm:pt modelId="{E2E15DC8-598F-4DEB-9057-60E7C4F6C07C}" type="pres">
      <dgm:prSet presAssocID="{FEFE5456-6A50-494E-8CDF-95119CB339BE}" presName="text" presStyleLbl="fgAcc0" presStyleIdx="0" presStyleCnt="2">
        <dgm:presLayoutVars>
          <dgm:chPref val="3"/>
        </dgm:presLayoutVars>
      </dgm:prSet>
      <dgm:spPr/>
    </dgm:pt>
    <dgm:pt modelId="{27053709-B24E-43EF-9D40-8D2930ED3EC2}" type="pres">
      <dgm:prSet presAssocID="{FEFE5456-6A50-494E-8CDF-95119CB339BE}" presName="hierChild2" presStyleCnt="0"/>
      <dgm:spPr/>
    </dgm:pt>
    <dgm:pt modelId="{7C052084-7218-4B35-9BD6-2FCEE37FBCEE}" type="pres">
      <dgm:prSet presAssocID="{CDAE92C7-FD5B-47A9-868E-98CED77AD6A1}" presName="hierRoot1" presStyleCnt="0"/>
      <dgm:spPr/>
    </dgm:pt>
    <dgm:pt modelId="{55B64245-CC2C-4E10-87A6-18545263EFCD}" type="pres">
      <dgm:prSet presAssocID="{CDAE92C7-FD5B-47A9-868E-98CED77AD6A1}" presName="composite" presStyleCnt="0"/>
      <dgm:spPr/>
    </dgm:pt>
    <dgm:pt modelId="{614A18E3-886A-43B3-8498-6CBDEC1AC013}" type="pres">
      <dgm:prSet presAssocID="{CDAE92C7-FD5B-47A9-868E-98CED77AD6A1}" presName="background" presStyleLbl="node0" presStyleIdx="1" presStyleCnt="2"/>
      <dgm:spPr/>
    </dgm:pt>
    <dgm:pt modelId="{F2E31B3D-9888-4EE1-B5B6-1C8A0FDB0859}" type="pres">
      <dgm:prSet presAssocID="{CDAE92C7-FD5B-47A9-868E-98CED77AD6A1}" presName="text" presStyleLbl="fgAcc0" presStyleIdx="1" presStyleCnt="2">
        <dgm:presLayoutVars>
          <dgm:chPref val="3"/>
        </dgm:presLayoutVars>
      </dgm:prSet>
      <dgm:spPr/>
    </dgm:pt>
    <dgm:pt modelId="{F2B99C08-29C6-4DFB-889C-5588BBD71221}" type="pres">
      <dgm:prSet presAssocID="{CDAE92C7-FD5B-47A9-868E-98CED77AD6A1}" presName="hierChild2" presStyleCnt="0"/>
      <dgm:spPr/>
    </dgm:pt>
  </dgm:ptLst>
  <dgm:cxnLst>
    <dgm:cxn modelId="{37F44511-5496-454F-897B-0E881DC8ECDE}" srcId="{ACE2EF66-813F-4A15-BF42-9799C0FC89C7}" destId="{FEFE5456-6A50-494E-8CDF-95119CB339BE}" srcOrd="0" destOrd="0" parTransId="{DDC7BE91-3169-400F-AB9C-EC856E9F0EA3}" sibTransId="{5E6A3D2D-FB1F-4954-8FEF-6207C00AD159}"/>
    <dgm:cxn modelId="{B92F8F5C-7166-4806-8A6B-4C135987DAAF}" srcId="{ACE2EF66-813F-4A15-BF42-9799C0FC89C7}" destId="{CDAE92C7-FD5B-47A9-868E-98CED77AD6A1}" srcOrd="1" destOrd="0" parTransId="{6A653B03-6E07-4750-8684-DF3F884875ED}" sibTransId="{E54D1F3D-0852-4F05-9671-D2BC19C79E76}"/>
    <dgm:cxn modelId="{9C7E3476-41EB-43B0-A271-FA467C08A6C9}" type="presOf" srcId="{ACE2EF66-813F-4A15-BF42-9799C0FC89C7}" destId="{2A669EA5-C817-468C-88CB-A3F3B2BCE154}" srcOrd="0" destOrd="0" presId="urn:microsoft.com/office/officeart/2005/8/layout/hierarchy1"/>
    <dgm:cxn modelId="{990F40CE-7A06-4A87-9191-954550C6C8D5}" type="presOf" srcId="{CDAE92C7-FD5B-47A9-868E-98CED77AD6A1}" destId="{F2E31B3D-9888-4EE1-B5B6-1C8A0FDB0859}" srcOrd="0" destOrd="0" presId="urn:microsoft.com/office/officeart/2005/8/layout/hierarchy1"/>
    <dgm:cxn modelId="{AE25E3F0-F566-4DA8-AAA8-1C772F45CB2A}" type="presOf" srcId="{FEFE5456-6A50-494E-8CDF-95119CB339BE}" destId="{E2E15DC8-598F-4DEB-9057-60E7C4F6C07C}" srcOrd="0" destOrd="0" presId="urn:microsoft.com/office/officeart/2005/8/layout/hierarchy1"/>
    <dgm:cxn modelId="{6C4297DF-A532-402E-9ECD-EEC240F7F928}" type="presParOf" srcId="{2A669EA5-C817-468C-88CB-A3F3B2BCE154}" destId="{60655DEB-57DF-4E3D-BDA5-1206040F249A}" srcOrd="0" destOrd="0" presId="urn:microsoft.com/office/officeart/2005/8/layout/hierarchy1"/>
    <dgm:cxn modelId="{2F789A77-8E23-4470-B98F-CDF959068406}" type="presParOf" srcId="{60655DEB-57DF-4E3D-BDA5-1206040F249A}" destId="{03E0CF0E-5DB6-4AC6-AAA1-35C8342257AA}" srcOrd="0" destOrd="0" presId="urn:microsoft.com/office/officeart/2005/8/layout/hierarchy1"/>
    <dgm:cxn modelId="{E3969321-29F1-4885-BE94-A30317F7C2F2}" type="presParOf" srcId="{03E0CF0E-5DB6-4AC6-AAA1-35C8342257AA}" destId="{BB6B2CE9-9582-4188-AC01-668AE61CEB3F}" srcOrd="0" destOrd="0" presId="urn:microsoft.com/office/officeart/2005/8/layout/hierarchy1"/>
    <dgm:cxn modelId="{1BA7A09D-0222-43B3-B7A3-E8A1CF9E4B19}" type="presParOf" srcId="{03E0CF0E-5DB6-4AC6-AAA1-35C8342257AA}" destId="{E2E15DC8-598F-4DEB-9057-60E7C4F6C07C}" srcOrd="1" destOrd="0" presId="urn:microsoft.com/office/officeart/2005/8/layout/hierarchy1"/>
    <dgm:cxn modelId="{D7A85736-BF22-49BD-84EC-FEE23E209EAA}" type="presParOf" srcId="{60655DEB-57DF-4E3D-BDA5-1206040F249A}" destId="{27053709-B24E-43EF-9D40-8D2930ED3EC2}" srcOrd="1" destOrd="0" presId="urn:microsoft.com/office/officeart/2005/8/layout/hierarchy1"/>
    <dgm:cxn modelId="{BECABD19-82A4-468B-99A3-B6371172C092}" type="presParOf" srcId="{2A669EA5-C817-468C-88CB-A3F3B2BCE154}" destId="{7C052084-7218-4B35-9BD6-2FCEE37FBCEE}" srcOrd="1" destOrd="0" presId="urn:microsoft.com/office/officeart/2005/8/layout/hierarchy1"/>
    <dgm:cxn modelId="{7DFD4BC0-F313-44EE-B962-69CC3CCD1330}" type="presParOf" srcId="{7C052084-7218-4B35-9BD6-2FCEE37FBCEE}" destId="{55B64245-CC2C-4E10-87A6-18545263EFCD}" srcOrd="0" destOrd="0" presId="urn:microsoft.com/office/officeart/2005/8/layout/hierarchy1"/>
    <dgm:cxn modelId="{87BC1EAE-1D04-4169-8C27-B0B3BE458931}" type="presParOf" srcId="{55B64245-CC2C-4E10-87A6-18545263EFCD}" destId="{614A18E3-886A-43B3-8498-6CBDEC1AC013}" srcOrd="0" destOrd="0" presId="urn:microsoft.com/office/officeart/2005/8/layout/hierarchy1"/>
    <dgm:cxn modelId="{30426CDF-447E-4B26-98F3-04ABC5A2E55B}" type="presParOf" srcId="{55B64245-CC2C-4E10-87A6-18545263EFCD}" destId="{F2E31B3D-9888-4EE1-B5B6-1C8A0FDB0859}" srcOrd="1" destOrd="0" presId="urn:microsoft.com/office/officeart/2005/8/layout/hierarchy1"/>
    <dgm:cxn modelId="{B912209E-716F-4E91-9FEB-D5AEAA6BEF08}" type="presParOf" srcId="{7C052084-7218-4B35-9BD6-2FCEE37FBCEE}" destId="{F2B99C08-29C6-4DFB-889C-5588BBD7122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D12C89-D53A-4F4C-9515-9E232C21D7C6}">
      <dsp:nvSpPr>
        <dsp:cNvPr id="0" name=""/>
        <dsp:cNvSpPr/>
      </dsp:nvSpPr>
      <dsp:spPr>
        <a:xfrm>
          <a:off x="1283" y="0"/>
          <a:ext cx="5006206" cy="393931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0303" tIns="330200" rIns="390303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/>
            <a:t>Give 1 point for Mostly True for 1, 2, 5, 6, 7, 8 </a:t>
          </a:r>
          <a:endParaRPr lang="en-US" sz="2600" kern="1200"/>
        </a:p>
      </dsp:txBody>
      <dsp:txXfrm>
        <a:off x="1283" y="1496937"/>
        <a:ext cx="5006206" cy="2363585"/>
      </dsp:txXfrm>
    </dsp:sp>
    <dsp:sp modelId="{D347DAF4-7135-4F31-BCA1-0FFCCCC9EB89}">
      <dsp:nvSpPr>
        <dsp:cNvPr id="0" name=""/>
        <dsp:cNvSpPr/>
      </dsp:nvSpPr>
      <dsp:spPr>
        <a:xfrm>
          <a:off x="1913490" y="393931"/>
          <a:ext cx="1181792" cy="118179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137" tIns="12700" rIns="92137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2086559" y="567000"/>
        <a:ext cx="835654" cy="835654"/>
      </dsp:txXfrm>
    </dsp:sp>
    <dsp:sp modelId="{407672B9-F5EC-45EE-BF8D-35003B46A00B}">
      <dsp:nvSpPr>
        <dsp:cNvPr id="0" name=""/>
        <dsp:cNvSpPr/>
      </dsp:nvSpPr>
      <dsp:spPr>
        <a:xfrm>
          <a:off x="1283" y="3939238"/>
          <a:ext cx="5006206" cy="72"/>
        </a:xfrm>
        <a:prstGeom prst="rect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accent2">
              <a:hueOff val="-485121"/>
              <a:satOff val="-27976"/>
              <a:lumOff val="287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D90D71-CA56-437B-8D88-BEF935E0E85E}">
      <dsp:nvSpPr>
        <dsp:cNvPr id="0" name=""/>
        <dsp:cNvSpPr/>
      </dsp:nvSpPr>
      <dsp:spPr>
        <a:xfrm>
          <a:off x="5508110" y="0"/>
          <a:ext cx="5006206" cy="3939310"/>
        </a:xfrm>
        <a:prstGeom prst="rect">
          <a:avLst/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0303" tIns="330200" rIns="390303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/>
            <a:t>Except 3, 4 statement.</a:t>
          </a:r>
          <a:endParaRPr lang="en-US" sz="26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000" kern="1200"/>
            <a:t>Give 1 point for Mostly False for 3, 4 statement.</a:t>
          </a:r>
          <a:endParaRPr lang="en-US" sz="2000" kern="1200"/>
        </a:p>
      </dsp:txBody>
      <dsp:txXfrm>
        <a:off x="5508110" y="1496937"/>
        <a:ext cx="5006206" cy="2363585"/>
      </dsp:txXfrm>
    </dsp:sp>
    <dsp:sp modelId="{ECCB1001-9B09-4CF5-9549-0824896052A1}">
      <dsp:nvSpPr>
        <dsp:cNvPr id="0" name=""/>
        <dsp:cNvSpPr/>
      </dsp:nvSpPr>
      <dsp:spPr>
        <a:xfrm>
          <a:off x="7420316" y="393931"/>
          <a:ext cx="1181792" cy="1181792"/>
        </a:xfrm>
        <a:prstGeom prst="ellipse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accent2">
              <a:hueOff val="-970242"/>
              <a:satOff val="-55952"/>
              <a:lumOff val="575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137" tIns="12700" rIns="92137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7593385" y="567000"/>
        <a:ext cx="835654" cy="835654"/>
      </dsp:txXfrm>
    </dsp:sp>
    <dsp:sp modelId="{F6DD6310-EE7A-43F6-BC70-7677D94C6ACF}">
      <dsp:nvSpPr>
        <dsp:cNvPr id="0" name=""/>
        <dsp:cNvSpPr/>
      </dsp:nvSpPr>
      <dsp:spPr>
        <a:xfrm>
          <a:off x="5508110" y="3939238"/>
          <a:ext cx="5006206" cy="72"/>
        </a:xfrm>
        <a:prstGeom prst="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F6AFBC-7D50-4924-B463-163EF200569F}">
      <dsp:nvSpPr>
        <dsp:cNvPr id="0" name=""/>
        <dsp:cNvSpPr/>
      </dsp:nvSpPr>
      <dsp:spPr>
        <a:xfrm rot="16200000">
          <a:off x="1627771" y="-1627771"/>
          <a:ext cx="2196991" cy="5452533"/>
        </a:xfrm>
        <a:prstGeom prst="round1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34696" tIns="234696" rIns="234696" bIns="23469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Provides Direction</a:t>
          </a:r>
        </a:p>
      </dsp:txBody>
      <dsp:txXfrm rot="5400000">
        <a:off x="-1" y="1"/>
        <a:ext cx="5452533" cy="1647743"/>
      </dsp:txXfrm>
    </dsp:sp>
    <dsp:sp modelId="{E6C86D88-D0F7-4CD6-B6BF-34983AB98064}">
      <dsp:nvSpPr>
        <dsp:cNvPr id="0" name=""/>
        <dsp:cNvSpPr/>
      </dsp:nvSpPr>
      <dsp:spPr>
        <a:xfrm>
          <a:off x="5452533" y="0"/>
          <a:ext cx="5452533" cy="2196991"/>
        </a:xfrm>
        <a:prstGeom prst="round1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34696" tIns="234696" rIns="234696" bIns="23469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Reduces uncertainty</a:t>
          </a:r>
        </a:p>
      </dsp:txBody>
      <dsp:txXfrm>
        <a:off x="5452533" y="0"/>
        <a:ext cx="5452533" cy="1647743"/>
      </dsp:txXfrm>
    </dsp:sp>
    <dsp:sp modelId="{5768C5EF-D01D-4087-ACA5-DCBA0AB46767}">
      <dsp:nvSpPr>
        <dsp:cNvPr id="0" name=""/>
        <dsp:cNvSpPr/>
      </dsp:nvSpPr>
      <dsp:spPr>
        <a:xfrm rot="10800000">
          <a:off x="0" y="2196991"/>
          <a:ext cx="5452533" cy="2196991"/>
        </a:xfrm>
        <a:prstGeom prst="round1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34696" tIns="234696" rIns="234696" bIns="23469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Minimizes waste and redundancy</a:t>
          </a:r>
        </a:p>
      </dsp:txBody>
      <dsp:txXfrm rot="10800000">
        <a:off x="0" y="2746238"/>
        <a:ext cx="5452533" cy="1647743"/>
      </dsp:txXfrm>
    </dsp:sp>
    <dsp:sp modelId="{2A95D6E8-6D60-4E8E-8CE4-4F750A0619A3}">
      <dsp:nvSpPr>
        <dsp:cNvPr id="0" name=""/>
        <dsp:cNvSpPr/>
      </dsp:nvSpPr>
      <dsp:spPr>
        <a:xfrm rot="5400000">
          <a:off x="7080304" y="569220"/>
          <a:ext cx="2196991" cy="5452533"/>
        </a:xfrm>
        <a:prstGeom prst="round1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34696" tIns="234696" rIns="234696" bIns="234696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Establishes the goals or standards used in controlling</a:t>
          </a:r>
        </a:p>
      </dsp:txBody>
      <dsp:txXfrm rot="-5400000">
        <a:off x="5452532" y="2746238"/>
        <a:ext cx="5452533" cy="1647743"/>
      </dsp:txXfrm>
    </dsp:sp>
    <dsp:sp modelId="{C0C2D3FC-F0C4-4F78-A577-C88BAC664F26}">
      <dsp:nvSpPr>
        <dsp:cNvPr id="0" name=""/>
        <dsp:cNvSpPr/>
      </dsp:nvSpPr>
      <dsp:spPr>
        <a:xfrm>
          <a:off x="3816773" y="1647743"/>
          <a:ext cx="3271519" cy="1098495"/>
        </a:xfrm>
        <a:prstGeom prst="roundRect">
          <a:avLst/>
        </a:prstGeom>
        <a:solidFill>
          <a:schemeClr val="accent5">
            <a:tint val="6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Why to Plan</a:t>
          </a:r>
        </a:p>
      </dsp:txBody>
      <dsp:txXfrm>
        <a:off x="3870397" y="1701367"/>
        <a:ext cx="3164271" cy="99124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328EC8-5F70-4E47-8A65-B8775986AF0A}">
      <dsp:nvSpPr>
        <dsp:cNvPr id="0" name=""/>
        <dsp:cNvSpPr/>
      </dsp:nvSpPr>
      <dsp:spPr>
        <a:xfrm>
          <a:off x="1331" y="466883"/>
          <a:ext cx="4672458" cy="296701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FC4233D-22C1-47FC-97EF-EAA6FD000072}">
      <dsp:nvSpPr>
        <dsp:cNvPr id="0" name=""/>
        <dsp:cNvSpPr/>
      </dsp:nvSpPr>
      <dsp:spPr>
        <a:xfrm>
          <a:off x="520493" y="960087"/>
          <a:ext cx="4672458" cy="296701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“One plan can be used at every place.”</a:t>
          </a:r>
        </a:p>
      </dsp:txBody>
      <dsp:txXfrm>
        <a:off x="607394" y="1046988"/>
        <a:ext cx="4498656" cy="2793209"/>
      </dsp:txXfrm>
    </dsp:sp>
    <dsp:sp modelId="{D33587FB-2795-4517-A84C-FCAC28BF0C5A}">
      <dsp:nvSpPr>
        <dsp:cNvPr id="0" name=""/>
        <dsp:cNvSpPr/>
      </dsp:nvSpPr>
      <dsp:spPr>
        <a:xfrm>
          <a:off x="5712114" y="466883"/>
          <a:ext cx="4672458" cy="296701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19D354F-3A3E-47EB-8D67-FBB900E7F48E}">
      <dsp:nvSpPr>
        <dsp:cNvPr id="0" name=""/>
        <dsp:cNvSpPr/>
      </dsp:nvSpPr>
      <dsp:spPr>
        <a:xfrm>
          <a:off x="6231276" y="960087"/>
          <a:ext cx="4672458" cy="296701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Is this statement correct or need modification?</a:t>
          </a:r>
        </a:p>
      </dsp:txBody>
      <dsp:txXfrm>
        <a:off x="6318177" y="1046988"/>
        <a:ext cx="4498656" cy="279320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6B2CE9-9582-4188-AC01-668AE61CEB3F}">
      <dsp:nvSpPr>
        <dsp:cNvPr id="0" name=""/>
        <dsp:cNvSpPr/>
      </dsp:nvSpPr>
      <dsp:spPr>
        <a:xfrm>
          <a:off x="1331" y="466883"/>
          <a:ext cx="4672458" cy="29670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2E15DC8-598F-4DEB-9057-60E7C4F6C07C}">
      <dsp:nvSpPr>
        <dsp:cNvPr id="0" name=""/>
        <dsp:cNvSpPr/>
      </dsp:nvSpPr>
      <dsp:spPr>
        <a:xfrm>
          <a:off x="520493" y="960087"/>
          <a:ext cx="4672458" cy="296701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Strategic Planning is about being </a:t>
          </a:r>
          <a:r>
            <a:rPr lang="en-US" sz="4600" b="1" kern="1200"/>
            <a:t>different.</a:t>
          </a:r>
          <a:endParaRPr lang="en-US" sz="4600" kern="1200"/>
        </a:p>
      </dsp:txBody>
      <dsp:txXfrm>
        <a:off x="607394" y="1046988"/>
        <a:ext cx="4498656" cy="2793209"/>
      </dsp:txXfrm>
    </dsp:sp>
    <dsp:sp modelId="{614A18E3-886A-43B3-8498-6CBDEC1AC013}">
      <dsp:nvSpPr>
        <dsp:cNvPr id="0" name=""/>
        <dsp:cNvSpPr/>
      </dsp:nvSpPr>
      <dsp:spPr>
        <a:xfrm>
          <a:off x="5712114" y="466883"/>
          <a:ext cx="4672458" cy="29670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2E31B3D-9888-4EE1-B5B6-1C8A0FDB0859}">
      <dsp:nvSpPr>
        <dsp:cNvPr id="0" name=""/>
        <dsp:cNvSpPr/>
      </dsp:nvSpPr>
      <dsp:spPr>
        <a:xfrm>
          <a:off x="6231276" y="960087"/>
          <a:ext cx="4672458" cy="296701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260" tIns="175260" rIns="175260" bIns="17526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600" kern="1200"/>
            <a:t>Operational Planning is about being </a:t>
          </a:r>
          <a:r>
            <a:rPr lang="en-IN" sz="4600" b="1" kern="1200"/>
            <a:t>better</a:t>
          </a:r>
          <a:r>
            <a:rPr lang="en-IN" sz="4600" kern="1200"/>
            <a:t>.</a:t>
          </a:r>
          <a:endParaRPr lang="en-US" sz="4600" kern="1200"/>
        </a:p>
      </dsp:txBody>
      <dsp:txXfrm>
        <a:off x="6318177" y="1046988"/>
        <a:ext cx="4498656" cy="27932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0D5474-452C-4D47-AF90-DD56106E0F17}" type="datetimeFigureOut">
              <a:rPr lang="en-US" smtClean="0"/>
              <a:t>8/11/22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370063-72BE-F145-B081-38AEE9248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940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American MNC that designs manufactures sells airplanes, rotorcrafts satellites  missiles etc. worldwide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370063-72BE-F145-B081-38AEE9248FE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6175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Vision for future</a:t>
            </a:r>
          </a:p>
          <a:p>
            <a:r>
              <a:rPr lang="en-US" dirty="0"/>
              <a:t>How to achieve it on daily and weekly basis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370063-72BE-F145-B081-38AEE9248FE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2551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FECAD-752F-A98B-B7B8-DFC3647B41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3860AB-FDBF-21BB-1593-B77E413AFA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15E106-6193-6EEB-3213-020012C8A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845FC-482C-4941-B307-26E234ED87A8}" type="datetimeFigureOut">
              <a:rPr lang="en-IN" smtClean="0"/>
              <a:t>11/08/22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D7693-8190-4931-04F6-6D553462F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E2BD5-A2CD-AD07-E082-D86EDBB8A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6E417-F3F6-45B4-8439-B872C93651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9578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6A528-280A-293F-9671-A978F1AB6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7611A-BCA4-4EF2-2B71-972DF5536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665967-4401-1196-30F5-792D7FC74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845FC-482C-4941-B307-26E234ED87A8}" type="datetimeFigureOut">
              <a:rPr lang="en-IN" smtClean="0"/>
              <a:t>11/08/22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C8D7A-EC67-60F5-299C-87E837802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CCDAD0-3F5D-0059-5E5C-67F376E75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6E417-F3F6-45B4-8439-B872C93651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6820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780C0-3B80-C335-ADE9-B209CD6D4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36AE7E-4B1E-28FC-A050-E04DDF0E78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A2CE44-26CE-FD3E-C2F2-CDADDBA3B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845FC-482C-4941-B307-26E234ED87A8}" type="datetimeFigureOut">
              <a:rPr lang="en-IN" smtClean="0"/>
              <a:t>11/08/22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3457BA-9B23-30CD-3775-72EA45B1F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F6C0D-6ECB-DB8F-8471-1CE1BC5D2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6E417-F3F6-45B4-8439-B872C93651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6850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22D5D-A2B6-09B9-6D9C-99BEDA390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FAEFC-D325-E2B0-7346-39C2D5E92D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46F938-941D-CB51-08B5-7276EAD18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B71640-A201-F3AE-86D3-F56656855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845FC-482C-4941-B307-26E234ED87A8}" type="datetimeFigureOut">
              <a:rPr lang="en-IN" smtClean="0"/>
              <a:t>11/08/22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CE04DF-E709-1A70-CB4E-DECB0E40D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050725-298A-C273-E2B7-580F01C20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6E417-F3F6-45B4-8439-B872C93651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0203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846FC-DA2A-13FB-911A-D0967F7C6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134381-4399-FFD8-A572-692D7F278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421841-0F97-3106-BA1E-F242E0DC44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A7C69D-79F7-E4C9-52AB-24E7DED64C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D64080-380C-1C8A-8DA1-6996387514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3CCC41-45D5-1CBB-0CE8-158899C8F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845FC-482C-4941-B307-26E234ED87A8}" type="datetimeFigureOut">
              <a:rPr lang="en-IN" smtClean="0"/>
              <a:t>11/08/22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67E77A-FCE3-82A4-9076-01930771D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96570C-B6E1-7D0D-8A21-D0EDD6A65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6E417-F3F6-45B4-8439-B872C93651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1839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D54A8-2B52-AFA7-6CAF-0BDA248BC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1E2985-1CCB-2381-D6FE-BCDE2B371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845FC-482C-4941-B307-26E234ED87A8}" type="datetimeFigureOut">
              <a:rPr lang="en-IN" smtClean="0"/>
              <a:t>11/08/22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C563F6-236B-F72A-DE1A-EF9A9DEE9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65874C-2DBF-7D88-FA8B-02F7D739C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6E417-F3F6-45B4-8439-B872C93651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206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BA31E5-16B7-0668-419B-B28425FF3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845FC-482C-4941-B307-26E234ED87A8}" type="datetimeFigureOut">
              <a:rPr lang="en-IN" smtClean="0"/>
              <a:t>11/08/22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088EA0-BED9-EDC1-A291-9B7215EE9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A0370A-0D29-E396-EF0E-2FC539E27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6E417-F3F6-45B4-8439-B872C93651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5414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4CE55-D73F-8BCB-97AC-4C016C50B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4AD23-21B1-E93B-24A1-043B49D1B7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9D3A6F-C2AC-E1D3-3433-09EFEF7111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F88298-FEB7-588A-0826-8F10F0AB0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845FC-482C-4941-B307-26E234ED87A8}" type="datetimeFigureOut">
              <a:rPr lang="en-IN" smtClean="0"/>
              <a:t>11/08/22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F4EC7C-D81F-FBAE-B0FD-A3D2D2821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8FC7B5-0371-9AB2-7B83-F38ED4DCA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6E417-F3F6-45B4-8439-B872C93651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8875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EA2F4-5AE4-8F4E-D463-6A0E542B9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1C1ABC-2C89-D1B8-0CAD-9BA0579933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98370F-0F11-C721-7341-BF14296E6F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AA4801-69BD-416B-9F3E-F960B7C0B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845FC-482C-4941-B307-26E234ED87A8}" type="datetimeFigureOut">
              <a:rPr lang="en-IN" smtClean="0"/>
              <a:t>11/08/22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A035BA-FCA8-910A-0006-060B40332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D6E65-E632-9CA8-D07A-86FED438E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6E417-F3F6-45B4-8439-B872C93651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6471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2B1DB-48C2-560F-DFC1-68DE4EF04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C23E0B-7E31-1E1B-3FB9-726DD1D04C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B515F-0975-E969-B287-0E0D4E492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845FC-482C-4941-B307-26E234ED87A8}" type="datetimeFigureOut">
              <a:rPr lang="en-IN" smtClean="0"/>
              <a:t>11/08/22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443A92-46C7-F469-9D3C-3980D972E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816D59-CC61-CE0A-BC5A-B180CADDE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6E417-F3F6-45B4-8439-B872C93651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5043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861CE3-7C44-72F5-E29F-C868BFCD68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7C75E8-022E-AB46-B653-42F99BD34F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0D93A3-181E-9F86-0DB8-0C418BD6B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845FC-482C-4941-B307-26E234ED87A8}" type="datetimeFigureOut">
              <a:rPr lang="en-IN" smtClean="0"/>
              <a:t>11/08/22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6E5E05-3093-3491-6579-8655069DA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CF4F5E-88C5-736C-01DD-1738284E7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6E417-F3F6-45B4-8439-B872C93651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8641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DC63A7-A431-9D4C-38B2-18E45CA0A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E3CEFF-5620-65A6-F335-3DB21EB8C7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70489-4471-8FAF-8620-C2BAF36F9C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A845FC-482C-4941-B307-26E234ED87A8}" type="datetimeFigureOut">
              <a:rPr lang="en-IN" smtClean="0"/>
              <a:t>11/08/22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029A-D5F7-E9A2-84D4-378687BBB9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6DF2E-E6AE-FF5E-B835-41AA927680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06E417-F3F6-45B4-8439-B872C93651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9119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Video 3">
            <a:extLst>
              <a:ext uri="{FF2B5EF4-FFF2-40B4-BE49-F238E27FC236}">
                <a16:creationId xmlns:a16="http://schemas.microsoft.com/office/drawing/2014/main" id="{5987D190-97FC-E9B1-06B9-B34D5BB9CB3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r="1" b="285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1CBD57-1088-847F-D36B-76B8FEE8AE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6600" b="1" dirty="0">
                <a:solidFill>
                  <a:srgbClr val="FFFF00"/>
                </a:solidFill>
              </a:rPr>
              <a:t>PLANNING</a:t>
            </a:r>
            <a:endParaRPr lang="en-IN" sz="66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0763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1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0DF40B2-80F7-4E71-B46C-284163F36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701DC5-8A21-4F6D-AFC8-CE78387F2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795" y="548464"/>
            <a:ext cx="6489290" cy="2228074"/>
          </a:xfrm>
        </p:spPr>
        <p:txBody>
          <a:bodyPr>
            <a:normAutofit/>
          </a:bodyPr>
          <a:lstStyle/>
          <a:p>
            <a:pPr algn="ctr"/>
            <a:r>
              <a:rPr lang="en-US" sz="3700" dirty="0"/>
              <a:t>Does goal setting fit your management style?</a:t>
            </a:r>
            <a:endParaRPr lang="en-IN" sz="37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C4B7C-365F-47C9-A474-0A829DE47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962279"/>
            <a:ext cx="5670754" cy="3143241"/>
          </a:xfrm>
        </p:spPr>
        <p:txBody>
          <a:bodyPr>
            <a:normAutofit/>
          </a:bodyPr>
          <a:lstStyle/>
          <a:p>
            <a:r>
              <a:rPr lang="en-US" sz="3200" dirty="0"/>
              <a:t>Are you a good planner?</a:t>
            </a:r>
          </a:p>
          <a:p>
            <a:r>
              <a:rPr lang="en-US" sz="3200" dirty="0"/>
              <a:t>Do you set goals and identify ways to accomplish them?</a:t>
            </a:r>
          </a:p>
          <a:p>
            <a:pPr marL="0" indent="0">
              <a:buNone/>
            </a:pPr>
            <a:endParaRPr lang="en-US" sz="3200" dirty="0"/>
          </a:p>
          <a:p>
            <a:endParaRPr lang="en-IN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76D83B-305F-4E4C-892D-8E52061A6A8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506"/>
          <a:stretch/>
        </p:blipFill>
        <p:spPr>
          <a:xfrm>
            <a:off x="6980903" y="10"/>
            <a:ext cx="5211096" cy="685799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4604930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DF2AA3E-C714-4E8D-9F46-9E6FFF7FB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93308" y="338328"/>
            <a:ext cx="11438793" cy="157772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0" cap="sq" cmpd="thinThick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BDBDA2-0E7D-410A-B700-6D93DFBA4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7541"/>
            <a:ext cx="10515600" cy="13255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Does goal setting fit your management style?</a:t>
            </a:r>
            <a:endParaRPr lang="en-IN">
              <a:solidFill>
                <a:schemeClr val="bg1"/>
              </a:solidFill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F66F745F-7133-4BAA-AE86-EE42F870B7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4451419"/>
              </p:ext>
            </p:extLst>
          </p:nvPr>
        </p:nvGraphicFramePr>
        <p:xfrm>
          <a:off x="1205134" y="2281565"/>
          <a:ext cx="9781735" cy="3939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5956">
                  <a:extLst>
                    <a:ext uri="{9D8B030D-6E8A-4147-A177-3AD203B41FA5}">
                      <a16:colId xmlns:a16="http://schemas.microsoft.com/office/drawing/2014/main" val="944486308"/>
                    </a:ext>
                  </a:extLst>
                </a:gridCol>
                <a:gridCol w="4284591">
                  <a:extLst>
                    <a:ext uri="{9D8B030D-6E8A-4147-A177-3AD203B41FA5}">
                      <a16:colId xmlns:a16="http://schemas.microsoft.com/office/drawing/2014/main" val="1876418108"/>
                    </a:ext>
                  </a:extLst>
                </a:gridCol>
                <a:gridCol w="2195900">
                  <a:extLst>
                    <a:ext uri="{9D8B030D-6E8A-4147-A177-3AD203B41FA5}">
                      <a16:colId xmlns:a16="http://schemas.microsoft.com/office/drawing/2014/main" val="3265152850"/>
                    </a:ext>
                  </a:extLst>
                </a:gridCol>
                <a:gridCol w="2325288">
                  <a:extLst>
                    <a:ext uri="{9D8B030D-6E8A-4147-A177-3AD203B41FA5}">
                      <a16:colId xmlns:a16="http://schemas.microsoft.com/office/drawing/2014/main" val="992937169"/>
                    </a:ext>
                  </a:extLst>
                </a:gridCol>
              </a:tblGrid>
              <a:tr h="984828">
                <a:tc>
                  <a:txBody>
                    <a:bodyPr/>
                    <a:lstStyle/>
                    <a:p>
                      <a:pPr algn="ctr"/>
                      <a:r>
                        <a:rPr lang="en-IN" sz="2600"/>
                        <a:t>S. No.</a:t>
                      </a:r>
                    </a:p>
                  </a:txBody>
                  <a:tcPr marL="133085" marR="133085" marT="66542" marB="6654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600"/>
                        <a:t>Statement</a:t>
                      </a:r>
                    </a:p>
                  </a:txBody>
                  <a:tcPr marL="133085" marR="133085" marT="66542" marB="6654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600"/>
                        <a:t>Mostly True</a:t>
                      </a:r>
                    </a:p>
                  </a:txBody>
                  <a:tcPr marL="133085" marR="133085" marT="66542" marB="6654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600"/>
                        <a:t>Mostly False</a:t>
                      </a:r>
                    </a:p>
                  </a:txBody>
                  <a:tcPr marL="133085" marR="133085" marT="66542" marB="66542"/>
                </a:tc>
                <a:extLst>
                  <a:ext uri="{0D108BD9-81ED-4DB2-BD59-A6C34878D82A}">
                    <a16:rowId xmlns:a16="http://schemas.microsoft.com/office/drawing/2014/main" val="67191698"/>
                  </a:ext>
                </a:extLst>
              </a:tr>
              <a:tr h="984828">
                <a:tc>
                  <a:txBody>
                    <a:bodyPr/>
                    <a:lstStyle/>
                    <a:p>
                      <a:r>
                        <a:rPr lang="en-IN" sz="2600"/>
                        <a:t>1.</a:t>
                      </a:r>
                    </a:p>
                  </a:txBody>
                  <a:tcPr marL="133085" marR="133085" marT="66542" marB="66542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I have clear specific goals in several areas of my life.</a:t>
                      </a:r>
                    </a:p>
                  </a:txBody>
                  <a:tcPr marL="133085" marR="133085" marT="66542" marB="66542"/>
                </a:tc>
                <a:tc>
                  <a:txBody>
                    <a:bodyPr/>
                    <a:lstStyle/>
                    <a:p>
                      <a:endParaRPr lang="en-IN" sz="2600"/>
                    </a:p>
                  </a:txBody>
                  <a:tcPr marL="133085" marR="133085" marT="66542" marB="66542"/>
                </a:tc>
                <a:tc>
                  <a:txBody>
                    <a:bodyPr/>
                    <a:lstStyle/>
                    <a:p>
                      <a:endParaRPr lang="en-IN" sz="2600"/>
                    </a:p>
                  </a:txBody>
                  <a:tcPr marL="133085" marR="133085" marT="66542" marB="66542"/>
                </a:tc>
                <a:extLst>
                  <a:ext uri="{0D108BD9-81ED-4DB2-BD59-A6C34878D82A}">
                    <a16:rowId xmlns:a16="http://schemas.microsoft.com/office/drawing/2014/main" val="2471271797"/>
                  </a:ext>
                </a:extLst>
              </a:tr>
              <a:tr h="984828">
                <a:tc>
                  <a:txBody>
                    <a:bodyPr/>
                    <a:lstStyle/>
                    <a:p>
                      <a:r>
                        <a:rPr lang="en-IN" sz="2600"/>
                        <a:t>2.</a:t>
                      </a:r>
                    </a:p>
                  </a:txBody>
                  <a:tcPr marL="133085" marR="133085" marT="66542" marB="66542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I have a define outcome in life I want to achieve.</a:t>
                      </a:r>
                    </a:p>
                  </a:txBody>
                  <a:tcPr marL="133085" marR="133085" marT="66542" marB="66542"/>
                </a:tc>
                <a:tc>
                  <a:txBody>
                    <a:bodyPr/>
                    <a:lstStyle/>
                    <a:p>
                      <a:endParaRPr lang="en-IN" sz="2600"/>
                    </a:p>
                  </a:txBody>
                  <a:tcPr marL="133085" marR="133085" marT="66542" marB="66542"/>
                </a:tc>
                <a:tc>
                  <a:txBody>
                    <a:bodyPr/>
                    <a:lstStyle/>
                    <a:p>
                      <a:endParaRPr lang="en-IN" sz="2600"/>
                    </a:p>
                  </a:txBody>
                  <a:tcPr marL="133085" marR="133085" marT="66542" marB="66542"/>
                </a:tc>
                <a:extLst>
                  <a:ext uri="{0D108BD9-81ED-4DB2-BD59-A6C34878D82A}">
                    <a16:rowId xmlns:a16="http://schemas.microsoft.com/office/drawing/2014/main" val="472426463"/>
                  </a:ext>
                </a:extLst>
              </a:tr>
              <a:tr h="984828">
                <a:tc>
                  <a:txBody>
                    <a:bodyPr/>
                    <a:lstStyle/>
                    <a:p>
                      <a:r>
                        <a:rPr lang="en-IN" sz="2600"/>
                        <a:t>3. </a:t>
                      </a:r>
                    </a:p>
                  </a:txBody>
                  <a:tcPr marL="133085" marR="133085" marT="66542" marB="66542"/>
                </a:tc>
                <a:tc>
                  <a:txBody>
                    <a:bodyPr/>
                    <a:lstStyle/>
                    <a:p>
                      <a:r>
                        <a:rPr lang="en-IN" sz="2600"/>
                        <a:t>I prefer general to specific goals.</a:t>
                      </a:r>
                    </a:p>
                  </a:txBody>
                  <a:tcPr marL="133085" marR="133085" marT="66542" marB="66542"/>
                </a:tc>
                <a:tc>
                  <a:txBody>
                    <a:bodyPr/>
                    <a:lstStyle/>
                    <a:p>
                      <a:endParaRPr lang="en-IN" sz="2600"/>
                    </a:p>
                  </a:txBody>
                  <a:tcPr marL="133085" marR="133085" marT="66542" marB="66542"/>
                </a:tc>
                <a:tc>
                  <a:txBody>
                    <a:bodyPr/>
                    <a:lstStyle/>
                    <a:p>
                      <a:endParaRPr lang="en-IN" sz="2600"/>
                    </a:p>
                  </a:txBody>
                  <a:tcPr marL="133085" marR="133085" marT="66542" marB="66542"/>
                </a:tc>
                <a:extLst>
                  <a:ext uri="{0D108BD9-81ED-4DB2-BD59-A6C34878D82A}">
                    <a16:rowId xmlns:a16="http://schemas.microsoft.com/office/drawing/2014/main" val="2662305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5944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DF2AA3E-C714-4E8D-9F46-9E6FFF7FB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93308" y="338328"/>
            <a:ext cx="11438793" cy="157772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0" cap="sq" cmpd="thinThick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BDBDA2-0E7D-410A-B700-6D93DFBA4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7541"/>
            <a:ext cx="10515600" cy="13255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Does goal setting fit your management style?</a:t>
            </a:r>
            <a:endParaRPr lang="en-IN">
              <a:solidFill>
                <a:schemeClr val="bg1"/>
              </a:solidFill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F66F745F-7133-4BAA-AE86-EE42F870B7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331416"/>
              </p:ext>
            </p:extLst>
          </p:nvPr>
        </p:nvGraphicFramePr>
        <p:xfrm>
          <a:off x="838200" y="2589332"/>
          <a:ext cx="10515600" cy="3323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3496">
                  <a:extLst>
                    <a:ext uri="{9D8B030D-6E8A-4147-A177-3AD203B41FA5}">
                      <a16:colId xmlns:a16="http://schemas.microsoft.com/office/drawing/2014/main" val="944486308"/>
                    </a:ext>
                  </a:extLst>
                </a:gridCol>
                <a:gridCol w="3968297">
                  <a:extLst>
                    <a:ext uri="{9D8B030D-6E8A-4147-A177-3AD203B41FA5}">
                      <a16:colId xmlns:a16="http://schemas.microsoft.com/office/drawing/2014/main" val="1876418108"/>
                    </a:ext>
                  </a:extLst>
                </a:gridCol>
                <a:gridCol w="2836933">
                  <a:extLst>
                    <a:ext uri="{9D8B030D-6E8A-4147-A177-3AD203B41FA5}">
                      <a16:colId xmlns:a16="http://schemas.microsoft.com/office/drawing/2014/main" val="3265152850"/>
                    </a:ext>
                  </a:extLst>
                </a:gridCol>
                <a:gridCol w="2656874">
                  <a:extLst>
                    <a:ext uri="{9D8B030D-6E8A-4147-A177-3AD203B41FA5}">
                      <a16:colId xmlns:a16="http://schemas.microsoft.com/office/drawing/2014/main" val="992937169"/>
                    </a:ext>
                  </a:extLst>
                </a:gridCol>
              </a:tblGrid>
              <a:tr h="494075">
                <a:tc>
                  <a:txBody>
                    <a:bodyPr/>
                    <a:lstStyle/>
                    <a:p>
                      <a:pPr algn="ctr"/>
                      <a:r>
                        <a:rPr lang="en-IN" sz="2200"/>
                        <a:t>S. No.</a:t>
                      </a:r>
                    </a:p>
                  </a:txBody>
                  <a:tcPr marL="112290" marR="112290" marT="56145" marB="561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/>
                        <a:t>Statement</a:t>
                      </a:r>
                    </a:p>
                  </a:txBody>
                  <a:tcPr marL="112290" marR="112290" marT="56145" marB="561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/>
                        <a:t>Mostly True</a:t>
                      </a:r>
                    </a:p>
                  </a:txBody>
                  <a:tcPr marL="112290" marR="112290" marT="56145" marB="561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/>
                        <a:t>Mostly False</a:t>
                      </a:r>
                    </a:p>
                  </a:txBody>
                  <a:tcPr marL="112290" marR="112290" marT="56145" marB="56145"/>
                </a:tc>
                <a:extLst>
                  <a:ext uri="{0D108BD9-81ED-4DB2-BD59-A6C34878D82A}">
                    <a16:rowId xmlns:a16="http://schemas.microsoft.com/office/drawing/2014/main" val="67191698"/>
                  </a:ext>
                </a:extLst>
              </a:tr>
              <a:tr h="830944">
                <a:tc>
                  <a:txBody>
                    <a:bodyPr/>
                    <a:lstStyle/>
                    <a:p>
                      <a:r>
                        <a:rPr lang="en-IN" sz="2200"/>
                        <a:t>4.</a:t>
                      </a:r>
                    </a:p>
                  </a:txBody>
                  <a:tcPr marL="112290" marR="112290" marT="56145" marB="561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/>
                        <a:t>I work better without specific deadlines.</a:t>
                      </a:r>
                    </a:p>
                  </a:txBody>
                  <a:tcPr marL="112290" marR="112290" marT="56145" marB="56145"/>
                </a:tc>
                <a:tc>
                  <a:txBody>
                    <a:bodyPr/>
                    <a:lstStyle/>
                    <a:p>
                      <a:endParaRPr lang="en-IN" sz="2200"/>
                    </a:p>
                  </a:txBody>
                  <a:tcPr marL="112290" marR="112290" marT="56145" marB="56145"/>
                </a:tc>
                <a:tc>
                  <a:txBody>
                    <a:bodyPr/>
                    <a:lstStyle/>
                    <a:p>
                      <a:endParaRPr lang="en-IN" sz="2200"/>
                    </a:p>
                  </a:txBody>
                  <a:tcPr marL="112290" marR="112290" marT="56145" marB="56145"/>
                </a:tc>
                <a:extLst>
                  <a:ext uri="{0D108BD9-81ED-4DB2-BD59-A6C34878D82A}">
                    <a16:rowId xmlns:a16="http://schemas.microsoft.com/office/drawing/2014/main" val="2471271797"/>
                  </a:ext>
                </a:extLst>
              </a:tr>
              <a:tr h="830944">
                <a:tc>
                  <a:txBody>
                    <a:bodyPr/>
                    <a:lstStyle/>
                    <a:p>
                      <a:r>
                        <a:rPr lang="en-IN" sz="2200"/>
                        <a:t>5.</a:t>
                      </a:r>
                    </a:p>
                  </a:txBody>
                  <a:tcPr marL="112290" marR="112290" marT="56145" marB="561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/>
                        <a:t>I set aside time each day or week to plan my work.</a:t>
                      </a:r>
                    </a:p>
                  </a:txBody>
                  <a:tcPr marL="112290" marR="112290" marT="56145" marB="56145"/>
                </a:tc>
                <a:tc>
                  <a:txBody>
                    <a:bodyPr/>
                    <a:lstStyle/>
                    <a:p>
                      <a:endParaRPr lang="en-IN" sz="2200"/>
                    </a:p>
                  </a:txBody>
                  <a:tcPr marL="112290" marR="112290" marT="56145" marB="56145"/>
                </a:tc>
                <a:tc>
                  <a:txBody>
                    <a:bodyPr/>
                    <a:lstStyle/>
                    <a:p>
                      <a:endParaRPr lang="en-IN" sz="2200"/>
                    </a:p>
                  </a:txBody>
                  <a:tcPr marL="112290" marR="112290" marT="56145" marB="56145"/>
                </a:tc>
                <a:extLst>
                  <a:ext uri="{0D108BD9-81ED-4DB2-BD59-A6C34878D82A}">
                    <a16:rowId xmlns:a16="http://schemas.microsoft.com/office/drawing/2014/main" val="472426463"/>
                  </a:ext>
                </a:extLst>
              </a:tr>
              <a:tr h="1167813">
                <a:tc>
                  <a:txBody>
                    <a:bodyPr/>
                    <a:lstStyle/>
                    <a:p>
                      <a:r>
                        <a:rPr lang="en-IN" sz="2200"/>
                        <a:t>6. </a:t>
                      </a:r>
                    </a:p>
                  </a:txBody>
                  <a:tcPr marL="112290" marR="112290" marT="56145" marB="5614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/>
                        <a:t>I am clear about the measures that indicate when I have achieved a goal.</a:t>
                      </a:r>
                    </a:p>
                  </a:txBody>
                  <a:tcPr marL="112290" marR="112290" marT="56145" marB="56145"/>
                </a:tc>
                <a:tc>
                  <a:txBody>
                    <a:bodyPr/>
                    <a:lstStyle/>
                    <a:p>
                      <a:endParaRPr lang="en-IN" sz="2200"/>
                    </a:p>
                  </a:txBody>
                  <a:tcPr marL="112290" marR="112290" marT="56145" marB="56145"/>
                </a:tc>
                <a:tc>
                  <a:txBody>
                    <a:bodyPr/>
                    <a:lstStyle/>
                    <a:p>
                      <a:endParaRPr lang="en-IN" sz="2200"/>
                    </a:p>
                  </a:txBody>
                  <a:tcPr marL="112290" marR="112290" marT="56145" marB="56145"/>
                </a:tc>
                <a:extLst>
                  <a:ext uri="{0D108BD9-81ED-4DB2-BD59-A6C34878D82A}">
                    <a16:rowId xmlns:a16="http://schemas.microsoft.com/office/drawing/2014/main" val="2662305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2093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DF2AA3E-C714-4E8D-9F46-9E6FFF7FB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93308" y="338328"/>
            <a:ext cx="11438793" cy="157772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0" cap="sq" cmpd="thinThick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BDBDA2-0E7D-410A-B700-6D93DFBA4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7541"/>
            <a:ext cx="10515600" cy="13255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Does goal setting fit your management style?</a:t>
            </a:r>
            <a:endParaRPr lang="en-IN">
              <a:solidFill>
                <a:schemeClr val="bg1"/>
              </a:solidFill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F66F745F-7133-4BAA-AE86-EE42F870B7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6028371"/>
              </p:ext>
            </p:extLst>
          </p:nvPr>
        </p:nvGraphicFramePr>
        <p:xfrm>
          <a:off x="1360058" y="2281565"/>
          <a:ext cx="9471884" cy="3939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4407">
                  <a:extLst>
                    <a:ext uri="{9D8B030D-6E8A-4147-A177-3AD203B41FA5}">
                      <a16:colId xmlns:a16="http://schemas.microsoft.com/office/drawing/2014/main" val="944486308"/>
                    </a:ext>
                  </a:extLst>
                </a:gridCol>
                <a:gridCol w="3701834">
                  <a:extLst>
                    <a:ext uri="{9D8B030D-6E8A-4147-A177-3AD203B41FA5}">
                      <a16:colId xmlns:a16="http://schemas.microsoft.com/office/drawing/2014/main" val="1876418108"/>
                    </a:ext>
                  </a:extLst>
                </a:gridCol>
                <a:gridCol w="2304916">
                  <a:extLst>
                    <a:ext uri="{9D8B030D-6E8A-4147-A177-3AD203B41FA5}">
                      <a16:colId xmlns:a16="http://schemas.microsoft.com/office/drawing/2014/main" val="3265152850"/>
                    </a:ext>
                  </a:extLst>
                </a:gridCol>
                <a:gridCol w="2440727">
                  <a:extLst>
                    <a:ext uri="{9D8B030D-6E8A-4147-A177-3AD203B41FA5}">
                      <a16:colId xmlns:a16="http://schemas.microsoft.com/office/drawing/2014/main" val="992937169"/>
                    </a:ext>
                  </a:extLst>
                </a:gridCol>
              </a:tblGrid>
              <a:tr h="1033720">
                <a:tc>
                  <a:txBody>
                    <a:bodyPr/>
                    <a:lstStyle/>
                    <a:p>
                      <a:pPr algn="ctr"/>
                      <a:r>
                        <a:rPr lang="en-IN" sz="2700"/>
                        <a:t>S. No.</a:t>
                      </a:r>
                    </a:p>
                  </a:txBody>
                  <a:tcPr marL="139692" marR="139692" marT="69846" marB="6984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700"/>
                        <a:t>Statement</a:t>
                      </a:r>
                    </a:p>
                  </a:txBody>
                  <a:tcPr marL="139692" marR="139692" marT="69846" marB="6984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700"/>
                        <a:t>Mostly True</a:t>
                      </a:r>
                    </a:p>
                  </a:txBody>
                  <a:tcPr marL="139692" marR="139692" marT="69846" marB="6984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700"/>
                        <a:t>Mostly False</a:t>
                      </a:r>
                    </a:p>
                  </a:txBody>
                  <a:tcPr marL="139692" marR="139692" marT="69846" marB="69846"/>
                </a:tc>
                <a:extLst>
                  <a:ext uri="{0D108BD9-81ED-4DB2-BD59-A6C34878D82A}">
                    <a16:rowId xmlns:a16="http://schemas.microsoft.com/office/drawing/2014/main" val="67191698"/>
                  </a:ext>
                </a:extLst>
              </a:tr>
              <a:tr h="1452796">
                <a:tc>
                  <a:txBody>
                    <a:bodyPr/>
                    <a:lstStyle/>
                    <a:p>
                      <a:r>
                        <a:rPr lang="en-IN" sz="2700"/>
                        <a:t>7.</a:t>
                      </a:r>
                    </a:p>
                  </a:txBody>
                  <a:tcPr marL="139692" marR="139692" marT="69846" marB="6984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700"/>
                        <a:t>I work better when I set more challenging goals for myself.</a:t>
                      </a:r>
                    </a:p>
                  </a:txBody>
                  <a:tcPr marL="139692" marR="139692" marT="69846" marB="69846"/>
                </a:tc>
                <a:tc>
                  <a:txBody>
                    <a:bodyPr/>
                    <a:lstStyle/>
                    <a:p>
                      <a:endParaRPr lang="en-IN" sz="2700"/>
                    </a:p>
                  </a:txBody>
                  <a:tcPr marL="139692" marR="139692" marT="69846" marB="69846"/>
                </a:tc>
                <a:tc>
                  <a:txBody>
                    <a:bodyPr/>
                    <a:lstStyle/>
                    <a:p>
                      <a:endParaRPr lang="en-IN" sz="2700"/>
                    </a:p>
                  </a:txBody>
                  <a:tcPr marL="139692" marR="139692" marT="69846" marB="69846"/>
                </a:tc>
                <a:extLst>
                  <a:ext uri="{0D108BD9-81ED-4DB2-BD59-A6C34878D82A}">
                    <a16:rowId xmlns:a16="http://schemas.microsoft.com/office/drawing/2014/main" val="2471271797"/>
                  </a:ext>
                </a:extLst>
              </a:tr>
              <a:tr h="1452796">
                <a:tc>
                  <a:txBody>
                    <a:bodyPr/>
                    <a:lstStyle/>
                    <a:p>
                      <a:r>
                        <a:rPr lang="en-IN" sz="2700"/>
                        <a:t>8.</a:t>
                      </a:r>
                    </a:p>
                  </a:txBody>
                  <a:tcPr marL="139692" marR="139692" marT="69846" marB="6984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700"/>
                        <a:t>I help other people clarify and define their goals.</a:t>
                      </a:r>
                    </a:p>
                  </a:txBody>
                  <a:tcPr marL="139692" marR="139692" marT="69846" marB="69846"/>
                </a:tc>
                <a:tc>
                  <a:txBody>
                    <a:bodyPr/>
                    <a:lstStyle/>
                    <a:p>
                      <a:endParaRPr lang="en-IN" sz="2700"/>
                    </a:p>
                  </a:txBody>
                  <a:tcPr marL="139692" marR="139692" marT="69846" marB="69846"/>
                </a:tc>
                <a:tc>
                  <a:txBody>
                    <a:bodyPr/>
                    <a:lstStyle/>
                    <a:p>
                      <a:endParaRPr lang="en-IN" sz="2700"/>
                    </a:p>
                  </a:txBody>
                  <a:tcPr marL="139692" marR="139692" marT="69846" marB="69846"/>
                </a:tc>
                <a:extLst>
                  <a:ext uri="{0D108BD9-81ED-4DB2-BD59-A6C34878D82A}">
                    <a16:rowId xmlns:a16="http://schemas.microsoft.com/office/drawing/2014/main" val="4724264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7719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DF2AA3E-C714-4E8D-9F46-9E6FFF7FB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93308" y="338328"/>
            <a:ext cx="11438793" cy="157772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0" cap="sq" cmpd="thinThick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E01F02-2097-4283-BC56-FEABBF2F7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7541"/>
            <a:ext cx="10515600" cy="1325563"/>
          </a:xfrm>
        </p:spPr>
        <p:txBody>
          <a:bodyPr>
            <a:normAutofit/>
          </a:bodyPr>
          <a:lstStyle/>
          <a:p>
            <a:r>
              <a:rPr lang="en-IN">
                <a:solidFill>
                  <a:schemeClr val="bg1"/>
                </a:solidFill>
              </a:rPr>
              <a:t>Scoring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68F9756-B808-074A-1A8B-976D9507A0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8559601"/>
              </p:ext>
            </p:extLst>
          </p:nvPr>
        </p:nvGraphicFramePr>
        <p:xfrm>
          <a:off x="838200" y="2281565"/>
          <a:ext cx="10515600" cy="39393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63320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DF2AA3E-C714-4E8D-9F46-9E6FFF7FB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93308" y="338328"/>
            <a:ext cx="11438793" cy="157772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0" cap="sq" cmpd="thinThick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88929D-597F-46DB-BAF1-AAD331CBF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7541"/>
            <a:ext cx="10515600" cy="1325563"/>
          </a:xfrm>
        </p:spPr>
        <p:txBody>
          <a:bodyPr>
            <a:normAutofit/>
          </a:bodyPr>
          <a:lstStyle/>
          <a:p>
            <a:r>
              <a:rPr lang="en-IN">
                <a:solidFill>
                  <a:schemeClr val="bg1"/>
                </a:solidFill>
              </a:rPr>
              <a:t>Interpretation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8E701138-2FCC-48B2-80F6-A741F1D4D6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7889993"/>
              </p:ext>
            </p:extLst>
          </p:nvPr>
        </p:nvGraphicFramePr>
        <p:xfrm>
          <a:off x="1199515" y="2641876"/>
          <a:ext cx="9792971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1594">
                  <a:extLst>
                    <a:ext uri="{9D8B030D-6E8A-4147-A177-3AD203B41FA5}">
                      <a16:colId xmlns:a16="http://schemas.microsoft.com/office/drawing/2014/main" val="3749125790"/>
                    </a:ext>
                  </a:extLst>
                </a:gridCol>
                <a:gridCol w="8051377">
                  <a:extLst>
                    <a:ext uri="{9D8B030D-6E8A-4147-A177-3AD203B41FA5}">
                      <a16:colId xmlns:a16="http://schemas.microsoft.com/office/drawing/2014/main" val="1637598169"/>
                    </a:ext>
                  </a:extLst>
                </a:gridCol>
              </a:tblGrid>
              <a:tr h="737616">
                <a:tc>
                  <a:txBody>
                    <a:bodyPr/>
                    <a:lstStyle/>
                    <a:p>
                      <a:r>
                        <a:rPr lang="en-IN" sz="3300"/>
                        <a:t>Score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IN" sz="3300"/>
                        <a:t>Interpretation</a:t>
                      </a: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4017427084"/>
                  </a:ext>
                </a:extLst>
              </a:tr>
              <a:tr h="1240536">
                <a:tc>
                  <a:txBody>
                    <a:bodyPr/>
                    <a:lstStyle/>
                    <a:p>
                      <a:r>
                        <a:rPr lang="en-IN" sz="3300"/>
                        <a:t>5 or higher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IN" sz="3300"/>
                        <a:t>Positive Level of Goal Setting Behaviour</a:t>
                      </a: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3578798894"/>
                  </a:ext>
                </a:extLst>
              </a:tr>
              <a:tr h="1240536">
                <a:tc>
                  <a:txBody>
                    <a:bodyPr/>
                    <a:lstStyle/>
                    <a:p>
                      <a:r>
                        <a:rPr lang="en-IN" sz="3300"/>
                        <a:t>4 or less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IN" sz="3300"/>
                        <a:t>Evaluate and begin to change your goal setting behaviour</a:t>
                      </a: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34012375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30729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3D pattern of ring shapes connected by lines">
            <a:extLst>
              <a:ext uri="{FF2B5EF4-FFF2-40B4-BE49-F238E27FC236}">
                <a16:creationId xmlns:a16="http://schemas.microsoft.com/office/drawing/2014/main" id="{F24316F1-7AF1-309E-77FD-50D3302B30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9091" b="9091"/>
          <a:stretch/>
        </p:blipFill>
        <p:spPr>
          <a:xfrm>
            <a:off x="20" y="12710"/>
            <a:ext cx="12191980" cy="6857990"/>
          </a:xfrm>
          <a:prstGeom prst="rect">
            <a:avLst/>
          </a:prstGeom>
        </p:spPr>
      </p:pic>
      <p:sp>
        <p:nvSpPr>
          <p:cNvPr id="20" name="Rectangle 15">
            <a:extLst>
              <a:ext uri="{FF2B5EF4-FFF2-40B4-BE49-F238E27FC236}">
                <a16:creationId xmlns:a16="http://schemas.microsoft.com/office/drawing/2014/main" id="{86C7B4A1-154A-4DF0-AC46-F88D75A2E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21176"/>
            <a:ext cx="7197772" cy="5896743"/>
          </a:xfrm>
          <a:prstGeom prst="rect">
            <a:avLst/>
          </a:prstGeom>
          <a:solidFill>
            <a:schemeClr val="bg1">
              <a:alpha val="90000"/>
            </a:schemeClr>
          </a:solidFill>
          <a:ln w="127000" cap="sq" cmpd="thinThick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A31B2C-206B-4A2C-ACFA-BC9CE04D7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804" y="640263"/>
            <a:ext cx="6619811" cy="1344975"/>
          </a:xfrm>
        </p:spPr>
        <p:txBody>
          <a:bodyPr>
            <a:normAutofit/>
          </a:bodyPr>
          <a:lstStyle/>
          <a:p>
            <a:r>
              <a:rPr lang="en-IN" sz="4000" u="sng" dirty="0"/>
              <a:t>Concept of Planning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A69DD-B57C-44F8-84CE-ABA60C7C5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109" y="1714500"/>
            <a:ext cx="6620505" cy="4180273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70000"/>
              </a:lnSpc>
              <a:buFontTx/>
              <a:buNone/>
            </a:pPr>
            <a:r>
              <a:rPr lang="en-IN" altLang="en-US" sz="2400" b="1" dirty="0"/>
              <a:t>Primary</a:t>
            </a:r>
            <a:r>
              <a:rPr lang="en-IN" altLang="en-US" sz="2400" dirty="0"/>
              <a:t> of all managerial functions as it involves deciding of future course of action.</a:t>
            </a:r>
          </a:p>
          <a:p>
            <a:pPr algn="just">
              <a:lnSpc>
                <a:spcPct val="170000"/>
              </a:lnSpc>
            </a:pPr>
            <a:endParaRPr lang="en-IN" altLang="en-US" sz="2400" dirty="0"/>
          </a:p>
          <a:p>
            <a:pPr algn="just">
              <a:lnSpc>
                <a:spcPct val="170000"/>
              </a:lnSpc>
              <a:buFontTx/>
              <a:buNone/>
            </a:pPr>
            <a:r>
              <a:rPr lang="en-IN" altLang="en-US" sz="2400" dirty="0"/>
              <a:t> Planning involves defining the organization’s </a:t>
            </a:r>
            <a:r>
              <a:rPr lang="en-IN" altLang="en-US" sz="2400" b="1" dirty="0"/>
              <a:t>goals</a:t>
            </a:r>
            <a:r>
              <a:rPr lang="en-IN" altLang="en-US" sz="2400" dirty="0"/>
              <a:t>, establishing overall </a:t>
            </a:r>
            <a:r>
              <a:rPr lang="en-IN" altLang="en-US" sz="2400" b="1" dirty="0"/>
              <a:t>strategy</a:t>
            </a:r>
            <a:r>
              <a:rPr lang="en-IN" altLang="en-US" sz="2400" dirty="0"/>
              <a:t> for achieving goals, and </a:t>
            </a:r>
            <a:r>
              <a:rPr lang="en-IN" altLang="en-US" sz="2400" b="1" dirty="0"/>
              <a:t>developing</a:t>
            </a:r>
            <a:r>
              <a:rPr lang="en-IN" altLang="en-US" sz="2400" dirty="0"/>
              <a:t> a comprehensive set of plans to integrate, coordinate organizational work.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449736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713A3-10B6-4731-AB41-A269C25AE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So, Planning 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5FE51-D1DE-40C5-B071-9099332242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5A2FFF-B420-4FA1-A116-BB58BBF7978E}"/>
              </a:ext>
            </a:extLst>
          </p:cNvPr>
          <p:cNvSpPr/>
          <p:nvPr/>
        </p:nvSpPr>
        <p:spPr>
          <a:xfrm>
            <a:off x="1949670" y="1934079"/>
            <a:ext cx="3878317" cy="7725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Thinking Before doing</a:t>
            </a:r>
          </a:p>
          <a:p>
            <a:pPr algn="ctr"/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E9E370-335F-4576-A980-75ABC1B55843}"/>
              </a:ext>
            </a:extLst>
          </p:cNvPr>
          <p:cNvSpPr/>
          <p:nvPr/>
        </p:nvSpPr>
        <p:spPr>
          <a:xfrm>
            <a:off x="2816772" y="3429000"/>
            <a:ext cx="7141780" cy="16790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Deciding in advance : What to do, How to do it, When to do it, Where to do it, Why is it to be done and Who is to do it.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4090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4C2F8-1C81-4A6F-4D7B-10DCB1FDA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5W + 1H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487A8ED-750B-32E9-47B8-31EA433376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70" t="36848" r="13517" b="32689"/>
          <a:stretch/>
        </p:blipFill>
        <p:spPr>
          <a:xfrm>
            <a:off x="2514599" y="2895599"/>
            <a:ext cx="7516697" cy="2514601"/>
          </a:xfrm>
        </p:spPr>
      </p:pic>
    </p:spTree>
    <p:extLst>
      <p:ext uri="{BB962C8B-B14F-4D97-AF65-F5344CB8AC3E}">
        <p14:creationId xmlns:p14="http://schemas.microsoft.com/office/powerpoint/2010/main" val="18755477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00208-B54A-E3C7-22E7-98F9D96C1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4B4B4C"/>
                </a:solidFill>
                <a:effectLst/>
                <a:latin typeface="Open Sans" panose="020B0606030504020204" pitchFamily="34" charset="0"/>
              </a:rPr>
              <a:t>Example - Software Error</a:t>
            </a:r>
            <a:endParaRPr lang="en-US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B48E97-D997-23F4-EEEF-E0527C0394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118" y="1825625"/>
            <a:ext cx="5929764" cy="4351338"/>
          </a:xfrm>
        </p:spPr>
      </p:pic>
    </p:spTree>
    <p:extLst>
      <p:ext uri="{BB962C8B-B14F-4D97-AF65-F5344CB8AC3E}">
        <p14:creationId xmlns:p14="http://schemas.microsoft.com/office/powerpoint/2010/main" val="32841495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46F0FE2-FF48-4375-A75D-30762D4A92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3951" b="178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D3C921-EF8B-4172-B85C-132FC9E44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Case Study : Boeing 787 Dreamliner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992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lane on tarmac">
            <a:extLst>
              <a:ext uri="{FF2B5EF4-FFF2-40B4-BE49-F238E27FC236}">
                <a16:creationId xmlns:a16="http://schemas.microsoft.com/office/drawing/2014/main" id="{57D8D448-9B9F-9843-DCD8-B48A300927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538" b="7192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B1D4F77-A17C-43D7-B7FA-545148E4E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21176"/>
            <a:ext cx="4332307" cy="5896743"/>
          </a:xfrm>
          <a:prstGeom prst="rect">
            <a:avLst/>
          </a:prstGeom>
          <a:solidFill>
            <a:schemeClr val="bg1">
              <a:alpha val="90000"/>
            </a:schemeClr>
          </a:solidFill>
          <a:ln w="127000" cap="sq" cmpd="thinThick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6FA0B9-724D-4DDF-8317-BD9BB6B97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805" y="640263"/>
            <a:ext cx="3759240" cy="1344975"/>
          </a:xfrm>
        </p:spPr>
        <p:txBody>
          <a:bodyPr>
            <a:normAutofit/>
          </a:bodyPr>
          <a:lstStyle/>
          <a:p>
            <a:r>
              <a:rPr lang="en-US" sz="3400"/>
              <a:t>Case Study : Boeing 787 Dreamliner</a:t>
            </a:r>
            <a:endParaRPr lang="en-IN" sz="3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8DC3F-FC32-483B-8500-392D2FF00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110" y="2121763"/>
            <a:ext cx="3764826" cy="3773010"/>
          </a:xfrm>
        </p:spPr>
        <p:txBody>
          <a:bodyPr>
            <a:normAutofit/>
          </a:bodyPr>
          <a:lstStyle/>
          <a:p>
            <a:r>
              <a:rPr lang="en-US" altLang="en-US" sz="1800" dirty="0"/>
              <a:t>Boeing called its new 787 aircraft the </a:t>
            </a:r>
            <a:r>
              <a:rPr lang="en-US" altLang="en-US" sz="1800" b="1" dirty="0"/>
              <a:t>Dreamliner</a:t>
            </a:r>
            <a:r>
              <a:rPr lang="en-US" altLang="en-US" sz="1800" dirty="0"/>
              <a:t>, but the project turned into more of a nightmare for managers. </a:t>
            </a:r>
          </a:p>
          <a:p>
            <a:r>
              <a:rPr lang="en-US" altLang="en-US" sz="1800" dirty="0"/>
              <a:t>The new plane was the company’s most popular product ever, mostly because of its innovations, especially in fuel efficiency. However, the plane was two and a half years behind schedule.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5728756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ack view of an aeroplane">
            <a:extLst>
              <a:ext uri="{FF2B5EF4-FFF2-40B4-BE49-F238E27FC236}">
                <a16:creationId xmlns:a16="http://schemas.microsoft.com/office/drawing/2014/main" id="{83ADE10F-2CC1-D797-726B-562236736A9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B1D4F77-A17C-43D7-B7FA-545148E4E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21176"/>
            <a:ext cx="4332307" cy="5896743"/>
          </a:xfrm>
          <a:prstGeom prst="rect">
            <a:avLst/>
          </a:prstGeom>
          <a:solidFill>
            <a:schemeClr val="bg1">
              <a:alpha val="90000"/>
            </a:schemeClr>
          </a:solidFill>
          <a:ln w="127000" cap="sq" cmpd="thinThick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45150-DBF7-4A85-85AC-4977911A2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110" y="321176"/>
            <a:ext cx="3764826" cy="5896743"/>
          </a:xfrm>
        </p:spPr>
        <p:txBody>
          <a:bodyPr>
            <a:normAutofit fontScale="85000" lnSpcReduction="10000"/>
          </a:bodyPr>
          <a:lstStyle/>
          <a:p>
            <a:r>
              <a:rPr lang="en-US" altLang="en-US" sz="3200" dirty="0"/>
              <a:t>Boeing admitted that the project’s timeline was way too ambitious even though every detail had been meticulously planned.</a:t>
            </a:r>
          </a:p>
          <a:p>
            <a:r>
              <a:rPr lang="en-US" altLang="en-US" sz="3200" dirty="0"/>
              <a:t>Some customers (the airlines who ordered the jets)—around 60 in total—got tired of waiting or responded to the changing economic environment and canceled their orders. 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9093359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eroplane taking off against dramatic sky">
            <a:extLst>
              <a:ext uri="{FF2B5EF4-FFF2-40B4-BE49-F238E27FC236}">
                <a16:creationId xmlns:a16="http://schemas.microsoft.com/office/drawing/2014/main" id="{6BEA2FF5-FBCF-597A-6314-9E87BE2A66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413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B1D4F77-A17C-43D7-B7FA-545148E4E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7492064" y="321176"/>
            <a:ext cx="4332307" cy="5896743"/>
          </a:xfrm>
          <a:prstGeom prst="rect">
            <a:avLst/>
          </a:prstGeom>
          <a:solidFill>
            <a:schemeClr val="bg1">
              <a:alpha val="90000"/>
            </a:schemeClr>
          </a:solidFill>
          <a:ln w="127000" cap="sq" cmpd="thinThick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58EA4B-B612-44EB-BFFC-86329CBEF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9985" y="640263"/>
            <a:ext cx="3759240" cy="1344975"/>
          </a:xfrm>
        </p:spPr>
        <p:txBody>
          <a:bodyPr>
            <a:normAutofit/>
          </a:bodyPr>
          <a:lstStyle/>
          <a:p>
            <a:r>
              <a:rPr lang="en-US" sz="4000"/>
              <a:t>Question for Discussion</a:t>
            </a:r>
            <a:endParaRPr lang="en-IN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26938-895F-45AE-9DB3-998BAC76BB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9290" y="2121763"/>
            <a:ext cx="3764826" cy="377301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en-US" sz="4000" dirty="0"/>
              <a:t>   Could Boeing’s managers have planned better?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18392832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AB45A142-4255-493C-8284-5D566C121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21177"/>
            <a:ext cx="4332307" cy="6179552"/>
          </a:xfrm>
          <a:prstGeom prst="rect">
            <a:avLst/>
          </a:prstGeom>
          <a:solidFill>
            <a:srgbClr val="404040">
              <a:alpha val="89804"/>
            </a:srgbClr>
          </a:solidFill>
          <a:ln w="127000" cap="sq" cmpd="thinThick">
            <a:solidFill>
              <a:srgbClr val="595959">
                <a:alpha val="8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0FC71A-BC0B-490F-AC0F-4FFE5214A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237" y="914400"/>
            <a:ext cx="3657600" cy="28875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Why do Managers Plan?</a:t>
            </a:r>
          </a:p>
        </p:txBody>
      </p:sp>
      <p:cxnSp>
        <p:nvCxnSpPr>
          <p:cNvPr id="1033" name="Straight Connector 1032">
            <a:extLst>
              <a:ext uri="{FF2B5EF4-FFF2-40B4-BE49-F238E27FC236}">
                <a16:creationId xmlns:a16="http://schemas.microsoft.com/office/drawing/2014/main" id="{38FB9660-F42F-4313-BBC4-47C007FE4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1126" y="3910267"/>
            <a:ext cx="258679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Why Do Managers Plan?">
            <a:extLst>
              <a:ext uri="{FF2B5EF4-FFF2-40B4-BE49-F238E27FC236}">
                <a16:creationId xmlns:a16="http://schemas.microsoft.com/office/drawing/2014/main" id="{EE26B29A-A929-4C58-BBB9-5598E544EE4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85" t="5033" r="8325"/>
          <a:stretch/>
        </p:blipFill>
        <p:spPr bwMode="auto">
          <a:xfrm>
            <a:off x="5153822" y="1211347"/>
            <a:ext cx="6553545" cy="44432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96052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1292F7-6270-4DAC-9B91-D8F4F87CD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US" sz="3600"/>
              <a:t>Why do Managers Plan?</a:t>
            </a:r>
            <a:endParaRPr lang="en-IN" sz="36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1">
            <a:extLst>
              <a:ext uri="{FF2B5EF4-FFF2-40B4-BE49-F238E27FC236}">
                <a16:creationId xmlns:a16="http://schemas.microsoft.com/office/drawing/2014/main" id="{69E1645B-1A10-44ED-A042-1DD15D5EF8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6604023"/>
              </p:ext>
            </p:extLst>
          </p:nvPr>
        </p:nvGraphicFramePr>
        <p:xfrm>
          <a:off x="643467" y="1782981"/>
          <a:ext cx="10905066" cy="4393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598718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FA0A77-8DE1-4D60-D7B7-6C7437FE657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t="7765" r="1" b="7995"/>
          <a:stretch/>
        </p:blipFill>
        <p:spPr>
          <a:xfrm>
            <a:off x="-4243" y="10"/>
            <a:ext cx="12196243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F8A88AE-63B1-4241-8BAB-EB2656686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IN" sz="3600"/>
              <a:t>Think upon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BB2ADEE-53C2-593F-08F5-725647AFBA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5556744"/>
              </p:ext>
            </p:extLst>
          </p:nvPr>
        </p:nvGraphicFramePr>
        <p:xfrm>
          <a:off x="643467" y="1782981"/>
          <a:ext cx="10905066" cy="4393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81792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6CF07-ABCC-4786-A9FA-31FA157BE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Plans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FD3E35F-279D-4793-9FF9-AB2142078A3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/>
          <a:srcRect t="24444"/>
          <a:stretch/>
        </p:blipFill>
        <p:spPr bwMode="auto">
          <a:xfrm>
            <a:off x="1962277" y="1864312"/>
            <a:ext cx="8481303" cy="3950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0134010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A4A73-EDE7-48F7-AF76-69B26484E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 the basis of Breadth</a:t>
            </a:r>
            <a:endParaRPr lang="en-IN" dirty="0"/>
          </a:p>
        </p:txBody>
      </p:sp>
      <p:pic>
        <p:nvPicPr>
          <p:cNvPr id="1026" name="Picture 2" descr="How Strategic Planning Differs From Operational Planning - Six Disciplines">
            <a:extLst>
              <a:ext uri="{FF2B5EF4-FFF2-40B4-BE49-F238E27FC236}">
                <a16:creationId xmlns:a16="http://schemas.microsoft.com/office/drawing/2014/main" id="{C3786502-1E19-47E7-948D-17D863587BA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2991" y="1704513"/>
            <a:ext cx="8131251" cy="4350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50426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8EC5D5-C436-533C-D14E-323572A6029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t="35" r="1" b="1"/>
          <a:stretch/>
        </p:blipFill>
        <p:spPr>
          <a:xfrm>
            <a:off x="-4243" y="10"/>
            <a:ext cx="12196243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E85D221-28DD-44E8-9E0D-CE7C056E7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321734"/>
            <a:ext cx="10905066" cy="1135737"/>
          </a:xfrm>
        </p:spPr>
        <p:txBody>
          <a:bodyPr>
            <a:normAutofit/>
          </a:bodyPr>
          <a:lstStyle/>
          <a:p>
            <a:r>
              <a:rPr lang="en-US" sz="3600"/>
              <a:t>On the basis of Breadth</a:t>
            </a:r>
            <a:endParaRPr lang="en-IN" sz="36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052629" y="2120024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A580F890-B085-4E95-96AA-55AEBEC5C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289068" y="1343027"/>
            <a:ext cx="2532832" cy="1273032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01ACC43-FF1F-ED31-10BB-74D77CEE92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1511816"/>
              </p:ext>
            </p:extLst>
          </p:nvPr>
        </p:nvGraphicFramePr>
        <p:xfrm>
          <a:off x="643467" y="1782981"/>
          <a:ext cx="10905066" cy="43939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835280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8537B233-9CDD-4A90-AABB-A8963DEE4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A471CF-BBA9-482D-B0B6-87841ED3A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400" y="818457"/>
            <a:ext cx="3322317" cy="297587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On the basis of Time-frame</a:t>
            </a:r>
          </a:p>
        </p:txBody>
      </p:sp>
      <p:pic>
        <p:nvPicPr>
          <p:cNvPr id="2050" name="Picture 2" descr="Don't Day Trade if you can't Make Money Trading Longer Term |  Contracts-For-Difference.com">
            <a:extLst>
              <a:ext uri="{FF2B5EF4-FFF2-40B4-BE49-F238E27FC236}">
                <a16:creationId xmlns:a16="http://schemas.microsoft.com/office/drawing/2014/main" id="{415ECFEB-1721-4215-BA06-1F9A549C1B6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23" r="19918" b="8348"/>
          <a:stretch/>
        </p:blipFill>
        <p:spPr bwMode="auto">
          <a:xfrm>
            <a:off x="716280" y="1166506"/>
            <a:ext cx="6436548" cy="45249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57" name="Straight Connector 2056">
            <a:extLst>
              <a:ext uri="{FF2B5EF4-FFF2-40B4-BE49-F238E27FC236}">
                <a16:creationId xmlns:a16="http://schemas.microsoft.com/office/drawing/2014/main" id="{040575EE-C594-4566-BC00-663004E52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17861" y="1417320"/>
            <a:ext cx="0" cy="402336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16794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!!BGRectangle">
            <a:extLst>
              <a:ext uri="{FF2B5EF4-FFF2-40B4-BE49-F238E27FC236}">
                <a16:creationId xmlns:a16="http://schemas.microsoft.com/office/drawing/2014/main" id="{25E8815A-9407-4234-B08F-A1E49DCD7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-6182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D72D4D1-076F-49D3-9889-EFC4F6D7C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Calculator and folders">
            <a:extLst>
              <a:ext uri="{FF2B5EF4-FFF2-40B4-BE49-F238E27FC236}">
                <a16:creationId xmlns:a16="http://schemas.microsoft.com/office/drawing/2014/main" id="{64444AE5-BC2B-199A-C5C6-2715676E33C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t="15583" b="2300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ED8B87-1FB6-4347-BCC7-D3961ECC3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3877"/>
            <a:ext cx="3494362" cy="4930246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chemeClr val="bg1"/>
                </a:solidFill>
              </a:rPr>
              <a:t>On the basis of Time-frame</a:t>
            </a:r>
            <a:endParaRPr lang="en-IN">
              <a:solidFill>
                <a:schemeClr val="bg1"/>
              </a:solidFill>
            </a:endParaRPr>
          </a:p>
        </p:txBody>
      </p:sp>
      <p:sp>
        <p:nvSpPr>
          <p:cNvPr id="13" name="!!Line">
            <a:extLst>
              <a:ext uri="{FF2B5EF4-FFF2-40B4-BE49-F238E27FC236}">
                <a16:creationId xmlns:a16="http://schemas.microsoft.com/office/drawing/2014/main" id="{C9C56819-FD02-4626-ABF5-85C7463C9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0580" y="2057400"/>
            <a:ext cx="27432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ED36A-1791-4FAC-9D54-D2A793290B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6031" y="963877"/>
            <a:ext cx="6377769" cy="493024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FFFF00"/>
                </a:solidFill>
              </a:rPr>
              <a:t>Short term plan is for specific departments or specific functions.</a:t>
            </a:r>
          </a:p>
          <a:p>
            <a:pPr marL="0" indent="0">
              <a:buNone/>
            </a:pPr>
            <a:endParaRPr lang="en-US" sz="4000" b="1" dirty="0">
              <a:solidFill>
                <a:srgbClr val="FFFF00"/>
              </a:solidFill>
            </a:endParaRPr>
          </a:p>
          <a:p>
            <a:pPr marL="0" indent="0">
              <a:buNone/>
            </a:pPr>
            <a:endParaRPr lang="en-US" sz="4000" b="1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sz="4000" b="1" dirty="0">
                <a:solidFill>
                  <a:srgbClr val="FFFF00"/>
                </a:solidFill>
              </a:rPr>
              <a:t>Long-term plan is for organization as a whole.</a:t>
            </a:r>
            <a:endParaRPr lang="en-IN" sz="40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49939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2BDE5-E4CE-45E9-8284-23CB2AC54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 the basis of specificity</a:t>
            </a:r>
            <a:endParaRPr lang="en-IN" dirty="0"/>
          </a:p>
        </p:txBody>
      </p:sp>
      <p:pic>
        <p:nvPicPr>
          <p:cNvPr id="3074" name="Picture 2" descr="The Foundations of Planning - online presentation">
            <a:extLst>
              <a:ext uri="{FF2B5EF4-FFF2-40B4-BE49-F238E27FC236}">
                <a16:creationId xmlns:a16="http://schemas.microsoft.com/office/drawing/2014/main" id="{53CBD506-FED1-4A2B-B1E0-66F832A3DD4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08" t="5303" r="4885" b="9933"/>
          <a:stretch/>
        </p:blipFill>
        <p:spPr bwMode="auto">
          <a:xfrm>
            <a:off x="2638148" y="1625494"/>
            <a:ext cx="6915704" cy="4868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84240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Rectangle 4102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5" name="Rectangle 4104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435A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DA6665-D900-4CE9-89E9-35DB0F62A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On the basis of frequency of use</a:t>
            </a:r>
          </a:p>
        </p:txBody>
      </p:sp>
      <p:pic>
        <p:nvPicPr>
          <p:cNvPr id="4098" name="Picture 2" descr="Single-use VS Standing Plan by Nadhirah Alhabshi on Prezi">
            <a:extLst>
              <a:ext uri="{FF2B5EF4-FFF2-40B4-BE49-F238E27FC236}">
                <a16:creationId xmlns:a16="http://schemas.microsoft.com/office/drawing/2014/main" id="{3A4240C3-4786-41CA-A36B-7C9C36E7615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02" t="32454" r="13040" b="15997"/>
          <a:stretch/>
        </p:blipFill>
        <p:spPr bwMode="auto">
          <a:xfrm>
            <a:off x="4038600" y="1556071"/>
            <a:ext cx="7188199" cy="374246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72858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3453768-A220-4428-8B0B-F140A74C9D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1" b="1498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F4DA5C-304E-475C-BCD1-D3F3F6527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</a:rPr>
              <a:t>How does a Manager plan?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68714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A6845FA-8854-58F2-9E65-9819827C546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B1D4F77-A17C-43D7-B7FA-545148E4E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7492064" y="321176"/>
            <a:ext cx="4332307" cy="5896743"/>
          </a:xfrm>
          <a:prstGeom prst="rect">
            <a:avLst/>
          </a:prstGeom>
          <a:solidFill>
            <a:schemeClr val="bg1">
              <a:alpha val="90000"/>
            </a:schemeClr>
          </a:solidFill>
          <a:ln w="127000" cap="sq" cmpd="thinThick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87084F-3863-4538-ADF4-AC6037391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5880" y="321176"/>
            <a:ext cx="4332306" cy="1344975"/>
          </a:xfrm>
        </p:spPr>
        <p:txBody>
          <a:bodyPr>
            <a:normAutofit/>
          </a:bodyPr>
          <a:lstStyle/>
          <a:p>
            <a:r>
              <a:rPr lang="en-US" sz="4000" b="1" dirty="0"/>
              <a:t>Process of Planning</a:t>
            </a: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16416-BDE1-4B9F-BB63-5B77BBCD6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9290" y="1536700"/>
            <a:ext cx="3764826" cy="4584700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60000"/>
              </a:lnSpc>
            </a:pPr>
            <a:r>
              <a:rPr lang="en-US" dirty="0"/>
              <a:t>Setting objectives</a:t>
            </a:r>
          </a:p>
          <a:p>
            <a:pPr>
              <a:lnSpc>
                <a:spcPct val="160000"/>
              </a:lnSpc>
            </a:pPr>
            <a:r>
              <a:rPr lang="en-US" dirty="0"/>
              <a:t>Developing planning premises</a:t>
            </a:r>
          </a:p>
          <a:p>
            <a:pPr>
              <a:lnSpc>
                <a:spcPct val="160000"/>
              </a:lnSpc>
            </a:pPr>
            <a:r>
              <a:rPr lang="en-US" dirty="0"/>
              <a:t>Identifying alternative course of action</a:t>
            </a:r>
          </a:p>
          <a:p>
            <a:pPr>
              <a:lnSpc>
                <a:spcPct val="160000"/>
              </a:lnSpc>
            </a:pPr>
            <a:r>
              <a:rPr lang="en-US" dirty="0"/>
              <a:t>Evaluating alternative course of action</a:t>
            </a:r>
          </a:p>
          <a:p>
            <a:pPr>
              <a:lnSpc>
                <a:spcPct val="160000"/>
              </a:lnSpc>
            </a:pPr>
            <a:r>
              <a:rPr lang="en-US" dirty="0"/>
              <a:t>Selecting one best Alternative</a:t>
            </a:r>
          </a:p>
          <a:p>
            <a:pPr>
              <a:lnSpc>
                <a:spcPct val="160000"/>
              </a:lnSpc>
            </a:pPr>
            <a:r>
              <a:rPr lang="en-US" dirty="0"/>
              <a:t>Implementing the plan</a:t>
            </a:r>
          </a:p>
          <a:p>
            <a:pPr>
              <a:lnSpc>
                <a:spcPct val="160000"/>
              </a:lnSpc>
            </a:pPr>
            <a:r>
              <a:rPr lang="en-US" dirty="0"/>
              <a:t>Follow up action</a:t>
            </a:r>
          </a:p>
        </p:txBody>
      </p:sp>
    </p:spTree>
    <p:extLst>
      <p:ext uri="{BB962C8B-B14F-4D97-AF65-F5344CB8AC3E}">
        <p14:creationId xmlns:p14="http://schemas.microsoft.com/office/powerpoint/2010/main" val="604907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DA2114C-9343-1344-BE9C-C2DE62A6E30A}">
  <we:reference id="wa200001409" version="1.0.0.3" store="en-US" storeType="OMEX"/>
  <we:alternateReferences>
    <we:reference id="wa200001409" version="1.0.0.3" store="wa200001409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650</Words>
  <Application>Microsoft Macintosh PowerPoint</Application>
  <PresentationFormat>Widescreen</PresentationFormat>
  <Paragraphs>105</Paragraphs>
  <Slides>27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Calibri</vt:lpstr>
      <vt:lpstr>Calibri Light</vt:lpstr>
      <vt:lpstr>Open Sans</vt:lpstr>
      <vt:lpstr>Tw Cen MT</vt:lpstr>
      <vt:lpstr>Office Theme</vt:lpstr>
      <vt:lpstr>PLANNING</vt:lpstr>
      <vt:lpstr>Does goal setting fit your management style?</vt:lpstr>
      <vt:lpstr>Does goal setting fit your management style?</vt:lpstr>
      <vt:lpstr>Does goal setting fit your management style?</vt:lpstr>
      <vt:lpstr>Does goal setting fit your management style?</vt:lpstr>
      <vt:lpstr>Scoring</vt:lpstr>
      <vt:lpstr>Interpretation</vt:lpstr>
      <vt:lpstr>Concept of Planning</vt:lpstr>
      <vt:lpstr>So, Planning is</vt:lpstr>
      <vt:lpstr>5W + 1H</vt:lpstr>
      <vt:lpstr>Example - Software Error</vt:lpstr>
      <vt:lpstr>Case Study : Boeing 787 Dreamliner</vt:lpstr>
      <vt:lpstr>Case Study : Boeing 787 Dreamliner</vt:lpstr>
      <vt:lpstr>PowerPoint Presentation</vt:lpstr>
      <vt:lpstr>Question for Discussion</vt:lpstr>
      <vt:lpstr>Why do Managers Plan?</vt:lpstr>
      <vt:lpstr>Why do Managers Plan?</vt:lpstr>
      <vt:lpstr>Think upon </vt:lpstr>
      <vt:lpstr>Types of Plans</vt:lpstr>
      <vt:lpstr>On the basis of Breadth</vt:lpstr>
      <vt:lpstr>On the basis of Breadth</vt:lpstr>
      <vt:lpstr>On the basis of Time-frame</vt:lpstr>
      <vt:lpstr>On the basis of Time-frame</vt:lpstr>
      <vt:lpstr>On the basis of specificity</vt:lpstr>
      <vt:lpstr>On the basis of frequency of use</vt:lpstr>
      <vt:lpstr>How does a Manager plan?</vt:lpstr>
      <vt:lpstr>Process of Planning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PLANNING</dc:title>
  <dc:creator>video recording2</dc:creator>
  <cp:lastModifiedBy>Jaskiran Kaur</cp:lastModifiedBy>
  <cp:revision>29</cp:revision>
  <dcterms:created xsi:type="dcterms:W3CDTF">2022-08-09T05:53:22Z</dcterms:created>
  <dcterms:modified xsi:type="dcterms:W3CDTF">2022-08-11T09:01:25Z</dcterms:modified>
</cp:coreProperties>
</file>