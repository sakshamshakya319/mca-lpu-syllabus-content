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1" r:id="rId3"/>
    <p:sldId id="303" r:id="rId4"/>
    <p:sldId id="304" r:id="rId5"/>
    <p:sldId id="302" r:id="rId6"/>
    <p:sldId id="305" r:id="rId7"/>
    <p:sldId id="297" r:id="rId8"/>
    <p:sldId id="299" r:id="rId9"/>
    <p:sldId id="298" r:id="rId10"/>
    <p:sldId id="274" r:id="rId11"/>
    <p:sldId id="275" r:id="rId12"/>
    <p:sldId id="273" r:id="rId13"/>
    <p:sldId id="264" r:id="rId14"/>
    <p:sldId id="258" r:id="rId15"/>
    <p:sldId id="307" r:id="rId16"/>
    <p:sldId id="306" r:id="rId17"/>
    <p:sldId id="283" r:id="rId18"/>
    <p:sldId id="278" r:id="rId19"/>
    <p:sldId id="279" r:id="rId20"/>
    <p:sldId id="296" r:id="rId21"/>
    <p:sldId id="280" r:id="rId22"/>
    <p:sldId id="261" r:id="rId23"/>
    <p:sldId id="269" r:id="rId24"/>
    <p:sldId id="281" r:id="rId25"/>
    <p:sldId id="270" r:id="rId26"/>
    <p:sldId id="262" r:id="rId27"/>
    <p:sldId id="272" r:id="rId28"/>
    <p:sldId id="271" r:id="rId29"/>
    <p:sldId id="294" r:id="rId30"/>
    <p:sldId id="284" r:id="rId31"/>
    <p:sldId id="263" r:id="rId32"/>
    <p:sldId id="266" r:id="rId33"/>
    <p:sldId id="28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051116F-9836-4E44-9CA4-474F444FB51D}" type="datetimeFigureOut">
              <a:rPr lang="en-US" smtClean="0"/>
              <a:t>10/5/2018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51116F-9836-4E44-9CA4-474F444FB51D}" type="datetimeFigureOut">
              <a:rPr lang="en-US" smtClean="0"/>
              <a:t>10/5/2018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478562-3710-44FF-A37E-E88BF82FB7DB}"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51116F-9836-4E44-9CA4-474F444FB51D}" type="datetimeFigureOut">
              <a:rPr lang="en-US" smtClean="0"/>
              <a:t>10/5/2018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2051116F-9836-4E44-9CA4-474F444FB51D}" type="datetimeFigureOut">
              <a:rPr lang="en-US" smtClean="0"/>
              <a:t>10/5/2018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478562-3710-44FF-A37E-E88BF82FB7DB}" type="slidenum">
              <a:rPr lang="en-US" smtClean="0"/>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051116F-9836-4E44-9CA4-474F444FB51D}" type="datetimeFigureOut">
              <a:rPr lang="en-US" smtClean="0"/>
              <a:t>10/5/2018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51116F-9836-4E44-9CA4-474F444FB51D}" type="datetimeFigureOut">
              <a:rPr lang="en-US" smtClean="0"/>
              <a:t>10/5/2018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2051116F-9836-4E44-9CA4-474F444FB51D}" type="datetimeFigureOut">
              <a:rPr lang="en-US" smtClean="0"/>
              <a:t>10/5/2018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2051116F-9836-4E44-9CA4-474F444FB51D}" type="datetimeFigureOut">
              <a:rPr lang="en-US" smtClean="0"/>
              <a:t>10/5/2018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478562-3710-44FF-A37E-E88BF82FB7DB}" type="slidenum">
              <a:rPr lang="en-US" smtClean="0"/>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51116F-9836-4E44-9CA4-474F444FB51D}" type="datetimeFigureOut">
              <a:rPr lang="en-US" smtClean="0"/>
              <a:t>10/5/2018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478562-3710-44FF-A37E-E88BF82FB7DB}" type="slidenum">
              <a:rPr lang="en-US" smtClean="0"/>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51116F-9836-4E44-9CA4-474F444FB51D}" type="datetimeFigureOut">
              <a:rPr lang="en-US" smtClean="0"/>
              <a:t>10/5/2018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478562-3710-44FF-A37E-E88BF82FB7D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051116F-9836-4E44-9CA4-474F444FB51D}" type="datetimeFigureOut">
              <a:rPr lang="en-US" smtClean="0"/>
              <a:t>10/5/2018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478562-3710-44FF-A37E-E88BF82FB7DB}" type="slidenum">
              <a:rPr lang="en-US" smtClean="0"/>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2051116F-9836-4E44-9CA4-474F444FB51D}" type="datetimeFigureOut">
              <a:rPr lang="en-US" smtClean="0"/>
              <a:t>10/5/2018</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FE478562-3710-44FF-A37E-E88BF82FB7DB}" type="slidenum">
              <a:rPr lang="en-US" smtClean="0"/>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728350"/>
            <a:ext cx="8991600" cy="685800"/>
          </a:xfrm>
        </p:spPr>
        <p:txBody>
          <a:bodyPr>
            <a:normAutofit fontScale="90000"/>
          </a:bodyPr>
          <a:lstStyle/>
          <a:p>
            <a:r>
              <a:rPr lang="en-US" sz="36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History &amp; Evolution to Cloud Computing</a:t>
            </a:r>
            <a:br>
              <a:rPr lang="en-US" sz="36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br>
            <a:r>
              <a:rPr lang="en-US" sz="36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(from Desktop to Data Center)</a:t>
            </a:r>
            <a:endParaRPr lang="en-US" sz="3600" dirty="0"/>
          </a:p>
        </p:txBody>
      </p:sp>
      <p:sp>
        <p:nvSpPr>
          <p:cNvPr id="3" name="Subtitle 2"/>
          <p:cNvSpPr>
            <a:spLocks noGrp="1"/>
          </p:cNvSpPr>
          <p:nvPr>
            <p:ph type="subTitle" idx="1"/>
          </p:nvPr>
        </p:nvSpPr>
        <p:spPr>
          <a:xfrm>
            <a:off x="609600" y="5943600"/>
            <a:ext cx="8229600" cy="787399"/>
          </a:xfrm>
        </p:spPr>
        <p:txBody>
          <a:bodyPr>
            <a:normAutofit fontScale="62500" lnSpcReduction="20000"/>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88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By: Dr. Rajeshwari Trivedi</a:t>
            </a:r>
            <a:endParaRPr lang="en-US" sz="88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pic>
        <p:nvPicPr>
          <p:cNvPr id="4" name="Picture 3"/>
          <p:cNvPicPr>
            <a:picLocks noChangeAspect="1"/>
          </p:cNvPicPr>
          <p:nvPr/>
        </p:nvPicPr>
        <p:blipFill>
          <a:blip r:embed="rId2"/>
          <a:stretch>
            <a:fillRect/>
          </a:stretch>
        </p:blipFill>
        <p:spPr>
          <a:xfrm>
            <a:off x="1600200" y="2057400"/>
            <a:ext cx="5334462" cy="3292125"/>
          </a:xfrm>
          <a:prstGeom prst="rect">
            <a:avLst/>
          </a:prstGeom>
        </p:spPr>
      </p:pic>
    </p:spTree>
    <p:extLst>
      <p:ext uri="{BB962C8B-B14F-4D97-AF65-F5344CB8AC3E}">
        <p14:creationId xmlns:p14="http://schemas.microsoft.com/office/powerpoint/2010/main" val="41536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2057400"/>
            <a:ext cx="8386233" cy="4648200"/>
          </a:xfrm>
        </p:spPr>
        <p:txBody>
          <a:bodyPr/>
          <a:lstStyle/>
          <a:p>
            <a:pPr algn="just"/>
            <a:r>
              <a:rPr lang="en-US" dirty="0" smtClean="0"/>
              <a:t>Cloud is a mass of droplets in the sky and it is attracted with the Gravity and comes to earth in the form of Rain…</a:t>
            </a:r>
          </a:p>
          <a:p>
            <a:pPr algn="just"/>
            <a:r>
              <a:rPr lang="en-US" dirty="0" smtClean="0"/>
              <a:t>Same in IT field cloud is mass of Infrastructure, Applications, Services which are floated in the datacenters (instead of sky) and attracted by money.</a:t>
            </a:r>
          </a:p>
          <a:p>
            <a:pPr algn="just"/>
            <a:r>
              <a:rPr lang="en-US" dirty="0" smtClean="0"/>
              <a:t>Money may be paid by users, organizations  or the clients for renting or hiring these services.</a:t>
            </a:r>
          </a:p>
          <a:p>
            <a:pPr algn="just"/>
            <a:endParaRPr lang="en-US" dirty="0"/>
          </a:p>
          <a:p>
            <a:pPr algn="just"/>
            <a:endParaRPr lang="en-IN" dirty="0"/>
          </a:p>
        </p:txBody>
      </p:sp>
      <p:sp>
        <p:nvSpPr>
          <p:cNvPr id="3" name="Title 2"/>
          <p:cNvSpPr>
            <a:spLocks noGrp="1"/>
          </p:cNvSpPr>
          <p:nvPr>
            <p:ph type="title"/>
          </p:nvPr>
        </p:nvSpPr>
        <p:spPr>
          <a:xfrm>
            <a:off x="461433" y="685800"/>
            <a:ext cx="8229600" cy="1252728"/>
          </a:xfrm>
        </p:spPr>
        <p:txBody>
          <a:bodyPr>
            <a:noAutofit/>
          </a:bodyPr>
          <a:lstStyle/>
          <a:p>
            <a:r>
              <a:rPr lang="en-US" sz="6600" b="1" dirty="0">
                <a:solidFill>
                  <a:srgbClr val="FFC000"/>
                </a:solidFill>
              </a:rPr>
              <a:t>Cloud</a:t>
            </a:r>
            <a:br>
              <a:rPr lang="en-US" sz="6600" b="1" dirty="0">
                <a:solidFill>
                  <a:srgbClr val="FFC000"/>
                </a:solidFill>
              </a:rPr>
            </a:br>
            <a:endParaRPr lang="en-IN" sz="6600" b="1" dirty="0">
              <a:solidFill>
                <a:srgbClr val="FFC000"/>
              </a:solidFill>
            </a:endParaRPr>
          </a:p>
        </p:txBody>
      </p:sp>
      <p:pic>
        <p:nvPicPr>
          <p:cNvPr id="4" name="Picture 3"/>
          <p:cNvPicPr>
            <a:picLocks noChangeAspect="1"/>
          </p:cNvPicPr>
          <p:nvPr/>
        </p:nvPicPr>
        <p:blipFill rotWithShape="1">
          <a:blip r:embed="rId2"/>
          <a:srcRect l="12518" t="43750" r="78111" b="25000"/>
          <a:stretch/>
        </p:blipFill>
        <p:spPr>
          <a:xfrm>
            <a:off x="5334000" y="4439478"/>
            <a:ext cx="2743200" cy="2286000"/>
          </a:xfrm>
          <a:prstGeom prst="rect">
            <a:avLst/>
          </a:prstGeom>
        </p:spPr>
      </p:pic>
    </p:spTree>
    <p:extLst>
      <p:ext uri="{BB962C8B-B14F-4D97-AF65-F5344CB8AC3E}">
        <p14:creationId xmlns:p14="http://schemas.microsoft.com/office/powerpoint/2010/main" val="68945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5169" y="1600200"/>
            <a:ext cx="4841631" cy="5181600"/>
          </a:xfrm>
        </p:spPr>
        <p:txBody>
          <a:bodyPr>
            <a:normAutofit fontScale="85000" lnSpcReduction="10000"/>
          </a:bodyPr>
          <a:lstStyle/>
          <a:p>
            <a:pPr algn="just"/>
            <a:r>
              <a:rPr lang="en-US" dirty="0"/>
              <a:t>The term </a:t>
            </a:r>
            <a:r>
              <a:rPr lang="en-US" b="1" dirty="0"/>
              <a:t>Cloud</a:t>
            </a:r>
            <a:r>
              <a:rPr lang="en-US" dirty="0"/>
              <a:t> refers to a </a:t>
            </a:r>
            <a:r>
              <a:rPr lang="en-US" b="1" dirty="0"/>
              <a:t>Network</a:t>
            </a:r>
            <a:r>
              <a:rPr lang="en-US" dirty="0"/>
              <a:t> or </a:t>
            </a:r>
            <a:r>
              <a:rPr lang="en-US" b="1" dirty="0"/>
              <a:t>Internet</a:t>
            </a:r>
            <a:r>
              <a:rPr lang="en-US" b="1" dirty="0" smtClean="0"/>
              <a:t>.</a:t>
            </a:r>
          </a:p>
          <a:p>
            <a:pPr algn="just"/>
            <a:r>
              <a:rPr lang="en-US" b="1" dirty="0" smtClean="0"/>
              <a:t>Mainly it has been used in the telecommunication as an abstraction of the network in system diagrams.</a:t>
            </a:r>
          </a:p>
          <a:p>
            <a:pPr algn="just"/>
            <a:r>
              <a:rPr lang="en-US" dirty="0" smtClean="0"/>
              <a:t> </a:t>
            </a:r>
            <a:r>
              <a:rPr lang="en-US" dirty="0"/>
              <a:t>In other words, we can say that Cloud is something, which is present at remote location. Cloud can provide services over public and private networks, i.e., WAN, LAN or VPN.</a:t>
            </a:r>
          </a:p>
          <a:p>
            <a:pPr algn="just"/>
            <a:r>
              <a:rPr lang="en-US" dirty="0"/>
              <a:t>Applications such as e-mail, web conferencing, customer relationship management (CRM) execute on cloud</a:t>
            </a:r>
            <a:r>
              <a:rPr lang="en-US" dirty="0" smtClean="0"/>
              <a:t>.</a:t>
            </a:r>
          </a:p>
          <a:p>
            <a:pPr algn="just"/>
            <a:r>
              <a:rPr lang="en-US" dirty="0" smtClean="0"/>
              <a:t>Network </a:t>
            </a:r>
            <a:r>
              <a:rPr lang="en-US" dirty="0"/>
              <a:t>engineers to represent the location of various network devices and there inter-connection.  The shape of this network design was like a cloud. </a:t>
            </a:r>
          </a:p>
          <a:p>
            <a:pPr algn="just"/>
            <a:endParaRPr lang="en-US" dirty="0"/>
          </a:p>
        </p:txBody>
      </p:sp>
      <p:sp>
        <p:nvSpPr>
          <p:cNvPr id="3" name="Title 2"/>
          <p:cNvSpPr>
            <a:spLocks noGrp="1"/>
          </p:cNvSpPr>
          <p:nvPr>
            <p:ph type="title"/>
          </p:nvPr>
        </p:nvSpPr>
        <p:spPr/>
        <p:txBody>
          <a:bodyPr>
            <a:normAutofit fontScale="90000"/>
          </a:bodyPr>
          <a:lstStyle/>
          <a:p>
            <a:r>
              <a:rPr lang="en-US" b="1" dirty="0"/>
              <a:t>Cloud</a:t>
            </a:r>
            <a:br>
              <a:rPr lang="en-US" b="1"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1" y="1524000"/>
            <a:ext cx="4191000"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103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209800"/>
            <a:ext cx="838200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9502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90600"/>
            <a:ext cx="8686800" cy="4267200"/>
          </a:xfrm>
        </p:spPr>
        <p:txBody>
          <a:bodyPr/>
          <a:lstStyle/>
          <a:p>
            <a:pPr algn="just"/>
            <a:r>
              <a:rPr lang="en-US" dirty="0" smtClean="0"/>
              <a:t>To compute/ the use or operation of computers.</a:t>
            </a:r>
          </a:p>
          <a:p>
            <a:pPr algn="just"/>
            <a:r>
              <a:rPr lang="en-IN" b="1" dirty="0"/>
              <a:t>Computing</a:t>
            </a:r>
            <a:r>
              <a:rPr lang="en-IN" dirty="0"/>
              <a:t> is the process of using computer technology to complete a given goal-oriented </a:t>
            </a:r>
            <a:r>
              <a:rPr lang="en-IN" dirty="0" smtClean="0"/>
              <a:t>task.</a:t>
            </a:r>
          </a:p>
          <a:p>
            <a:pPr algn="just"/>
            <a:endParaRPr lang="en-US" dirty="0" smtClean="0"/>
          </a:p>
        </p:txBody>
      </p:sp>
      <p:sp>
        <p:nvSpPr>
          <p:cNvPr id="3" name="Title 2"/>
          <p:cNvSpPr>
            <a:spLocks noGrp="1"/>
          </p:cNvSpPr>
          <p:nvPr>
            <p:ph type="title"/>
          </p:nvPr>
        </p:nvSpPr>
        <p:spPr/>
        <p:txBody>
          <a:bodyPr>
            <a:normAutofit fontScale="90000"/>
          </a:bodyPr>
          <a:lstStyle/>
          <a:p>
            <a:r>
              <a:rPr lang="en-US" b="1" dirty="0">
                <a:solidFill>
                  <a:srgbClr val="FFC000"/>
                </a:solidFill>
              </a:rPr>
              <a:t>Computing</a:t>
            </a:r>
            <a:br>
              <a:rPr lang="en-US" b="1" dirty="0">
                <a:solidFill>
                  <a:srgbClr val="FFC000"/>
                </a:solidFill>
              </a:rPr>
            </a:br>
            <a:endParaRPr lang="en-I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674938"/>
            <a:ext cx="8458200"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8462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Cloud Computing</a:t>
            </a:r>
            <a:endParaRPr lang="en-US" dirty="0"/>
          </a:p>
        </p:txBody>
      </p:sp>
      <p:sp>
        <p:nvSpPr>
          <p:cNvPr id="4" name="Rectangle 3"/>
          <p:cNvSpPr/>
          <p:nvPr/>
        </p:nvSpPr>
        <p:spPr>
          <a:xfrm>
            <a:off x="228600" y="1828800"/>
            <a:ext cx="8534400" cy="923330"/>
          </a:xfrm>
          <a:prstGeom prst="rect">
            <a:avLst/>
          </a:prstGeom>
        </p:spPr>
        <p:txBody>
          <a:bodyPr wrap="square">
            <a:spAutoFit/>
          </a:bodyPr>
          <a:lstStyle/>
          <a:p>
            <a:pPr algn="just"/>
            <a:r>
              <a:rPr lang="en-IN" i="1" dirty="0"/>
              <a:t>Cloud computing</a:t>
            </a:r>
            <a:r>
              <a:rPr lang="en-IN" dirty="0"/>
              <a:t> means a type of Internet-based computing, where different services —including servers, storage and applications — are delivered to an organization's computers and devices through the Internet.</a:t>
            </a:r>
          </a:p>
        </p:txBody>
      </p:sp>
      <p:pic>
        <p:nvPicPr>
          <p:cNvPr id="7" name="Content Placeholder 6"/>
          <p:cNvPicPr>
            <a:picLocks noGrp="1" noChangeAspect="1"/>
          </p:cNvPicPr>
          <p:nvPr>
            <p:ph idx="1"/>
          </p:nvPr>
        </p:nvPicPr>
        <p:blipFill rotWithShape="1">
          <a:blip r:embed="rId2"/>
          <a:srcRect l="13104" t="44792" r="45315" b="26042"/>
          <a:stretch/>
        </p:blipFill>
        <p:spPr>
          <a:xfrm>
            <a:off x="381000" y="2895600"/>
            <a:ext cx="8382000" cy="3429000"/>
          </a:xfrm>
          <a:prstGeom prst="rect">
            <a:avLst/>
          </a:prstGeom>
        </p:spPr>
      </p:pic>
    </p:spTree>
    <p:extLst>
      <p:ext uri="{BB962C8B-B14F-4D97-AF65-F5344CB8AC3E}">
        <p14:creationId xmlns:p14="http://schemas.microsoft.com/office/powerpoint/2010/main" val="202247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a:p>
        </p:txBody>
      </p:sp>
      <p:pic>
        <p:nvPicPr>
          <p:cNvPr id="17410" name="Picture 2" descr="Image result for service oriented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97" y="152400"/>
            <a:ext cx="8824303"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47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0975"/>
            <a:ext cx="8915400" cy="649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9012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513081"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4722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975338"/>
            <a:ext cx="4114800" cy="4876800"/>
          </a:xfrm>
        </p:spPr>
        <p:txBody>
          <a:bodyPr>
            <a:normAutofit lnSpcReduction="10000"/>
          </a:bodyPr>
          <a:lstStyle/>
          <a:p>
            <a:pPr marL="0" indent="0" algn="just">
              <a:buNone/>
            </a:pPr>
            <a:r>
              <a:rPr lang="en-US" b="1" dirty="0" smtClean="0">
                <a:solidFill>
                  <a:srgbClr val="7030A0"/>
                </a:solidFill>
              </a:rPr>
              <a:t>Situation 1</a:t>
            </a:r>
          </a:p>
          <a:p>
            <a:pPr algn="just"/>
            <a:r>
              <a:rPr lang="en-US" dirty="0" smtClean="0"/>
              <a:t>Our </a:t>
            </a:r>
            <a:r>
              <a:rPr lang="en-US" dirty="0"/>
              <a:t>computational needs are infinite, whereas our financial resources are finite </a:t>
            </a:r>
            <a:endParaRPr lang="en-US" dirty="0" smtClean="0"/>
          </a:p>
          <a:p>
            <a:pPr algn="just"/>
            <a:r>
              <a:rPr lang="en-US" dirty="0"/>
              <a:t>U</a:t>
            </a:r>
            <a:r>
              <a:rPr lang="en-US" dirty="0" smtClean="0"/>
              <a:t>sers </a:t>
            </a:r>
            <a:r>
              <a:rPr lang="en-US" dirty="0"/>
              <a:t>will always want more &amp; more powerful </a:t>
            </a:r>
            <a:r>
              <a:rPr lang="en-US" dirty="0" smtClean="0"/>
              <a:t>computers</a:t>
            </a:r>
          </a:p>
          <a:p>
            <a:pPr algn="just"/>
            <a:r>
              <a:rPr lang="en-US" dirty="0"/>
              <a:t>T</a:t>
            </a:r>
            <a:r>
              <a:rPr lang="en-US" dirty="0" smtClean="0"/>
              <a:t>ry </a:t>
            </a:r>
            <a:r>
              <a:rPr lang="en-US" dirty="0"/>
              <a:t>&amp; utilize the potentially hundreds of thousands of computers  that are interconnected in some unified way </a:t>
            </a:r>
            <a:r>
              <a:rPr lang="en-US" dirty="0" smtClean="0"/>
              <a:t>need </a:t>
            </a:r>
            <a:r>
              <a:rPr lang="en-US" dirty="0"/>
              <a:t>seamless access to remote resources</a:t>
            </a:r>
          </a:p>
        </p:txBody>
      </p:sp>
      <p:sp>
        <p:nvSpPr>
          <p:cNvPr id="3" name="Title 2"/>
          <p:cNvSpPr>
            <a:spLocks noGrp="1"/>
          </p:cNvSpPr>
          <p:nvPr>
            <p:ph type="title"/>
          </p:nvPr>
        </p:nvSpPr>
        <p:spPr/>
        <p:txBody>
          <a:bodyPr/>
          <a:lstStyle/>
          <a:p>
            <a:r>
              <a:rPr lang="en-US" dirty="0" smtClean="0"/>
              <a:t>Motivation</a:t>
            </a:r>
            <a:endParaRPr lang="en-US" dirty="0"/>
          </a:p>
        </p:txBody>
      </p:sp>
      <p:sp>
        <p:nvSpPr>
          <p:cNvPr id="5" name="Content Placeholder 1"/>
          <p:cNvSpPr txBox="1">
            <a:spLocks/>
          </p:cNvSpPr>
          <p:nvPr/>
        </p:nvSpPr>
        <p:spPr>
          <a:xfrm>
            <a:off x="5029200" y="1981200"/>
            <a:ext cx="3648974" cy="4876800"/>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0" indent="0" algn="just">
              <a:buNone/>
            </a:pPr>
            <a:r>
              <a:rPr lang="en-US" b="1" dirty="0">
                <a:solidFill>
                  <a:srgbClr val="7030A0"/>
                </a:solidFill>
              </a:rPr>
              <a:t>Situation </a:t>
            </a:r>
            <a:r>
              <a:rPr lang="en-US" b="1" dirty="0" smtClean="0">
                <a:solidFill>
                  <a:srgbClr val="7030A0"/>
                </a:solidFill>
              </a:rPr>
              <a:t>2</a:t>
            </a:r>
          </a:p>
          <a:p>
            <a:pPr algn="just"/>
            <a:r>
              <a:rPr lang="en-US" dirty="0" smtClean="0"/>
              <a:t>40%Mainframes </a:t>
            </a:r>
            <a:r>
              <a:rPr lang="en-US" dirty="0"/>
              <a:t>are idle </a:t>
            </a:r>
            <a:endParaRPr lang="en-US" dirty="0" smtClean="0"/>
          </a:p>
          <a:p>
            <a:pPr algn="just"/>
            <a:r>
              <a:rPr lang="en-US" dirty="0" smtClean="0"/>
              <a:t>90</a:t>
            </a:r>
            <a:r>
              <a:rPr lang="en-US" dirty="0"/>
              <a:t>% Unix servers are </a:t>
            </a:r>
            <a:r>
              <a:rPr lang="en-US" dirty="0" smtClean="0"/>
              <a:t>idle</a:t>
            </a:r>
          </a:p>
          <a:p>
            <a:pPr algn="just"/>
            <a:r>
              <a:rPr lang="en-US" dirty="0" smtClean="0"/>
              <a:t>95</a:t>
            </a:r>
            <a:r>
              <a:rPr lang="en-US" dirty="0"/>
              <a:t>% PC servers are idle </a:t>
            </a:r>
            <a:endParaRPr lang="en-US" dirty="0" smtClean="0"/>
          </a:p>
          <a:p>
            <a:pPr algn="just"/>
            <a:r>
              <a:rPr lang="en-US" dirty="0" smtClean="0"/>
              <a:t>0-15</a:t>
            </a:r>
            <a:r>
              <a:rPr lang="en-US" dirty="0"/>
              <a:t>% Mainframes are idle in </a:t>
            </a:r>
            <a:r>
              <a:rPr lang="en-US" dirty="0" smtClean="0"/>
              <a:t>peak-hour</a:t>
            </a:r>
          </a:p>
          <a:p>
            <a:pPr algn="just"/>
            <a:r>
              <a:rPr lang="en-US" dirty="0" smtClean="0"/>
              <a:t>70</a:t>
            </a:r>
            <a:r>
              <a:rPr lang="en-US" dirty="0"/>
              <a:t>% PC servers are idle in peak-hour</a:t>
            </a:r>
          </a:p>
        </p:txBody>
      </p:sp>
    </p:spTree>
    <p:extLst>
      <p:ext uri="{BB962C8B-B14F-4D97-AF65-F5344CB8AC3E}">
        <p14:creationId xmlns:p14="http://schemas.microsoft.com/office/powerpoint/2010/main" val="2616939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981200"/>
            <a:ext cx="8382000" cy="2362200"/>
          </a:xfrm>
        </p:spPr>
        <p:txBody>
          <a:bodyPr>
            <a:normAutofit fontScale="92500" lnSpcReduction="10000"/>
          </a:bodyPr>
          <a:lstStyle/>
          <a:p>
            <a:pPr algn="just"/>
            <a:r>
              <a:rPr lang="en-US" dirty="0" smtClean="0"/>
              <a:t>In 1969, Leonard Kleinrock,  one of the chief Scientists of the original Advanced Research Projects Agency Network (ARPANET) which seeded the internet said:</a:t>
            </a:r>
          </a:p>
          <a:p>
            <a:pPr marL="0" indent="0" algn="just">
              <a:buNone/>
            </a:pPr>
            <a:r>
              <a:rPr lang="en-US" dirty="0" smtClean="0"/>
              <a:t>“ As of now, computer networks are still in their infancy, but as they grow and become sophisticated, we will probably see the spread of ‘Computer utilities,  which like present electric and telephone utilities, will service individual homes and offices across the country,”</a:t>
            </a:r>
            <a:endParaRPr lang="en-US" dirty="0"/>
          </a:p>
        </p:txBody>
      </p:sp>
      <p:sp>
        <p:nvSpPr>
          <p:cNvPr id="3" name="Title 2"/>
          <p:cNvSpPr>
            <a:spLocks noGrp="1"/>
          </p:cNvSpPr>
          <p:nvPr>
            <p:ph type="title"/>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04800"/>
            <a:ext cx="42291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414838"/>
            <a:ext cx="4229100"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2904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4400" y="2209800"/>
            <a:ext cx="7408333" cy="3450696"/>
          </a:xfrm>
        </p:spPr>
        <p:txBody>
          <a:bodyPr/>
          <a:lstStyle/>
          <a:p>
            <a:r>
              <a:rPr lang="en-US" dirty="0" smtClean="0"/>
              <a:t>Example of Bank.</a:t>
            </a:r>
            <a:endParaRPr lang="en-US" dirty="0"/>
          </a:p>
        </p:txBody>
      </p:sp>
      <p:sp>
        <p:nvSpPr>
          <p:cNvPr id="3" name="Title 2"/>
          <p:cNvSpPr>
            <a:spLocks noGrp="1"/>
          </p:cNvSpPr>
          <p:nvPr>
            <p:ph type="title"/>
          </p:nvPr>
        </p:nvSpPr>
        <p:spPr/>
        <p:txBody>
          <a:bodyPr/>
          <a:lstStyle/>
          <a:p>
            <a:r>
              <a:rPr lang="en-US" dirty="0" smtClean="0"/>
              <a:t>Introduction</a:t>
            </a:r>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570" t="45192" r="45072" b="17763"/>
          <a:stretch/>
        </p:blipFill>
        <p:spPr bwMode="auto">
          <a:xfrm>
            <a:off x="1066800" y="3733799"/>
            <a:ext cx="7162800" cy="270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821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47800"/>
            <a:ext cx="8686800" cy="5410200"/>
          </a:xfrm>
        </p:spPr>
        <p:txBody>
          <a:bodyPr/>
          <a:lstStyle/>
          <a:p>
            <a:pPr algn="just"/>
            <a:r>
              <a:rPr lang="en-US" dirty="0"/>
              <a:t>Whenever you travel through a bus or train, you take a ticket for your destination and hold back to your seat till you reach your destination. Likewise other passengers also takes ticket and travel in the same bus with you and it hardly bothers you where they go. When your stop comes you get off the bus thanking the driver. Cloud computing is just like that bus, carrying data and information for different users and allows to use its service with minimal cost. </a:t>
            </a:r>
          </a:p>
          <a:p>
            <a:pPr algn="just"/>
            <a:r>
              <a:rPr lang="en-US" dirty="0" smtClean="0"/>
              <a:t>Cloud </a:t>
            </a:r>
            <a:r>
              <a:rPr lang="en-US" dirty="0"/>
              <a:t>Computing provides us means of accessing the applications as utilities over the Internet. It allows us to create, configure, and customize the applications online</a:t>
            </a:r>
            <a:r>
              <a:rPr lang="en-US" dirty="0" smtClean="0"/>
              <a:t>.</a:t>
            </a:r>
          </a:p>
          <a:p>
            <a:pPr algn="just"/>
            <a:r>
              <a:rPr lang="en-US" dirty="0" smtClean="0"/>
              <a:t>Cloud Computing turns IT services into utilities</a:t>
            </a:r>
          </a:p>
          <a:p>
            <a:pPr algn="just"/>
            <a:r>
              <a:rPr lang="en-US" dirty="0" smtClean="0">
                <a:solidFill>
                  <a:srgbClr val="7030A0"/>
                </a:solidFill>
              </a:rPr>
              <a:t>It is effective composition of several technologies.</a:t>
            </a:r>
            <a:endParaRPr lang="en-US" dirty="0">
              <a:solidFill>
                <a:srgbClr val="7030A0"/>
              </a:solidFill>
            </a:endParaRPr>
          </a:p>
        </p:txBody>
      </p:sp>
      <p:sp>
        <p:nvSpPr>
          <p:cNvPr id="3" name="Title 2"/>
          <p:cNvSpPr>
            <a:spLocks noGrp="1"/>
          </p:cNvSpPr>
          <p:nvPr>
            <p:ph type="title"/>
          </p:nvPr>
        </p:nvSpPr>
        <p:spPr/>
        <p:txBody>
          <a:bodyPr/>
          <a:lstStyle/>
          <a:p>
            <a:r>
              <a:rPr lang="en-US" dirty="0" smtClean="0"/>
              <a:t>Introduction</a:t>
            </a:r>
            <a:endParaRPr lang="en-US" dirty="0"/>
          </a:p>
        </p:txBody>
      </p:sp>
    </p:spTree>
    <p:extLst>
      <p:ext uri="{BB962C8B-B14F-4D97-AF65-F5344CB8AC3E}">
        <p14:creationId xmlns:p14="http://schemas.microsoft.com/office/powerpoint/2010/main" val="70777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981200"/>
            <a:ext cx="8610600" cy="4343400"/>
          </a:xfrm>
        </p:spPr>
        <p:txBody>
          <a:bodyPr>
            <a:normAutofit fontScale="92500"/>
          </a:bodyPr>
          <a:lstStyle/>
          <a:p>
            <a:pPr algn="just"/>
            <a:r>
              <a:rPr lang="en-US" dirty="0" smtClean="0"/>
              <a:t>The idea of renting computing services by leveraging large distributed computing facilities has been around for a long time.</a:t>
            </a:r>
          </a:p>
          <a:p>
            <a:pPr algn="just"/>
            <a:r>
              <a:rPr lang="en-US" dirty="0" smtClean="0"/>
              <a:t>From mainframes in the early fifties , technology has evolved and refined.</a:t>
            </a:r>
          </a:p>
          <a:p>
            <a:pPr algn="just"/>
            <a:r>
              <a:rPr lang="en-US" dirty="0" smtClean="0"/>
              <a:t>Five core technologies that played an important role in the realization of cloud computing :</a:t>
            </a:r>
          </a:p>
          <a:p>
            <a:pPr lvl="1" algn="just"/>
            <a:r>
              <a:rPr lang="en-US" dirty="0" smtClean="0"/>
              <a:t>Distributed Systems</a:t>
            </a:r>
          </a:p>
          <a:p>
            <a:pPr lvl="1" algn="just"/>
            <a:r>
              <a:rPr lang="en-US" dirty="0" smtClean="0"/>
              <a:t>Virtualization</a:t>
            </a:r>
          </a:p>
          <a:p>
            <a:pPr lvl="1" algn="just"/>
            <a:r>
              <a:rPr lang="en-US" dirty="0" smtClean="0"/>
              <a:t>Web 2.0</a:t>
            </a:r>
          </a:p>
          <a:p>
            <a:pPr lvl="1" algn="just"/>
            <a:r>
              <a:rPr lang="en-US" dirty="0" smtClean="0"/>
              <a:t>Service Oriented Computing and</a:t>
            </a:r>
          </a:p>
          <a:p>
            <a:pPr lvl="1" algn="just"/>
            <a:r>
              <a:rPr lang="en-US" dirty="0" smtClean="0"/>
              <a:t>Utility Computing</a:t>
            </a:r>
            <a:endParaRPr lang="en-US" dirty="0"/>
          </a:p>
        </p:txBody>
      </p:sp>
      <p:sp>
        <p:nvSpPr>
          <p:cNvPr id="3" name="Title 2"/>
          <p:cNvSpPr>
            <a:spLocks noGrp="1"/>
          </p:cNvSpPr>
          <p:nvPr>
            <p:ph type="title"/>
          </p:nvPr>
        </p:nvSpPr>
        <p:spPr/>
        <p:txBody>
          <a:bodyPr>
            <a:normAutofit fontScale="90000"/>
          </a:bodyPr>
          <a:lstStyle/>
          <a:p>
            <a:r>
              <a:rPr lang="en-US" dirty="0"/>
              <a:t>History &amp; Evolution of Cloud Computing</a:t>
            </a:r>
          </a:p>
        </p:txBody>
      </p:sp>
    </p:spTree>
    <p:extLst>
      <p:ext uri="{BB962C8B-B14F-4D97-AF65-F5344CB8AC3E}">
        <p14:creationId xmlns:p14="http://schemas.microsoft.com/office/powerpoint/2010/main" val="2149903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6376" t="38663" r="36887" b="4950"/>
          <a:stretch/>
        </p:blipFill>
        <p:spPr bwMode="auto">
          <a:xfrm>
            <a:off x="152400" y="152400"/>
            <a:ext cx="8839200" cy="6776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6163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599" y="228600"/>
            <a:ext cx="8690015"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122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0"/>
            <a:ext cx="8991599" cy="1371600"/>
          </a:xfrm>
        </p:spPr>
        <p:txBody>
          <a:bodyPr>
            <a:normAutofit fontScale="92500" lnSpcReduction="10000"/>
          </a:bodyPr>
          <a:lstStyle/>
          <a:p>
            <a:pPr algn="just"/>
            <a:r>
              <a:rPr lang="en-US" dirty="0"/>
              <a:t>The concept of </a:t>
            </a:r>
            <a:r>
              <a:rPr lang="en-US" b="1" dirty="0"/>
              <a:t>Cloud Computing</a:t>
            </a:r>
            <a:r>
              <a:rPr lang="en-US" dirty="0"/>
              <a:t> came into existence in the year 1950 with implementation of mainframe computers, accessible via </a:t>
            </a:r>
            <a:r>
              <a:rPr lang="en-US" b="1" dirty="0"/>
              <a:t>thin/static clients.</a:t>
            </a:r>
            <a:r>
              <a:rPr lang="en-US" dirty="0"/>
              <a:t> Since then, cloud computing has been evolved from static clients to dynamic ones and from software to services.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050774"/>
            <a:ext cx="81534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5708374"/>
            <a:ext cx="8153400" cy="646331"/>
          </a:xfrm>
          <a:prstGeom prst="rect">
            <a:avLst/>
          </a:prstGeom>
        </p:spPr>
        <p:txBody>
          <a:bodyPr wrap="square">
            <a:spAutoFit/>
          </a:bodyPr>
          <a:lstStyle/>
          <a:p>
            <a:r>
              <a:rPr lang="en-US" dirty="0"/>
              <a:t>Three major milestones have led to Cloud Computing:</a:t>
            </a:r>
          </a:p>
          <a:p>
            <a:pPr lvl="1"/>
            <a:r>
              <a:rPr lang="en-US" dirty="0"/>
              <a:t>Mainframe </a:t>
            </a:r>
            <a:r>
              <a:rPr lang="en-US" dirty="0" smtClean="0"/>
              <a:t>Computing,  Cluster Computing, Grid </a:t>
            </a:r>
            <a:r>
              <a:rPr lang="en-US" dirty="0"/>
              <a:t>Computing</a:t>
            </a:r>
          </a:p>
        </p:txBody>
      </p:sp>
    </p:spTree>
    <p:extLst>
      <p:ext uri="{BB962C8B-B14F-4D97-AF65-F5344CB8AC3E}">
        <p14:creationId xmlns:p14="http://schemas.microsoft.com/office/powerpoint/2010/main" val="2622218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057400"/>
            <a:ext cx="8382000" cy="4495800"/>
          </a:xfrm>
        </p:spPr>
        <p:txBody>
          <a:bodyPr/>
          <a:lstStyle/>
          <a:p>
            <a:pPr algn="just"/>
            <a:r>
              <a:rPr lang="en-US" dirty="0" smtClean="0"/>
              <a:t>Large computational facilities leveraging multiple processing units.</a:t>
            </a:r>
          </a:p>
          <a:p>
            <a:pPr algn="just"/>
            <a:r>
              <a:rPr lang="en-US" dirty="0" smtClean="0"/>
              <a:t>Highly reliable computers specialized for large data movement and massive IO operations</a:t>
            </a:r>
          </a:p>
          <a:p>
            <a:pPr algn="just"/>
            <a:r>
              <a:rPr lang="en-US" dirty="0" smtClean="0"/>
              <a:t>Used by large organizations  for their bulk data processing such as online transactions, ERP and other operations involving the processing of significant amount of data</a:t>
            </a:r>
          </a:p>
          <a:p>
            <a:pPr algn="just"/>
            <a:r>
              <a:rPr lang="en-US" dirty="0" smtClean="0"/>
              <a:t>Example: Online banking, airline ticket booking, supermarket and government services…</a:t>
            </a:r>
            <a:endParaRPr lang="en-US" dirty="0"/>
          </a:p>
          <a:p>
            <a:pPr algn="just"/>
            <a:endParaRPr lang="en-US" dirty="0"/>
          </a:p>
        </p:txBody>
      </p:sp>
      <p:sp>
        <p:nvSpPr>
          <p:cNvPr id="3" name="Title 2"/>
          <p:cNvSpPr>
            <a:spLocks noGrp="1"/>
          </p:cNvSpPr>
          <p:nvPr>
            <p:ph type="title"/>
          </p:nvPr>
        </p:nvSpPr>
        <p:spPr/>
        <p:txBody>
          <a:bodyPr/>
          <a:lstStyle/>
          <a:p>
            <a:r>
              <a:rPr lang="en-US" dirty="0" smtClean="0"/>
              <a:t>Mainframes</a:t>
            </a:r>
            <a:endParaRPr lang="en-US" dirty="0"/>
          </a:p>
        </p:txBody>
      </p:sp>
    </p:spTree>
    <p:extLst>
      <p:ext uri="{BB962C8B-B14F-4D97-AF65-F5344CB8AC3E}">
        <p14:creationId xmlns:p14="http://schemas.microsoft.com/office/powerpoint/2010/main" val="459233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133600"/>
            <a:ext cx="8686799" cy="2667000"/>
          </a:xfrm>
        </p:spPr>
        <p:txBody>
          <a:bodyPr>
            <a:normAutofit fontScale="92500"/>
          </a:bodyPr>
          <a:lstStyle/>
          <a:p>
            <a:pPr algn="just"/>
            <a:r>
              <a:rPr lang="en-US" dirty="0" smtClean="0"/>
              <a:t>A Computer cluster is a group of tightly coupled computers that work together closely so that it can be viewed as a single computer.</a:t>
            </a:r>
          </a:p>
          <a:p>
            <a:pPr algn="just"/>
            <a:r>
              <a:rPr lang="en-US" dirty="0" smtClean="0"/>
              <a:t>Clusters are commonly connected through fast local area networks.</a:t>
            </a:r>
          </a:p>
          <a:p>
            <a:pPr algn="just"/>
            <a:r>
              <a:rPr lang="en-US" dirty="0" smtClean="0"/>
              <a:t>Unlike </a:t>
            </a:r>
            <a:r>
              <a:rPr lang="en-US" dirty="0"/>
              <a:t>grid </a:t>
            </a:r>
            <a:r>
              <a:rPr lang="en-US" b="1" dirty="0"/>
              <a:t>computers</a:t>
            </a:r>
            <a:r>
              <a:rPr lang="en-US" dirty="0"/>
              <a:t>, </a:t>
            </a:r>
            <a:r>
              <a:rPr lang="en-US" b="1" dirty="0"/>
              <a:t>computer clusters</a:t>
            </a:r>
            <a:r>
              <a:rPr lang="en-US" dirty="0"/>
              <a:t> have each node set to perform the same task, controlled and scheduled by software</a:t>
            </a:r>
            <a:r>
              <a:rPr lang="en-US" dirty="0" smtClean="0"/>
              <a:t>.</a:t>
            </a:r>
          </a:p>
          <a:p>
            <a:pPr algn="just"/>
            <a:r>
              <a:rPr lang="en-US" dirty="0" smtClean="0"/>
              <a:t>Clusters have evolved to support applications ranging from e-commerce  to high performance  database applications.</a:t>
            </a:r>
            <a:endParaRPr lang="en-US" dirty="0"/>
          </a:p>
        </p:txBody>
      </p:sp>
      <p:sp>
        <p:nvSpPr>
          <p:cNvPr id="3" name="Title 2"/>
          <p:cNvSpPr>
            <a:spLocks noGrp="1"/>
          </p:cNvSpPr>
          <p:nvPr>
            <p:ph type="title"/>
          </p:nvPr>
        </p:nvSpPr>
        <p:spPr/>
        <p:txBody>
          <a:bodyPr/>
          <a:lstStyle/>
          <a:p>
            <a:r>
              <a:rPr lang="en-US" dirty="0" smtClean="0"/>
              <a:t>Clusters</a:t>
            </a:r>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724400"/>
            <a:ext cx="70866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927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905000"/>
            <a:ext cx="8686800" cy="2819400"/>
          </a:xfrm>
        </p:spPr>
        <p:txBody>
          <a:bodyPr>
            <a:normAutofit fontScale="85000" lnSpcReduction="10000"/>
          </a:bodyPr>
          <a:lstStyle/>
          <a:p>
            <a:pPr algn="just"/>
            <a:r>
              <a:rPr lang="en-US" dirty="0"/>
              <a:t>Grid computing is a distributed architecture of large numbers of computers connected to solve a complex problem. In the grid computing model, servers or personal computers run independent tasks and are loosely linked by the Internet or low-speed networks. Computers may connect directly or via scheduling systems</a:t>
            </a:r>
            <a:r>
              <a:rPr lang="en-US" dirty="0" smtClean="0"/>
              <a:t>.</a:t>
            </a:r>
          </a:p>
          <a:p>
            <a:pPr algn="just"/>
            <a:r>
              <a:rPr lang="en-US" dirty="0"/>
              <a:t>Most applications for grid computing projects have no time dependency, and large projects typically deploy across many countries and continents. Search programs and others use the idle power of computers, also known as cycle-scavenging, running in the background for many weeks.</a:t>
            </a:r>
          </a:p>
        </p:txBody>
      </p:sp>
      <p:sp>
        <p:nvSpPr>
          <p:cNvPr id="3" name="Title 2"/>
          <p:cNvSpPr>
            <a:spLocks noGrp="1"/>
          </p:cNvSpPr>
          <p:nvPr>
            <p:ph type="title"/>
          </p:nvPr>
        </p:nvSpPr>
        <p:spPr/>
        <p:txBody>
          <a:bodyPr/>
          <a:lstStyle/>
          <a:p>
            <a:r>
              <a:rPr lang="en-US" dirty="0" smtClean="0"/>
              <a:t>Grid Computing</a:t>
            </a:r>
            <a:endParaRPr lang="en-US" dirty="0"/>
          </a:p>
        </p:txBody>
      </p:sp>
      <p:pic>
        <p:nvPicPr>
          <p:cNvPr id="14338" name="Picture 2" descr="Image result for example of grid compu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648200"/>
            <a:ext cx="2466975"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070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981200"/>
            <a:ext cx="5029200" cy="4572000"/>
          </a:xfrm>
        </p:spPr>
        <p:txBody>
          <a:bodyPr>
            <a:normAutofit fontScale="85000" lnSpcReduction="10000"/>
          </a:bodyPr>
          <a:lstStyle/>
          <a:p>
            <a:pPr algn="just"/>
            <a:r>
              <a:rPr lang="en-US" dirty="0"/>
              <a:t>Grid computing is a processor architecture that combines computer resources from various domains to reach a main objective. In grid computing, the computers on the network can work on a task together, thus functioning as a supercomputer. </a:t>
            </a:r>
          </a:p>
          <a:p>
            <a:pPr algn="just"/>
            <a:r>
              <a:rPr lang="en-US" dirty="0"/>
              <a:t>Typically, a grid works on various tasks within a network, but it is also capable of working on specialized applications. It is designed to solve problems that are too big for a supercomputer while maintaining the flexibility to process numerous smaller problems. Computing grids deliver a multiuser infrastructure that accommodates the discontinuous demands of large information processing. </a:t>
            </a:r>
          </a:p>
          <a:p>
            <a:pPr algn="just"/>
            <a:endParaRPr lang="en-US" dirty="0"/>
          </a:p>
        </p:txBody>
      </p:sp>
      <p:sp>
        <p:nvSpPr>
          <p:cNvPr id="3" name="Title 2"/>
          <p:cNvSpPr>
            <a:spLocks noGrp="1"/>
          </p:cNvSpPr>
          <p:nvPr>
            <p:ph type="title"/>
          </p:nvPr>
        </p:nvSpPr>
        <p:spPr/>
        <p:txBody>
          <a:bodyPr/>
          <a:lstStyle/>
          <a:p>
            <a:r>
              <a:rPr lang="en-US" dirty="0" smtClean="0"/>
              <a:t>Grids</a:t>
            </a:r>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2286000"/>
            <a:ext cx="32766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292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6700" y="2133600"/>
            <a:ext cx="8610599" cy="4572000"/>
          </a:xfrm>
        </p:spPr>
        <p:txBody>
          <a:bodyPr>
            <a:normAutofit/>
          </a:bodyPr>
          <a:lstStyle/>
          <a:p>
            <a:pPr algn="just"/>
            <a:r>
              <a:rPr lang="en-US" dirty="0"/>
              <a:t>The main enabling technology for Cloud Computing is Virtualization. </a:t>
            </a:r>
            <a:endParaRPr lang="en-US" dirty="0" smtClean="0"/>
          </a:p>
          <a:p>
            <a:pPr algn="just"/>
            <a:r>
              <a:rPr lang="en-US" dirty="0" smtClean="0"/>
              <a:t>Virtualization </a:t>
            </a:r>
            <a:r>
              <a:rPr lang="en-US" dirty="0"/>
              <a:t>is a partitioning of single physical server into multiple logical servers.  </a:t>
            </a:r>
            <a:endParaRPr lang="en-US" dirty="0" smtClean="0"/>
          </a:p>
          <a:p>
            <a:pPr algn="just"/>
            <a:r>
              <a:rPr lang="en-US" dirty="0" smtClean="0"/>
              <a:t>Once </a:t>
            </a:r>
            <a:r>
              <a:rPr lang="en-US" dirty="0"/>
              <a:t>the physical server is divided, each logical server behaves like a physical server and can run an operating system and applications independently.  </a:t>
            </a:r>
            <a:endParaRPr lang="en-US" dirty="0" smtClean="0"/>
          </a:p>
          <a:p>
            <a:pPr algn="just"/>
            <a:r>
              <a:rPr lang="en-US" dirty="0" smtClean="0"/>
              <a:t>Many </a:t>
            </a:r>
            <a:r>
              <a:rPr lang="en-US" dirty="0"/>
              <a:t>popular </a:t>
            </a:r>
            <a:r>
              <a:rPr lang="en-US" dirty="0" smtClean="0"/>
              <a:t>companies' </a:t>
            </a:r>
            <a:r>
              <a:rPr lang="en-US" dirty="0"/>
              <a:t>like </a:t>
            </a:r>
            <a:r>
              <a:rPr lang="en-US" dirty="0" smtClean="0"/>
              <a:t>VMware </a:t>
            </a:r>
            <a:r>
              <a:rPr lang="en-US" dirty="0"/>
              <a:t>and Microsoft provide virtualization services, where instead of using your personal PC for storage and computation, you use their virtual server. </a:t>
            </a:r>
            <a:endParaRPr lang="en-US" dirty="0" smtClean="0"/>
          </a:p>
          <a:p>
            <a:pPr algn="just"/>
            <a:r>
              <a:rPr lang="en-US" dirty="0" smtClean="0"/>
              <a:t>They </a:t>
            </a:r>
            <a:r>
              <a:rPr lang="en-US" dirty="0"/>
              <a:t>are fast, cost-effective and less time consuming.</a:t>
            </a:r>
          </a:p>
        </p:txBody>
      </p:sp>
      <p:sp>
        <p:nvSpPr>
          <p:cNvPr id="3" name="Title 2"/>
          <p:cNvSpPr>
            <a:spLocks noGrp="1"/>
          </p:cNvSpPr>
          <p:nvPr>
            <p:ph type="title"/>
          </p:nvPr>
        </p:nvSpPr>
        <p:spPr/>
        <p:txBody>
          <a:bodyPr>
            <a:normAutofit fontScale="90000"/>
          </a:bodyPr>
          <a:lstStyle/>
          <a:p>
            <a:r>
              <a:rPr lang="en-US" dirty="0"/>
              <a:t>Virtualization</a:t>
            </a:r>
            <a:br>
              <a:rPr lang="en-US" dirty="0"/>
            </a:br>
            <a:endParaRPr lang="en-US" dirty="0"/>
          </a:p>
        </p:txBody>
      </p:sp>
    </p:spTree>
    <p:extLst>
      <p:ext uri="{BB962C8B-B14F-4D97-AF65-F5344CB8AC3E}">
        <p14:creationId xmlns:p14="http://schemas.microsoft.com/office/powerpoint/2010/main" val="16811142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217" y="990600"/>
            <a:ext cx="8839200" cy="1524000"/>
          </a:xfrm>
        </p:spPr>
        <p:txBody>
          <a:bodyPr>
            <a:normAutofit fontScale="92500" lnSpcReduction="20000"/>
          </a:bodyPr>
          <a:lstStyle/>
          <a:p>
            <a:pPr algn="just"/>
            <a:r>
              <a:rPr lang="en-US" dirty="0"/>
              <a:t>Virtualization is a technique, which allows to share single physical instance of an application or resource among multiple organizations or tenants customers. It does this by assigning a logical name to a physical resource and providing a pointer to that physical resource when demanded.</a:t>
            </a:r>
          </a:p>
          <a:p>
            <a:pPr algn="just"/>
            <a:endParaRPr lang="en-US" dirty="0"/>
          </a:p>
        </p:txBody>
      </p:sp>
      <p:sp>
        <p:nvSpPr>
          <p:cNvPr id="3" name="Title 2"/>
          <p:cNvSpPr>
            <a:spLocks noGrp="1"/>
          </p:cNvSpPr>
          <p:nvPr>
            <p:ph type="title"/>
          </p:nvPr>
        </p:nvSpPr>
        <p:spPr>
          <a:xfrm>
            <a:off x="457200" y="338328"/>
            <a:ext cx="8229600" cy="880872"/>
          </a:xfrm>
        </p:spPr>
        <p:txBody>
          <a:bodyPr/>
          <a:lstStyle/>
          <a:p>
            <a:r>
              <a:rPr lang="en-US" dirty="0"/>
              <a:t>Virtualization</a:t>
            </a:r>
          </a:p>
        </p:txBody>
      </p:sp>
      <p:pic>
        <p:nvPicPr>
          <p:cNvPr id="1029"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24108" t="26480" r="25125" b="11513"/>
          <a:stretch/>
        </p:blipFill>
        <p:spPr bwMode="auto">
          <a:xfrm>
            <a:off x="195469" y="2332034"/>
            <a:ext cx="8839200" cy="4535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0373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981200"/>
            <a:ext cx="5181600" cy="4572000"/>
          </a:xfrm>
        </p:spPr>
        <p:txBody>
          <a:bodyPr>
            <a:normAutofit fontScale="77500" lnSpcReduction="20000"/>
          </a:bodyPr>
          <a:lstStyle/>
          <a:p>
            <a:pPr algn="just"/>
            <a:r>
              <a:rPr lang="en-US" dirty="0"/>
              <a:t>T</a:t>
            </a:r>
            <a:r>
              <a:rPr lang="en-US" dirty="0" smtClean="0"/>
              <a:t>he </a:t>
            </a:r>
            <a:r>
              <a:rPr lang="en-US" dirty="0"/>
              <a:t>second stage of development of the Internet, characterized especially by the change from static web pages to dynamic or user-generated content and the growth of social media</a:t>
            </a:r>
            <a:r>
              <a:rPr lang="en-US" dirty="0" smtClean="0"/>
              <a:t>.</a:t>
            </a:r>
          </a:p>
          <a:p>
            <a:pPr algn="just"/>
            <a:r>
              <a:rPr lang="en-US" dirty="0" smtClean="0"/>
              <a:t>Web </a:t>
            </a:r>
            <a:r>
              <a:rPr lang="en-US" dirty="0"/>
              <a:t>2.0 is the current state of online technology as it compares to the early days of the Web, characterized by greater user interactivity and collaboration, more pervasive network connectivity and enhanced communication channels. </a:t>
            </a:r>
            <a:endParaRPr lang="en-US" dirty="0" smtClean="0"/>
          </a:p>
          <a:p>
            <a:pPr algn="just"/>
            <a:r>
              <a:rPr lang="en-US" b="1" dirty="0"/>
              <a:t>Web 2.0</a:t>
            </a:r>
            <a:r>
              <a:rPr lang="en-US" dirty="0"/>
              <a:t> is the term used to describe a variety of </a:t>
            </a:r>
            <a:r>
              <a:rPr lang="en-US" b="1" dirty="0"/>
              <a:t>web</a:t>
            </a:r>
            <a:r>
              <a:rPr lang="en-US" dirty="0"/>
              <a:t> sites and applications that allow anyone to create and share online information or material they have created. A key element of the </a:t>
            </a:r>
            <a:r>
              <a:rPr lang="en-US" b="1" dirty="0"/>
              <a:t>technology</a:t>
            </a:r>
            <a:r>
              <a:rPr lang="en-US" dirty="0"/>
              <a:t> is that it allows people to create, share, collaborate &amp; communicate.</a:t>
            </a:r>
          </a:p>
        </p:txBody>
      </p:sp>
      <p:sp>
        <p:nvSpPr>
          <p:cNvPr id="3" name="Title 2"/>
          <p:cNvSpPr>
            <a:spLocks noGrp="1"/>
          </p:cNvSpPr>
          <p:nvPr>
            <p:ph type="title"/>
          </p:nvPr>
        </p:nvSpPr>
        <p:spPr/>
        <p:txBody>
          <a:bodyPr/>
          <a:lstStyle/>
          <a:p>
            <a:r>
              <a:rPr lang="en-US" dirty="0" smtClean="0"/>
              <a:t>Web 2.0</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470" r="21549"/>
          <a:stretch/>
        </p:blipFill>
        <p:spPr bwMode="auto">
          <a:xfrm>
            <a:off x="5503984" y="1905000"/>
            <a:ext cx="3640016"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8599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47800"/>
            <a:ext cx="8763000" cy="1752600"/>
          </a:xfrm>
        </p:spPr>
        <p:txBody>
          <a:bodyPr>
            <a:normAutofit lnSpcReduction="10000"/>
          </a:bodyPr>
          <a:lstStyle/>
          <a:p>
            <a:pPr algn="just"/>
            <a:r>
              <a:rPr lang="en-US" dirty="0"/>
              <a:t>Service-Oriented Architecture helps to use applications as a service for other applications regardless the type of vendor, product or technology. Therefore, it is possible to exchange the data between applications of different vendors without additional programming or making changes to services.</a:t>
            </a:r>
          </a:p>
        </p:txBody>
      </p:sp>
      <p:sp>
        <p:nvSpPr>
          <p:cNvPr id="3" name="Title 2"/>
          <p:cNvSpPr>
            <a:spLocks noGrp="1"/>
          </p:cNvSpPr>
          <p:nvPr>
            <p:ph type="title"/>
          </p:nvPr>
        </p:nvSpPr>
        <p:spPr/>
        <p:txBody>
          <a:bodyPr>
            <a:normAutofit fontScale="90000"/>
          </a:bodyPr>
          <a:lstStyle/>
          <a:p>
            <a:r>
              <a:rPr lang="en-US" dirty="0" smtClean="0"/>
              <a:t>Service-Oriented Computing / Service-Oriented </a:t>
            </a:r>
            <a:r>
              <a:rPr lang="en-US" dirty="0"/>
              <a:t>Architecture SOA</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200400"/>
            <a:ext cx="5181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2614" y="3581400"/>
            <a:ext cx="344658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0370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0757" y="1981200"/>
            <a:ext cx="8266043" cy="4724400"/>
          </a:xfrm>
        </p:spPr>
        <p:txBody>
          <a:bodyPr/>
          <a:lstStyle/>
          <a:p>
            <a:r>
              <a:rPr lang="en-US" dirty="0" smtClean="0"/>
              <a:t>Distributed Computing</a:t>
            </a:r>
          </a:p>
          <a:p>
            <a:r>
              <a:rPr lang="en-US" dirty="0" smtClean="0"/>
              <a:t>Grid Computing</a:t>
            </a:r>
          </a:p>
          <a:p>
            <a:r>
              <a:rPr lang="en-US" dirty="0" smtClean="0"/>
              <a:t>Utility Computing</a:t>
            </a:r>
          </a:p>
          <a:p>
            <a:r>
              <a:rPr lang="en-US" dirty="0" smtClean="0"/>
              <a:t>Elastic Computing</a:t>
            </a:r>
          </a:p>
          <a:p>
            <a:endParaRPr lang="en-US" dirty="0"/>
          </a:p>
        </p:txBody>
      </p:sp>
      <p:sp>
        <p:nvSpPr>
          <p:cNvPr id="3" name="Title 2"/>
          <p:cNvSpPr>
            <a:spLocks noGrp="1"/>
          </p:cNvSpPr>
          <p:nvPr>
            <p:ph type="title"/>
          </p:nvPr>
        </p:nvSpPr>
        <p:spPr/>
        <p:txBody>
          <a:bodyPr>
            <a:normAutofit fontScale="90000"/>
          </a:bodyPr>
          <a:lstStyle/>
          <a:p>
            <a:r>
              <a:rPr lang="en-US" dirty="0"/>
              <a:t>Previous Computing Techniques</a:t>
            </a:r>
            <a:br>
              <a:rPr lang="en-US" dirty="0"/>
            </a:br>
            <a:r>
              <a:rPr lang="en-US" dirty="0" smtClean="0"/>
              <a:t> </a:t>
            </a:r>
            <a:endParaRPr lang="en-US" dirty="0"/>
          </a:p>
        </p:txBody>
      </p:sp>
    </p:spTree>
    <p:extLst>
      <p:ext uri="{BB962C8B-B14F-4D97-AF65-F5344CB8AC3E}">
        <p14:creationId xmlns:p14="http://schemas.microsoft.com/office/powerpoint/2010/main" val="1552088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905000"/>
            <a:ext cx="8534400" cy="3450696"/>
          </a:xfrm>
        </p:spPr>
        <p:txBody>
          <a:bodyPr>
            <a:normAutofit fontScale="92500"/>
          </a:bodyPr>
          <a:lstStyle/>
          <a:p>
            <a:r>
              <a:rPr lang="en-US" dirty="0"/>
              <a:t>Utility computing is based on Pay-per-Use model. It offers computational resources on demand as a metered service. Cloud computing, grid computing, and managed IT services are based on the concept of utility computing</a:t>
            </a:r>
            <a:r>
              <a:rPr lang="en-US" dirty="0" smtClean="0"/>
              <a:t>.</a:t>
            </a:r>
          </a:p>
          <a:p>
            <a:r>
              <a:rPr lang="en-US" dirty="0"/>
              <a:t>McCarthy (1961)</a:t>
            </a:r>
          </a:p>
          <a:p>
            <a:r>
              <a:rPr lang="en-US" dirty="0"/>
              <a:t>“If computers of the kind I have advocated become the computers of the future, then computing may someday be organized as a public utility just as the telephone system. The computer utility cloud become the basis of a new and important industry.. “</a:t>
            </a:r>
          </a:p>
          <a:p>
            <a:endParaRPr lang="en-US" dirty="0"/>
          </a:p>
        </p:txBody>
      </p:sp>
      <p:sp>
        <p:nvSpPr>
          <p:cNvPr id="3" name="Title 2"/>
          <p:cNvSpPr>
            <a:spLocks noGrp="1"/>
          </p:cNvSpPr>
          <p:nvPr>
            <p:ph type="title"/>
          </p:nvPr>
        </p:nvSpPr>
        <p:spPr>
          <a:xfrm>
            <a:off x="533400" y="304800"/>
            <a:ext cx="8229600" cy="1252728"/>
          </a:xfrm>
        </p:spPr>
        <p:txBody>
          <a:bodyPr>
            <a:normAutofit fontScale="90000"/>
          </a:bodyPr>
          <a:lstStyle/>
          <a:p>
            <a:r>
              <a:rPr lang="en-US" dirty="0"/>
              <a:t>Utility Computing/Utility-Oriented Computing</a:t>
            </a:r>
          </a:p>
        </p:txBody>
      </p:sp>
    </p:spTree>
    <p:extLst>
      <p:ext uri="{BB962C8B-B14F-4D97-AF65-F5344CB8AC3E}">
        <p14:creationId xmlns:p14="http://schemas.microsoft.com/office/powerpoint/2010/main" val="4160781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95400"/>
            <a:ext cx="8686800" cy="5257800"/>
          </a:xfrm>
        </p:spPr>
        <p:txBody>
          <a:bodyPr/>
          <a:lstStyle/>
          <a:p>
            <a:pPr algn="just"/>
            <a:r>
              <a:rPr lang="en-US" dirty="0"/>
              <a:t>Grid Computing refers to distributed computing, in which a group of computers from multiple locations are connected with each other to achieve a common objective. These computer resources are heterogeneous and geographically dispersed. Grid Computing breaks complex task into smaller pieces, which are distributed to CPUs that reside within the grid</a:t>
            </a:r>
          </a:p>
        </p:txBody>
      </p:sp>
      <p:sp>
        <p:nvSpPr>
          <p:cNvPr id="3" name="Title 2"/>
          <p:cNvSpPr>
            <a:spLocks noGrp="1"/>
          </p:cNvSpPr>
          <p:nvPr>
            <p:ph type="title"/>
          </p:nvPr>
        </p:nvSpPr>
        <p:spPr/>
        <p:txBody>
          <a:bodyPr/>
          <a:lstStyle/>
          <a:p>
            <a:r>
              <a:rPr lang="en-US" dirty="0"/>
              <a:t>Grid Computing</a:t>
            </a:r>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012" t="14156" r="17784" b="6191"/>
          <a:stretch/>
        </p:blipFill>
        <p:spPr bwMode="auto">
          <a:xfrm>
            <a:off x="2057400" y="3505200"/>
            <a:ext cx="5562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1515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5178" t="25076" r="40325" b="17518"/>
          <a:stretch/>
        </p:blipFill>
        <p:spPr bwMode="auto">
          <a:xfrm>
            <a:off x="304800" y="304800"/>
            <a:ext cx="8382000" cy="536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3878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905000"/>
            <a:ext cx="8686800" cy="4800600"/>
          </a:xfrm>
        </p:spPr>
        <p:txBody>
          <a:bodyPr>
            <a:normAutofit fontScale="92500" lnSpcReduction="10000"/>
          </a:bodyPr>
          <a:lstStyle/>
          <a:p>
            <a:pPr algn="just"/>
            <a:r>
              <a:rPr lang="en-US" b="1" dirty="0"/>
              <a:t>Elastic</a:t>
            </a:r>
            <a:r>
              <a:rPr lang="en-US" dirty="0"/>
              <a:t> computing is a concept in cloud computing in which computing resources can be scaled up and down easily by the cloud </a:t>
            </a:r>
            <a:r>
              <a:rPr lang="en-US" b="1" dirty="0"/>
              <a:t>service</a:t>
            </a:r>
            <a:r>
              <a:rPr lang="en-US" dirty="0"/>
              <a:t> provider. </a:t>
            </a:r>
            <a:r>
              <a:rPr lang="en-US" b="1" dirty="0"/>
              <a:t>Elastic</a:t>
            </a:r>
            <a:r>
              <a:rPr lang="en-US" dirty="0"/>
              <a:t> computing is the ability of a cloud </a:t>
            </a:r>
            <a:r>
              <a:rPr lang="en-US" b="1" dirty="0"/>
              <a:t>service</a:t>
            </a:r>
            <a:r>
              <a:rPr lang="en-US" dirty="0"/>
              <a:t> provider to provision flexible computing power when and wherever </a:t>
            </a:r>
            <a:r>
              <a:rPr lang="en-US" dirty="0" smtClean="0"/>
              <a:t>required.</a:t>
            </a:r>
          </a:p>
          <a:p>
            <a:pPr algn="just"/>
            <a:r>
              <a:rPr lang="en-US" dirty="0"/>
              <a:t>In cloud computing, </a:t>
            </a:r>
            <a:r>
              <a:rPr lang="en-US" b="1" dirty="0"/>
              <a:t>elasticity</a:t>
            </a:r>
            <a:r>
              <a:rPr lang="en-US" dirty="0"/>
              <a:t> is defined as "the degree to which a system is able to adapt to workload changes by provisioning and de-provisioning resources in an autonomic manner, such that at each point in time the available resources match the current demand as closely as possible</a:t>
            </a:r>
            <a:r>
              <a:rPr lang="en-US" dirty="0" smtClean="0"/>
              <a:t>".</a:t>
            </a:r>
            <a:endParaRPr lang="en-US" baseline="30000" dirty="0"/>
          </a:p>
          <a:p>
            <a:pPr algn="just"/>
            <a:r>
              <a:rPr lang="en-US" dirty="0" smtClean="0"/>
              <a:t>Elasticity </a:t>
            </a:r>
            <a:r>
              <a:rPr lang="en-US" dirty="0"/>
              <a:t>is a defining characteristic that differentiates cloud computing from previously proposed computing paradigms, such as grid computing. The dynamic adaptation of capacity, e.g., by altering the use of computing resources, to meet a varying workload is called "elastic computing"</a:t>
            </a:r>
          </a:p>
        </p:txBody>
      </p:sp>
      <p:sp>
        <p:nvSpPr>
          <p:cNvPr id="3" name="Title 2"/>
          <p:cNvSpPr>
            <a:spLocks noGrp="1"/>
          </p:cNvSpPr>
          <p:nvPr>
            <p:ph type="title"/>
          </p:nvPr>
        </p:nvSpPr>
        <p:spPr/>
        <p:txBody>
          <a:bodyPr/>
          <a:lstStyle/>
          <a:p>
            <a:r>
              <a:rPr lang="en-US" b="1" dirty="0"/>
              <a:t>Elastic</a:t>
            </a:r>
            <a:r>
              <a:rPr lang="en-US" dirty="0"/>
              <a:t> computing</a:t>
            </a:r>
          </a:p>
        </p:txBody>
      </p:sp>
    </p:spTree>
    <p:extLst>
      <p:ext uri="{BB962C8B-B14F-4D97-AF65-F5344CB8AC3E}">
        <p14:creationId xmlns:p14="http://schemas.microsoft.com/office/powerpoint/2010/main" val="2860969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1" y="1905000"/>
            <a:ext cx="8458199" cy="4800600"/>
          </a:xfrm>
        </p:spPr>
        <p:txBody>
          <a:bodyPr>
            <a:normAutofit/>
          </a:bodyPr>
          <a:lstStyle/>
          <a:p>
            <a:pPr algn="just"/>
            <a:r>
              <a:rPr lang="en-US" dirty="0" smtClean="0"/>
              <a:t>Is a network based computing that takes place over the internet.</a:t>
            </a:r>
          </a:p>
          <a:p>
            <a:pPr algn="just"/>
            <a:r>
              <a:rPr lang="en-US" dirty="0" smtClean="0"/>
              <a:t>Basically it’s step on from utility computing.</a:t>
            </a:r>
          </a:p>
          <a:p>
            <a:pPr algn="just"/>
            <a:r>
              <a:rPr lang="en-US" dirty="0" smtClean="0"/>
              <a:t>A collection/group of integrated and networked hardware, software and internet infrastructure (Called platform)</a:t>
            </a:r>
          </a:p>
          <a:p>
            <a:pPr algn="just"/>
            <a:r>
              <a:rPr lang="en-US" dirty="0" smtClean="0"/>
              <a:t>Using the internet for communication and transport provides hardware , software and networking services to clients</a:t>
            </a:r>
          </a:p>
          <a:p>
            <a:pPr algn="just"/>
            <a:r>
              <a:rPr lang="en-US" dirty="0" smtClean="0"/>
              <a:t>It is the cloud systems support dynamic provisioning of IT Services whether they are virtual infrastructure, runtime environments or application services and adopts a utility-based cost model to price these services.</a:t>
            </a:r>
          </a:p>
          <a:p>
            <a:pPr algn="just"/>
            <a:endParaRPr lang="en-US" dirty="0"/>
          </a:p>
        </p:txBody>
      </p:sp>
      <p:sp>
        <p:nvSpPr>
          <p:cNvPr id="3" name="Title 2"/>
          <p:cNvSpPr>
            <a:spLocks noGrp="1"/>
          </p:cNvSpPr>
          <p:nvPr>
            <p:ph type="title"/>
          </p:nvPr>
        </p:nvSpPr>
        <p:spPr/>
        <p:txBody>
          <a:bodyPr>
            <a:normAutofit fontScale="90000"/>
          </a:bodyPr>
          <a:lstStyle/>
          <a:p>
            <a:r>
              <a:rPr lang="en-US"/>
              <a:t>Cloud Computing</a:t>
            </a:r>
            <a:br>
              <a:rPr lang="en-US"/>
            </a:br>
            <a:endParaRPr lang="en-US"/>
          </a:p>
        </p:txBody>
      </p:sp>
    </p:spTree>
    <p:extLst>
      <p:ext uri="{BB962C8B-B14F-4D97-AF65-F5344CB8AC3E}">
        <p14:creationId xmlns:p14="http://schemas.microsoft.com/office/powerpoint/2010/main" val="2861775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1" y="1219200"/>
            <a:ext cx="4267199" cy="5562600"/>
          </a:xfrm>
        </p:spPr>
        <p:txBody>
          <a:bodyPr>
            <a:normAutofit fontScale="70000" lnSpcReduction="20000"/>
          </a:bodyPr>
          <a:lstStyle/>
          <a:p>
            <a:pPr algn="just"/>
            <a:endParaRPr lang="en-US" dirty="0" smtClean="0"/>
          </a:p>
          <a:p>
            <a:pPr algn="just"/>
            <a:r>
              <a:rPr lang="en-US" dirty="0" smtClean="0"/>
              <a:t>Cloud Computing refers to both the applications delivered as services over the internet and the hardware and system software in the data centers that provide those services.</a:t>
            </a:r>
          </a:p>
          <a:p>
            <a:pPr algn="just"/>
            <a:r>
              <a:rPr lang="en-US" dirty="0" smtClean="0"/>
              <a:t>Cloud </a:t>
            </a:r>
            <a:r>
              <a:rPr lang="en-US" dirty="0"/>
              <a:t>Computing can be defined as delivering computing power( CPU, RAM, Network Speeds, Storage OS software) a service over a network (usually on the internet) rather than physically having the computing resources at the customer location. </a:t>
            </a:r>
          </a:p>
          <a:p>
            <a:pPr algn="just"/>
            <a:r>
              <a:rPr lang="en-US" b="1" dirty="0"/>
              <a:t>Example: </a:t>
            </a:r>
            <a:r>
              <a:rPr lang="en-US" dirty="0"/>
              <a:t>AWS, Azure, Google Cloud </a:t>
            </a:r>
          </a:p>
          <a:p>
            <a:pPr algn="just"/>
            <a:r>
              <a:rPr lang="en-US" dirty="0" smtClean="0"/>
              <a:t>Cloud </a:t>
            </a:r>
            <a:r>
              <a:rPr lang="en-US" dirty="0"/>
              <a:t>Computing refers to </a:t>
            </a:r>
            <a:r>
              <a:rPr lang="en-US" b="1" dirty="0"/>
              <a:t>manipulating, configuring,</a:t>
            </a:r>
            <a:r>
              <a:rPr lang="en-US" dirty="0"/>
              <a:t> and </a:t>
            </a:r>
            <a:r>
              <a:rPr lang="en-US" b="1" dirty="0"/>
              <a:t>accessing</a:t>
            </a:r>
            <a:r>
              <a:rPr lang="en-US" dirty="0"/>
              <a:t> the hardware and software resources remotely. It offers online data storage, infrastructure, and application</a:t>
            </a:r>
            <a:r>
              <a:rPr lang="en-US" dirty="0" smtClean="0"/>
              <a:t>.</a:t>
            </a:r>
          </a:p>
          <a:p>
            <a:pPr algn="just"/>
            <a:r>
              <a:rPr lang="en-US" dirty="0"/>
              <a:t>Cloud computing offers </a:t>
            </a:r>
            <a:r>
              <a:rPr lang="en-US" b="1" dirty="0"/>
              <a:t>platform independency,</a:t>
            </a:r>
            <a:r>
              <a:rPr lang="en-US" dirty="0"/>
              <a:t> as the software is not required to be installed locally on the PC. Hence, the Cloud Computing is making our business applications </a:t>
            </a:r>
            <a:r>
              <a:rPr lang="en-US" b="1" dirty="0"/>
              <a:t>mobile</a:t>
            </a:r>
            <a:r>
              <a:rPr lang="en-US" dirty="0"/>
              <a:t> and </a:t>
            </a:r>
            <a:r>
              <a:rPr lang="en-US" b="1" dirty="0"/>
              <a:t>collaborative.</a:t>
            </a:r>
            <a:endParaRPr lang="en-US" dirty="0"/>
          </a:p>
          <a:p>
            <a:pPr algn="just"/>
            <a:endParaRPr lang="en-US" dirty="0"/>
          </a:p>
        </p:txBody>
      </p:sp>
      <p:sp>
        <p:nvSpPr>
          <p:cNvPr id="3" name="Title 2"/>
          <p:cNvSpPr>
            <a:spLocks noGrp="1"/>
          </p:cNvSpPr>
          <p:nvPr>
            <p:ph type="title"/>
          </p:nvPr>
        </p:nvSpPr>
        <p:spPr/>
        <p:txBody>
          <a:bodyPr>
            <a:normAutofit/>
          </a:bodyPr>
          <a:lstStyle/>
          <a:p>
            <a:r>
              <a:rPr lang="en-US" b="1" dirty="0"/>
              <a:t>Cloud </a:t>
            </a:r>
            <a:r>
              <a:rPr lang="en-US" b="1" dirty="0" smtClean="0"/>
              <a:t>Computing</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186070"/>
            <a:ext cx="4495800" cy="559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6959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Personal Computing Environment.</a:t>
            </a:r>
          </a:p>
          <a:p>
            <a:r>
              <a:rPr lang="en-US" dirty="0"/>
              <a:t>Time Sharing Computing Environment.</a:t>
            </a:r>
          </a:p>
          <a:p>
            <a:r>
              <a:rPr lang="en-US" dirty="0"/>
              <a:t>Client Server Computing Environment.</a:t>
            </a:r>
          </a:p>
          <a:p>
            <a:r>
              <a:rPr lang="en-US" dirty="0"/>
              <a:t>Distributed Computing Environment.</a:t>
            </a:r>
          </a:p>
          <a:p>
            <a:r>
              <a:rPr lang="en-US" dirty="0"/>
              <a:t>Grid Computing Environment.</a:t>
            </a:r>
          </a:p>
          <a:p>
            <a:r>
              <a:rPr lang="en-US" dirty="0"/>
              <a:t>Cluster Computing Environment.</a:t>
            </a:r>
          </a:p>
          <a:p>
            <a:endParaRPr lang="en-US" dirty="0" smtClean="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036780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2157</TotalTime>
  <Words>1517</Words>
  <Application>Microsoft Office PowerPoint</Application>
  <PresentationFormat>On-screen Show (4:3)</PresentationFormat>
  <Paragraphs>113</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Waveform</vt:lpstr>
      <vt:lpstr>History &amp; Evolution to Cloud Computing (from Desktop to Data Center)</vt:lpstr>
      <vt:lpstr>Cloud </vt:lpstr>
      <vt:lpstr>Cloud </vt:lpstr>
      <vt:lpstr>PowerPoint Presentation</vt:lpstr>
      <vt:lpstr>Computing </vt:lpstr>
      <vt:lpstr>Cloud Computing</vt:lpstr>
      <vt:lpstr>PowerPoint Presentation</vt:lpstr>
      <vt:lpstr>PowerPoint Presentation</vt:lpstr>
      <vt:lpstr>PowerPoint Presentation</vt:lpstr>
      <vt:lpstr>Motivation</vt:lpstr>
      <vt:lpstr>PowerPoint Presentation</vt:lpstr>
      <vt:lpstr>Introduction</vt:lpstr>
      <vt:lpstr>Introduction</vt:lpstr>
      <vt:lpstr>History &amp; Evolution of Cloud Computing</vt:lpstr>
      <vt:lpstr>PowerPoint Presentation</vt:lpstr>
      <vt:lpstr>PowerPoint Presentation</vt:lpstr>
      <vt:lpstr>PowerPoint Presentation</vt:lpstr>
      <vt:lpstr>Mainframes</vt:lpstr>
      <vt:lpstr>Clusters</vt:lpstr>
      <vt:lpstr>Grid Computing</vt:lpstr>
      <vt:lpstr>Grids</vt:lpstr>
      <vt:lpstr>Virtualization </vt:lpstr>
      <vt:lpstr>Virtualization</vt:lpstr>
      <vt:lpstr>Web 2.0</vt:lpstr>
      <vt:lpstr>Service-Oriented Computing / Service-Oriented Architecture SOA</vt:lpstr>
      <vt:lpstr>Previous Computing Techniques  </vt:lpstr>
      <vt:lpstr>Utility Computing/Utility-Oriented Computing</vt:lpstr>
      <vt:lpstr>Grid Computing</vt:lpstr>
      <vt:lpstr>PowerPoint Presentation</vt:lpstr>
      <vt:lpstr>Elastic computing</vt:lpstr>
      <vt:lpstr>Cloud Computing </vt:lpstr>
      <vt:lpstr>Cloud Computing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dsvv</dc:creator>
  <cp:lastModifiedBy>dsvv</cp:lastModifiedBy>
  <cp:revision>76</cp:revision>
  <dcterms:created xsi:type="dcterms:W3CDTF">2018-09-08T07:43:42Z</dcterms:created>
  <dcterms:modified xsi:type="dcterms:W3CDTF">2018-10-05T10:40:12Z</dcterms:modified>
</cp:coreProperties>
</file>