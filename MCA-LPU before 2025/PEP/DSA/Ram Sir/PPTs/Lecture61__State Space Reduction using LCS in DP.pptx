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2" r:id="rId2"/>
    <p:sldId id="263" r:id="rId3"/>
    <p:sldId id="264" r:id="rId4"/>
    <p:sldId id="265" r:id="rId5"/>
    <p:sldId id="266" r:id="rId6"/>
    <p:sldId id="267" r:id="rId7"/>
    <p:sldId id="268" r:id="rId8"/>
    <p:sldId id="269" r:id="rId9"/>
    <p:sldId id="270" r:id="rId10"/>
    <p:sldId id="271" r:id="rId11"/>
    <p:sldId id="256" r:id="rId12"/>
    <p:sldId id="257" r:id="rId13"/>
    <p:sldId id="259" r:id="rId14"/>
    <p:sldId id="260" r:id="rId15"/>
    <p:sldId id="261" r:id="rId16"/>
    <p:sldId id="27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9" d="100"/>
          <a:sy n="69" d="100"/>
        </p:scale>
        <p:origin x="5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6/17/2022</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6/17/2022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6/17/2022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6/17/2022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6/17/2022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6/17/2022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6/17/2022</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84946" y="1166336"/>
            <a:ext cx="6096000" cy="2585323"/>
          </a:xfrm>
          <a:prstGeom prst="rect">
            <a:avLst/>
          </a:prstGeom>
        </p:spPr>
        <p:txBody>
          <a:bodyPr>
            <a:spAutoFit/>
          </a:bodyPr>
          <a:lstStyle/>
          <a:p>
            <a:pPr algn="just"/>
            <a:r>
              <a:rPr lang="en-US" dirty="0">
                <a:latin typeface="euclid_circular_a"/>
              </a:rPr>
              <a:t>The longest common subsequence (LCS) is defined as the longest subsequence that is common to all the given sequences, provided that the elements of the subsequence are not required to occupy consecutive positions within the original sequences</a:t>
            </a:r>
            <a:r>
              <a:rPr lang="en-US" dirty="0" smtClean="0">
                <a:latin typeface="euclid_circular_a"/>
              </a:rPr>
              <a:t>.</a:t>
            </a:r>
          </a:p>
          <a:p>
            <a:endParaRPr lang="en-US" dirty="0">
              <a:latin typeface="euclid_circular_a"/>
            </a:endParaRPr>
          </a:p>
          <a:p>
            <a:endParaRPr lang="en-US" dirty="0" smtClean="0">
              <a:latin typeface="euclid_circular_a"/>
            </a:endParaRPr>
          </a:p>
          <a:p>
            <a:endParaRPr lang="en-US" dirty="0">
              <a:latin typeface="euclid_circular_a"/>
            </a:endParaRPr>
          </a:p>
          <a:p>
            <a:endParaRPr lang="en-IN" dirty="0"/>
          </a:p>
        </p:txBody>
      </p:sp>
    </p:spTree>
    <p:extLst>
      <p:ext uri="{BB962C8B-B14F-4D97-AF65-F5344CB8AC3E}">
        <p14:creationId xmlns:p14="http://schemas.microsoft.com/office/powerpoint/2010/main" val="1182222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97382" y="1221847"/>
            <a:ext cx="6096000" cy="2031325"/>
          </a:xfrm>
          <a:prstGeom prst="rect">
            <a:avLst/>
          </a:prstGeom>
        </p:spPr>
        <p:txBody>
          <a:bodyPr>
            <a:spAutoFit/>
          </a:bodyPr>
          <a:lstStyle/>
          <a:p>
            <a:pPr algn="just"/>
            <a:r>
              <a:rPr lang="en-US" dirty="0">
                <a:latin typeface="euclid_circular_a"/>
              </a:rPr>
              <a:t>If </a:t>
            </a:r>
            <a:r>
              <a:rPr lang="en-US" dirty="0">
                <a:latin typeface="droid sans mono"/>
              </a:rPr>
              <a:t>S1</a:t>
            </a:r>
            <a:r>
              <a:rPr lang="en-US" dirty="0">
                <a:latin typeface="euclid_circular_a"/>
              </a:rPr>
              <a:t> and </a:t>
            </a:r>
            <a:r>
              <a:rPr lang="en-US" dirty="0">
                <a:latin typeface="droid sans mono"/>
              </a:rPr>
              <a:t>S2</a:t>
            </a:r>
            <a:r>
              <a:rPr lang="en-US" dirty="0">
                <a:latin typeface="euclid_circular_a"/>
              </a:rPr>
              <a:t> are the two given sequences then, </a:t>
            </a:r>
            <a:r>
              <a:rPr lang="en-US" dirty="0">
                <a:latin typeface="droid sans mono"/>
              </a:rPr>
              <a:t>Z</a:t>
            </a:r>
            <a:r>
              <a:rPr lang="en-US" dirty="0">
                <a:latin typeface="euclid_circular_a"/>
              </a:rPr>
              <a:t> is the common subsequence of </a:t>
            </a:r>
            <a:r>
              <a:rPr lang="en-US" dirty="0">
                <a:latin typeface="droid sans mono"/>
              </a:rPr>
              <a:t>S1</a:t>
            </a:r>
            <a:r>
              <a:rPr lang="en-US" dirty="0">
                <a:latin typeface="euclid_circular_a"/>
              </a:rPr>
              <a:t> and </a:t>
            </a:r>
            <a:r>
              <a:rPr lang="en-US" dirty="0">
                <a:latin typeface="droid sans mono"/>
              </a:rPr>
              <a:t>S2</a:t>
            </a:r>
            <a:r>
              <a:rPr lang="en-US" dirty="0">
                <a:latin typeface="euclid_circular_a"/>
              </a:rPr>
              <a:t> if </a:t>
            </a:r>
            <a:r>
              <a:rPr lang="en-US" dirty="0">
                <a:latin typeface="droid sans mono"/>
              </a:rPr>
              <a:t>Z</a:t>
            </a:r>
            <a:r>
              <a:rPr lang="en-US" dirty="0">
                <a:latin typeface="euclid_circular_a"/>
              </a:rPr>
              <a:t> is a subsequence of both </a:t>
            </a:r>
            <a:r>
              <a:rPr lang="en-US" dirty="0">
                <a:latin typeface="droid sans mono"/>
              </a:rPr>
              <a:t>S1</a:t>
            </a:r>
            <a:r>
              <a:rPr lang="en-US" dirty="0">
                <a:latin typeface="euclid_circular_a"/>
              </a:rPr>
              <a:t> and </a:t>
            </a:r>
            <a:r>
              <a:rPr lang="en-US" dirty="0">
                <a:latin typeface="droid sans mono"/>
              </a:rPr>
              <a:t>S2</a:t>
            </a:r>
            <a:r>
              <a:rPr lang="en-US" dirty="0">
                <a:latin typeface="euclid_circular_a"/>
              </a:rPr>
              <a:t>. Furthermore, </a:t>
            </a:r>
            <a:r>
              <a:rPr lang="en-US" dirty="0">
                <a:latin typeface="droid sans mono"/>
              </a:rPr>
              <a:t>Z</a:t>
            </a:r>
            <a:r>
              <a:rPr lang="en-US" dirty="0">
                <a:latin typeface="euclid_circular_a"/>
              </a:rPr>
              <a:t> must be a </a:t>
            </a:r>
            <a:r>
              <a:rPr lang="en-US" b="1" dirty="0">
                <a:latin typeface="euclid_circular_a"/>
              </a:rPr>
              <a:t>strictly increasing sequence</a:t>
            </a:r>
            <a:r>
              <a:rPr lang="en-US" dirty="0">
                <a:latin typeface="euclid_circular_a"/>
              </a:rPr>
              <a:t> of the indices of both </a:t>
            </a:r>
            <a:r>
              <a:rPr lang="en-US" dirty="0">
                <a:latin typeface="droid sans mono"/>
              </a:rPr>
              <a:t>S1</a:t>
            </a:r>
            <a:r>
              <a:rPr lang="en-US" dirty="0">
                <a:latin typeface="euclid_circular_a"/>
              </a:rPr>
              <a:t> and </a:t>
            </a:r>
            <a:r>
              <a:rPr lang="en-US" dirty="0">
                <a:latin typeface="droid sans mono"/>
              </a:rPr>
              <a:t>S2</a:t>
            </a:r>
            <a:r>
              <a:rPr lang="en-US" dirty="0">
                <a:latin typeface="euclid_circular_a"/>
              </a:rPr>
              <a:t>.</a:t>
            </a:r>
          </a:p>
          <a:p>
            <a:pPr algn="just"/>
            <a:r>
              <a:rPr lang="en-US" dirty="0">
                <a:latin typeface="euclid_circular_a"/>
              </a:rPr>
              <a:t>In a strictly increasing sequence, the indices of the elements chosen from the original sequences must be in ascending order in </a:t>
            </a:r>
            <a:r>
              <a:rPr lang="en-US" dirty="0">
                <a:latin typeface="droid sans mono"/>
              </a:rPr>
              <a:t>Z</a:t>
            </a:r>
            <a:r>
              <a:rPr lang="en-US" dirty="0">
                <a:latin typeface="euclid_circular_a"/>
              </a:rPr>
              <a:t>.</a:t>
            </a:r>
            <a:endParaRPr lang="en-US" b="0" i="0" dirty="0">
              <a:effectLst/>
              <a:latin typeface="euclid_circular_a"/>
            </a:endParaRPr>
          </a:p>
        </p:txBody>
      </p:sp>
    </p:spTree>
    <p:extLst>
      <p:ext uri="{BB962C8B-B14F-4D97-AF65-F5344CB8AC3E}">
        <p14:creationId xmlns:p14="http://schemas.microsoft.com/office/powerpoint/2010/main" val="4172350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417454" y="990708"/>
            <a:ext cx="6096000" cy="646331"/>
          </a:xfrm>
          <a:prstGeom prst="rect">
            <a:avLst/>
          </a:prstGeom>
        </p:spPr>
        <p:txBody>
          <a:bodyPr>
            <a:spAutoFit/>
          </a:bodyPr>
          <a:lstStyle/>
          <a:p>
            <a:r>
              <a:rPr lang="en-US" b="1" dirty="0">
                <a:solidFill>
                  <a:srgbClr val="25265E"/>
                </a:solidFill>
                <a:latin typeface="euclid_circular_a"/>
              </a:rPr>
              <a:t>Using Dynamic Programming to find the LCS</a:t>
            </a:r>
          </a:p>
          <a:p>
            <a:r>
              <a:rPr lang="en-US" dirty="0">
                <a:latin typeface="euclid_circular_a"/>
              </a:rPr>
              <a:t>Let us take two sequences:</a:t>
            </a:r>
            <a:endParaRPr lang="en-US" b="0" i="0" dirty="0">
              <a:effectLst/>
              <a:latin typeface="euclid_circular_a"/>
            </a:endParaRPr>
          </a:p>
        </p:txBody>
      </p:sp>
      <p:pic>
        <p:nvPicPr>
          <p:cNvPr id="1029" name="Picture 5" descr="Longest Common Subsequence first sequ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5830" y="1778721"/>
            <a:ext cx="8001000" cy="1866901"/>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Longest Common Subsequence first sequen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8917" y="3787304"/>
            <a:ext cx="6743700" cy="1866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2107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186546" y="880056"/>
            <a:ext cx="6096000" cy="1754326"/>
          </a:xfrm>
          <a:prstGeom prst="rect">
            <a:avLst/>
          </a:prstGeom>
        </p:spPr>
        <p:txBody>
          <a:bodyPr>
            <a:spAutoFit/>
          </a:bodyPr>
          <a:lstStyle/>
          <a:p>
            <a:r>
              <a:rPr lang="en-US" dirty="0"/>
              <a:t>The following steps are followed for finding the longest common subsequence.</a:t>
            </a:r>
          </a:p>
          <a:p>
            <a:endParaRPr lang="en-US" dirty="0"/>
          </a:p>
          <a:p>
            <a:r>
              <a:rPr lang="en-US" dirty="0"/>
              <a:t>Create a table of dimension n+1*m+1 where n and m are the lengths of X and Y respectively. The first row and the first column are filled with zeros.</a:t>
            </a:r>
            <a:endParaRPr lang="en-IN" dirty="0"/>
          </a:p>
        </p:txBody>
      </p:sp>
      <p:pic>
        <p:nvPicPr>
          <p:cNvPr id="2051" name="Picture 3" descr="Longest Common Subsequence initialise tab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6630" y="2752437"/>
            <a:ext cx="6115916" cy="2817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0697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21891" y="1535976"/>
            <a:ext cx="6096000" cy="3139321"/>
          </a:xfrm>
          <a:prstGeom prst="rect">
            <a:avLst/>
          </a:prstGeom>
        </p:spPr>
        <p:txBody>
          <a:bodyPr>
            <a:spAutoFit/>
          </a:bodyPr>
          <a:lstStyle/>
          <a:p>
            <a:pPr algn="just">
              <a:buFont typeface="+mj-lt"/>
              <a:buAutoNum type="arabicPeriod"/>
            </a:pPr>
            <a:r>
              <a:rPr lang="en-US" dirty="0">
                <a:latin typeface="euclid_circular_a"/>
              </a:rPr>
              <a:t>Fill each cell of the table using the following logic</a:t>
            </a:r>
            <a:r>
              <a:rPr lang="en-US" dirty="0" smtClean="0">
                <a:latin typeface="euclid_circular_a"/>
              </a:rPr>
              <a:t>.</a:t>
            </a:r>
          </a:p>
          <a:p>
            <a:pPr algn="just"/>
            <a:endParaRPr lang="en-US" dirty="0">
              <a:latin typeface="euclid_circular_a"/>
            </a:endParaRPr>
          </a:p>
          <a:p>
            <a:pPr algn="just"/>
            <a:r>
              <a:rPr lang="en-US" dirty="0" smtClean="0">
                <a:latin typeface="euclid_circular_a"/>
              </a:rPr>
              <a:t>2.If </a:t>
            </a:r>
            <a:r>
              <a:rPr lang="en-US" dirty="0">
                <a:latin typeface="euclid_circular_a"/>
              </a:rPr>
              <a:t>the character </a:t>
            </a:r>
            <a:r>
              <a:rPr lang="en-US" dirty="0" smtClean="0">
                <a:latin typeface="euclid_circular_a"/>
              </a:rPr>
              <a:t>corresponding </a:t>
            </a:r>
            <a:r>
              <a:rPr lang="en-US" dirty="0">
                <a:latin typeface="euclid_circular_a"/>
              </a:rPr>
              <a:t>to the current row and current column are matching, then fill the current cell by adding one to the diagonal element. Point an arrow to the diagonal cell</a:t>
            </a:r>
            <a:r>
              <a:rPr lang="en-US" dirty="0" smtClean="0">
                <a:latin typeface="euclid_circular_a"/>
              </a:rPr>
              <a:t>.</a:t>
            </a:r>
          </a:p>
          <a:p>
            <a:pPr algn="just"/>
            <a:endParaRPr lang="en-US" dirty="0">
              <a:latin typeface="euclid_circular_a"/>
            </a:endParaRPr>
          </a:p>
          <a:p>
            <a:pPr algn="just"/>
            <a:r>
              <a:rPr lang="en-US" dirty="0" smtClean="0">
                <a:latin typeface="euclid_circular_a"/>
              </a:rPr>
              <a:t>3.Else </a:t>
            </a:r>
            <a:r>
              <a:rPr lang="en-US" dirty="0">
                <a:latin typeface="euclid_circular_a"/>
              </a:rPr>
              <a:t>take the maximum value from the previous column and previous row element for filling the current cell. Point an arrow to the cell with maximum value. If they are equal, point to any of them.</a:t>
            </a:r>
            <a:endParaRPr lang="en-US" b="0" i="0" dirty="0">
              <a:effectLst/>
              <a:latin typeface="euclid_circular_a"/>
            </a:endParaRPr>
          </a:p>
        </p:txBody>
      </p:sp>
    </p:spTree>
    <p:extLst>
      <p:ext uri="{BB962C8B-B14F-4D97-AF65-F5344CB8AC3E}">
        <p14:creationId xmlns:p14="http://schemas.microsoft.com/office/powerpoint/2010/main" val="2967355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Longest Common Subsequence fill the valu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0216" y="1006764"/>
            <a:ext cx="6705601" cy="4201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7938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86909" y="1064599"/>
            <a:ext cx="6096000" cy="646331"/>
          </a:xfrm>
          <a:prstGeom prst="rect">
            <a:avLst/>
          </a:prstGeom>
        </p:spPr>
        <p:txBody>
          <a:bodyPr>
            <a:spAutoFit/>
          </a:bodyPr>
          <a:lstStyle/>
          <a:p>
            <a:r>
              <a:rPr lang="en-US" b="1" dirty="0">
                <a:latin typeface="euclid_circular_a"/>
              </a:rPr>
              <a:t>Step 2</a:t>
            </a:r>
            <a:r>
              <a:rPr lang="en-US" dirty="0">
                <a:latin typeface="euclid_circular_a"/>
              </a:rPr>
              <a:t> is repeated until the table is filled.</a:t>
            </a:r>
            <a:r>
              <a:rPr lang="en-US" dirty="0"/>
              <a:t/>
            </a:r>
            <a:br>
              <a:rPr lang="en-US" dirty="0"/>
            </a:br>
            <a:endParaRPr lang="en-IN" dirty="0"/>
          </a:p>
        </p:txBody>
      </p:sp>
      <p:pic>
        <p:nvPicPr>
          <p:cNvPr id="4098" name="Picture 2" descr="Longest Common Subsequence fill all the valu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0993" y="2124364"/>
            <a:ext cx="6328352" cy="33989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7144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63636" y="1027653"/>
            <a:ext cx="6096000" cy="646331"/>
          </a:xfrm>
          <a:prstGeom prst="rect">
            <a:avLst/>
          </a:prstGeom>
        </p:spPr>
        <p:txBody>
          <a:bodyPr>
            <a:spAutoFit/>
          </a:bodyPr>
          <a:lstStyle/>
          <a:p>
            <a:r>
              <a:rPr lang="en-US" dirty="0">
                <a:latin typeface="euclid_circular_a"/>
              </a:rPr>
              <a:t>The value in the last row and the last column is the length of the longest common subsequence.</a:t>
            </a:r>
            <a:endParaRPr lang="en-IN" dirty="0"/>
          </a:p>
        </p:txBody>
      </p:sp>
      <p:pic>
        <p:nvPicPr>
          <p:cNvPr id="5122" name="Picture 2" descr="Longest Common Subsequence lengt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8836" y="1958108"/>
            <a:ext cx="6225309" cy="35282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2797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41963" y="944618"/>
            <a:ext cx="6096000" cy="1200329"/>
          </a:xfrm>
          <a:prstGeom prst="rect">
            <a:avLst/>
          </a:prstGeom>
        </p:spPr>
        <p:txBody>
          <a:bodyPr>
            <a:spAutoFit/>
          </a:bodyPr>
          <a:lstStyle/>
          <a:p>
            <a:r>
              <a:rPr lang="en-US" dirty="0">
                <a:latin typeface="euclid_circular_a"/>
              </a:rPr>
              <a:t>In order to find the longest common subsequence, start from the last element and follow the direction of the arrow. The elements corresponding to () symbol form the longest common subsequence.</a:t>
            </a:r>
            <a:endParaRPr lang="en-IN" dirty="0"/>
          </a:p>
        </p:txBody>
      </p:sp>
      <p:pic>
        <p:nvPicPr>
          <p:cNvPr id="6146" name="Picture 2" descr="Longest Common Subsequence create a pat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5620" y="2355272"/>
            <a:ext cx="8408978" cy="3135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4468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12359" y="1166152"/>
            <a:ext cx="4570482" cy="369332"/>
          </a:xfrm>
          <a:prstGeom prst="rect">
            <a:avLst/>
          </a:prstGeom>
        </p:spPr>
        <p:txBody>
          <a:bodyPr wrap="none">
            <a:spAutoFit/>
          </a:bodyPr>
          <a:lstStyle/>
          <a:p>
            <a:r>
              <a:rPr lang="en-US" dirty="0">
                <a:latin typeface="euclid_circular_a"/>
              </a:rPr>
              <a:t>Thus, the longest common subsequence is</a:t>
            </a:r>
            <a:endParaRPr lang="en-IN" dirty="0"/>
          </a:p>
        </p:txBody>
      </p:sp>
      <p:pic>
        <p:nvPicPr>
          <p:cNvPr id="7170" name="Picture 2" descr="Longest Common Subsequence resul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0411" y="1852612"/>
            <a:ext cx="3448050" cy="1866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6648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rotWithShape="1">
          <a:blip r:embed="rId2"/>
          <a:srcRect l="2437" t="19894" r="40062" b="21213"/>
          <a:stretch/>
        </p:blipFill>
        <p:spPr bwMode="auto">
          <a:xfrm>
            <a:off x="2918689" y="997526"/>
            <a:ext cx="6742545" cy="422101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91866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srcRect l="2437" t="20288" r="40062" b="22001"/>
          <a:stretch/>
        </p:blipFill>
        <p:spPr bwMode="auto">
          <a:xfrm>
            <a:off x="2540000" y="1117600"/>
            <a:ext cx="7222836" cy="435956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929897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srcRect l="3254" t="21272" r="41122" b="21805"/>
          <a:stretch/>
        </p:blipFill>
        <p:spPr bwMode="auto">
          <a:xfrm>
            <a:off x="2937164" y="1191491"/>
            <a:ext cx="6973455" cy="414712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854677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srcRect l="1994" t="19303" r="39951" b="21410"/>
          <a:stretch/>
        </p:blipFill>
        <p:spPr bwMode="auto">
          <a:xfrm>
            <a:off x="2613890" y="997526"/>
            <a:ext cx="7342909" cy="448887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58456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srcRect l="2327" t="18909" r="40173" b="20819"/>
          <a:stretch/>
        </p:blipFill>
        <p:spPr bwMode="auto">
          <a:xfrm>
            <a:off x="2392218" y="1219199"/>
            <a:ext cx="7112000" cy="429490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482583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Thanks</a:t>
            </a:r>
            <a:endParaRPr lang="en-IN" dirty="0"/>
          </a:p>
        </p:txBody>
      </p:sp>
    </p:spTree>
    <p:extLst>
      <p:ext uri="{BB962C8B-B14F-4D97-AF65-F5344CB8AC3E}">
        <p14:creationId xmlns:p14="http://schemas.microsoft.com/office/powerpoint/2010/main" val="5205845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49</TotalTime>
  <Words>352</Words>
  <Application>Microsoft Office PowerPoint</Application>
  <PresentationFormat>Widescreen</PresentationFormat>
  <Paragraphs>20</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droid sans mono</vt:lpstr>
      <vt:lpstr>euclid_circular_a</vt:lpstr>
      <vt:lpstr>Garamond</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Ram Kumar</dc:creator>
  <cp:lastModifiedBy>Ram Kumar</cp:lastModifiedBy>
  <cp:revision>6</cp:revision>
  <dcterms:created xsi:type="dcterms:W3CDTF">2021-06-28T06:46:57Z</dcterms:created>
  <dcterms:modified xsi:type="dcterms:W3CDTF">2022-06-17T05:20:33Z</dcterms:modified>
</cp:coreProperties>
</file>