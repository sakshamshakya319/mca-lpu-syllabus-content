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6" r:id="rId4"/>
    <p:sldId id="287" r:id="rId5"/>
    <p:sldId id="288" r:id="rId6"/>
    <p:sldId id="289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23" r:id="rId24"/>
    <p:sldId id="318" r:id="rId25"/>
    <p:sldId id="308" r:id="rId26"/>
    <p:sldId id="324" r:id="rId27"/>
    <p:sldId id="309" r:id="rId28"/>
    <p:sldId id="322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9" r:id="rId38"/>
    <p:sldId id="320" r:id="rId39"/>
    <p:sldId id="321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16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582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453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0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67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59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41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750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77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61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9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7CDB6-7FD9-4723-ABDA-0F030B9A3849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14D90-F34E-426F-AB28-30A6796C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979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Transaction Processing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951897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Transaction Concept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Autofit/>
          </a:bodyPr>
          <a:lstStyle/>
          <a:p>
            <a:pPr algn="just"/>
            <a:r>
              <a:rPr lang="en-US" sz="3300" dirty="0"/>
              <a:t>Collections of operations that form a single logical unit of work are called </a:t>
            </a:r>
            <a:r>
              <a:rPr lang="en-US" sz="3300" b="1" i="1" dirty="0"/>
              <a:t>transactions.</a:t>
            </a:r>
          </a:p>
          <a:p>
            <a:pPr algn="just"/>
            <a:r>
              <a:rPr lang="en-US" sz="3300" dirty="0"/>
              <a:t>A transaction is a unit of program execution that accesses and possibly updated various data items. </a:t>
            </a:r>
          </a:p>
          <a:p>
            <a:pPr algn="just"/>
            <a:r>
              <a:rPr lang="en-US" sz="3300" dirty="0"/>
              <a:t>Normally, a transaction is initiated by a user program written in a programming language.</a:t>
            </a:r>
          </a:p>
          <a:p>
            <a:r>
              <a:rPr lang="en-US" sz="3300" dirty="0"/>
              <a:t>The transaction consists of all operations executed between the begin transaction and end transaction.</a:t>
            </a:r>
            <a:br>
              <a:rPr lang="en-US" sz="3300" dirty="0"/>
            </a:b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67020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95536" y="620688"/>
            <a:ext cx="8280920" cy="554461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sz="2700" b="1" dirty="0">
                <a:solidFill>
                  <a:schemeClr val="tx1"/>
                </a:solidFill>
              </a:rPr>
              <a:t>To ensure integrity of the data, we require that the database system maintain the following properties of the transaction:</a:t>
            </a:r>
          </a:p>
          <a:p>
            <a:pPr algn="just" eaLnBrk="1" hangingPunct="1">
              <a:lnSpc>
                <a:spcPct val="80000"/>
              </a:lnSpc>
            </a:pPr>
            <a:endParaRPr lang="en-US" sz="2700" b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sz="27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sz="27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sz="27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sz="27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sz="27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sz="27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sz="27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sz="27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2700" dirty="0">
                <a:solidFill>
                  <a:schemeClr val="tx1"/>
                </a:solidFill>
              </a:rPr>
              <a:t>These properties are often called the ACID properties.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772816"/>
            <a:ext cx="7781925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203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747713"/>
            <a:ext cx="8448675" cy="536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701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4867" y="404664"/>
            <a:ext cx="8229600" cy="1080120"/>
          </a:xfrm>
        </p:spPr>
        <p:txBody>
          <a:bodyPr/>
          <a:lstStyle/>
          <a:p>
            <a:pPr eaLnBrk="1" hangingPunct="1"/>
            <a:r>
              <a:rPr lang="en-US" dirty="0"/>
              <a:t>Transaction State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55" y="1988840"/>
            <a:ext cx="8585625" cy="347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416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5" y="261033"/>
            <a:ext cx="6065664" cy="5677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859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8" y="1916831"/>
            <a:ext cx="9051986" cy="2669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23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5536" y="332656"/>
            <a:ext cx="8177336" cy="8640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</a:rPr>
              <a:t>Deadlock Handling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80728"/>
            <a:ext cx="8568952" cy="391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47664" y="4869160"/>
            <a:ext cx="57606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Deadlock Prevention</a:t>
            </a:r>
          </a:p>
          <a:p>
            <a:r>
              <a:rPr lang="en-US" dirty="0"/>
              <a:t> 	. Wait-Die Scheme.</a:t>
            </a:r>
          </a:p>
          <a:p>
            <a:r>
              <a:rPr lang="en-US" dirty="0"/>
              <a:t>	. Wound-Wait Scheme.</a:t>
            </a:r>
          </a:p>
          <a:p>
            <a:r>
              <a:rPr lang="en-US" dirty="0"/>
              <a:t>	. Timeout-Based Schemes.</a:t>
            </a:r>
          </a:p>
          <a:p>
            <a:r>
              <a:rPr lang="en-US" dirty="0"/>
              <a:t>2. Deadlock Detection</a:t>
            </a:r>
          </a:p>
          <a:p>
            <a:r>
              <a:rPr lang="en-US" dirty="0"/>
              <a:t>3. Deadlock Recovery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43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23528" y="548680"/>
            <a:ext cx="8352928" cy="50405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dirty="0">
                <a:solidFill>
                  <a:schemeClr val="tx1"/>
                </a:solidFill>
              </a:rPr>
              <a:t>Deadlock Prevention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23" y="1484784"/>
            <a:ext cx="7582085" cy="3702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0863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37242"/>
            <a:ext cx="7848872" cy="606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452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44" y="1484784"/>
            <a:ext cx="8669536" cy="2540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0080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Timeout-Based Schemes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59" y="1618109"/>
            <a:ext cx="8583021" cy="4115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5961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40966"/>
          </a:xfrm>
        </p:spPr>
        <p:txBody>
          <a:bodyPr/>
          <a:lstStyle/>
          <a:p>
            <a:r>
              <a:rPr lang="en-US" dirty="0"/>
              <a:t>Deadlock Detection And Recovery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712968" cy="3532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646" y="4232693"/>
            <a:ext cx="4561706" cy="2580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3520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Detection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29" y="1412776"/>
            <a:ext cx="8690259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3614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75" y="815156"/>
            <a:ext cx="8668905" cy="5134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8358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2" y="1067569"/>
            <a:ext cx="8795106" cy="4737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2749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Recovery From Deadlock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Selection of a Victim.</a:t>
            </a:r>
          </a:p>
          <a:p>
            <a:r>
              <a:rPr lang="en-US" dirty="0"/>
              <a:t>Rollback.</a:t>
            </a:r>
          </a:p>
          <a:p>
            <a:r>
              <a:rPr lang="en-US" dirty="0"/>
              <a:t>Starvation.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181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a Victim</a:t>
            </a: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11" y="1556792"/>
            <a:ext cx="8642661" cy="303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5573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Rollback</a:t>
            </a: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20" y="1340768"/>
            <a:ext cx="8451652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869160"/>
            <a:ext cx="782630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2907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Starvation</a:t>
            </a: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3" y="2060848"/>
            <a:ext cx="8978653" cy="205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7739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Serializability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725145"/>
            <a:ext cx="8928992" cy="936104"/>
          </a:xfrm>
        </p:spPr>
        <p:txBody>
          <a:bodyPr>
            <a:normAutofit/>
          </a:bodyPr>
          <a:lstStyle/>
          <a:p>
            <a:r>
              <a:rPr lang="en-US" sz="2200" dirty="0"/>
              <a:t>Conflict </a:t>
            </a:r>
            <a:r>
              <a:rPr lang="en-US" sz="2200" dirty="0" err="1"/>
              <a:t>Serializabilty</a:t>
            </a:r>
            <a:r>
              <a:rPr lang="en-US" sz="2200" dirty="0"/>
              <a:t> (Conflict Equivalence S S’(after Swapping))</a:t>
            </a:r>
          </a:p>
          <a:p>
            <a:r>
              <a:rPr lang="en-US" sz="2200" dirty="0"/>
              <a:t>View </a:t>
            </a:r>
            <a:r>
              <a:rPr lang="en-US" sz="2200" dirty="0" err="1"/>
              <a:t>Serializability</a:t>
            </a:r>
            <a:r>
              <a:rPr lang="en-US" sz="2200" dirty="0"/>
              <a:t> ( 3 Conditions R,(R/W (Same output)  (W (Final Value)))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8"/>
            <a:ext cx="8402956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0449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8864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/>
              <a:t>Conflict </a:t>
            </a:r>
            <a:r>
              <a:rPr lang="en-US" dirty="0" err="1"/>
              <a:t>Serializabilty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6" y="764828"/>
            <a:ext cx="7096125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9188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C11D5C-B6D4-49F3-AA8A-7B618CEAB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914400"/>
            <a:ext cx="84296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6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Schedule – 3 </a:t>
            </a:r>
            <a:r>
              <a:rPr lang="en-US" sz="2000" dirty="0"/>
              <a:t>(A Concurrent schedule equivalent </a:t>
            </a:r>
            <a:r>
              <a:rPr lang="en-US" sz="2000"/>
              <a:t>to schedule 1 </a:t>
            </a:r>
            <a:r>
              <a:rPr lang="en-US" sz="2000" dirty="0"/>
              <a:t>)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052736"/>
            <a:ext cx="7056784" cy="54726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	     T</a:t>
            </a:r>
            <a:r>
              <a:rPr lang="en-US" baseline="-25000" dirty="0"/>
              <a:t>1</a:t>
            </a:r>
            <a:r>
              <a:rPr lang="en-US" dirty="0"/>
              <a:t>				      T</a:t>
            </a:r>
            <a:r>
              <a:rPr lang="en-US" baseline="-25000" dirty="0"/>
              <a:t>2</a:t>
            </a:r>
          </a:p>
          <a:p>
            <a:pPr marL="0" indent="0">
              <a:buNone/>
            </a:pPr>
            <a:r>
              <a:rPr lang="en-US" dirty="0"/>
              <a:t>	Read(A)</a:t>
            </a:r>
          </a:p>
          <a:p>
            <a:pPr marL="0" indent="0">
              <a:buNone/>
            </a:pPr>
            <a:r>
              <a:rPr lang="en-US" dirty="0"/>
              <a:t>	A:=A-50</a:t>
            </a:r>
          </a:p>
          <a:p>
            <a:pPr marL="0" indent="0">
              <a:buNone/>
            </a:pPr>
            <a:r>
              <a:rPr lang="en-US" dirty="0"/>
              <a:t>	Write(A)</a:t>
            </a:r>
          </a:p>
          <a:p>
            <a:pPr marL="0" indent="0">
              <a:buNone/>
            </a:pPr>
            <a:r>
              <a:rPr lang="en-US" dirty="0"/>
              <a:t>					Read(A)</a:t>
            </a:r>
          </a:p>
          <a:p>
            <a:pPr marL="0" indent="0">
              <a:buNone/>
            </a:pPr>
            <a:r>
              <a:rPr lang="en-US" dirty="0"/>
              <a:t>					Temp:=A*0.1;</a:t>
            </a:r>
          </a:p>
          <a:p>
            <a:pPr marL="0" indent="0">
              <a:buNone/>
            </a:pPr>
            <a:r>
              <a:rPr lang="en-US" dirty="0"/>
              <a:t>					A:=A-temp</a:t>
            </a:r>
          </a:p>
          <a:p>
            <a:pPr marL="0" indent="0">
              <a:buNone/>
            </a:pPr>
            <a:r>
              <a:rPr lang="en-US" dirty="0"/>
              <a:t>	Write(A)</a:t>
            </a:r>
          </a:p>
          <a:p>
            <a:pPr marL="0" indent="0">
              <a:buNone/>
            </a:pPr>
            <a:r>
              <a:rPr lang="en-US" dirty="0"/>
              <a:t>	Read(B)</a:t>
            </a:r>
          </a:p>
          <a:p>
            <a:pPr marL="0" indent="0">
              <a:buNone/>
            </a:pPr>
            <a:r>
              <a:rPr lang="en-US" dirty="0"/>
              <a:t>	B:=B+50</a:t>
            </a:r>
          </a:p>
          <a:p>
            <a:pPr marL="0" indent="0">
              <a:buNone/>
            </a:pPr>
            <a:r>
              <a:rPr lang="en-US" dirty="0"/>
              <a:t>					Write(B)</a:t>
            </a:r>
          </a:p>
          <a:p>
            <a:pPr marL="0" indent="0">
              <a:buNone/>
            </a:pPr>
            <a:r>
              <a:rPr lang="en-US" dirty="0"/>
              <a:t>					Read(B)</a:t>
            </a:r>
          </a:p>
          <a:p>
            <a:pPr marL="0" indent="0">
              <a:buNone/>
            </a:pPr>
            <a:r>
              <a:rPr lang="en-US" dirty="0"/>
              <a:t>					B:=B+temp</a:t>
            </a:r>
          </a:p>
          <a:p>
            <a:pPr marL="0" indent="0">
              <a:buNone/>
            </a:pPr>
            <a:r>
              <a:rPr lang="en-US" dirty="0"/>
              <a:t>					Write(B)</a:t>
            </a:r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187624" y="1442368"/>
            <a:ext cx="64087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3" idx="0"/>
            <a:endCxn id="3" idx="2"/>
          </p:cNvCxnSpPr>
          <p:nvPr/>
        </p:nvCxnSpPr>
        <p:spPr>
          <a:xfrm>
            <a:off x="4427984" y="1052736"/>
            <a:ext cx="0" cy="5472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793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08" y="476672"/>
            <a:ext cx="8928992" cy="514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6421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74245-3088-42A0-81D8-DF900D282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876300"/>
            <a:ext cx="61245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1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5" y="692696"/>
            <a:ext cx="8688325" cy="3780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8" y="5373217"/>
            <a:ext cx="8898350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0075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3528" y="1052736"/>
            <a:ext cx="3888432" cy="44178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	</a:t>
            </a:r>
            <a:r>
              <a:rPr lang="en-US" sz="1800" dirty="0"/>
              <a:t> T</a:t>
            </a:r>
            <a:r>
              <a:rPr lang="en-US" sz="1800" baseline="-25000" dirty="0"/>
              <a:t>1</a:t>
            </a:r>
            <a:r>
              <a:rPr lang="en-US" sz="1800" dirty="0"/>
              <a:t>		       T</a:t>
            </a:r>
            <a:r>
              <a:rPr lang="en-US" sz="1800" baseline="-25000" dirty="0"/>
              <a:t>2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/>
              <a:t>	Read(A)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/>
              <a:t>	A:=A-50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/>
              <a:t>	Write(A)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/>
              <a:t>		           Read(A)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/>
              <a:t>		           Temp:=A*0.1;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/>
              <a:t>		           A:=A-temp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800" dirty="0"/>
              <a:t>Write(A)</a:t>
            </a:r>
          </a:p>
          <a:p>
            <a:pPr marL="0" indent="0">
              <a:buNone/>
            </a:pPr>
            <a:r>
              <a:rPr lang="en-US" sz="1800" dirty="0"/>
              <a:t>	Read(B)</a:t>
            </a:r>
          </a:p>
          <a:p>
            <a:pPr marL="0" indent="0">
              <a:buNone/>
            </a:pPr>
            <a:r>
              <a:rPr lang="en-US" sz="1800" dirty="0"/>
              <a:t>	B:=B+50</a:t>
            </a:r>
          </a:p>
          <a:p>
            <a:pPr marL="0" indent="0">
              <a:buNone/>
            </a:pPr>
            <a:r>
              <a:rPr lang="en-US" sz="1800" dirty="0"/>
              <a:t>		             Write(B)</a:t>
            </a:r>
          </a:p>
          <a:p>
            <a:pPr marL="0" indent="0">
              <a:buNone/>
            </a:pPr>
            <a:r>
              <a:rPr lang="en-US" sz="1800" dirty="0"/>
              <a:t>		             Read(B)</a:t>
            </a:r>
          </a:p>
          <a:p>
            <a:pPr marL="0" indent="0">
              <a:buNone/>
            </a:pPr>
            <a:r>
              <a:rPr lang="en-US" sz="1800" dirty="0"/>
              <a:t>		             B:=B+temp</a:t>
            </a:r>
          </a:p>
          <a:p>
            <a:pPr marL="0" indent="0">
              <a:buNone/>
            </a:pPr>
            <a:r>
              <a:rPr lang="en-US" sz="1800" dirty="0"/>
              <a:t>		             Write(B)</a:t>
            </a:r>
            <a:endParaRPr lang="en-IN" sz="1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71600" y="1442368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483768" y="1450876"/>
            <a:ext cx="0" cy="4032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914598"/>
            <a:ext cx="3888432" cy="46026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59632" y="5733256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Schedule 5 – Schedule 3 after swapping of a pair of instructions  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26155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13" y="300857"/>
            <a:ext cx="7288287" cy="6368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7126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3897"/>
            <a:ext cx="7633469" cy="6129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8710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33" y="1293118"/>
            <a:ext cx="8662847" cy="444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0404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95" y="1052736"/>
            <a:ext cx="8708893" cy="312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2270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10" y="128562"/>
            <a:ext cx="8499862" cy="4092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065570"/>
            <a:ext cx="3600400" cy="238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736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11" y="295612"/>
            <a:ext cx="8722377" cy="198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9" y="2627587"/>
            <a:ext cx="5616624" cy="3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6658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0" y="1124744"/>
            <a:ext cx="8957606" cy="3421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4498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IN" dirty="0"/>
              <a:t>VIEW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92500" lnSpcReduction="10000"/>
          </a:bodyPr>
          <a:lstStyle/>
          <a:p>
            <a:r>
              <a:rPr lang="en-IN" b="1" u="sng" dirty="0"/>
              <a:t>SQL CREATE VIEW Statement</a:t>
            </a:r>
          </a:p>
          <a:p>
            <a:r>
              <a:rPr lang="en-IN" dirty="0"/>
              <a:t>In SQL, a view is a virtual table based on the result-set of an SQL statement.</a:t>
            </a:r>
          </a:p>
          <a:p>
            <a:r>
              <a:rPr lang="en-IN" dirty="0"/>
              <a:t>A view contains rows and columns, just like a real table. The fields in a view are fields from one or more real tables in the database</a:t>
            </a:r>
          </a:p>
          <a:p>
            <a:r>
              <a:rPr lang="en-IN" dirty="0"/>
              <a:t>SQL CREATE VIEW Syntax</a:t>
            </a:r>
          </a:p>
          <a:p>
            <a:pPr marL="0" indent="0">
              <a:buNone/>
            </a:pPr>
            <a:r>
              <a:rPr lang="en-IN" dirty="0"/>
              <a:t>	CREATE VIEW </a:t>
            </a:r>
            <a:r>
              <a:rPr lang="en-IN" dirty="0" err="1"/>
              <a:t>view_name</a:t>
            </a:r>
            <a:r>
              <a:rPr lang="en-IN" dirty="0"/>
              <a:t> AS</a:t>
            </a:r>
            <a:br>
              <a:rPr lang="en-IN" dirty="0"/>
            </a:br>
            <a:r>
              <a:rPr lang="en-IN" dirty="0"/>
              <a:t>	SELECT </a:t>
            </a:r>
            <a:r>
              <a:rPr lang="en-IN" dirty="0" err="1"/>
              <a:t>column_name</a:t>
            </a:r>
            <a:r>
              <a:rPr lang="en-IN" dirty="0"/>
              <a:t>(s)</a:t>
            </a:r>
            <a:br>
              <a:rPr lang="en-IN" dirty="0"/>
            </a:br>
            <a:r>
              <a:rPr lang="en-IN" dirty="0"/>
              <a:t>	FROM </a:t>
            </a:r>
            <a:r>
              <a:rPr lang="en-IN" dirty="0" err="1"/>
              <a:t>table_name</a:t>
            </a:r>
            <a:br>
              <a:rPr lang="en-IN" dirty="0"/>
            </a:br>
            <a:r>
              <a:rPr lang="en-IN" dirty="0"/>
              <a:t>	WHERE condition</a:t>
            </a:r>
          </a:p>
        </p:txBody>
      </p:sp>
    </p:spTree>
    <p:extLst>
      <p:ext uri="{BB962C8B-B14F-4D97-AF65-F5344CB8AC3E}">
        <p14:creationId xmlns:p14="http://schemas.microsoft.com/office/powerpoint/2010/main" val="1992238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N" dirty="0"/>
              <a:t>SQL CREATE VIEW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748" y="980728"/>
            <a:ext cx="8579296" cy="510770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The view "Current Product List" lists all active products (products that are not discontinued) from the "Products" table. The view is created with the following SQL:</a:t>
            </a:r>
          </a:p>
          <a:p>
            <a:r>
              <a:rPr lang="en-IN" dirty="0"/>
              <a:t>CREATE VIEW [Current Product List] AS</a:t>
            </a:r>
            <a:br>
              <a:rPr lang="en-IN" dirty="0"/>
            </a:br>
            <a:r>
              <a:rPr lang="en-IN" dirty="0"/>
              <a:t>SELECT </a:t>
            </a:r>
            <a:r>
              <a:rPr lang="en-IN" dirty="0" err="1"/>
              <a:t>ProductID</a:t>
            </a:r>
            <a:r>
              <a:rPr lang="en-IN" dirty="0"/>
              <a:t>, </a:t>
            </a:r>
            <a:r>
              <a:rPr lang="en-IN" dirty="0" err="1"/>
              <a:t>ProductName</a:t>
            </a:r>
            <a:br>
              <a:rPr lang="en-IN" dirty="0"/>
            </a:br>
            <a:r>
              <a:rPr lang="en-IN" dirty="0"/>
              <a:t>FROM Products</a:t>
            </a:r>
            <a:br>
              <a:rPr lang="en-IN" dirty="0"/>
            </a:br>
            <a:r>
              <a:rPr lang="en-IN" dirty="0"/>
              <a:t>WHERE Discontinued=No</a:t>
            </a:r>
          </a:p>
          <a:p>
            <a:r>
              <a:rPr lang="en-IN" dirty="0"/>
              <a:t>We can query the view above as follows:</a:t>
            </a:r>
          </a:p>
          <a:p>
            <a:r>
              <a:rPr lang="en-IN" dirty="0"/>
              <a:t>SELECT * FROM [Current Product List]</a:t>
            </a:r>
          </a:p>
        </p:txBody>
      </p:sp>
    </p:spTree>
    <p:extLst>
      <p:ext uri="{BB962C8B-B14F-4D97-AF65-F5344CB8AC3E}">
        <p14:creationId xmlns:p14="http://schemas.microsoft.com/office/powerpoint/2010/main" val="1692242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N" dirty="0"/>
              <a:t>SQL Updating a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291264" cy="5328592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You can update a view by using the following syntax:</a:t>
            </a:r>
          </a:p>
          <a:p>
            <a:r>
              <a:rPr lang="en-IN" dirty="0"/>
              <a:t>SQL CREATE OR REPLACE VIEW Syntax</a:t>
            </a:r>
          </a:p>
          <a:p>
            <a:r>
              <a:rPr lang="en-IN" dirty="0"/>
              <a:t>CREATE OR REPLACE VIEW </a:t>
            </a:r>
            <a:r>
              <a:rPr lang="en-IN" dirty="0" err="1"/>
              <a:t>view_name</a:t>
            </a:r>
            <a:r>
              <a:rPr lang="en-IN" dirty="0"/>
              <a:t> AS</a:t>
            </a:r>
            <a:br>
              <a:rPr lang="en-IN" dirty="0"/>
            </a:br>
            <a:r>
              <a:rPr lang="en-IN" dirty="0"/>
              <a:t>SELECT </a:t>
            </a:r>
            <a:r>
              <a:rPr lang="en-IN" dirty="0" err="1"/>
              <a:t>column_name</a:t>
            </a:r>
            <a:r>
              <a:rPr lang="en-IN" dirty="0"/>
              <a:t>(s)</a:t>
            </a:r>
            <a:br>
              <a:rPr lang="en-IN" dirty="0"/>
            </a:br>
            <a:r>
              <a:rPr lang="en-IN" dirty="0"/>
              <a:t>FROM </a:t>
            </a:r>
            <a:r>
              <a:rPr lang="en-IN" dirty="0" err="1"/>
              <a:t>table_name</a:t>
            </a:r>
            <a:br>
              <a:rPr lang="en-IN" dirty="0"/>
            </a:br>
            <a:r>
              <a:rPr lang="en-IN" dirty="0"/>
              <a:t>WHERE condition</a:t>
            </a:r>
          </a:p>
          <a:p>
            <a:r>
              <a:rPr lang="en-IN" dirty="0"/>
              <a:t>Now we want to add the "Category" column to the "Current Product List" view. We will update the view with the following SQL:</a:t>
            </a:r>
          </a:p>
          <a:p>
            <a:r>
              <a:rPr lang="en-IN" dirty="0"/>
              <a:t>CREATE OR REPLACE VIEW [Current Product List] AS</a:t>
            </a:r>
            <a:br>
              <a:rPr lang="en-IN" dirty="0"/>
            </a:br>
            <a:r>
              <a:rPr lang="en-IN" dirty="0"/>
              <a:t>SELECT </a:t>
            </a:r>
            <a:r>
              <a:rPr lang="en-IN" dirty="0" err="1"/>
              <a:t>ProductID,ProductName,Category</a:t>
            </a:r>
            <a:br>
              <a:rPr lang="en-IN" dirty="0"/>
            </a:br>
            <a:r>
              <a:rPr lang="en-IN" dirty="0"/>
              <a:t>FROM Products</a:t>
            </a:r>
            <a:br>
              <a:rPr lang="en-IN" dirty="0"/>
            </a:br>
            <a:r>
              <a:rPr lang="en-IN" dirty="0"/>
              <a:t>WHERE Discontinued=No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8926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en-IN" dirty="0"/>
              <a:t>SQL Dropping a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5"/>
            <a:ext cx="8229600" cy="216024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You can delete a view with the DROP VIEW command.</a:t>
            </a:r>
          </a:p>
          <a:p>
            <a:r>
              <a:rPr lang="en-IN" dirty="0"/>
              <a:t>SQL DROP VIEW Syntax</a:t>
            </a:r>
          </a:p>
          <a:p>
            <a:r>
              <a:rPr lang="en-IN" dirty="0"/>
              <a:t>DROP VIEW </a:t>
            </a:r>
            <a:r>
              <a:rPr lang="en-IN" dirty="0" err="1"/>
              <a:t>view_name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623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349</Words>
  <Application>Microsoft Office PowerPoint</Application>
  <PresentationFormat>On-screen Show (4:3)</PresentationFormat>
  <Paragraphs>91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Transaction Processing</vt:lpstr>
      <vt:lpstr>Transaction Concept</vt:lpstr>
      <vt:lpstr>PowerPoint Presentation</vt:lpstr>
      <vt:lpstr>PowerPoint Presentation</vt:lpstr>
      <vt:lpstr>Transaction State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Timeout-Based Schemes</vt:lpstr>
      <vt:lpstr>Deadlock Detection And Recovery</vt:lpstr>
      <vt:lpstr>Deadlock Detection</vt:lpstr>
      <vt:lpstr>PowerPoint Presentation</vt:lpstr>
      <vt:lpstr>PowerPoint Presentation</vt:lpstr>
      <vt:lpstr>Recovery From Deadlock</vt:lpstr>
      <vt:lpstr>Selection of a Victim</vt:lpstr>
      <vt:lpstr>Rollback</vt:lpstr>
      <vt:lpstr>Starvation</vt:lpstr>
      <vt:lpstr>Serializability</vt:lpstr>
      <vt:lpstr>Conflict Serializabilty</vt:lpstr>
      <vt:lpstr>PowerPoint Presentation</vt:lpstr>
      <vt:lpstr>Schedule – 3 (A Concurrent schedule equivalent to schedule 1 )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VIEW IN SQL</vt:lpstr>
      <vt:lpstr>SQL CREATE VIEW Examples</vt:lpstr>
      <vt:lpstr>SQL Updating a View</vt:lpstr>
      <vt:lpstr>SQL Dropping a 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Sartaj</dc:creator>
  <cp:lastModifiedBy>Sartaj Singh</cp:lastModifiedBy>
  <cp:revision>119</cp:revision>
  <dcterms:created xsi:type="dcterms:W3CDTF">2012-02-08T02:54:16Z</dcterms:created>
  <dcterms:modified xsi:type="dcterms:W3CDTF">2022-04-05T06:11:34Z</dcterms:modified>
</cp:coreProperties>
</file>