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5"/>
  </p:handoutMasterIdLst>
  <p:sldIdLst>
    <p:sldId id="256" r:id="rId2"/>
    <p:sldId id="257" r:id="rId3"/>
    <p:sldId id="402" r:id="rId4"/>
    <p:sldId id="413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25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227"/>
    <a:srgbClr val="FF0066"/>
    <a:srgbClr val="6D71BF"/>
    <a:srgbClr val="215D4B"/>
    <a:srgbClr val="F02E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720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324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4E1A8B-1CD7-D867-6A45-48530465FA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787CD-D771-5A18-F627-39FEF821DD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5C7B3-8183-4BAB-8E07-05C81D35C386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1C7BA-7D67-0F84-234A-128F0BCA70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B9220-12E2-D429-6DF6-A124E3B238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52FC4-9D43-4639-A1A5-3FF8C9F1E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216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391F0BB-51C6-4D26-86BF-C8B7ABE771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904B2BF-680C-4475-8BB8-015B9E57A55D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25029" y="5872919"/>
            <a:ext cx="2929981" cy="464866"/>
          </a:xfrm>
          <a:prstGeom prst="roundRect">
            <a:avLst/>
          </a:prstGeom>
          <a:solidFill>
            <a:schemeClr val="bg1">
              <a:lumMod val="95000"/>
              <a:alpha val="43000"/>
            </a:schemeClr>
          </a:solidFill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rgbClr val="1112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Ashwani Kumar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6FFF258-6585-48CE-B097-817EF039C5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9761" y="2233552"/>
            <a:ext cx="6255249" cy="540430"/>
          </a:xfrm>
          <a:prstGeom prst="roundRect">
            <a:avLst>
              <a:gd name="adj" fmla="val 9276"/>
            </a:avLst>
          </a:prstGeom>
          <a:solidFill>
            <a:schemeClr val="bg1">
              <a:lumMod val="95000"/>
              <a:alpha val="82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algn="ctr">
              <a:buNone/>
              <a:defRPr sz="3200" cap="small" baseline="0">
                <a:solidFill>
                  <a:srgbClr val="111227"/>
                </a:solidFill>
              </a:defRPr>
            </a:lvl1pPr>
          </a:lstStyle>
          <a:p>
            <a:pPr lvl="0"/>
            <a:r>
              <a:rPr lang="en-US" dirty="0"/>
              <a:t>CYBER SECURITY AWARENESS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6F01400-E613-4A3A-9B40-2C6A135940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5029" y="6378830"/>
            <a:ext cx="2929981" cy="354893"/>
          </a:xfrm>
        </p:spPr>
        <p:txBody>
          <a:bodyPr>
            <a:noAutofit/>
          </a:bodyPr>
          <a:lstStyle>
            <a:lvl1pPr algn="ctr">
              <a:buNone/>
              <a:defRPr sz="22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Assistant Professor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02686A-0831-4113-952A-85486930B3DB}"/>
              </a:ext>
            </a:extLst>
          </p:cNvPr>
          <p:cNvCxnSpPr/>
          <p:nvPr userDrawn="1"/>
        </p:nvCxnSpPr>
        <p:spPr>
          <a:xfrm>
            <a:off x="6125029" y="6733723"/>
            <a:ext cx="292998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1E20DF-5A9B-49B4-A942-754260FEC092}"/>
              </a:ext>
            </a:extLst>
          </p:cNvPr>
          <p:cNvCxnSpPr/>
          <p:nvPr userDrawn="1"/>
        </p:nvCxnSpPr>
        <p:spPr>
          <a:xfrm>
            <a:off x="6125029" y="6337785"/>
            <a:ext cx="292998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19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0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B271DD-569D-4824-BCE8-9A8F84980FB0}"/>
              </a:ext>
            </a:extLst>
          </p:cNvPr>
          <p:cNvSpPr/>
          <p:nvPr userDrawn="1"/>
        </p:nvSpPr>
        <p:spPr>
          <a:xfrm>
            <a:off x="0" y="-1"/>
            <a:ext cx="9144000" cy="1933304"/>
          </a:xfrm>
          <a:prstGeom prst="rect">
            <a:avLst/>
          </a:prstGeom>
          <a:gradFill flip="none" rotWithShape="1">
            <a:gsLst>
              <a:gs pos="96000">
                <a:schemeClr val="accent6">
                  <a:lumMod val="5000"/>
                  <a:lumOff val="95000"/>
                  <a:alpha val="82000"/>
                </a:schemeClr>
              </a:gs>
              <a:gs pos="83000">
                <a:srgbClr val="6D71BF"/>
              </a:gs>
              <a:gs pos="43000">
                <a:srgbClr val="111227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108856"/>
            <a:ext cx="3943350" cy="1715589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Learning 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72640"/>
            <a:ext cx="8295430" cy="4283711"/>
          </a:xfrm>
        </p:spPr>
        <p:txBody>
          <a:bodyPr/>
          <a:lstStyle>
            <a:lvl1pPr>
              <a:lnSpc>
                <a:spcPct val="150000"/>
              </a:lnSpc>
              <a:buClr>
                <a:srgbClr val="111227"/>
              </a:buClr>
              <a:defRPr/>
            </a:lvl1pPr>
            <a:lvl2pPr>
              <a:lnSpc>
                <a:spcPct val="150000"/>
              </a:lnSpc>
              <a:buClr>
                <a:srgbClr val="111227"/>
              </a:buClr>
              <a:defRPr/>
            </a:lvl2pPr>
            <a:lvl3pPr>
              <a:lnSpc>
                <a:spcPct val="150000"/>
              </a:lnSpc>
              <a:buClr>
                <a:srgbClr val="111227"/>
              </a:buClr>
              <a:defRPr/>
            </a:lvl3pPr>
            <a:lvl4pPr>
              <a:lnSpc>
                <a:spcPct val="150000"/>
              </a:lnSpc>
              <a:buClr>
                <a:srgbClr val="111227"/>
              </a:buClr>
              <a:defRPr/>
            </a:lvl4pPr>
            <a:lvl5pPr>
              <a:lnSpc>
                <a:spcPct val="150000"/>
              </a:lnSpc>
              <a:buClr>
                <a:srgbClr val="111227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  <p:pic>
        <p:nvPicPr>
          <p:cNvPr id="1028" name="Picture 4" descr="See the source image">
            <a:extLst>
              <a:ext uri="{FF2B5EF4-FFF2-40B4-BE49-F238E27FC236}">
                <a16:creationId xmlns:a16="http://schemas.microsoft.com/office/drawing/2014/main" id="{7095E3DE-E761-4E33-9D71-8FF05E2453E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94"/>
          <a:stretch/>
        </p:blipFill>
        <p:spPr bwMode="auto">
          <a:xfrm>
            <a:off x="6844804" y="139336"/>
            <a:ext cx="2121136" cy="1654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159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alphaModFix amt="10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B271DD-569D-4824-BCE8-9A8F84980FB0}"/>
              </a:ext>
            </a:extLst>
          </p:cNvPr>
          <p:cNvSpPr/>
          <p:nvPr userDrawn="1"/>
        </p:nvSpPr>
        <p:spPr>
          <a:xfrm>
            <a:off x="0" y="-1"/>
            <a:ext cx="9144000" cy="1064871"/>
          </a:xfrm>
          <a:prstGeom prst="rect">
            <a:avLst/>
          </a:prstGeom>
          <a:solidFill>
            <a:srgbClr val="11122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833" y="0"/>
            <a:ext cx="8654247" cy="106487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34" y="1361440"/>
            <a:ext cx="8654246" cy="4994911"/>
          </a:xfrm>
        </p:spPr>
        <p:txBody>
          <a:bodyPr/>
          <a:lstStyle>
            <a:lvl1pPr>
              <a:lnSpc>
                <a:spcPct val="150000"/>
              </a:lnSpc>
              <a:buClr>
                <a:srgbClr val="0070C0"/>
              </a:buClr>
              <a:defRPr/>
            </a:lvl1pPr>
            <a:lvl2pPr>
              <a:lnSpc>
                <a:spcPct val="150000"/>
              </a:lnSpc>
              <a:buClr>
                <a:srgbClr val="0070C0"/>
              </a:buClr>
              <a:defRPr/>
            </a:lvl2pPr>
            <a:lvl3pPr>
              <a:lnSpc>
                <a:spcPct val="150000"/>
              </a:lnSpc>
              <a:buClr>
                <a:srgbClr val="0070C0"/>
              </a:buClr>
              <a:defRPr/>
            </a:lvl3pPr>
            <a:lvl4pPr>
              <a:lnSpc>
                <a:spcPct val="150000"/>
              </a:lnSpc>
              <a:buClr>
                <a:srgbClr val="0070C0"/>
              </a:buClr>
              <a:defRPr/>
            </a:lvl4pPr>
            <a:lvl5pPr>
              <a:lnSpc>
                <a:spcPct val="150000"/>
              </a:lnSpc>
              <a:buClr>
                <a:srgbClr val="0070C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8FC9AB-5EFE-442E-8DC9-73C4CB3DE956}"/>
              </a:ext>
            </a:extLst>
          </p:cNvPr>
          <p:cNvSpPr/>
          <p:nvPr userDrawn="1"/>
        </p:nvSpPr>
        <p:spPr>
          <a:xfrm>
            <a:off x="8858250" y="6544221"/>
            <a:ext cx="228600" cy="228600"/>
          </a:xfrm>
          <a:prstGeom prst="ellipse">
            <a:avLst/>
          </a:prstGeom>
          <a:solidFill>
            <a:srgbClr val="1112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BBCB97-F83E-47EF-842C-75225581C6B3}"/>
              </a:ext>
            </a:extLst>
          </p:cNvPr>
          <p:cNvSpPr/>
          <p:nvPr userDrawn="1"/>
        </p:nvSpPr>
        <p:spPr>
          <a:xfrm>
            <a:off x="0" y="1136955"/>
            <a:ext cx="9144000" cy="91440"/>
          </a:xfrm>
          <a:prstGeom prst="rect">
            <a:avLst/>
          </a:prstGeom>
          <a:solidFill>
            <a:srgbClr val="111227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5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B271DD-569D-4824-BCE8-9A8F84980FB0}"/>
              </a:ext>
            </a:extLst>
          </p:cNvPr>
          <p:cNvSpPr/>
          <p:nvPr userDrawn="1"/>
        </p:nvSpPr>
        <p:spPr>
          <a:xfrm>
            <a:off x="0" y="-1"/>
            <a:ext cx="9144000" cy="1064871"/>
          </a:xfrm>
          <a:prstGeom prst="rect">
            <a:avLst/>
          </a:prstGeom>
          <a:solidFill>
            <a:srgbClr val="11122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833" y="0"/>
            <a:ext cx="8654247" cy="106487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34" y="1375954"/>
            <a:ext cx="8654246" cy="4980397"/>
          </a:xfrm>
        </p:spPr>
        <p:txBody>
          <a:bodyPr/>
          <a:lstStyle>
            <a:lvl1pPr>
              <a:lnSpc>
                <a:spcPct val="150000"/>
              </a:lnSpc>
              <a:buClr>
                <a:srgbClr val="0070C0"/>
              </a:buClr>
              <a:defRPr/>
            </a:lvl1pPr>
            <a:lvl2pPr>
              <a:lnSpc>
                <a:spcPct val="150000"/>
              </a:lnSpc>
              <a:buClr>
                <a:srgbClr val="0070C0"/>
              </a:buClr>
              <a:defRPr/>
            </a:lvl2pPr>
            <a:lvl3pPr>
              <a:lnSpc>
                <a:spcPct val="150000"/>
              </a:lnSpc>
              <a:buClr>
                <a:srgbClr val="0070C0"/>
              </a:buClr>
              <a:defRPr/>
            </a:lvl3pPr>
            <a:lvl4pPr>
              <a:lnSpc>
                <a:spcPct val="150000"/>
              </a:lnSpc>
              <a:buClr>
                <a:srgbClr val="0070C0"/>
              </a:buClr>
              <a:defRPr/>
            </a:lvl4pPr>
            <a:lvl5pPr>
              <a:lnSpc>
                <a:spcPct val="150000"/>
              </a:lnSpc>
              <a:buClr>
                <a:srgbClr val="0070C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8FC9AB-5EFE-442E-8DC9-73C4CB3DE956}"/>
              </a:ext>
            </a:extLst>
          </p:cNvPr>
          <p:cNvSpPr/>
          <p:nvPr userDrawn="1"/>
        </p:nvSpPr>
        <p:spPr>
          <a:xfrm>
            <a:off x="8858250" y="6544221"/>
            <a:ext cx="228600" cy="228600"/>
          </a:xfrm>
          <a:prstGeom prst="ellipse">
            <a:avLst/>
          </a:prstGeom>
          <a:solidFill>
            <a:srgbClr val="1112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6BD475-D0EE-421D-9D0F-3A6A3A36AA3C}"/>
              </a:ext>
            </a:extLst>
          </p:cNvPr>
          <p:cNvSpPr/>
          <p:nvPr userDrawn="1"/>
        </p:nvSpPr>
        <p:spPr>
          <a:xfrm>
            <a:off x="0" y="1136955"/>
            <a:ext cx="9144000" cy="91440"/>
          </a:xfrm>
          <a:prstGeom prst="rect">
            <a:avLst/>
          </a:prstGeom>
          <a:solidFill>
            <a:srgbClr val="111227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2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4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3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gradFill flip="none" rotWithShape="1">
          <a:gsLst>
            <a:gs pos="0">
              <a:schemeClr val="accent6">
                <a:lumMod val="5000"/>
                <a:lumOff val="95000"/>
                <a:alpha val="82000"/>
              </a:schemeClr>
            </a:gs>
            <a:gs pos="100000">
              <a:srgbClr val="111227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1ABA6C-A2B8-4C1C-9C66-903D8C04ED35}"/>
              </a:ext>
            </a:extLst>
          </p:cNvPr>
          <p:cNvSpPr txBox="1">
            <a:spLocks/>
          </p:cNvSpPr>
          <p:nvPr userDrawn="1"/>
        </p:nvSpPr>
        <p:spPr>
          <a:xfrm>
            <a:off x="628650" y="2552858"/>
            <a:ext cx="7886700" cy="1325563"/>
          </a:xfrm>
          <a:prstGeom prst="roundRect">
            <a:avLst>
              <a:gd name="adj" fmla="val 12835"/>
            </a:avLst>
          </a:prstGeom>
          <a:solidFill>
            <a:srgbClr val="11122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1296059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6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65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98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40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165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08F71-6993-4278-9FEC-9DDE6AC4852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7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go of a person wearing a hat&#10;&#10;AI-generated content may be incorrect.">
            <a:extLst>
              <a:ext uri="{FF2B5EF4-FFF2-40B4-BE49-F238E27FC236}">
                <a16:creationId xmlns:a16="http://schemas.microsoft.com/office/drawing/2014/main" id="{A9B7D0CC-7FA9-469B-816C-53601164D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CEBAAE-A260-063C-5B04-A2D3A7255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D6B8ED4-A529-45BC-B09E-C97AEB763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5890" y="5767561"/>
            <a:ext cx="3378110" cy="476250"/>
          </a:xfrm>
        </p:spPr>
        <p:txBody>
          <a:bodyPr>
            <a:normAutofit/>
          </a:bodyPr>
          <a:lstStyle/>
          <a:p>
            <a:r>
              <a:rPr lang="en-IN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Dr. 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Sheikh Umar Mushtaq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EA182-C50D-4A05-AB8C-33310D4F2F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73162" y="393291"/>
            <a:ext cx="6835685" cy="1416847"/>
          </a:xfrm>
        </p:spPr>
        <p:txBody>
          <a:bodyPr/>
          <a:lstStyle/>
          <a:p>
            <a:r>
              <a:rPr lang="en-US" sz="4400" dirty="0"/>
              <a:t>Linux and Shell Scripting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5EDDBE-FE79-470A-BBF0-C78FFC880C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395416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C22D-7AAC-484E-94DD-794B90204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CAP 269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D9D74-4A12-4E3C-B82D-ADB6BB591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85" y="2062808"/>
            <a:ext cx="8295430" cy="4283711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Manual Partitioning</a:t>
            </a:r>
          </a:p>
          <a:p>
            <a:pPr algn="just">
              <a:lnSpc>
                <a:spcPct val="20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LILO Booting</a:t>
            </a:r>
          </a:p>
        </p:txBody>
      </p:sp>
      <p:sp>
        <p:nvSpPr>
          <p:cNvPr id="4" name="sketch line 2">
            <a:extLst>
              <a:ext uri="{FF2B5EF4-FFF2-40B4-BE49-F238E27FC236}">
                <a16:creationId xmlns:a16="http://schemas.microsoft.com/office/drawing/2014/main" id="{E0C4B70D-2806-4417-657C-63DA5EA3F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1971370"/>
            <a:ext cx="8976852" cy="45719"/>
          </a:xfrm>
          <a:custGeom>
            <a:avLst/>
            <a:gdLst>
              <a:gd name="textAreaLeft" fmla="*/ 0 w 10853280"/>
              <a:gd name="textAreaRight" fmla="*/ 10854000 w 10853280"/>
              <a:gd name="textAreaTop" fmla="*/ 0 h 17640"/>
              <a:gd name="textAreaBottom" fmla="*/ 18360 h 17640"/>
            </a:gdLst>
            <a:ahLst/>
            <a:cxnLst/>
            <a:rect l="textAreaLeft" t="textAreaTop" r="textAreaRight" b="textAreaBottom"/>
            <a:pathLst>
              <a:path w="10853928" h="18288" fill="none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42007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6FAC9-684D-A825-AC24-BD78E577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B0042-9719-0B5C-F166-0A69E229F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754" y="4438936"/>
            <a:ext cx="8654246" cy="4994911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6C3D6F2-6D47-FE99-54CC-AAEC316D3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895" y="2168518"/>
            <a:ext cx="774420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1: What is Partitioning?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When you install Linux on a hard disk, you divide the disk into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partitions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(like sections of a notebook).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 (root) → main system files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/home → user files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swap → extra memory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Partitioning decides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where Linux will store its files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555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8CBE2-48E0-A1ED-B3E1-FDA55E82B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Mounting a Disk/Partition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2F18C-B1A3-7158-4BA4-5C190629C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2: What is LILO?</a:t>
            </a:r>
          </a:p>
          <a:p>
            <a:r>
              <a:rPr lang="en-US" b="1" dirty="0"/>
              <a:t>LILO</a:t>
            </a:r>
            <a:r>
              <a:rPr lang="en-US" dirty="0"/>
              <a:t> = Linux Loader (old boot loader).</a:t>
            </a:r>
          </a:p>
          <a:p>
            <a:r>
              <a:rPr lang="en-US" dirty="0"/>
              <a:t>It is like a </a:t>
            </a:r>
            <a:r>
              <a:rPr lang="en-US" b="1" dirty="0"/>
              <a:t>menu</a:t>
            </a:r>
            <a:r>
              <a:rPr lang="en-US" dirty="0"/>
              <a:t> that appears when you start your computer.</a:t>
            </a:r>
          </a:p>
          <a:p>
            <a:r>
              <a:rPr lang="en-US" dirty="0"/>
              <a:t>Today, GRUB is used instead of LILO, but for learning basics, LILO is still taught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728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F864D-A05B-C5F9-1BA4-9C58F085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0C7E3-4887-AEFF-8584-5E4F2811F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3: Main Purpose of the Practical</a:t>
            </a:r>
          </a:p>
          <a:p>
            <a:r>
              <a:rPr lang="en-US" dirty="0"/>
              <a:t>👉 The practical is about </a:t>
            </a:r>
            <a:r>
              <a:rPr lang="en-US" b="1" dirty="0"/>
              <a:t>understanding two things</a:t>
            </a:r>
            <a:r>
              <a:rPr lang="en-US" dirty="0"/>
              <a:t>:</a:t>
            </a:r>
          </a:p>
          <a:p>
            <a:r>
              <a:rPr lang="en-US" b="1" dirty="0"/>
              <a:t>Choosing partitions</a:t>
            </a:r>
            <a:r>
              <a:rPr lang="en-US" dirty="0"/>
              <a:t> during Linux installation (deciding which part of the hard disk to format and use).</a:t>
            </a:r>
          </a:p>
          <a:p>
            <a:r>
              <a:rPr lang="en-US" b="1" dirty="0"/>
              <a:t>Using LILO</a:t>
            </a:r>
            <a:r>
              <a:rPr lang="en-US" dirty="0"/>
              <a:t> to boot Linux (how Linux starts after you power on the system)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179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C5164-77D3-8A4D-189A-BD409197A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0A7E4A-379D-5CC7-804E-6552D8F102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8324" y="1659561"/>
            <a:ext cx="8028592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4: What You Can Do in VMware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Since we already </a:t>
            </a:r>
            <a:r>
              <a:rPr lang="en-US" altLang="en-US" sz="2400" dirty="0"/>
              <a:t>know how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install Red Hat Linux on VMware: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During installation,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when asked to partition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show how to create /, /home, and swap partitions.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without partitions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Linux won’t know where to store system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LILO (or GRUB in modern systems)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installed in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MBR (Master Boot Record)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which lets the system boot Linux after power 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381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5CE39-4988-B766-5F0D-594E27FAF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3649EF-B069-B82D-647A-41F939059F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1177" y="1582340"/>
            <a:ext cx="832356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you configure &amp; show LILO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Since in most Red Hat setups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GRUB is default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show LILO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you do: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During installation, there is a step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“Boot Loader Configuration”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LILO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instead of GRUB (if installer allows).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Choose where to install: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MBR (Master Boot Record)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/dev/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sda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First Sector of Boot Partition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/dev/sda1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483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5448C-0167-A09E-4919-AFDEDBEDC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FE1B94-8DE0-6F4C-19C7-1646C8D09B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8157" y="2230638"/>
            <a:ext cx="760580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After installation, reboot → system shows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LILO boot menu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LILO boot: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Here you can type the label (like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linux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boot.</a:t>
            </a:r>
          </a:p>
        </p:txBody>
      </p:sp>
    </p:spTree>
    <p:extLst>
      <p:ext uri="{BB962C8B-B14F-4D97-AF65-F5344CB8AC3E}">
        <p14:creationId xmlns:p14="http://schemas.microsoft.com/office/powerpoint/2010/main" val="2958605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9C22C-65AE-1B7A-5441-46F8A031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2133EF-75A4-60EA-F15D-0782711E7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607" y="1362075"/>
            <a:ext cx="6879999" cy="4994275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CE701D6-46CF-6D9F-65B0-A597EB9A2FBD}"/>
              </a:ext>
            </a:extLst>
          </p:cNvPr>
          <p:cNvSpPr/>
          <p:nvPr/>
        </p:nvSpPr>
        <p:spPr>
          <a:xfrm>
            <a:off x="6323798" y="2772076"/>
            <a:ext cx="1183907" cy="25988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8F42AA-94A2-0E3A-C419-453D33634A08}"/>
              </a:ext>
            </a:extLst>
          </p:cNvPr>
          <p:cNvSpPr/>
          <p:nvPr/>
        </p:nvSpPr>
        <p:spPr>
          <a:xfrm>
            <a:off x="4077127" y="4257368"/>
            <a:ext cx="1586254" cy="167148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858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75CE5-A2A8-148C-5775-2C0637F43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28963B-CF5A-53A0-367E-9CA54B112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00" y="1362075"/>
            <a:ext cx="6855013" cy="4994275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2D525F-4976-BC11-1EFA-02997FBD6FCD}"/>
              </a:ext>
            </a:extLst>
          </p:cNvPr>
          <p:cNvCxnSpPr/>
          <p:nvPr/>
        </p:nvCxnSpPr>
        <p:spPr>
          <a:xfrm>
            <a:off x="3936733" y="3320716"/>
            <a:ext cx="88552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72CFCC-F60A-4F96-D39E-F8B9A272B519}"/>
              </a:ext>
            </a:extLst>
          </p:cNvPr>
          <p:cNvCxnSpPr/>
          <p:nvPr/>
        </p:nvCxnSpPr>
        <p:spPr>
          <a:xfrm>
            <a:off x="3794165" y="5134767"/>
            <a:ext cx="88552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389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AA912-A953-D116-87BC-40FEB0832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779C56-BEBB-DD71-C86E-6D37BB8AC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276" y="1362075"/>
            <a:ext cx="6938661" cy="4994275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29F36E-8108-5E35-946A-5491266E014D}"/>
              </a:ext>
            </a:extLst>
          </p:cNvPr>
          <p:cNvCxnSpPr/>
          <p:nvPr/>
        </p:nvCxnSpPr>
        <p:spPr>
          <a:xfrm>
            <a:off x="3759752" y="3566522"/>
            <a:ext cx="88552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040E02-DA41-5322-D83F-9F4DA708DB51}"/>
              </a:ext>
            </a:extLst>
          </p:cNvPr>
          <p:cNvCxnSpPr/>
          <p:nvPr/>
        </p:nvCxnSpPr>
        <p:spPr>
          <a:xfrm>
            <a:off x="3902320" y="3797580"/>
            <a:ext cx="88552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1CF209-19D6-0D26-456F-E5D785357CD4}"/>
              </a:ext>
            </a:extLst>
          </p:cNvPr>
          <p:cNvCxnSpPr/>
          <p:nvPr/>
        </p:nvCxnSpPr>
        <p:spPr>
          <a:xfrm>
            <a:off x="3759752" y="4023722"/>
            <a:ext cx="88552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95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F0785-60D7-F4CB-CA5D-FAF988F1F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BC326A-7C4F-8C98-9CF7-ABB21DC3B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637" y="1362075"/>
            <a:ext cx="5919938" cy="4994275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23EB77-68CB-4CC8-3298-A3186410D742}"/>
              </a:ext>
            </a:extLst>
          </p:cNvPr>
          <p:cNvCxnSpPr>
            <a:cxnSpLocks/>
          </p:cNvCxnSpPr>
          <p:nvPr/>
        </p:nvCxnSpPr>
        <p:spPr>
          <a:xfrm>
            <a:off x="3327132" y="4372767"/>
            <a:ext cx="302450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456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etch line 2">
            <a:extLst>
              <a:ext uri="{FF2B5EF4-FFF2-40B4-BE49-F238E27FC236}">
                <a16:creationId xmlns:a16="http://schemas.microsoft.com/office/drawing/2014/main" id="{753779A9-70D8-CFB7-2D51-C2700195A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8530" y="1190295"/>
            <a:ext cx="8976852" cy="45719"/>
          </a:xfrm>
          <a:custGeom>
            <a:avLst/>
            <a:gdLst>
              <a:gd name="textAreaLeft" fmla="*/ 0 w 10853280"/>
              <a:gd name="textAreaRight" fmla="*/ 10854000 w 10853280"/>
              <a:gd name="textAreaTop" fmla="*/ 0 h 17640"/>
              <a:gd name="textAreaBottom" fmla="*/ 18360 h 17640"/>
            </a:gdLst>
            <a:ahLst/>
            <a:cxnLst/>
            <a:rect l="textAreaLeft" t="textAreaTop" r="textAreaRight" b="textAreaBottom"/>
            <a:pathLst>
              <a:path w="10853928" h="18288" fill="none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" name="sketch line 2">
            <a:extLst>
              <a:ext uri="{FF2B5EF4-FFF2-40B4-BE49-F238E27FC236}">
                <a16:creationId xmlns:a16="http://schemas.microsoft.com/office/drawing/2014/main" id="{21BA4BC3-7EC9-588A-154A-82C81A75C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3574" y="5329068"/>
            <a:ext cx="8976852" cy="45719"/>
          </a:xfrm>
          <a:custGeom>
            <a:avLst/>
            <a:gdLst>
              <a:gd name="textAreaLeft" fmla="*/ 0 w 10853280"/>
              <a:gd name="textAreaRight" fmla="*/ 10854000 w 10853280"/>
              <a:gd name="textAreaTop" fmla="*/ 0 h 17640"/>
              <a:gd name="textAreaBottom" fmla="*/ 18360 h 17640"/>
            </a:gdLst>
            <a:ahLst/>
            <a:cxnLst/>
            <a:rect l="textAreaLeft" t="textAreaTop" r="textAreaRight" b="textAreaBottom"/>
            <a:pathLst>
              <a:path w="10853928" h="18288" fill="none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5139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3764</TotalTime>
  <Words>369</Words>
  <Application>Microsoft Office PowerPoint</Application>
  <PresentationFormat>On-screen Show (4:3)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Bahnschrift</vt:lpstr>
      <vt:lpstr>Bahnschrift SemiBold</vt:lpstr>
      <vt:lpstr>Times New Roman</vt:lpstr>
      <vt:lpstr>Office Theme</vt:lpstr>
      <vt:lpstr>PowerPoint Presentation</vt:lpstr>
      <vt:lpstr>Introduction to CAP 269</vt:lpstr>
      <vt:lpstr>Creating Files</vt:lpstr>
      <vt:lpstr>Mounting a Disk/Partition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Examination 1</dc:creator>
  <cp:lastModifiedBy>Sheikh Umar Mushtaq</cp:lastModifiedBy>
  <cp:revision>118</cp:revision>
  <dcterms:created xsi:type="dcterms:W3CDTF">2020-11-19T03:56:33Z</dcterms:created>
  <dcterms:modified xsi:type="dcterms:W3CDTF">2025-09-09T04:43:17Z</dcterms:modified>
</cp:coreProperties>
</file>