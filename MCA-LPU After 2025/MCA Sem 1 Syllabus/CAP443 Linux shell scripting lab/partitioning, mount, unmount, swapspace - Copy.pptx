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2"/>
  </p:handoutMasterIdLst>
  <p:sldIdLst>
    <p:sldId id="256" r:id="rId2"/>
    <p:sldId id="257" r:id="rId3"/>
    <p:sldId id="402" r:id="rId4"/>
    <p:sldId id="413" r:id="rId5"/>
    <p:sldId id="414" r:id="rId6"/>
    <p:sldId id="417" r:id="rId7"/>
    <p:sldId id="408" r:id="rId8"/>
    <p:sldId id="409" r:id="rId9"/>
    <p:sldId id="410" r:id="rId10"/>
    <p:sldId id="411" r:id="rId11"/>
    <p:sldId id="412" r:id="rId12"/>
    <p:sldId id="415" r:id="rId13"/>
    <p:sldId id="416" r:id="rId14"/>
    <p:sldId id="418" r:id="rId15"/>
    <p:sldId id="403" r:id="rId16"/>
    <p:sldId id="407" r:id="rId17"/>
    <p:sldId id="404" r:id="rId18"/>
    <p:sldId id="405" r:id="rId19"/>
    <p:sldId id="406" r:id="rId20"/>
    <p:sldId id="25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227"/>
    <a:srgbClr val="FF0066"/>
    <a:srgbClr val="6D71BF"/>
    <a:srgbClr val="215D4B"/>
    <a:srgbClr val="F02E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72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324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4E1A8B-1CD7-D867-6A45-48530465FA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787CD-D771-5A18-F627-39FEF821DD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5C7B3-8183-4BAB-8E07-05C81D35C386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1C7BA-7D67-0F84-234A-128F0BCA70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B9220-12E2-D429-6DF6-A124E3B238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52FC4-9D43-4639-A1A5-3FF8C9F1E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216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7T06:33:28.0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53 216 24575,'2'0'0,"-1"1"0,1-1 0,-1 0 0,0 1 0,1 0 0,-1-1 0,0 1 0,0 0 0,0 0 0,1 0 0,-1-1 0,0 1 0,0 0 0,0 1 0,0-1 0,0 0 0,-1 0 0,1 0 0,0 0 0,0 1 0,0 1 0,12 30 0,-7-8 0,0 1 0,-2-1 0,1 44 0,-6 82 0,-2-69 0,5-45 0,9 63 0,-5-61 0,2 50 0,-9-26 0,0-31 0,1 0 0,1 0 0,9 50 0,9 35 0,-13-72 0,16 60 0,-14-68 0,6 42 0,-12-62 0,10 40 0,-7-40 0,-2 1 0,3 25 0,-4 296 0,-4-171 0,2-161 0,0-1 0,1 1 0,-1-1 0,1 0 0,1 0 0,-1 1 0,4 9 0,-3-13 0,0 0 0,0 1 0,0-1 0,0 0 0,0 0 0,1 0 0,0-1 0,-1 1 0,1-1 0,0 1 0,0-1 0,0 0 0,0 0 0,4 2 0,96 59 0,-11-5 0,-78-50 0,0-2 0,0 0 0,0 0 0,1-1 0,15 2 0,118 26 0,93 15 0,256 15 0,-106-24 0,42 14 0,-163-15 0,179 17 0,-167-38-1295,439 17-4194,281-35 12273,-522-31-6784,-400 22 0,-1-4 0,109-35 0,145-67 0,-286 98 0,149-45 0,-13 3 0,-92 26 0,101-54 0,-159 70 0,-1-1 0,-1-1 0,-1-2 0,-1-1 0,0-1 0,30-36 0,-46 44 0,-1 0 0,-1-2 0,10-20 0,-9 16 0,21-31 0,2 12 0,3 1 0,1 1 0,62-47 0,6-5 0,-91 76 0,0-1 0,-2-1 0,1 0 0,21-37 0,-29 41 0,0-1 0,0 0 0,-1 0 0,-1-1 0,-1 0 0,0 0 0,4-30 0,-3-102 0,0-7 0,11-435 0,-15 583 0,-1 1 0,-1-1 0,1 1 0,-1-1 0,0 1 0,0 0 0,0-1 0,-1 1 0,0 0 0,0 0 0,0 0 0,-1 0 0,0 1 0,0-1 0,0 0 0,0 1 0,-1 0 0,0 0 0,1 0 0,-1 0 0,-1 1 0,1 0 0,-1-1 0,1 1 0,-1 1 0,0-1 0,-9-3 0,-140-43 0,8 4 0,-250-99 0,160 60 0,167 63 0,-109-19 0,-76 7 0,-207 23 0,288 12 0,-1576-2 0,1525 14 0,12 0 0,93-13 0,-298 14 0,-112-3 0,346-13 0,-1268 1 0,1423 1 0,0 2 0,-33 8 0,8-2 0,16-2 0,-72 25 0,70-19 0,-60 12 0,21-18 0,56-6 0,-1 1 0,-24 5 0,-1 2-1365,28-5-5461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7T06:33:41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 24575,'7'1'0,"-1"0"0,1 0 0,-1 0 0,1 1 0,9 4 0,17 4 0,13-5 0,0-2 0,0-1 0,57-7 0,-45-1 0,106-26 0,-145 27 0,23-1 0,1 1 0,0 1 0,80 6 0,-40 0 0,594-2 0,-642 2 0,54 9 0,1 1 0,25 4 0,-26-2 0,-20-3 0,25 2 0,-66-10 0,32 8 0,-35-6 0,45 5 0,305-9 0,-188-2 0,1672 1-1365,-1834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7T06:33:49.3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91 24575,'2600'0'0,"-2558"-2"0,49-8 0,10-1 0,33 8 0,-66 3 0,82-11 0,-49 1 0,144 3 0,-100-4 0,-50 2 0,470 1 0,-352 10 0,-205-2-273,0 0 0,-1-1 0,1 0 0,8-2 0,0-3-6553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7T06:33:52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24575,'2109'0'0,"-1887"14"0,17 0 0,346-15-1365,-562 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7T06:34:56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24575,'5'0'0,"5"0"0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391F0BB-51C6-4D26-86BF-C8B7ABE771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904B2BF-680C-4475-8BB8-015B9E57A55D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25029" y="5872919"/>
            <a:ext cx="2929981" cy="464866"/>
          </a:xfrm>
          <a:prstGeom prst="roundRect">
            <a:avLst/>
          </a:prstGeom>
          <a:solidFill>
            <a:schemeClr val="bg1">
              <a:lumMod val="95000"/>
              <a:alpha val="43000"/>
            </a:schemeClr>
          </a:solidFill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rgbClr val="1112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Ashwani Kumar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6FFF258-6585-48CE-B097-817EF039C5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9761" y="2233552"/>
            <a:ext cx="6255249" cy="540430"/>
          </a:xfrm>
          <a:prstGeom prst="roundRect">
            <a:avLst>
              <a:gd name="adj" fmla="val 9276"/>
            </a:avLst>
          </a:prstGeom>
          <a:solidFill>
            <a:schemeClr val="bg1">
              <a:lumMod val="95000"/>
              <a:alpha val="82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algn="ctr">
              <a:buNone/>
              <a:defRPr sz="3200" cap="small" baseline="0">
                <a:solidFill>
                  <a:srgbClr val="111227"/>
                </a:solidFill>
              </a:defRPr>
            </a:lvl1pPr>
          </a:lstStyle>
          <a:p>
            <a:pPr lvl="0"/>
            <a:r>
              <a:rPr lang="en-US" dirty="0"/>
              <a:t>CYBER SECURITY AWARENESS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6F01400-E613-4A3A-9B40-2C6A135940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5029" y="6378830"/>
            <a:ext cx="2929981" cy="354893"/>
          </a:xfrm>
        </p:spPr>
        <p:txBody>
          <a:bodyPr>
            <a:noAutofit/>
          </a:bodyPr>
          <a:lstStyle>
            <a:lvl1pPr algn="ctr">
              <a:buNone/>
              <a:defRPr sz="22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Assistant Professor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02686A-0831-4113-952A-85486930B3DB}"/>
              </a:ext>
            </a:extLst>
          </p:cNvPr>
          <p:cNvCxnSpPr/>
          <p:nvPr userDrawn="1"/>
        </p:nvCxnSpPr>
        <p:spPr>
          <a:xfrm>
            <a:off x="6125029" y="6733723"/>
            <a:ext cx="292998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1E20DF-5A9B-49B4-A942-754260FEC092}"/>
              </a:ext>
            </a:extLst>
          </p:cNvPr>
          <p:cNvCxnSpPr/>
          <p:nvPr userDrawn="1"/>
        </p:nvCxnSpPr>
        <p:spPr>
          <a:xfrm>
            <a:off x="6125029" y="6337785"/>
            <a:ext cx="292998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19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B271DD-569D-4824-BCE8-9A8F84980FB0}"/>
              </a:ext>
            </a:extLst>
          </p:cNvPr>
          <p:cNvSpPr/>
          <p:nvPr userDrawn="1"/>
        </p:nvSpPr>
        <p:spPr>
          <a:xfrm>
            <a:off x="0" y="-1"/>
            <a:ext cx="9144000" cy="1933304"/>
          </a:xfrm>
          <a:prstGeom prst="rect">
            <a:avLst/>
          </a:prstGeom>
          <a:gradFill flip="none" rotWithShape="1">
            <a:gsLst>
              <a:gs pos="96000">
                <a:schemeClr val="accent6">
                  <a:lumMod val="5000"/>
                  <a:lumOff val="95000"/>
                  <a:alpha val="82000"/>
                </a:schemeClr>
              </a:gs>
              <a:gs pos="83000">
                <a:srgbClr val="6D71BF"/>
              </a:gs>
              <a:gs pos="43000">
                <a:srgbClr val="111227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108856"/>
            <a:ext cx="3943350" cy="1715589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Learning 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72640"/>
            <a:ext cx="8295430" cy="4283711"/>
          </a:xfrm>
        </p:spPr>
        <p:txBody>
          <a:bodyPr/>
          <a:lstStyle>
            <a:lvl1pPr>
              <a:lnSpc>
                <a:spcPct val="150000"/>
              </a:lnSpc>
              <a:buClr>
                <a:srgbClr val="111227"/>
              </a:buClr>
              <a:defRPr/>
            </a:lvl1pPr>
            <a:lvl2pPr>
              <a:lnSpc>
                <a:spcPct val="150000"/>
              </a:lnSpc>
              <a:buClr>
                <a:srgbClr val="111227"/>
              </a:buClr>
              <a:defRPr/>
            </a:lvl2pPr>
            <a:lvl3pPr>
              <a:lnSpc>
                <a:spcPct val="150000"/>
              </a:lnSpc>
              <a:buClr>
                <a:srgbClr val="111227"/>
              </a:buClr>
              <a:defRPr/>
            </a:lvl3pPr>
            <a:lvl4pPr>
              <a:lnSpc>
                <a:spcPct val="150000"/>
              </a:lnSpc>
              <a:buClr>
                <a:srgbClr val="111227"/>
              </a:buClr>
              <a:defRPr/>
            </a:lvl4pPr>
            <a:lvl5pPr>
              <a:lnSpc>
                <a:spcPct val="150000"/>
              </a:lnSpc>
              <a:buClr>
                <a:srgbClr val="111227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7095E3DE-E761-4E33-9D71-8FF05E2453E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94"/>
          <a:stretch/>
        </p:blipFill>
        <p:spPr bwMode="auto">
          <a:xfrm>
            <a:off x="6844804" y="139336"/>
            <a:ext cx="2121136" cy="1654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15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alphaModFix amt="1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B271DD-569D-4824-BCE8-9A8F84980FB0}"/>
              </a:ext>
            </a:extLst>
          </p:cNvPr>
          <p:cNvSpPr/>
          <p:nvPr userDrawn="1"/>
        </p:nvSpPr>
        <p:spPr>
          <a:xfrm>
            <a:off x="0" y="-1"/>
            <a:ext cx="9144000" cy="1064871"/>
          </a:xfrm>
          <a:prstGeom prst="rect">
            <a:avLst/>
          </a:prstGeom>
          <a:solidFill>
            <a:srgbClr val="11122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33" y="0"/>
            <a:ext cx="8654247" cy="106487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34" y="1361440"/>
            <a:ext cx="8654246" cy="4994911"/>
          </a:xfrm>
        </p:spPr>
        <p:txBody>
          <a:bodyPr/>
          <a:lstStyle>
            <a:lvl1pPr>
              <a:lnSpc>
                <a:spcPct val="150000"/>
              </a:lnSpc>
              <a:buClr>
                <a:srgbClr val="0070C0"/>
              </a:buClr>
              <a:defRPr/>
            </a:lvl1pPr>
            <a:lvl2pPr>
              <a:lnSpc>
                <a:spcPct val="150000"/>
              </a:lnSpc>
              <a:buClr>
                <a:srgbClr val="0070C0"/>
              </a:buClr>
              <a:defRPr/>
            </a:lvl2pPr>
            <a:lvl3pPr>
              <a:lnSpc>
                <a:spcPct val="150000"/>
              </a:lnSpc>
              <a:buClr>
                <a:srgbClr val="0070C0"/>
              </a:buClr>
              <a:defRPr/>
            </a:lvl3pPr>
            <a:lvl4pPr>
              <a:lnSpc>
                <a:spcPct val="150000"/>
              </a:lnSpc>
              <a:buClr>
                <a:srgbClr val="0070C0"/>
              </a:buClr>
              <a:defRPr/>
            </a:lvl4pPr>
            <a:lvl5pPr>
              <a:lnSpc>
                <a:spcPct val="150000"/>
              </a:lnSpc>
              <a:buClr>
                <a:srgbClr val="0070C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8FC9AB-5EFE-442E-8DC9-73C4CB3DE956}"/>
              </a:ext>
            </a:extLst>
          </p:cNvPr>
          <p:cNvSpPr/>
          <p:nvPr userDrawn="1"/>
        </p:nvSpPr>
        <p:spPr>
          <a:xfrm>
            <a:off x="8858250" y="6544221"/>
            <a:ext cx="228600" cy="228600"/>
          </a:xfrm>
          <a:prstGeom prst="ellipse">
            <a:avLst/>
          </a:prstGeom>
          <a:solidFill>
            <a:srgbClr val="1112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BBCB97-F83E-47EF-842C-75225581C6B3}"/>
              </a:ext>
            </a:extLst>
          </p:cNvPr>
          <p:cNvSpPr/>
          <p:nvPr userDrawn="1"/>
        </p:nvSpPr>
        <p:spPr>
          <a:xfrm>
            <a:off x="0" y="1136955"/>
            <a:ext cx="9144000" cy="91440"/>
          </a:xfrm>
          <a:prstGeom prst="rect">
            <a:avLst/>
          </a:prstGeom>
          <a:solidFill>
            <a:srgbClr val="111227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5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B271DD-569D-4824-BCE8-9A8F84980FB0}"/>
              </a:ext>
            </a:extLst>
          </p:cNvPr>
          <p:cNvSpPr/>
          <p:nvPr userDrawn="1"/>
        </p:nvSpPr>
        <p:spPr>
          <a:xfrm>
            <a:off x="0" y="-1"/>
            <a:ext cx="9144000" cy="1064871"/>
          </a:xfrm>
          <a:prstGeom prst="rect">
            <a:avLst/>
          </a:prstGeom>
          <a:solidFill>
            <a:srgbClr val="11122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33" y="0"/>
            <a:ext cx="8654247" cy="106487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34" y="1375954"/>
            <a:ext cx="8654246" cy="4980397"/>
          </a:xfrm>
        </p:spPr>
        <p:txBody>
          <a:bodyPr/>
          <a:lstStyle>
            <a:lvl1pPr>
              <a:lnSpc>
                <a:spcPct val="150000"/>
              </a:lnSpc>
              <a:buClr>
                <a:srgbClr val="0070C0"/>
              </a:buClr>
              <a:defRPr/>
            </a:lvl1pPr>
            <a:lvl2pPr>
              <a:lnSpc>
                <a:spcPct val="150000"/>
              </a:lnSpc>
              <a:buClr>
                <a:srgbClr val="0070C0"/>
              </a:buClr>
              <a:defRPr/>
            </a:lvl2pPr>
            <a:lvl3pPr>
              <a:lnSpc>
                <a:spcPct val="150000"/>
              </a:lnSpc>
              <a:buClr>
                <a:srgbClr val="0070C0"/>
              </a:buClr>
              <a:defRPr/>
            </a:lvl3pPr>
            <a:lvl4pPr>
              <a:lnSpc>
                <a:spcPct val="150000"/>
              </a:lnSpc>
              <a:buClr>
                <a:srgbClr val="0070C0"/>
              </a:buClr>
              <a:defRPr/>
            </a:lvl4pPr>
            <a:lvl5pPr>
              <a:lnSpc>
                <a:spcPct val="150000"/>
              </a:lnSpc>
              <a:buClr>
                <a:srgbClr val="0070C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8FC9AB-5EFE-442E-8DC9-73C4CB3DE956}"/>
              </a:ext>
            </a:extLst>
          </p:cNvPr>
          <p:cNvSpPr/>
          <p:nvPr userDrawn="1"/>
        </p:nvSpPr>
        <p:spPr>
          <a:xfrm>
            <a:off x="8858250" y="6544221"/>
            <a:ext cx="228600" cy="228600"/>
          </a:xfrm>
          <a:prstGeom prst="ellipse">
            <a:avLst/>
          </a:prstGeom>
          <a:solidFill>
            <a:srgbClr val="1112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6BD475-D0EE-421D-9D0F-3A6A3A36AA3C}"/>
              </a:ext>
            </a:extLst>
          </p:cNvPr>
          <p:cNvSpPr/>
          <p:nvPr userDrawn="1"/>
        </p:nvSpPr>
        <p:spPr>
          <a:xfrm>
            <a:off x="0" y="1136955"/>
            <a:ext cx="9144000" cy="91440"/>
          </a:xfrm>
          <a:prstGeom prst="rect">
            <a:avLst/>
          </a:prstGeom>
          <a:solidFill>
            <a:srgbClr val="111227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2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4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3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 flip="none" rotWithShape="1">
          <a:gsLst>
            <a:gs pos="0">
              <a:schemeClr val="accent6">
                <a:lumMod val="5000"/>
                <a:lumOff val="95000"/>
                <a:alpha val="82000"/>
              </a:schemeClr>
            </a:gs>
            <a:gs pos="100000">
              <a:srgbClr val="111227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1ABA6C-A2B8-4C1C-9C66-903D8C04ED35}"/>
              </a:ext>
            </a:extLst>
          </p:cNvPr>
          <p:cNvSpPr txBox="1">
            <a:spLocks/>
          </p:cNvSpPr>
          <p:nvPr userDrawn="1"/>
        </p:nvSpPr>
        <p:spPr>
          <a:xfrm>
            <a:off x="628650" y="2552858"/>
            <a:ext cx="7886700" cy="1325563"/>
          </a:xfrm>
          <a:prstGeom prst="roundRect">
            <a:avLst>
              <a:gd name="adj" fmla="val 12835"/>
            </a:avLst>
          </a:prstGeom>
          <a:solidFill>
            <a:srgbClr val="11122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1296059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6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65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98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40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65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7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go of a person wearing a hat&#10;&#10;AI-generated content may be incorrect.">
            <a:extLst>
              <a:ext uri="{FF2B5EF4-FFF2-40B4-BE49-F238E27FC236}">
                <a16:creationId xmlns:a16="http://schemas.microsoft.com/office/drawing/2014/main" id="{A9B7D0CC-7FA9-469B-816C-53601164D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CEBAAE-A260-063C-5B04-A2D3A7255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D6B8ED4-A529-45BC-B09E-C97AEB763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5890" y="5767561"/>
            <a:ext cx="3378110" cy="476250"/>
          </a:xfrm>
        </p:spPr>
        <p:txBody>
          <a:bodyPr>
            <a:normAutofit/>
          </a:bodyPr>
          <a:lstStyle/>
          <a:p>
            <a:r>
              <a:rPr lang="en-IN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Dr. 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Sheikh Umar Mushtaq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EA182-C50D-4A05-AB8C-33310D4F2F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3162" y="393291"/>
            <a:ext cx="6835685" cy="1416847"/>
          </a:xfrm>
        </p:spPr>
        <p:txBody>
          <a:bodyPr/>
          <a:lstStyle/>
          <a:p>
            <a:r>
              <a:rPr lang="en-US" sz="4400" dirty="0"/>
              <a:t>Linux and Shell Scripting</a:t>
            </a:r>
          </a:p>
          <a:p>
            <a:r>
              <a:rPr lang="en-US" sz="4400" dirty="0"/>
              <a:t>Zero Lecture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5EDDBE-FE79-470A-BBF0-C78FFC880C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395416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C22D-7AAC-484E-94DD-794B9020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CAP 269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D9D74-4A12-4E3C-B82D-ADB6BB591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85" y="2062808"/>
            <a:ext cx="8295430" cy="4283711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20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Creating files</a:t>
            </a:r>
          </a:p>
          <a:p>
            <a:pPr algn="just">
              <a:lnSpc>
                <a:spcPct val="20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Disk Partitioning</a:t>
            </a:r>
          </a:p>
          <a:p>
            <a:pPr algn="just">
              <a:lnSpc>
                <a:spcPct val="20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Mounting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unmounting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IN" dirty="0"/>
              <a:t>Swap space</a:t>
            </a:r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sketch line 2">
            <a:extLst>
              <a:ext uri="{FF2B5EF4-FFF2-40B4-BE49-F238E27FC236}">
                <a16:creationId xmlns:a16="http://schemas.microsoft.com/office/drawing/2014/main" id="{E0C4B70D-2806-4417-657C-63DA5EA3F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1971370"/>
            <a:ext cx="8976852" cy="45719"/>
          </a:xfrm>
          <a:custGeom>
            <a:avLst/>
            <a:gdLst>
              <a:gd name="textAreaLeft" fmla="*/ 0 w 10853280"/>
              <a:gd name="textAreaRight" fmla="*/ 10854000 w 10853280"/>
              <a:gd name="textAreaTop" fmla="*/ 0 h 17640"/>
              <a:gd name="textAreaBottom" fmla="*/ 18360 h 17640"/>
            </a:gdLst>
            <a:ahLst/>
            <a:cxnLst/>
            <a:rect l="textAreaLeft" t="textAreaTop" r="textAreaRight" b="textAreaBottom"/>
            <a:pathLst>
              <a:path w="10853928" h="18288" fill="none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42007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6FAC9-684D-A825-AC24-BD78E577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B0042-9719-0B5C-F166-0A69E229F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Touch filename.txt &gt;&gt;&gt;&gt;&gt;&gt;&gt;&gt;&gt;&gt; Create empty file</a:t>
            </a:r>
          </a:p>
          <a:p>
            <a:r>
              <a:rPr lang="en-IN" dirty="0"/>
              <a:t>Cat &gt; filename.txt &gt;&gt;&gt;&gt;&gt;&gt;&gt;&gt;&gt;&gt;&gt; Type content of file and press </a:t>
            </a:r>
            <a:r>
              <a:rPr lang="en-IN" dirty="0" err="1"/>
              <a:t>ctrl+D</a:t>
            </a:r>
            <a:r>
              <a:rPr lang="en-IN" dirty="0"/>
              <a:t> to save and exit.</a:t>
            </a:r>
          </a:p>
          <a:p>
            <a:r>
              <a:rPr lang="en-IN" dirty="0"/>
              <a:t>Cat filename.txt to display the contents of file.</a:t>
            </a:r>
          </a:p>
        </p:txBody>
      </p:sp>
    </p:spTree>
    <p:extLst>
      <p:ext uri="{BB962C8B-B14F-4D97-AF65-F5344CB8AC3E}">
        <p14:creationId xmlns:p14="http://schemas.microsoft.com/office/powerpoint/2010/main" val="179555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8CBE2-48E0-A1ED-B3E1-FDA55E82B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Mounting a Disk/Partition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2F18C-B1A3-7158-4BA4-5C190629C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 is a mount point?</a:t>
            </a:r>
          </a:p>
          <a:p>
            <a:r>
              <a:rPr lang="en-US" dirty="0"/>
              <a:t>In Windows → every disk/partition gets a </a:t>
            </a:r>
            <a:r>
              <a:rPr lang="en-US" b="1" dirty="0"/>
              <a:t>drive letter</a:t>
            </a:r>
            <a:r>
              <a:rPr lang="en-US" dirty="0"/>
              <a:t> (C:, D:, E: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r>
              <a:rPr lang="en-US" dirty="0"/>
              <a:t>In Linux → there are </a:t>
            </a:r>
            <a:r>
              <a:rPr lang="en-US" b="1" dirty="0"/>
              <a:t>no drive letters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Instead, every storage device (disk, partition, USB) must be “attached” to the </a:t>
            </a:r>
            <a:r>
              <a:rPr lang="en-US" b="1" dirty="0"/>
              <a:t>directory tree</a:t>
            </a:r>
            <a:r>
              <a:rPr lang="en-US" dirty="0"/>
              <a:t>.</a:t>
            </a:r>
          </a:p>
          <a:p>
            <a:r>
              <a:rPr lang="en-US" dirty="0"/>
              <a:t>The place where it’s attached is called the </a:t>
            </a:r>
            <a:r>
              <a:rPr lang="en-US" b="1" dirty="0"/>
              <a:t>mount point</a:t>
            </a:r>
            <a:r>
              <a:rPr lang="en-US" dirty="0"/>
              <a:t> (just a normal folder).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728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0EA7-3F5B-FAA6-79A4-776973747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C76C23-28BB-77CC-61E1-D4F5D34C58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9833" y="1042740"/>
            <a:ext cx="829406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Example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Suppose you plug in an extra hard disk (/dev/sdb1).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Linux doesn’t know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your filesystem you want to see its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 you create a folder: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mkdir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mydisk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Then mount it: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/>
              <a:t>mount –t ext3 /dev/sdb1 /</a:t>
            </a:r>
            <a:r>
              <a:rPr lang="en-US" altLang="en-US" sz="2400" b="1" dirty="0" err="1"/>
              <a:t>mnt</a:t>
            </a:r>
            <a:r>
              <a:rPr lang="en-US" altLang="en-US" sz="2400" b="1" dirty="0"/>
              <a:t>/</a:t>
            </a:r>
            <a:r>
              <a:rPr lang="en-US" altLang="en-US" sz="2400" b="1" dirty="0" err="1"/>
              <a:t>mydisk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mount /dev/sdb1 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mydisk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Now, when you go into 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mydisk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you’ll see the contents of that disk.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400" i="1" dirty="0"/>
              <a:t>A mount point is just a </a:t>
            </a:r>
            <a:r>
              <a:rPr lang="en-US" sz="2400" b="1" i="1" dirty="0"/>
              <a:t>folder that acts like an entry door</a:t>
            </a:r>
            <a:r>
              <a:rPr lang="en-US" sz="2400" i="1" dirty="0"/>
              <a:t> to access a disk/partition/USB inside your main Linux filesystem.</a:t>
            </a:r>
            <a:endParaRPr kumimoji="0" lang="en-US" altLang="en-U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53984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BF792-9182-A78B-63B3-787F92580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B2FBA-0F0D-EA39-A861-A9331D6BE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err="1"/>
              <a:t>mkfs.vfat</a:t>
            </a:r>
            <a:r>
              <a:rPr lang="en-US" dirty="0"/>
              <a:t> /dev/sdb2</a:t>
            </a:r>
          </a:p>
          <a:p>
            <a:pPr algn="just"/>
            <a:r>
              <a:rPr lang="en-US" dirty="0"/>
              <a:t>This command is used to format the 2nd partition available in /dev/sdb2 to the VFAT file system. Even though we formatted the disks, it is of no use to us, unless we mount it on a directory.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567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3368-64E2-2E59-F65A-4DE2D50D6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Mounting a Disk/Partition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B69A2-FF32-B68C-37BC-9EEFADE09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Create a mount point (folder where it will be attached)</a:t>
            </a:r>
          </a:p>
          <a:p>
            <a:pPr marL="0" indent="0">
              <a:buNone/>
            </a:pPr>
            <a:r>
              <a:rPr lang="en-IN" dirty="0" err="1"/>
              <a:t>mkdir</a:t>
            </a:r>
            <a:r>
              <a:rPr lang="en-IN" dirty="0"/>
              <a:t> /</a:t>
            </a:r>
            <a:r>
              <a:rPr lang="en-IN" dirty="0" err="1"/>
              <a:t>mnt</a:t>
            </a:r>
            <a:r>
              <a:rPr lang="en-IN" dirty="0"/>
              <a:t>/</a:t>
            </a:r>
            <a:r>
              <a:rPr lang="en-IN" dirty="0" err="1"/>
              <a:t>mydisk</a:t>
            </a:r>
            <a:endParaRPr lang="en-IN" dirty="0"/>
          </a:p>
          <a:p>
            <a:r>
              <a:rPr lang="en-US" dirty="0"/>
              <a:t>Mount the partition to that folder</a:t>
            </a:r>
          </a:p>
          <a:p>
            <a:pPr marL="0" indent="0">
              <a:buNone/>
            </a:pPr>
            <a:r>
              <a:rPr lang="en-US" dirty="0"/>
              <a:t>mount /dev/sdb1 /</a:t>
            </a:r>
            <a:r>
              <a:rPr lang="en-US" dirty="0" err="1"/>
              <a:t>mnt</a:t>
            </a:r>
            <a:r>
              <a:rPr lang="en-US" dirty="0"/>
              <a:t>/</a:t>
            </a:r>
            <a:r>
              <a:rPr lang="en-US" dirty="0" err="1"/>
              <a:t>mydisk</a:t>
            </a:r>
            <a:endParaRPr lang="en-US" dirty="0"/>
          </a:p>
          <a:p>
            <a:r>
              <a:rPr lang="en-IN" dirty="0"/>
              <a:t>Check if mounted:</a:t>
            </a:r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 –h</a:t>
            </a:r>
          </a:p>
          <a:p>
            <a:r>
              <a:rPr lang="en-IN" dirty="0"/>
              <a:t>Unmount (if needed):</a:t>
            </a:r>
          </a:p>
          <a:p>
            <a:pPr marL="0" indent="0">
              <a:buNone/>
            </a:pPr>
            <a:r>
              <a:rPr lang="en-IN" dirty="0" err="1"/>
              <a:t>umount</a:t>
            </a:r>
            <a:r>
              <a:rPr lang="en-IN" dirty="0"/>
              <a:t> /</a:t>
            </a:r>
            <a:r>
              <a:rPr lang="en-IN" dirty="0" err="1"/>
              <a:t>mnt</a:t>
            </a:r>
            <a:r>
              <a:rPr lang="en-IN" dirty="0"/>
              <a:t>/</a:t>
            </a:r>
            <a:r>
              <a:rPr lang="en-IN" dirty="0" err="1"/>
              <a:t>mydisk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803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0FCE-0219-CB4B-9084-8468A018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Activity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B3E4A5-2AA5-E820-1535-1F65D9A20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Make one mount point</a:t>
            </a:r>
          </a:p>
          <a:p>
            <a:r>
              <a:rPr lang="en-IN" dirty="0"/>
              <a:t>Make one directory in that mount point</a:t>
            </a:r>
          </a:p>
          <a:p>
            <a:r>
              <a:rPr lang="en-IN" dirty="0"/>
              <a:t>Display using ls</a:t>
            </a:r>
          </a:p>
          <a:p>
            <a:r>
              <a:rPr lang="en-IN" dirty="0"/>
              <a:t>Mount any partition on that mount point</a:t>
            </a:r>
          </a:p>
          <a:p>
            <a:r>
              <a:rPr lang="en-IN" dirty="0"/>
              <a:t>Now make one directory in that mount point</a:t>
            </a:r>
          </a:p>
          <a:p>
            <a:r>
              <a:rPr lang="en-IN" dirty="0"/>
              <a:t>Display using ls</a:t>
            </a:r>
          </a:p>
          <a:p>
            <a:r>
              <a:rPr lang="en-IN" dirty="0"/>
              <a:t>Unmount and see the changes</a:t>
            </a:r>
          </a:p>
        </p:txBody>
      </p:sp>
    </p:spTree>
    <p:extLst>
      <p:ext uri="{BB962C8B-B14F-4D97-AF65-F5344CB8AC3E}">
        <p14:creationId xmlns:p14="http://schemas.microsoft.com/office/powerpoint/2010/main" val="1998950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E3658-C6F6-6286-293C-585951AD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EA51C5-BDFC-B65B-84E4-8BCBF3874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03" y="1246222"/>
            <a:ext cx="6974429" cy="4537309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91745D8-C90D-30F8-126D-BB40B1B52446}"/>
                  </a:ext>
                </a:extLst>
              </p14:cNvPr>
              <p14:cNvContentPartPr/>
              <p14:nvPr/>
            </p14:nvContentPartPr>
            <p14:xfrm>
              <a:off x="2771886" y="1587278"/>
              <a:ext cx="2782440" cy="1022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91745D8-C90D-30F8-126D-BB40B1B524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54246" y="1569278"/>
                <a:ext cx="2818080" cy="10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CF89578-7DF0-80E5-7097-61EF044DC178}"/>
                  </a:ext>
                </a:extLst>
              </p14:cNvPr>
              <p14:cNvContentPartPr/>
              <p14:nvPr/>
            </p14:nvContentPartPr>
            <p14:xfrm>
              <a:off x="2945406" y="3155438"/>
              <a:ext cx="1722600" cy="41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CF89578-7DF0-80E5-7097-61EF044DC1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27406" y="3137438"/>
                <a:ext cx="17582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C5A94E4-E088-4C93-F433-32F8D5C88080}"/>
                  </a:ext>
                </a:extLst>
              </p14:cNvPr>
              <p14:cNvContentPartPr/>
              <p14:nvPr/>
            </p14:nvContentPartPr>
            <p14:xfrm>
              <a:off x="2829486" y="3711278"/>
              <a:ext cx="1661040" cy="33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C5A94E4-E088-4C93-F433-32F8D5C880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11846" y="3693278"/>
                <a:ext cx="169668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0C527BD-B297-D64F-77D8-31CA66306CFE}"/>
                  </a:ext>
                </a:extLst>
              </p14:cNvPr>
              <p14:cNvContentPartPr/>
              <p14:nvPr/>
            </p14:nvContentPartPr>
            <p14:xfrm>
              <a:off x="2887446" y="3936638"/>
              <a:ext cx="1144440" cy="10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0C527BD-B297-D64F-77D8-31CA66306CF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69806" y="3918638"/>
                <a:ext cx="11800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5109235-F116-B253-1DB4-359BA9F3D787}"/>
                  </a:ext>
                </a:extLst>
              </p14:cNvPr>
              <p14:cNvContentPartPr/>
              <p14:nvPr/>
            </p14:nvContentPartPr>
            <p14:xfrm>
              <a:off x="115446" y="1646053"/>
              <a:ext cx="57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5109235-F116-B253-1DB4-359BA9F3D78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7446" y="1628053"/>
                <a:ext cx="414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508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DC8F-D0FE-BB21-62AD-1C593C75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SwapSpace</a:t>
            </a:r>
            <a:endParaRPr lang="en-IN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2EFC71-5E74-CD65-EA80-E1C571561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86" y="1899198"/>
            <a:ext cx="7792084" cy="3059604"/>
          </a:xfrm>
        </p:spPr>
      </p:pic>
    </p:spTree>
    <p:extLst>
      <p:ext uri="{BB962C8B-B14F-4D97-AF65-F5344CB8AC3E}">
        <p14:creationId xmlns:p14="http://schemas.microsoft.com/office/powerpoint/2010/main" val="1461338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3643-21C9-EAE7-F530-DAC7B6AF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Swapspace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4B3AD-50C2-F54D-EA5E-5052A4698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Why do we use swap space?</a:t>
            </a:r>
          </a:p>
          <a:p>
            <a:r>
              <a:rPr lang="en-US" dirty="0"/>
              <a:t>Think of your </a:t>
            </a:r>
            <a:r>
              <a:rPr lang="en-US" b="1" dirty="0"/>
              <a:t>RAM</a:t>
            </a:r>
            <a:r>
              <a:rPr lang="en-US" dirty="0"/>
              <a:t> (memory) as a </a:t>
            </a:r>
            <a:r>
              <a:rPr lang="en-US" b="1" dirty="0"/>
              <a:t>work desk</a:t>
            </a:r>
            <a:r>
              <a:rPr lang="en-US" dirty="0"/>
              <a:t>.</a:t>
            </a:r>
          </a:p>
          <a:p>
            <a:r>
              <a:rPr lang="en-US" dirty="0"/>
              <a:t>If the desk is big enough, you can keep all your books and notes open at once.</a:t>
            </a:r>
          </a:p>
          <a:p>
            <a:r>
              <a:rPr lang="en-US" dirty="0"/>
              <a:t>If the desk is small (RAM is limited), you run out of space.</a:t>
            </a:r>
          </a:p>
          <a:p>
            <a:r>
              <a:rPr lang="en-US" b="1" dirty="0"/>
              <a:t>Swap space</a:t>
            </a:r>
            <a:r>
              <a:rPr lang="en-US" dirty="0"/>
              <a:t> is like having an </a:t>
            </a:r>
            <a:r>
              <a:rPr lang="en-US" b="1" dirty="0"/>
              <a:t>extra shelf nearby (on disk)</a:t>
            </a:r>
            <a:r>
              <a:rPr lang="en-US" dirty="0"/>
              <a:t> where you can temporarily put things you don’t need right now.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1142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4A0B7-CFDC-4446-8C18-E1846229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Swapspace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20BAE-DAF2-C00D-E9CD-A1D4C3837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Main reasons Linux uses swap</a:t>
            </a:r>
          </a:p>
          <a:p>
            <a:r>
              <a:rPr lang="en-US" b="1" dirty="0"/>
              <a:t>When RAM is full</a:t>
            </a:r>
            <a:r>
              <a:rPr lang="en-US" dirty="0"/>
              <a:t> → system moves less-used data to swap, so applications don’t crash.</a:t>
            </a:r>
          </a:p>
          <a:p>
            <a:r>
              <a:rPr lang="en-US" b="1" dirty="0"/>
              <a:t>Run bigger programs</a:t>
            </a:r>
            <a:r>
              <a:rPr lang="en-US" dirty="0"/>
              <a:t> than your physical RAM allows.</a:t>
            </a:r>
          </a:p>
          <a:p>
            <a:r>
              <a:rPr lang="en-US" b="1" dirty="0"/>
              <a:t>System hibernation</a:t>
            </a:r>
            <a:r>
              <a:rPr lang="en-US" dirty="0"/>
              <a:t> → RAM contents are copied to swap before power off, so everything can be restored.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2957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1921-5BA9-5316-19CB-D86E861EA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Swapspace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584DD-2F8E-8169-2EC7-BEBC3F39C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Suppose you have </a:t>
            </a:r>
            <a:r>
              <a:rPr lang="en-US" b="1" dirty="0"/>
              <a:t>2 GB RAM</a:t>
            </a:r>
            <a:r>
              <a:rPr lang="en-US" dirty="0"/>
              <a:t>.</a:t>
            </a:r>
          </a:p>
          <a:p>
            <a:r>
              <a:rPr lang="en-US" dirty="0"/>
              <a:t>You open many programs and they need </a:t>
            </a:r>
            <a:r>
              <a:rPr lang="en-US" b="1" dirty="0"/>
              <a:t>3 GB</a:t>
            </a:r>
            <a:r>
              <a:rPr lang="en-US" dirty="0"/>
              <a:t>.</a:t>
            </a:r>
          </a:p>
          <a:p>
            <a:r>
              <a:rPr lang="en-US" dirty="0"/>
              <a:t>Without swap → your system will freeze or kill programs.</a:t>
            </a:r>
          </a:p>
          <a:p>
            <a:r>
              <a:rPr lang="en-US" dirty="0"/>
              <a:t>With </a:t>
            </a:r>
            <a:r>
              <a:rPr lang="en-US" b="1" dirty="0"/>
              <a:t>1 GB swap</a:t>
            </a:r>
            <a:r>
              <a:rPr lang="en-US" dirty="0"/>
              <a:t> → Linux keeps most-used data in RAM and moves old/unused data into swap → system keeps running (just slower).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9135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B214-23C4-BBA8-656B-BE5A2D741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32759-AB95-FA96-A20A-269005A7B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dd if=/dev/zero of=/</a:t>
            </a:r>
            <a:r>
              <a:rPr lang="en-IN" sz="2000" dirty="0" err="1"/>
              <a:t>swapfile</a:t>
            </a:r>
            <a:r>
              <a:rPr lang="en-IN" sz="2000" dirty="0"/>
              <a:t> bs=1M count=1024   # create 1GB file</a:t>
            </a:r>
          </a:p>
          <a:p>
            <a:r>
              <a:rPr lang="en-IN" sz="2000" dirty="0" err="1"/>
              <a:t>chmod</a:t>
            </a:r>
            <a:r>
              <a:rPr lang="en-IN" sz="2000" dirty="0"/>
              <a:t> 600 /</a:t>
            </a:r>
            <a:r>
              <a:rPr lang="en-IN" sz="2000" dirty="0" err="1"/>
              <a:t>swapfile</a:t>
            </a:r>
            <a:r>
              <a:rPr lang="en-IN" sz="2000" dirty="0"/>
              <a:t>              # secure permissions</a:t>
            </a:r>
          </a:p>
          <a:p>
            <a:r>
              <a:rPr lang="en-IN" sz="2000" dirty="0" err="1"/>
              <a:t>mkswap</a:t>
            </a:r>
            <a:r>
              <a:rPr lang="en-IN" sz="2000" dirty="0"/>
              <a:t> /</a:t>
            </a:r>
            <a:r>
              <a:rPr lang="en-IN" sz="2000" dirty="0" err="1"/>
              <a:t>swapfile</a:t>
            </a:r>
            <a:r>
              <a:rPr lang="en-IN" sz="2000" dirty="0"/>
              <a:t>                  # make it swap</a:t>
            </a:r>
          </a:p>
          <a:p>
            <a:r>
              <a:rPr lang="en-IN" sz="2000" dirty="0" err="1"/>
              <a:t>swapon</a:t>
            </a:r>
            <a:r>
              <a:rPr lang="en-IN" sz="2000" dirty="0"/>
              <a:t> /</a:t>
            </a:r>
            <a:r>
              <a:rPr lang="en-IN" sz="2000" dirty="0" err="1"/>
              <a:t>swapfile</a:t>
            </a:r>
            <a:r>
              <a:rPr lang="en-IN" sz="2000" dirty="0"/>
              <a:t>                   # enable it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F962BE-B210-749E-2FEE-164A0B707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764428"/>
              </p:ext>
            </p:extLst>
          </p:nvPr>
        </p:nvGraphicFramePr>
        <p:xfrm>
          <a:off x="545450" y="5091559"/>
          <a:ext cx="4051506" cy="1463040"/>
        </p:xfrm>
        <a:graphic>
          <a:graphicData uri="http://schemas.openxmlformats.org/drawingml/2006/table">
            <a:tbl>
              <a:tblPr/>
              <a:tblGrid>
                <a:gridCol w="1350502">
                  <a:extLst>
                    <a:ext uri="{9D8B030D-6E8A-4147-A177-3AD203B41FA5}">
                      <a16:colId xmlns:a16="http://schemas.microsoft.com/office/drawing/2014/main" val="3192030507"/>
                    </a:ext>
                  </a:extLst>
                </a:gridCol>
                <a:gridCol w="1350502">
                  <a:extLst>
                    <a:ext uri="{9D8B030D-6E8A-4147-A177-3AD203B41FA5}">
                      <a16:colId xmlns:a16="http://schemas.microsoft.com/office/drawing/2014/main" val="3378811877"/>
                    </a:ext>
                  </a:extLst>
                </a:gridCol>
                <a:gridCol w="1350502">
                  <a:extLst>
                    <a:ext uri="{9D8B030D-6E8A-4147-A177-3AD203B41FA5}">
                      <a16:colId xmlns:a16="http://schemas.microsoft.com/office/drawing/2014/main" val="2901781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Octal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351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rw-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008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565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89453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DFB2D52-6E40-C574-CB2F-EA68B0AF1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599" y="5091559"/>
            <a:ext cx="341695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chmod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600 file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Owner: read + write =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Group: no permission 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Others: no permission 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217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77D47-3DC8-4A1D-9EA8-AEB63BD9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Swap Space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507DD4-F9B3-3048-752D-7A2F3E51F7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322" y="1197620"/>
            <a:ext cx="8654246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1: dd if=/dev/zero of=/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swapfile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bs=1M count=</a:t>
            </a:r>
            <a:r>
              <a:rPr lang="en-US" altLang="en-US" sz="2400" b="1" dirty="0"/>
              <a:t>1024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it does: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Creates an empty file called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swapfile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 size </a:t>
            </a:r>
            <a:r>
              <a:rPr lang="en-US" altLang="en-US" sz="2400" b="1" dirty="0"/>
              <a:t>1 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(524,288 blocks × 1 KB each).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i="1" dirty="0"/>
              <a:t>Output: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i="1" dirty="0"/>
              <a:t>524288+0 records in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i="1" dirty="0"/>
              <a:t>524288+0 records out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400" i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Means the file was created successfully</a:t>
            </a:r>
            <a:endParaRPr lang="en-US" altLang="en-US" sz="2400" i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9941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D23CC-02FA-A7ED-834E-60E7E9D9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01526B-5707-D08F-B99E-07CF53782C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9833" y="1582341"/>
            <a:ext cx="8362889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chmod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600 /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swapfile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does: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Sets permissions so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root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read/write this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security (nobody else can read swap memory).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B4F3A7-923C-1BF3-3D63-AA2116D47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33" y="3256595"/>
            <a:ext cx="821976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mkswap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/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swapfile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does: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Formats the file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swap space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(like formatting a partition before use).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example:</a:t>
            </a:r>
            <a:endParaRPr lang="en-US" altLang="en-US" sz="2400" b="1" i="1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i="1" dirty="0">
                <a:latin typeface="Arial" panose="020B0604020202020204" pitchFamily="34" charset="0"/>
              </a:rPr>
              <a:t>Setting up </a:t>
            </a:r>
            <a:r>
              <a:rPr lang="en-US" altLang="en-US" sz="2400" i="1" dirty="0" err="1">
                <a:latin typeface="Arial" panose="020B0604020202020204" pitchFamily="34" charset="0"/>
              </a:rPr>
              <a:t>swapspace</a:t>
            </a:r>
            <a:r>
              <a:rPr lang="en-US" altLang="en-US" sz="2400" i="1" dirty="0">
                <a:latin typeface="Arial" panose="020B0604020202020204" pitchFamily="34" charset="0"/>
              </a:rPr>
              <a:t> version 1, size = 524284 KiB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Means the file is now ready to be used as swap.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566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EA17C-DF85-5A9E-3ACA-74C2EE33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8506E8-8E94-1C87-D7AD-5E6371A2E5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9835" y="2935567"/>
            <a:ext cx="8176076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4: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swapon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swapfile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it does: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Activates the swap file so the system can use it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 virtual memory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big output, just works silently if successful.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53321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B805B-3CDF-4375-35C2-30E76C50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C2FD83-2189-D183-593D-DD44B7DF76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9833" y="1235489"/>
            <a:ext cx="802859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5: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swapon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-s OR free –m (may not give exact size because of other system partitions)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it does: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Shows current swap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Expected output example: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/>
              <a:t>Filename        Type         Size          Used  Priority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/>
              <a:t>/</a:t>
            </a:r>
            <a:r>
              <a:rPr lang="en-US" altLang="en-US" sz="2400" dirty="0" err="1"/>
              <a:t>swapfile</a:t>
            </a:r>
            <a:r>
              <a:rPr lang="en-US" altLang="en-US" sz="2400" dirty="0"/>
              <a:t>       file       1048568KB       0     -1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8182CD-C30D-8D4C-FF7C-84C9B49046CD}"/>
              </a:ext>
            </a:extLst>
          </p:cNvPr>
          <p:cNvSpPr txBox="1"/>
          <p:nvPr/>
        </p:nvSpPr>
        <p:spPr>
          <a:xfrm>
            <a:off x="191175" y="4321884"/>
            <a:ext cx="849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👉 </a:t>
            </a:r>
            <a:r>
              <a:rPr lang="en-US" b="1" i="1" dirty="0"/>
              <a:t>In short:</a:t>
            </a:r>
            <a:r>
              <a:rPr lang="en-US" i="1" dirty="0"/>
              <a:t> You created a 1GB file, locked its permissions, formatted it as swap, turned it on, and now your system has more "virtual RAM."</a:t>
            </a:r>
            <a:endParaRPr lang="en-IN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EE646-F747-6835-C500-07EEAB3D8BDD}"/>
              </a:ext>
            </a:extLst>
          </p:cNvPr>
          <p:cNvSpPr txBox="1"/>
          <p:nvPr/>
        </p:nvSpPr>
        <p:spPr>
          <a:xfrm>
            <a:off x="296594" y="5341062"/>
            <a:ext cx="472931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Turn off (if needed):</a:t>
            </a:r>
          </a:p>
          <a:p>
            <a:r>
              <a:rPr lang="en-IN" sz="2400" i="1" dirty="0" err="1"/>
              <a:t>swapoff</a:t>
            </a:r>
            <a:r>
              <a:rPr lang="en-IN" sz="2400" i="1" dirty="0"/>
              <a:t> /</a:t>
            </a:r>
            <a:r>
              <a:rPr lang="en-IN" sz="2400" i="1" dirty="0" err="1"/>
              <a:t>swapfile</a:t>
            </a:r>
            <a:endParaRPr lang="en-IN" sz="2400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848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B798A-1992-CB17-8D47-130684284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1CEA740-A530-E783-A3D8-4B23213B2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128" y="1622324"/>
            <a:ext cx="7190491" cy="4080234"/>
          </a:xfrm>
        </p:spPr>
      </p:pic>
    </p:spTree>
    <p:extLst>
      <p:ext uri="{BB962C8B-B14F-4D97-AF65-F5344CB8AC3E}">
        <p14:creationId xmlns:p14="http://schemas.microsoft.com/office/powerpoint/2010/main" val="3249381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etch line 2">
            <a:extLst>
              <a:ext uri="{FF2B5EF4-FFF2-40B4-BE49-F238E27FC236}">
                <a16:creationId xmlns:a16="http://schemas.microsoft.com/office/drawing/2014/main" id="{753779A9-70D8-CFB7-2D51-C2700195A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8530" y="1190295"/>
            <a:ext cx="8976852" cy="45719"/>
          </a:xfrm>
          <a:custGeom>
            <a:avLst/>
            <a:gdLst>
              <a:gd name="textAreaLeft" fmla="*/ 0 w 10853280"/>
              <a:gd name="textAreaRight" fmla="*/ 10854000 w 10853280"/>
              <a:gd name="textAreaTop" fmla="*/ 0 h 17640"/>
              <a:gd name="textAreaBottom" fmla="*/ 18360 h 17640"/>
            </a:gdLst>
            <a:ahLst/>
            <a:cxnLst/>
            <a:rect l="textAreaLeft" t="textAreaTop" r="textAreaRight" b="textAreaBottom"/>
            <a:pathLst>
              <a:path w="10853928" h="18288" fill="none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" name="sketch line 2">
            <a:extLst>
              <a:ext uri="{FF2B5EF4-FFF2-40B4-BE49-F238E27FC236}">
                <a16:creationId xmlns:a16="http://schemas.microsoft.com/office/drawing/2014/main" id="{21BA4BC3-7EC9-588A-154A-82C81A75C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3574" y="5329068"/>
            <a:ext cx="8976852" cy="45719"/>
          </a:xfrm>
          <a:custGeom>
            <a:avLst/>
            <a:gdLst>
              <a:gd name="textAreaLeft" fmla="*/ 0 w 10853280"/>
              <a:gd name="textAreaRight" fmla="*/ 10854000 w 10853280"/>
              <a:gd name="textAreaTop" fmla="*/ 0 h 17640"/>
              <a:gd name="textAreaBottom" fmla="*/ 18360 h 17640"/>
            </a:gdLst>
            <a:ahLst/>
            <a:cxnLst/>
            <a:rect l="textAreaLeft" t="textAreaTop" r="textAreaRight" b="textAreaBottom"/>
            <a:pathLst>
              <a:path w="10853928" h="18288" fill="none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5139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3931</TotalTime>
  <Words>932</Words>
  <Application>Microsoft Office PowerPoint</Application>
  <PresentationFormat>On-screen Show (4:3)</PresentationFormat>
  <Paragraphs>119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Arial Unicode MS</vt:lpstr>
      <vt:lpstr>Bahnschrift</vt:lpstr>
      <vt:lpstr>Bahnschrift SemiBold</vt:lpstr>
      <vt:lpstr>Times New Roman</vt:lpstr>
      <vt:lpstr>Office Theme</vt:lpstr>
      <vt:lpstr>PowerPoint Presentation</vt:lpstr>
      <vt:lpstr>Introduction to CAP 269</vt:lpstr>
      <vt:lpstr>Creating Files</vt:lpstr>
      <vt:lpstr>Mounting a Disk/Partition</vt:lpstr>
      <vt:lpstr>PowerPoint Presentation</vt:lpstr>
      <vt:lpstr>PowerPoint Presentation</vt:lpstr>
      <vt:lpstr>Mounting a Disk/Partition</vt:lpstr>
      <vt:lpstr>Activity</vt:lpstr>
      <vt:lpstr>PowerPoint Presentation</vt:lpstr>
      <vt:lpstr>SwapSpace</vt:lpstr>
      <vt:lpstr>Swapspace</vt:lpstr>
      <vt:lpstr>Swapspace</vt:lpstr>
      <vt:lpstr>Swapspace</vt:lpstr>
      <vt:lpstr>PowerPoint Presentation</vt:lpstr>
      <vt:lpstr>Swap Space</vt:lpstr>
      <vt:lpstr> 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Examination 1</dc:creator>
  <cp:lastModifiedBy>Sheikh Umar Mushtaq</cp:lastModifiedBy>
  <cp:revision>121</cp:revision>
  <dcterms:created xsi:type="dcterms:W3CDTF">2020-11-19T03:56:33Z</dcterms:created>
  <dcterms:modified xsi:type="dcterms:W3CDTF">2025-09-09T04:31:42Z</dcterms:modified>
</cp:coreProperties>
</file>