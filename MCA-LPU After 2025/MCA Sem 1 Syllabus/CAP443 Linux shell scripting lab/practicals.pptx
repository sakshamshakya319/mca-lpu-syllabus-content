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9"/>
  </p:handoutMasterIdLst>
  <p:sldIdLst>
    <p:sldId id="256" r:id="rId2"/>
    <p:sldId id="257" r:id="rId3"/>
    <p:sldId id="403" r:id="rId4"/>
    <p:sldId id="404" r:id="rId5"/>
    <p:sldId id="405" r:id="rId6"/>
    <p:sldId id="406" r:id="rId7"/>
    <p:sldId id="407" r:id="rId8"/>
    <p:sldId id="408" r:id="rId9"/>
    <p:sldId id="422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24" r:id="rId18"/>
    <p:sldId id="423" r:id="rId19"/>
    <p:sldId id="409" r:id="rId20"/>
    <p:sldId id="421" r:id="rId21"/>
    <p:sldId id="411" r:id="rId22"/>
    <p:sldId id="410" r:id="rId23"/>
    <p:sldId id="413" r:id="rId24"/>
    <p:sldId id="414" r:id="rId25"/>
    <p:sldId id="436" r:id="rId26"/>
    <p:sldId id="412" r:id="rId27"/>
    <p:sldId id="415" r:id="rId28"/>
    <p:sldId id="416" r:id="rId29"/>
    <p:sldId id="417" r:id="rId30"/>
    <p:sldId id="418" r:id="rId31"/>
    <p:sldId id="419" r:id="rId32"/>
    <p:sldId id="420" r:id="rId33"/>
    <p:sldId id="425" r:id="rId34"/>
    <p:sldId id="426" r:id="rId35"/>
    <p:sldId id="427" r:id="rId36"/>
    <p:sldId id="428" r:id="rId37"/>
    <p:sldId id="25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27"/>
    <a:srgbClr val="FF0066"/>
    <a:srgbClr val="6D71BF"/>
    <a:srgbClr val="215D4B"/>
    <a:srgbClr val="F02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20" autoAdjust="0"/>
    <p:restoredTop sz="94660"/>
  </p:normalViewPr>
  <p:slideViewPr>
    <p:cSldViewPr snapToGrid="0">
      <p:cViewPr varScale="1">
        <p:scale>
          <a:sx n="70" d="100"/>
          <a:sy n="70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2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4E1A8B-1CD7-D867-6A45-48530465F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787CD-D771-5A18-F627-39FEF821DD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5C7B3-8183-4BAB-8E07-05C81D35C38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1C7BA-7D67-0F84-234A-128F0BCA70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B9220-12E2-D429-6DF6-A124E3B238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52FC4-9D43-4639-A1A5-3FF8C9F1E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16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391F0BB-51C6-4D26-86BF-C8B7ABE771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04B2BF-680C-4475-8BB8-015B9E57A55D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25029" y="5872919"/>
            <a:ext cx="2929981" cy="464866"/>
          </a:xfrm>
          <a:prstGeom prst="roundRect">
            <a:avLst/>
          </a:prstGeom>
          <a:solidFill>
            <a:schemeClr val="bg1">
              <a:lumMod val="95000"/>
              <a:alpha val="43000"/>
            </a:schemeClr>
          </a:solidFill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rgbClr val="1112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Ashwani Kumar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FFF258-6585-48CE-B097-817EF039C5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9761" y="2233552"/>
            <a:ext cx="6255249" cy="540430"/>
          </a:xfrm>
          <a:prstGeom prst="roundRect">
            <a:avLst>
              <a:gd name="adj" fmla="val 9276"/>
            </a:avLst>
          </a:prstGeom>
          <a:solidFill>
            <a:schemeClr val="bg1">
              <a:lumMod val="95000"/>
              <a:alpha val="82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ctr">
              <a:buNone/>
              <a:defRPr sz="3200" cap="small" baseline="0">
                <a:solidFill>
                  <a:srgbClr val="111227"/>
                </a:solidFill>
              </a:defRPr>
            </a:lvl1pPr>
          </a:lstStyle>
          <a:p>
            <a:pPr lvl="0"/>
            <a:r>
              <a:rPr lang="en-US" dirty="0"/>
              <a:t>CYBER SECURITY AWARENESS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6F01400-E613-4A3A-9B40-2C6A135940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5029" y="6378830"/>
            <a:ext cx="2929981" cy="354893"/>
          </a:xfrm>
        </p:spPr>
        <p:txBody>
          <a:bodyPr>
            <a:noAutofit/>
          </a:bodyPr>
          <a:lstStyle>
            <a:lvl1pPr algn="ctr">
              <a:buNone/>
              <a:defRPr sz="22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Assistant Professor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02686A-0831-4113-952A-85486930B3DB}"/>
              </a:ext>
            </a:extLst>
          </p:cNvPr>
          <p:cNvCxnSpPr/>
          <p:nvPr userDrawn="1"/>
        </p:nvCxnSpPr>
        <p:spPr>
          <a:xfrm>
            <a:off x="6125029" y="6733723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1E20DF-5A9B-49B4-A942-754260FEC092}"/>
              </a:ext>
            </a:extLst>
          </p:cNvPr>
          <p:cNvCxnSpPr/>
          <p:nvPr userDrawn="1"/>
        </p:nvCxnSpPr>
        <p:spPr>
          <a:xfrm>
            <a:off x="6125029" y="6337785"/>
            <a:ext cx="29299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1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933304"/>
          </a:xfrm>
          <a:prstGeom prst="rect">
            <a:avLst/>
          </a:prstGeom>
          <a:gradFill flip="none" rotWithShape="1">
            <a:gsLst>
              <a:gs pos="96000">
                <a:schemeClr val="accent6">
                  <a:lumMod val="5000"/>
                  <a:lumOff val="95000"/>
                  <a:alpha val="82000"/>
                </a:schemeClr>
              </a:gs>
              <a:gs pos="83000">
                <a:srgbClr val="6D71BF"/>
              </a:gs>
              <a:gs pos="43000">
                <a:srgbClr val="111227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08856"/>
            <a:ext cx="3943350" cy="1715589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Learning 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72640"/>
            <a:ext cx="8295430" cy="4283711"/>
          </a:xfrm>
        </p:spPr>
        <p:txBody>
          <a:bodyPr/>
          <a:lstStyle>
            <a:lvl1pPr>
              <a:lnSpc>
                <a:spcPct val="150000"/>
              </a:lnSpc>
              <a:buClr>
                <a:srgbClr val="111227"/>
              </a:buClr>
              <a:defRPr/>
            </a:lvl1pPr>
            <a:lvl2pPr>
              <a:lnSpc>
                <a:spcPct val="150000"/>
              </a:lnSpc>
              <a:buClr>
                <a:srgbClr val="111227"/>
              </a:buClr>
              <a:defRPr/>
            </a:lvl2pPr>
            <a:lvl3pPr>
              <a:lnSpc>
                <a:spcPct val="150000"/>
              </a:lnSpc>
              <a:buClr>
                <a:srgbClr val="111227"/>
              </a:buClr>
              <a:defRPr/>
            </a:lvl3pPr>
            <a:lvl4pPr>
              <a:lnSpc>
                <a:spcPct val="150000"/>
              </a:lnSpc>
              <a:buClr>
                <a:srgbClr val="111227"/>
              </a:buClr>
              <a:defRPr/>
            </a:lvl4pPr>
            <a:lvl5pPr>
              <a:lnSpc>
                <a:spcPct val="150000"/>
              </a:lnSpc>
              <a:buClr>
                <a:srgbClr val="111227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7095E3DE-E761-4E33-9D71-8FF05E2453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4"/>
          <a:stretch/>
        </p:blipFill>
        <p:spPr bwMode="auto">
          <a:xfrm>
            <a:off x="6844804" y="139336"/>
            <a:ext cx="2121136" cy="165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15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alphaModFix amt="1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61440"/>
            <a:ext cx="8654246" cy="4994911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BCB97-F83E-47EF-842C-75225581C6B3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5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271DD-569D-4824-BCE8-9A8F84980FB0}"/>
              </a:ext>
            </a:extLst>
          </p:cNvPr>
          <p:cNvSpPr/>
          <p:nvPr userDrawn="1"/>
        </p:nvSpPr>
        <p:spPr>
          <a:xfrm>
            <a:off x="0" y="-1"/>
            <a:ext cx="9144000" cy="1064871"/>
          </a:xfrm>
          <a:prstGeom prst="rect">
            <a:avLst/>
          </a:prstGeom>
          <a:solidFill>
            <a:srgbClr val="1112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33" y="0"/>
            <a:ext cx="8654247" cy="106487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34" y="1375954"/>
            <a:ext cx="8654246" cy="4980397"/>
          </a:xfrm>
        </p:spPr>
        <p:txBody>
          <a:bodyPr/>
          <a:lstStyle>
            <a:lvl1pPr>
              <a:lnSpc>
                <a:spcPct val="150000"/>
              </a:lnSpc>
              <a:buClr>
                <a:srgbClr val="0070C0"/>
              </a:buClr>
              <a:defRPr/>
            </a:lvl1pPr>
            <a:lvl2pPr>
              <a:lnSpc>
                <a:spcPct val="150000"/>
              </a:lnSpc>
              <a:buClr>
                <a:srgbClr val="0070C0"/>
              </a:buClr>
              <a:defRPr/>
            </a:lvl2pPr>
            <a:lvl3pPr>
              <a:lnSpc>
                <a:spcPct val="150000"/>
              </a:lnSpc>
              <a:buClr>
                <a:srgbClr val="0070C0"/>
              </a:buClr>
              <a:defRPr/>
            </a:lvl3pPr>
            <a:lvl4pPr>
              <a:lnSpc>
                <a:spcPct val="150000"/>
              </a:lnSpc>
              <a:buClr>
                <a:srgbClr val="0070C0"/>
              </a:buClr>
              <a:defRPr/>
            </a:lvl4pPr>
            <a:lvl5pPr>
              <a:lnSpc>
                <a:spcPct val="150000"/>
              </a:lnSpc>
              <a:buClr>
                <a:srgbClr val="0070C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8FC9AB-5EFE-442E-8DC9-73C4CB3DE956}"/>
              </a:ext>
            </a:extLst>
          </p:cNvPr>
          <p:cNvSpPr/>
          <p:nvPr userDrawn="1"/>
        </p:nvSpPr>
        <p:spPr>
          <a:xfrm>
            <a:off x="8858250" y="6544221"/>
            <a:ext cx="228600" cy="228600"/>
          </a:xfrm>
          <a:prstGeom prst="ellipse">
            <a:avLst/>
          </a:prstGeom>
          <a:solidFill>
            <a:srgbClr val="111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BD475-D0EE-421D-9D0F-3A6A3A36AA3C}"/>
              </a:ext>
            </a:extLst>
          </p:cNvPr>
          <p:cNvSpPr/>
          <p:nvPr userDrawn="1"/>
        </p:nvSpPr>
        <p:spPr>
          <a:xfrm>
            <a:off x="0" y="1136955"/>
            <a:ext cx="9144000" cy="91440"/>
          </a:xfrm>
          <a:prstGeom prst="rect">
            <a:avLst/>
          </a:prstGeom>
          <a:solidFill>
            <a:srgbClr val="11122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2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3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 flip="none" rotWithShape="1">
          <a:gsLst>
            <a:gs pos="0">
              <a:schemeClr val="accent6">
                <a:lumMod val="5000"/>
                <a:lumOff val="95000"/>
                <a:alpha val="82000"/>
              </a:schemeClr>
            </a:gs>
            <a:gs pos="100000">
              <a:srgbClr val="11122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1ABA6C-A2B8-4C1C-9C66-903D8C04ED35}"/>
              </a:ext>
            </a:extLst>
          </p:cNvPr>
          <p:cNvSpPr txBox="1">
            <a:spLocks/>
          </p:cNvSpPr>
          <p:nvPr userDrawn="1"/>
        </p:nvSpPr>
        <p:spPr>
          <a:xfrm>
            <a:off x="628650" y="2552858"/>
            <a:ext cx="7886700" cy="1325563"/>
          </a:xfrm>
          <a:prstGeom prst="roundRect">
            <a:avLst>
              <a:gd name="adj" fmla="val 12835"/>
            </a:avLst>
          </a:prstGeom>
          <a:solidFill>
            <a:srgbClr val="11122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129605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6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6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98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40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6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08F71-6993-4278-9FEC-9DDE6AC485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5D014-A928-4C77-8587-40F29E6AE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person wearing a hat&#10;&#10;AI-generated content may be incorrect.">
            <a:extLst>
              <a:ext uri="{FF2B5EF4-FFF2-40B4-BE49-F238E27FC236}">
                <a16:creationId xmlns:a16="http://schemas.microsoft.com/office/drawing/2014/main" id="{A9B7D0CC-7FA9-469B-816C-53601164D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EBAAE-A260-063C-5B04-A2D3A7255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D6B8ED4-A529-45BC-B09E-C97AEB763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5890" y="5767561"/>
            <a:ext cx="3378110" cy="476250"/>
          </a:xfrm>
        </p:spPr>
        <p:txBody>
          <a:bodyPr>
            <a:normAutofit/>
          </a:bodyPr>
          <a:lstStyle/>
          <a:p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Dr. 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Sheikh Umar Mushtaq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A182-C50D-4A05-AB8C-33310D4F2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73162" y="393291"/>
            <a:ext cx="6835685" cy="1416847"/>
          </a:xfrm>
        </p:spPr>
        <p:txBody>
          <a:bodyPr/>
          <a:lstStyle/>
          <a:p>
            <a:r>
              <a:rPr lang="en-US" sz="4400" dirty="0"/>
              <a:t>Linux and Shell Scripting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EDDBE-FE79-470A-BBF0-C78FFC880C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39541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C22D-7AAC-484E-94DD-794B9020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443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9D74-4A12-4E3C-B82D-ADB6BB591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85" y="2062808"/>
            <a:ext cx="8295430" cy="4283711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Network configuration</a:t>
            </a:r>
          </a:p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Using IP Ping</a:t>
            </a:r>
          </a:p>
          <a:p>
            <a:pPr algn="just">
              <a:lnSpc>
                <a:spcPct val="20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Ping using DNS</a:t>
            </a:r>
          </a:p>
        </p:txBody>
      </p:sp>
      <p:sp>
        <p:nvSpPr>
          <p:cNvPr id="4" name="sketch line 2">
            <a:extLst>
              <a:ext uri="{FF2B5EF4-FFF2-40B4-BE49-F238E27FC236}">
                <a16:creationId xmlns:a16="http://schemas.microsoft.com/office/drawing/2014/main" id="{E0C4B70D-2806-4417-657C-63DA5EA3F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971370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4200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50C-CC32-B3D9-60BD-65D5ABB2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 Utilities: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17CF-67B3-EC4C-C158-1A72AA33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Commands like </a:t>
            </a:r>
            <a:r>
              <a:rPr lang="en-US" dirty="0" err="1">
                <a:solidFill>
                  <a:srgbClr val="FF0000"/>
                </a:solidFill>
              </a:rPr>
              <a:t>ps</a:t>
            </a:r>
            <a:r>
              <a:rPr lang="en-US" dirty="0">
                <a:solidFill>
                  <a:srgbClr val="FF0000"/>
                </a:solidFill>
              </a:rPr>
              <a:t>, kill,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top</a:t>
            </a:r>
            <a:r>
              <a:rPr lang="en-US" dirty="0"/>
              <a:t> allow users to view and manage running processes.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AD02A-94DD-B9F2-25FE-4EFA2A603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48" y="2814920"/>
            <a:ext cx="602064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2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E308-3B28-F892-307D-F4863CA7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Utilities: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1C4D-FB6E-53B4-BBA6-FA70CA404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Tools like </a:t>
            </a:r>
            <a:r>
              <a:rPr lang="en-US" dirty="0">
                <a:solidFill>
                  <a:srgbClr val="FF0000"/>
                </a:solidFill>
              </a:rPr>
              <a:t>ping, </a:t>
            </a:r>
            <a:r>
              <a:rPr lang="en-US" dirty="0" err="1">
                <a:solidFill>
                  <a:srgbClr val="FF0000"/>
                </a:solidFill>
              </a:rPr>
              <a:t>ifconfig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netstat</a:t>
            </a:r>
            <a:r>
              <a:rPr lang="en-US" dirty="0"/>
              <a:t> assist in network configuration, diagnostics, and monitoring.</a:t>
            </a:r>
          </a:p>
          <a:p>
            <a:pPr algn="just"/>
            <a:r>
              <a:rPr lang="en-US" dirty="0"/>
              <a:t>netstat -</a:t>
            </a:r>
            <a:r>
              <a:rPr lang="en-US" dirty="0" err="1"/>
              <a:t>tuln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 Unicode MS"/>
              </a:rPr>
              <a:t>-t</a:t>
            </a:r>
            <a:r>
              <a:rPr lang="en-US" altLang="en-US" dirty="0"/>
              <a:t> → TCP connections</a:t>
            </a:r>
            <a:endParaRPr lang="en-US" altLang="en-US" sz="6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 Unicode MS"/>
              </a:rPr>
              <a:t>-u</a:t>
            </a:r>
            <a:r>
              <a:rPr lang="en-US" altLang="en-US" dirty="0"/>
              <a:t> → UDP connections</a:t>
            </a:r>
            <a:endParaRPr lang="en-US" altLang="en-US" sz="6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 Unicode MS"/>
              </a:rPr>
              <a:t>-l</a:t>
            </a:r>
            <a:r>
              <a:rPr lang="en-US" altLang="en-US" dirty="0"/>
              <a:t> → Listening ports</a:t>
            </a:r>
            <a:endParaRPr lang="en-US" altLang="en-US" sz="6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Arial Unicode MS"/>
              </a:rPr>
              <a:t>-n</a:t>
            </a:r>
            <a:r>
              <a:rPr lang="en-US" altLang="en-US" dirty="0"/>
              <a:t> → Show numeric addresses (instead of names)</a:t>
            </a:r>
            <a:endParaRPr lang="en-US" altLang="en-US" sz="66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70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82AC-C770-952D-4197-588C7FA3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F1DA1-525B-409E-4DA4-D7FA0E37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err="1"/>
              <a:t>Ifconfig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1. lo → Loopback interface</a:t>
            </a:r>
          </a:p>
          <a:p>
            <a:r>
              <a:rPr lang="en-US" dirty="0"/>
              <a:t>Special interface that </a:t>
            </a:r>
            <a:r>
              <a:rPr lang="en-US" b="1" dirty="0"/>
              <a:t>connects the system to itself</a:t>
            </a:r>
            <a:r>
              <a:rPr lang="en-US" dirty="0"/>
              <a:t>.</a:t>
            </a:r>
          </a:p>
          <a:p>
            <a:r>
              <a:rPr lang="en-US" dirty="0"/>
              <a:t>IP </a:t>
            </a:r>
            <a:r>
              <a:rPr lang="en-US" b="1" dirty="0"/>
              <a:t>127.0.0.1</a:t>
            </a:r>
            <a:r>
              <a:rPr lang="en-US" dirty="0"/>
              <a:t>.</a:t>
            </a:r>
          </a:p>
          <a:p>
            <a:r>
              <a:rPr lang="en-US" dirty="0"/>
              <a:t>Used for </a:t>
            </a:r>
            <a:r>
              <a:rPr lang="en-US" b="1" dirty="0"/>
              <a:t>testing and internal communication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2. eth0 → Ethernet interface</a:t>
            </a:r>
          </a:p>
          <a:p>
            <a:r>
              <a:rPr lang="en-US" dirty="0"/>
              <a:t>This is your VM’s </a:t>
            </a:r>
            <a:r>
              <a:rPr lang="en-US" b="1" dirty="0"/>
              <a:t>virtual network card</a:t>
            </a:r>
            <a:r>
              <a:rPr lang="en-US" dirty="0"/>
              <a:t>.</a:t>
            </a:r>
          </a:p>
          <a:p>
            <a:r>
              <a:rPr lang="en-US" dirty="0"/>
              <a:t>It is used to connect to the </a:t>
            </a:r>
            <a:r>
              <a:rPr lang="en-US" b="1" dirty="0"/>
              <a:t>outside world</a:t>
            </a:r>
            <a:r>
              <a:rPr lang="en-US" dirty="0"/>
              <a:t> (LAN, internet, or host system).</a:t>
            </a:r>
          </a:p>
          <a:p>
            <a:r>
              <a:rPr lang="en-US" dirty="0"/>
              <a:t>The IP you see under eth0 is the address your VM uses to communicate.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11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3D8A-2660-F766-5258-061F785F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Processing Utilities: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15302-C89F-9898-1D1E-94C1D9AE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/>
              <a:t>Utilities such as </a:t>
            </a:r>
            <a:r>
              <a:rPr lang="en-US" dirty="0">
                <a:solidFill>
                  <a:srgbClr val="FF0000"/>
                </a:solidFill>
              </a:rPr>
              <a:t>grep, sed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awk</a:t>
            </a:r>
            <a:r>
              <a:rPr lang="en-US" dirty="0"/>
              <a:t> are used for text searching, manipulation, and processing.</a:t>
            </a:r>
          </a:p>
          <a:p>
            <a:pPr algn="just"/>
            <a:r>
              <a:rPr lang="en-US" dirty="0"/>
              <a:t>Grep: write any text in text file and use grep to find the particular line by using search word. </a:t>
            </a:r>
            <a:r>
              <a:rPr lang="en-US" dirty="0" err="1"/>
              <a:t>Eg.</a:t>
            </a:r>
            <a:r>
              <a:rPr lang="en-US" dirty="0"/>
              <a:t> grep </a:t>
            </a:r>
            <a:r>
              <a:rPr lang="en-US" dirty="0" err="1"/>
              <a:t>search_word</a:t>
            </a:r>
            <a:r>
              <a:rPr lang="en-US" dirty="0"/>
              <a:t> test.txt</a:t>
            </a:r>
          </a:p>
          <a:p>
            <a:pPr algn="just"/>
            <a:r>
              <a:rPr lang="en-US" dirty="0"/>
              <a:t>grep “</a:t>
            </a:r>
            <a:r>
              <a:rPr lang="en-US" dirty="0" err="1"/>
              <a:t>lpu</a:t>
            </a:r>
            <a:r>
              <a:rPr lang="en-US" dirty="0"/>
              <a:t>" file1.txt file2.txt        </a:t>
            </a:r>
          </a:p>
          <a:p>
            <a:pPr algn="just"/>
            <a:r>
              <a:rPr lang="en-US" dirty="0"/>
              <a:t>   </a:t>
            </a:r>
            <a:r>
              <a:rPr lang="nn-NO" dirty="0"/>
              <a:t>grep -i "linux" file1.txt file2.txt       &lt;&lt;&lt;&lt;&lt;&lt;&lt;    </a:t>
            </a:r>
            <a:r>
              <a:rPr lang="en-IN" dirty="0"/>
              <a:t>Search ignoring case (case-insensitive)</a:t>
            </a:r>
            <a:r>
              <a:rPr lang="nn-NO" dirty="0"/>
              <a:t>  </a:t>
            </a:r>
          </a:p>
          <a:p>
            <a:pPr algn="just"/>
            <a:r>
              <a:rPr lang="nn-NO" dirty="0"/>
              <a:t>   grep -c "Linux" file1.txt file2.txt    &lt;&lt;&lt;&lt;&lt;&lt; </a:t>
            </a:r>
            <a:r>
              <a:rPr lang="en-US" dirty="0"/>
              <a:t>Count number of matching lines</a:t>
            </a:r>
            <a:endParaRPr lang="nn-NO" dirty="0"/>
          </a:p>
          <a:p>
            <a:pPr algn="just"/>
            <a:r>
              <a:rPr lang="nn-NO" dirty="0"/>
              <a:t>grep -n "Linux" file1.txt file2.txt      &lt;&lt;&lt;&lt;&lt;&lt;&lt;&lt;&lt;   </a:t>
            </a:r>
            <a:r>
              <a:rPr lang="en-US" dirty="0"/>
              <a:t>Display line numbers with matches</a:t>
            </a:r>
          </a:p>
          <a:p>
            <a:pPr algn="just"/>
            <a:r>
              <a:rPr lang="pt-BR" dirty="0"/>
              <a:t>sed ‘s/lpu/lovely/' file.txt&lt;&lt;&lt;&lt;&lt;&lt;&lt;for substituting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03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BCEF-5244-F7F9-2C76-222B6DD9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and Permissions Utilities: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8E6BA-D5CB-FD41-69B2-8DB77E358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Commands like </a:t>
            </a:r>
            <a:r>
              <a:rPr lang="en-US" dirty="0" err="1">
                <a:solidFill>
                  <a:srgbClr val="FF0000"/>
                </a:solidFill>
              </a:rPr>
              <a:t>useradd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usermod</a:t>
            </a:r>
            <a:r>
              <a:rPr lang="en-US" dirty="0">
                <a:solidFill>
                  <a:srgbClr val="FF0000"/>
                </a:solidFill>
              </a:rPr>
              <a:t>, passwd</a:t>
            </a:r>
            <a:r>
              <a:rPr lang="en-US" dirty="0"/>
              <a:t>, and </a:t>
            </a:r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/>
              <a:t> are used for managing users and setting file permissions.</a:t>
            </a:r>
          </a:p>
          <a:p>
            <a:pPr marL="0" indent="0" algn="just">
              <a:buNone/>
            </a:pPr>
            <a:r>
              <a:rPr lang="en-US" dirty="0"/>
              <a:t>Changing File Permissions:</a:t>
            </a:r>
          </a:p>
          <a:p>
            <a:pPr algn="just"/>
            <a:r>
              <a:rPr lang="en-US" dirty="0"/>
              <a:t>To change file permissions, use the </a:t>
            </a:r>
            <a:r>
              <a:rPr lang="en-US" dirty="0" err="1"/>
              <a:t>chmod</a:t>
            </a:r>
            <a:r>
              <a:rPr lang="en-US" dirty="0"/>
              <a:t> command. For example, to make a file executable:</a:t>
            </a:r>
          </a:p>
          <a:p>
            <a:pPr algn="just"/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>
                <a:solidFill>
                  <a:srgbClr val="FF0000"/>
                </a:solidFill>
              </a:rPr>
              <a:t> +x filename.sh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41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E98B-5DA0-83CD-070B-E2F170E60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Demonstrating </a:t>
            </a:r>
            <a:r>
              <a:rPr lang="en-US" dirty="0" err="1"/>
              <a:t>chmod</a:t>
            </a:r>
            <a:r>
              <a:rPr lang="en-US" dirty="0"/>
              <a:t> +x with touch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C87B-6AAE-1AD8-D4B7-C87385E3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Step 1: Create a new file</a:t>
            </a:r>
          </a:p>
          <a:p>
            <a:r>
              <a:rPr lang="en-US" dirty="0"/>
              <a:t>Step 2: Check file permissions</a:t>
            </a:r>
          </a:p>
          <a:p>
            <a:r>
              <a:rPr lang="en-US" b="1" dirty="0"/>
              <a:t>Step 3: Add execute permission</a:t>
            </a:r>
          </a:p>
          <a:p>
            <a:r>
              <a:rPr lang="en-US" dirty="0"/>
              <a:t>Step 4: Check permissions again</a:t>
            </a:r>
          </a:p>
          <a:p>
            <a:r>
              <a:rPr lang="en-US" dirty="0"/>
              <a:t>The </a:t>
            </a:r>
            <a:r>
              <a:rPr lang="en-US" b="1" dirty="0"/>
              <a:t>first character</a:t>
            </a:r>
            <a:r>
              <a:rPr lang="en-US" dirty="0"/>
              <a:t> (- in this case) indicates the </a:t>
            </a:r>
            <a:r>
              <a:rPr lang="en-US" b="1" dirty="0"/>
              <a:t>file type</a:t>
            </a:r>
            <a:r>
              <a:rPr lang="en-US" dirty="0"/>
              <a:t>.</a:t>
            </a:r>
          </a:p>
          <a:p>
            <a:r>
              <a:rPr lang="en-IN" b="1" dirty="0"/>
              <a:t>Meaning of the first character in ls -l:</a:t>
            </a:r>
          </a:p>
          <a:p>
            <a:r>
              <a:rPr lang="en-IN" dirty="0"/>
              <a:t>- → </a:t>
            </a:r>
            <a:r>
              <a:rPr lang="en-IN" b="1" dirty="0"/>
              <a:t>Regular file</a:t>
            </a:r>
            <a:r>
              <a:rPr lang="en-IN" dirty="0"/>
              <a:t> (normal text, binary, or script file).</a:t>
            </a:r>
          </a:p>
          <a:p>
            <a:r>
              <a:rPr lang="en-IN" dirty="0"/>
              <a:t>d → </a:t>
            </a:r>
            <a:r>
              <a:rPr lang="en-IN" b="1" dirty="0"/>
              <a:t>Directory</a:t>
            </a:r>
            <a:r>
              <a:rPr lang="en-IN" dirty="0"/>
              <a:t>.</a:t>
            </a:r>
          </a:p>
          <a:p>
            <a:r>
              <a:rPr lang="en-IN" dirty="0"/>
              <a:t>l → </a:t>
            </a:r>
            <a:r>
              <a:rPr lang="en-IN" b="1" dirty="0"/>
              <a:t>Symbolic link</a:t>
            </a:r>
            <a:r>
              <a:rPr lang="en-IN" dirty="0"/>
              <a:t>.</a:t>
            </a:r>
          </a:p>
          <a:p>
            <a:r>
              <a:rPr lang="en-IN" dirty="0"/>
              <a:t>c → </a:t>
            </a:r>
            <a:r>
              <a:rPr lang="en-IN" b="1" dirty="0"/>
              <a:t>Character device</a:t>
            </a:r>
            <a:r>
              <a:rPr lang="en-IN" dirty="0"/>
              <a:t> (like keyboard, serial port).</a:t>
            </a:r>
          </a:p>
          <a:p>
            <a:r>
              <a:rPr lang="en-IN" dirty="0"/>
              <a:t>b → </a:t>
            </a:r>
            <a:r>
              <a:rPr lang="en-IN" b="1" dirty="0"/>
              <a:t>Block device</a:t>
            </a:r>
            <a:r>
              <a:rPr lang="en-IN" dirty="0"/>
              <a:t> (like hard disk).</a:t>
            </a:r>
          </a:p>
          <a:p>
            <a:r>
              <a:rPr lang="en-IN" dirty="0"/>
              <a:t>p → </a:t>
            </a:r>
            <a:r>
              <a:rPr lang="en-IN" b="1" dirty="0"/>
              <a:t>Named pipe</a:t>
            </a:r>
            <a:r>
              <a:rPr lang="en-IN" dirty="0"/>
              <a:t>.</a:t>
            </a:r>
          </a:p>
          <a:p>
            <a:r>
              <a:rPr lang="en-IN" dirty="0"/>
              <a:t>s → </a:t>
            </a:r>
            <a:r>
              <a:rPr lang="en-IN" b="1" dirty="0"/>
              <a:t>Socket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FD83A8-339D-5AC3-253F-C2684C40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85834"/>
            <a:ext cx="4518476" cy="326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3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1652-082D-1AC8-13C4-AA7B5EED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6E89BA-64B4-5E2F-DBDD-5D60E97FC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833" y="1528259"/>
            <a:ext cx="42594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chmod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o-w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remove write from others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chmod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u+x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add execute to user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chmod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g-r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remove read from group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509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0596-4456-0DC7-9867-F8E98EE6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3660FA-9879-0AA1-AADC-7D21AEC3D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132035"/>
              </p:ext>
            </p:extLst>
          </p:nvPr>
        </p:nvGraphicFramePr>
        <p:xfrm>
          <a:off x="1037380" y="3612865"/>
          <a:ext cx="7886700" cy="109728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6869820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315697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23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666 →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rw-rw-rw-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03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777 →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rwxrwxrwx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3706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13EC179-89FA-93EE-199B-48C5629B4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78" y="2461049"/>
            <a:ext cx="795976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principle of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umask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Every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directory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Linux has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default permissions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umask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subtracts permissions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these defaults.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Think of it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it “masks” (removes) certain permissions when the file is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28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306-F15A-35B3-C0A7-26F32B64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 you need to run </a:t>
            </a:r>
            <a:r>
              <a:rPr lang="en-US" b="1" dirty="0" err="1"/>
              <a:t>umask</a:t>
            </a:r>
            <a:r>
              <a:rPr lang="en-US" b="1" dirty="0"/>
              <a:t> before creating a file?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B3D7-4DB7-98C1-D217-18FC4B07A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Yes</a:t>
            </a:r>
            <a:r>
              <a:rPr lang="en-US" dirty="0"/>
              <a:t>, if you want the new file to have specific default permissions.</a:t>
            </a:r>
          </a:p>
          <a:p>
            <a:r>
              <a:rPr lang="en-US" dirty="0"/>
              <a:t>If you run </a:t>
            </a:r>
            <a:r>
              <a:rPr lang="en-US" dirty="0" err="1"/>
              <a:t>umask</a:t>
            </a:r>
            <a:r>
              <a:rPr lang="en-US" dirty="0"/>
              <a:t> 022 </a:t>
            </a:r>
            <a:r>
              <a:rPr lang="en-US" b="1" dirty="0"/>
              <a:t>before creating a file</a:t>
            </a:r>
            <a:r>
              <a:rPr lang="en-US" dirty="0"/>
              <a:t>, the shell applies that mask while creating the file.</a:t>
            </a:r>
          </a:p>
          <a:p>
            <a:r>
              <a:rPr lang="en-US" dirty="0"/>
              <a:t>If you don’t run </a:t>
            </a:r>
            <a:r>
              <a:rPr lang="en-US" dirty="0" err="1"/>
              <a:t>umask</a:t>
            </a:r>
            <a:r>
              <a:rPr lang="en-US" dirty="0"/>
              <a:t>, the </a:t>
            </a:r>
            <a:r>
              <a:rPr lang="en-US" b="1" dirty="0"/>
              <a:t>system uses the default mask</a:t>
            </a:r>
            <a:r>
              <a:rPr lang="en-US" dirty="0"/>
              <a:t>, usually 0022.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3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7CE3-131E-6965-1113-0ABF880C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Step-by-step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AFF0-93B4-05FE-24A9-043F9D174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A: Check default </a:t>
            </a:r>
            <a:r>
              <a:rPr lang="en-US" b="1" dirty="0" err="1"/>
              <a:t>umask</a:t>
            </a:r>
            <a:endParaRPr lang="en-US" b="1" dirty="0"/>
          </a:p>
          <a:p>
            <a:r>
              <a:rPr lang="en-US" dirty="0" err="1"/>
              <a:t>umask</a:t>
            </a:r>
            <a:endParaRPr lang="en-US" dirty="0"/>
          </a:p>
          <a:p>
            <a:r>
              <a:rPr lang="en-US" dirty="0"/>
              <a:t>Suppose it shows 0022.</a:t>
            </a:r>
          </a:p>
          <a:p>
            <a:r>
              <a:rPr lang="en-US" dirty="0"/>
              <a:t>That means: </a:t>
            </a:r>
            <a:r>
              <a:rPr lang="en-US" b="1" dirty="0"/>
              <a:t>remove write permission for group and others</a:t>
            </a:r>
            <a:r>
              <a:rPr lang="en-US" dirty="0"/>
              <a:t> by default.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A5C3-7EFB-29CC-D28D-B28034A2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A58E-3285-D422-739E-87576037C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 B: Create a file without changing </a:t>
            </a:r>
            <a:r>
              <a:rPr lang="en-IN" b="1" dirty="0" err="1"/>
              <a:t>umask</a:t>
            </a:r>
            <a:endParaRPr lang="en-IN" b="1" dirty="0"/>
          </a:p>
          <a:p>
            <a:r>
              <a:rPr lang="en-IN" dirty="0"/>
              <a:t>touch file1.txt</a:t>
            </a:r>
          </a:p>
          <a:p>
            <a:r>
              <a:rPr lang="en-IN" dirty="0"/>
              <a:t>ls -l file1.txt</a:t>
            </a:r>
          </a:p>
          <a:p>
            <a:r>
              <a:rPr lang="en-IN" dirty="0"/>
              <a:t>Output: </a:t>
            </a:r>
            <a:r>
              <a:rPr lang="en-IN" dirty="0" err="1"/>
              <a:t>rw</a:t>
            </a:r>
            <a:r>
              <a:rPr lang="en-IN" dirty="0"/>
              <a:t>-r--r--</a:t>
            </a:r>
          </a:p>
          <a:p>
            <a:r>
              <a:rPr lang="en-IN" dirty="0"/>
              <a:t>Explanation: 666 (default for file) – 022 (</a:t>
            </a:r>
            <a:r>
              <a:rPr lang="en-IN" dirty="0" err="1"/>
              <a:t>umask</a:t>
            </a:r>
            <a:r>
              <a:rPr lang="en-IN" dirty="0"/>
              <a:t>) = 644 → </a:t>
            </a:r>
            <a:r>
              <a:rPr lang="en-IN" dirty="0" err="1"/>
              <a:t>rw</a:t>
            </a:r>
            <a:r>
              <a:rPr lang="en-IN" dirty="0"/>
              <a:t>-r--r--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792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D6E8-7C1B-69D3-2C3D-F9DB0ABF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4C6D-262A-0ED1-009E-EB2AAA45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C: Change </a:t>
            </a:r>
            <a:r>
              <a:rPr lang="en-US" b="1" dirty="0" err="1"/>
              <a:t>umask</a:t>
            </a:r>
            <a:endParaRPr lang="en-US" b="1" dirty="0"/>
          </a:p>
          <a:p>
            <a:r>
              <a:rPr lang="en-US" dirty="0" err="1"/>
              <a:t>umask</a:t>
            </a:r>
            <a:r>
              <a:rPr lang="en-US" dirty="0"/>
              <a:t> 007</a:t>
            </a:r>
          </a:p>
          <a:p>
            <a:r>
              <a:rPr lang="en-US" dirty="0"/>
              <a:t>touch file2.txt</a:t>
            </a:r>
          </a:p>
          <a:p>
            <a:r>
              <a:rPr lang="en-US" dirty="0"/>
              <a:t>ls -l file2.txt</a:t>
            </a:r>
          </a:p>
          <a:p>
            <a:r>
              <a:rPr lang="en-US" dirty="0"/>
              <a:t>Output: </a:t>
            </a:r>
            <a:r>
              <a:rPr lang="en-US" dirty="0" err="1"/>
              <a:t>rw</a:t>
            </a:r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----</a:t>
            </a:r>
          </a:p>
          <a:p>
            <a:r>
              <a:rPr lang="en-US" dirty="0"/>
              <a:t>Explanation: 666 – 007 = 660 → owner &amp; group read/write, others nothing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59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6612-FACB-985F-42A5-4798DCC6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BF54-A1EF-24A9-0627-3EC55DD6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Default: 110 (</a:t>
            </a:r>
            <a:r>
              <a:rPr lang="en-IN" dirty="0" err="1"/>
              <a:t>rw</a:t>
            </a:r>
            <a:r>
              <a:rPr lang="en-IN" dirty="0"/>
              <a:t>-)</a:t>
            </a:r>
          </a:p>
          <a:p>
            <a:r>
              <a:rPr lang="en-IN" dirty="0" err="1"/>
              <a:t>Umask</a:t>
            </a:r>
            <a:r>
              <a:rPr lang="en-IN" dirty="0"/>
              <a:t>:   111 (</a:t>
            </a:r>
            <a:r>
              <a:rPr lang="en-IN" dirty="0" err="1"/>
              <a:t>rwx</a:t>
            </a:r>
            <a:r>
              <a:rPr lang="en-IN" dirty="0"/>
              <a:t>)</a:t>
            </a:r>
          </a:p>
          <a:p>
            <a:r>
              <a:rPr lang="en-IN" dirty="0"/>
              <a:t>Result:  110 &amp; ~111 = 110 &amp; 000 = 000 → ---</a:t>
            </a:r>
          </a:p>
          <a:p>
            <a:r>
              <a:rPr lang="en-IN" dirty="0"/>
              <a:t>Take the complement of </a:t>
            </a:r>
            <a:r>
              <a:rPr lang="en-IN" dirty="0" err="1"/>
              <a:t>umask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51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03FC-2DC5-9098-02E2-736805DE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94C33B-4C40-9AF3-B142-7020FFD0A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162" y="1362075"/>
            <a:ext cx="5708889" cy="4994275"/>
          </a:xfrm>
        </p:spPr>
      </p:pic>
    </p:spTree>
    <p:extLst>
      <p:ext uri="{BB962C8B-B14F-4D97-AF65-F5344CB8AC3E}">
        <p14:creationId xmlns:p14="http://schemas.microsoft.com/office/powerpoint/2010/main" val="1359478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19FE-057F-FAB8-C390-784A17D0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B4B18-7CEA-C8FB-E46F-169E26694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ACL allows </a:t>
            </a:r>
            <a:r>
              <a:rPr lang="en-US" b="1" dirty="0"/>
              <a:t>specific users</a:t>
            </a:r>
            <a:r>
              <a:rPr lang="en-US" dirty="0"/>
              <a:t> to access files, even if they are not in the group.</a:t>
            </a:r>
            <a:endParaRPr lang="en-IN" dirty="0"/>
          </a:p>
          <a:p>
            <a:r>
              <a:rPr lang="en-IN" dirty="0" err="1"/>
              <a:t>setfacl</a:t>
            </a:r>
            <a:r>
              <a:rPr lang="en-IN" dirty="0"/>
              <a:t> -m u:alice:r myfile.txt</a:t>
            </a:r>
          </a:p>
          <a:p>
            <a:r>
              <a:rPr lang="en-IN" dirty="0" err="1"/>
              <a:t>getfacl</a:t>
            </a:r>
            <a:r>
              <a:rPr lang="en-IN" dirty="0"/>
              <a:t> myfile.txt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44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FAF8-FB83-73C6-0F9C-A59AB492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Change ownership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2F0FDF-0FB6-74B4-AFFA-391422F60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795" y="1362075"/>
            <a:ext cx="5388076" cy="4994275"/>
          </a:xfrm>
        </p:spPr>
      </p:pic>
    </p:spTree>
    <p:extLst>
      <p:ext uri="{BB962C8B-B14F-4D97-AF65-F5344CB8AC3E}">
        <p14:creationId xmlns:p14="http://schemas.microsoft.com/office/powerpoint/2010/main" val="3628462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F0BC-EC38-FE01-B821-8887687C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users to the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A97B6-256A-BB43-77FE-2B6C77BE4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Check the User and Group</a:t>
            </a:r>
          </a:p>
          <a:p>
            <a:pPr marL="0" indent="0" algn="ctr">
              <a:buNone/>
            </a:pPr>
            <a:r>
              <a:rPr lang="en-IN" dirty="0"/>
              <a:t>id student1</a:t>
            </a:r>
          </a:p>
          <a:p>
            <a:r>
              <a:rPr lang="en-US" dirty="0"/>
              <a:t>Step 1: Check Existing Groups</a:t>
            </a:r>
          </a:p>
          <a:p>
            <a:pPr marL="0" indent="0" algn="ctr">
              <a:buNone/>
            </a:pPr>
            <a:r>
              <a:rPr lang="en-IN" dirty="0"/>
              <a:t>cat /etc/group</a:t>
            </a:r>
          </a:p>
          <a:p>
            <a:pPr marL="0" indent="0" algn="ctr">
              <a:buNone/>
            </a:pPr>
            <a:r>
              <a:rPr lang="en-US" dirty="0"/>
              <a:t>Shows all existing groups on the system.</a:t>
            </a:r>
          </a:p>
          <a:p>
            <a:pPr algn="ctr"/>
            <a:r>
              <a:rPr lang="en-US" dirty="0"/>
              <a:t>Look for common groups like wheel (admin group) or dev.</a:t>
            </a:r>
          </a:p>
          <a:p>
            <a:r>
              <a:rPr lang="en-US" dirty="0"/>
              <a:t>Add new group</a:t>
            </a:r>
          </a:p>
          <a:p>
            <a:pPr marL="457200" lvl="1" indent="0" algn="ctr">
              <a:buNone/>
            </a:pPr>
            <a:r>
              <a:rPr lang="en-US" dirty="0" err="1"/>
              <a:t>Groupadd</a:t>
            </a:r>
            <a:r>
              <a:rPr lang="en-US" dirty="0"/>
              <a:t> newgroup</a:t>
            </a:r>
          </a:p>
          <a:p>
            <a:r>
              <a:rPr lang="en-IN" dirty="0"/>
              <a:t>Add user to the group</a:t>
            </a:r>
          </a:p>
          <a:p>
            <a:pPr marL="0" indent="0" algn="ctr">
              <a:buNone/>
            </a:pP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usermod</a:t>
            </a:r>
            <a:r>
              <a:rPr lang="en-IN" dirty="0"/>
              <a:t> -G wheel student1</a:t>
            </a:r>
          </a:p>
          <a:p>
            <a:r>
              <a:rPr lang="en-IN" dirty="0"/>
              <a:t>Remove User from Group</a:t>
            </a:r>
          </a:p>
          <a:p>
            <a:pPr marL="0" indent="0" algn="ctr">
              <a:buNone/>
            </a:pPr>
            <a:r>
              <a:rPr lang="nl-NL" dirty="0"/>
              <a:t>sudo gpasswd -d student1 dev</a:t>
            </a:r>
          </a:p>
          <a:p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10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3D30-7B91-5FFC-D1A1-1D9A6332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234C06-8F64-75BE-A6F3-E4E2113F7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86" y="1362075"/>
            <a:ext cx="3883640" cy="4994275"/>
          </a:xfrm>
        </p:spPr>
      </p:pic>
    </p:spTree>
    <p:extLst>
      <p:ext uri="{BB962C8B-B14F-4D97-AF65-F5344CB8AC3E}">
        <p14:creationId xmlns:p14="http://schemas.microsoft.com/office/powerpoint/2010/main" val="1988039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F0F7-8358-E4EB-6B90-228E3974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1268A30-9B35-D909-C5DF-75BCEE621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837" y="1403937"/>
            <a:ext cx="5192237" cy="5119562"/>
          </a:xfrm>
        </p:spPr>
      </p:pic>
    </p:spTree>
    <p:extLst>
      <p:ext uri="{BB962C8B-B14F-4D97-AF65-F5344CB8AC3E}">
        <p14:creationId xmlns:p14="http://schemas.microsoft.com/office/powerpoint/2010/main" val="577258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6106-7D6B-8305-4931-2AA5C732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BF47077-E26A-F142-20B2-5F82F8508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3" y="1689765"/>
            <a:ext cx="6291808" cy="509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19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3D82-91B4-8365-EF0B-747A03EE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Filtering output: Grep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B550-B9EF-C328-0514-6368775C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Step 1: Create Empty Files</a:t>
            </a:r>
          </a:p>
          <a:p>
            <a:pPr algn="ctr"/>
            <a:r>
              <a:rPr lang="en-IN" dirty="0"/>
              <a:t>touch file1.txt file2.txt file3.txt</a:t>
            </a:r>
          </a:p>
          <a:p>
            <a:r>
              <a:rPr lang="en-US" dirty="0"/>
              <a:t>Step 2: Add Content to Files</a:t>
            </a:r>
          </a:p>
          <a:p>
            <a:r>
              <a:rPr lang="en-US" dirty="0"/>
              <a:t>Step 3:Search for lines containing “</a:t>
            </a:r>
            <a:r>
              <a:rPr lang="en-US" b="1" dirty="0"/>
              <a:t>search word”</a:t>
            </a:r>
            <a:r>
              <a:rPr lang="en-US" dirty="0"/>
              <a:t> in single file</a:t>
            </a:r>
          </a:p>
          <a:p>
            <a:pPr marL="0" indent="0" algn="ctr">
              <a:buNone/>
            </a:pPr>
            <a:r>
              <a:rPr lang="en-US" dirty="0"/>
              <a:t>grep </a:t>
            </a:r>
            <a:r>
              <a:rPr lang="en-US" dirty="0" err="1"/>
              <a:t>search_word</a:t>
            </a:r>
            <a:r>
              <a:rPr lang="en-US" dirty="0"/>
              <a:t> file1.txt</a:t>
            </a:r>
          </a:p>
          <a:p>
            <a:r>
              <a:rPr lang="en-US" dirty="0"/>
              <a:t>Step 4: Search in Multiple Files</a:t>
            </a:r>
          </a:p>
          <a:p>
            <a:pPr marL="0" indent="0" algn="ctr">
              <a:buNone/>
            </a:pPr>
            <a:r>
              <a:rPr lang="en-IN" dirty="0"/>
              <a:t>grep </a:t>
            </a:r>
            <a:r>
              <a:rPr lang="en-IN" dirty="0" err="1"/>
              <a:t>search_word</a:t>
            </a:r>
            <a:r>
              <a:rPr lang="en-IN" dirty="0"/>
              <a:t> file1.txt file2.txt file3.txt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214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23A7-C56D-FD00-F515-A404275A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13D0-AFF0-F082-6FC6-70A9432EF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grep “</a:t>
            </a:r>
            <a:r>
              <a:rPr lang="en-US" dirty="0" err="1"/>
              <a:t>lpu</a:t>
            </a:r>
            <a:r>
              <a:rPr lang="en-US" dirty="0"/>
              <a:t>" file1.txt file2.txt        </a:t>
            </a:r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lang="nn-NO" dirty="0"/>
              <a:t>grep -i "linux" file1.txt file2.txt       &lt;&lt;&lt;&lt;&lt;&lt;&lt;    </a:t>
            </a:r>
            <a:r>
              <a:rPr lang="en-IN" dirty="0"/>
              <a:t>Search ignoring case (case-insensitive)</a:t>
            </a:r>
            <a:r>
              <a:rPr lang="nn-NO" dirty="0"/>
              <a:t>  </a:t>
            </a:r>
          </a:p>
          <a:p>
            <a:pPr marL="0" indent="0" algn="just">
              <a:buNone/>
            </a:pPr>
            <a:r>
              <a:rPr lang="nn-NO" dirty="0"/>
              <a:t>   grep -c "Linux" file1.txt file2.txt    &lt;&lt;&lt;&lt;&lt;&lt; </a:t>
            </a:r>
            <a:r>
              <a:rPr lang="en-US" dirty="0"/>
              <a:t>Count number of matching lines</a:t>
            </a:r>
            <a:endParaRPr lang="nn-NO" dirty="0"/>
          </a:p>
          <a:p>
            <a:pPr marL="0" indent="0" algn="just">
              <a:buNone/>
            </a:pPr>
            <a:r>
              <a:rPr lang="nn-NO" dirty="0"/>
              <a:t>grep -n "Linux" file1.txt file2.txt      &lt;&lt;&lt;&lt;&lt;&lt;&lt;&lt;&lt;   </a:t>
            </a:r>
            <a:r>
              <a:rPr lang="en-US" dirty="0"/>
              <a:t>Display line numbers with matches</a:t>
            </a:r>
          </a:p>
          <a:p>
            <a:pPr algn="just"/>
            <a:r>
              <a:rPr lang="pt-BR" dirty="0"/>
              <a:t>sed ‘s/lpu/lovely/' file.txt&lt;&lt;&lt;&lt;&lt;&lt;&lt;for substituting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638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0CBF-F597-7325-079D-38F7496D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BCCF8-79B6-1C3A-CCE2-93A93F874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530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9668-F381-49FD-4345-11BB6079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(|)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4674-C61A-14D3-43DB-FA6046D5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In Red Hat Linux, and in Linux distributions in general, the pipe (|) is a powerful feature that allows you to combine and manipulate the output of one command as input to another command. </a:t>
            </a:r>
          </a:p>
          <a:p>
            <a:pPr algn="just"/>
            <a:r>
              <a:rPr lang="en-US" dirty="0"/>
              <a:t>It enables you to create complex and efficient data processing pipelines. Here's how you can use the pipe in Red Hat Linux:</a:t>
            </a:r>
          </a:p>
          <a:p>
            <a:pPr algn="just"/>
            <a:r>
              <a:rPr lang="en-US" dirty="0"/>
              <a:t>The pipe symbol (|) is used to connect the output of one command to the input of another command. The basic syntax is as follows:</a:t>
            </a:r>
          </a:p>
          <a:p>
            <a:pPr algn="just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command1 | command2</a:t>
            </a:r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19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64A6-2360-2945-0D5F-064DA9C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(|)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5067C-F1A8-568F-4F8D-89DBE4D35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Step 1: Create a File</a:t>
            </a:r>
          </a:p>
          <a:p>
            <a:pPr algn="ctr"/>
            <a:r>
              <a:rPr lang="en-IN" dirty="0"/>
              <a:t>touch fruits.txt</a:t>
            </a:r>
          </a:p>
          <a:p>
            <a:pPr algn="ctr"/>
            <a:r>
              <a:rPr lang="en-IN" dirty="0"/>
              <a:t>echo -e "apple\</a:t>
            </a:r>
            <a:r>
              <a:rPr lang="en-IN" dirty="0" err="1"/>
              <a:t>nbanana</a:t>
            </a:r>
            <a:r>
              <a:rPr lang="en-IN" dirty="0"/>
              <a:t>\</a:t>
            </a:r>
            <a:r>
              <a:rPr lang="en-IN" dirty="0" err="1"/>
              <a:t>norange</a:t>
            </a:r>
            <a:r>
              <a:rPr lang="en-IN" dirty="0"/>
              <a:t>\</a:t>
            </a:r>
            <a:r>
              <a:rPr lang="en-IN" dirty="0" err="1"/>
              <a:t>napple</a:t>
            </a:r>
            <a:r>
              <a:rPr lang="en-IN" dirty="0"/>
              <a:t> pie\</a:t>
            </a:r>
            <a:r>
              <a:rPr lang="en-IN" dirty="0" err="1"/>
              <a:t>nbanana</a:t>
            </a:r>
            <a:r>
              <a:rPr lang="en-IN" dirty="0"/>
              <a:t> split" &gt; fruits.txt</a:t>
            </a:r>
          </a:p>
          <a:p>
            <a:pPr algn="ctr"/>
            <a:r>
              <a:rPr lang="en-IN" dirty="0"/>
              <a:t>cat fruits.txt</a:t>
            </a:r>
          </a:p>
          <a:p>
            <a:r>
              <a:rPr lang="en-US" dirty="0"/>
              <a:t>Step 2: Use Pipe with grep</a:t>
            </a:r>
          </a:p>
          <a:p>
            <a:r>
              <a:rPr lang="en-US" dirty="0"/>
              <a:t>Find lines containing </a:t>
            </a:r>
            <a:r>
              <a:rPr lang="en-US" b="1" dirty="0"/>
              <a:t>apple</a:t>
            </a:r>
            <a:r>
              <a:rPr lang="en-US" dirty="0"/>
              <a:t> and </a:t>
            </a:r>
            <a:r>
              <a:rPr lang="en-US" b="1" dirty="0"/>
              <a:t>sort</a:t>
            </a:r>
            <a:r>
              <a:rPr lang="en-US" dirty="0"/>
              <a:t> them alphabetically:</a:t>
            </a:r>
          </a:p>
          <a:p>
            <a:pPr algn="ctr"/>
            <a:r>
              <a:rPr lang="en-IN" dirty="0"/>
              <a:t>grep apple fruits.txt | sort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</a:p>
          <a:p>
            <a:r>
              <a:rPr lang="en-US" dirty="0"/>
              <a:t>grep apple fruits.txt → selects lines with apple</a:t>
            </a:r>
          </a:p>
          <a:p>
            <a:r>
              <a:rPr lang="en-US" dirty="0"/>
              <a:t>| sort → sorts those lines</a:t>
            </a:r>
          </a:p>
          <a:p>
            <a:pPr algn="ctr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159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316C-52B1-83E0-A647-C82B9AFC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BC6DB-1EB3-7BCD-0394-BA815F479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Step 1: Create some sample files</a:t>
            </a:r>
          </a:p>
          <a:p>
            <a:r>
              <a:rPr lang="en-IN" dirty="0"/>
              <a:t>echo "This is file1" &gt; gul2</a:t>
            </a:r>
          </a:p>
          <a:p>
            <a:r>
              <a:rPr lang="en-IN" dirty="0"/>
              <a:t>echo "This is file2" &gt; gul3.txt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Step 2: Archive them </a:t>
            </a:r>
          </a:p>
          <a:p>
            <a:pPr marL="0" indent="0">
              <a:buNone/>
            </a:pPr>
            <a:r>
              <a:rPr lang="en-IN" dirty="0"/>
              <a:t>a) tar -</a:t>
            </a:r>
            <a:r>
              <a:rPr lang="en-IN" dirty="0" err="1"/>
              <a:t>cvf</a:t>
            </a:r>
            <a:r>
              <a:rPr lang="en-IN" dirty="0"/>
              <a:t> zip.tar gul2 gul3.txt</a:t>
            </a:r>
          </a:p>
          <a:p>
            <a:r>
              <a:rPr lang="en-IN" dirty="0"/>
              <a:t># output:</a:t>
            </a:r>
          </a:p>
          <a:p>
            <a:r>
              <a:rPr lang="en-IN" dirty="0"/>
              <a:t>gul2</a:t>
            </a:r>
          </a:p>
          <a:p>
            <a:r>
              <a:rPr lang="en-IN" dirty="0"/>
              <a:t>gul3.txt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417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38A3-4CCB-A9D9-1A6C-D6E0D483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8B6C3-BCE9-FD8A-EE9C-C8309AB6B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Step 3: Compress archive</a:t>
            </a:r>
          </a:p>
          <a:p>
            <a:r>
              <a:rPr lang="en-IN" dirty="0" err="1"/>
              <a:t>gzip</a:t>
            </a:r>
            <a:r>
              <a:rPr lang="en-IN" dirty="0"/>
              <a:t> zip.tar</a:t>
            </a:r>
          </a:p>
          <a:p>
            <a:r>
              <a:rPr lang="en-IN" dirty="0"/>
              <a:t># now you will see zip.tar.gz</a:t>
            </a:r>
          </a:p>
          <a:p>
            <a:pPr marL="0" indent="0">
              <a:buNone/>
            </a:pPr>
            <a:r>
              <a:rPr lang="en-IN" dirty="0"/>
              <a:t>Step 4: see the contents of compressed archive</a:t>
            </a:r>
          </a:p>
          <a:p>
            <a:r>
              <a:rPr lang="en-IN" dirty="0"/>
              <a:t>tar -</a:t>
            </a:r>
            <a:r>
              <a:rPr lang="en-IN" dirty="0" err="1"/>
              <a:t>tvzf</a:t>
            </a:r>
            <a:r>
              <a:rPr lang="en-IN" dirty="0"/>
              <a:t> zip.tar.gz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Step 5: Extract back</a:t>
            </a:r>
          </a:p>
          <a:p>
            <a:r>
              <a:rPr lang="en-IN" dirty="0"/>
              <a:t>tar -</a:t>
            </a:r>
            <a:r>
              <a:rPr lang="en-IN" dirty="0" err="1"/>
              <a:t>xvzf</a:t>
            </a:r>
            <a:r>
              <a:rPr lang="en-IN" dirty="0"/>
              <a:t> zip.tar.gz</a:t>
            </a:r>
          </a:p>
          <a:p>
            <a:r>
              <a:rPr lang="en-IN" dirty="0"/>
              <a:t># output:</a:t>
            </a:r>
          </a:p>
          <a:p>
            <a:r>
              <a:rPr lang="en-IN" dirty="0"/>
              <a:t>gul2</a:t>
            </a:r>
          </a:p>
          <a:p>
            <a:r>
              <a:rPr lang="en-IN" dirty="0"/>
              <a:t>gul3.txt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036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2B2B-1605-BD75-4090-BDFD65E8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CDF1431-B905-23F4-8C5E-1979E42C0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37" y="1362075"/>
            <a:ext cx="6414448" cy="4994275"/>
          </a:xfrm>
        </p:spPr>
      </p:pic>
    </p:spTree>
    <p:extLst>
      <p:ext uri="{BB962C8B-B14F-4D97-AF65-F5344CB8AC3E}">
        <p14:creationId xmlns:p14="http://schemas.microsoft.com/office/powerpoint/2010/main" val="321380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207DD3C-0907-1366-247A-C3592BDA6A36}"/>
              </a:ext>
            </a:extLst>
          </p:cNvPr>
          <p:cNvSpPr/>
          <p:nvPr/>
        </p:nvSpPr>
        <p:spPr>
          <a:xfrm>
            <a:off x="3427629" y="5495925"/>
            <a:ext cx="529390" cy="1925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0983D-44A7-E569-55AB-C1506F8B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8386D8-D80A-52FA-414A-832562DBD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461" y="1362075"/>
            <a:ext cx="5540990" cy="4994275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287BC07-3FEC-9DA9-4091-7AD8D4991699}"/>
              </a:ext>
            </a:extLst>
          </p:cNvPr>
          <p:cNvSpPr/>
          <p:nvPr/>
        </p:nvSpPr>
        <p:spPr>
          <a:xfrm>
            <a:off x="3333135" y="5495925"/>
            <a:ext cx="623884" cy="2756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37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FAEC-6C57-447E-3610-AAC0ECB7D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Locating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FA46-9DF0-0652-3A51-21629B010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Which ls</a:t>
            </a:r>
          </a:p>
          <a:p>
            <a:r>
              <a:rPr lang="en-IN" dirty="0" err="1"/>
              <a:t>Whereis</a:t>
            </a:r>
            <a:r>
              <a:rPr lang="en-IN" dirty="0"/>
              <a:t> ls</a:t>
            </a:r>
          </a:p>
        </p:txBody>
      </p:sp>
    </p:spTree>
    <p:extLst>
      <p:ext uri="{BB962C8B-B14F-4D97-AF65-F5344CB8AC3E}">
        <p14:creationId xmlns:p14="http://schemas.microsoft.com/office/powerpoint/2010/main" val="1864119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27C8-F846-9C97-91C4-213E9E77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alias?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65CE9-D7ED-9D03-373B-32AB0E3A4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alias</a:t>
            </a:r>
            <a:r>
              <a:rPr lang="en-US" dirty="0"/>
              <a:t> is a shortcut or nickname for a command or set of commands.</a:t>
            </a:r>
          </a:p>
          <a:p>
            <a:r>
              <a:rPr lang="en-US" dirty="0"/>
              <a:t>It helps you </a:t>
            </a:r>
            <a:r>
              <a:rPr lang="en-US" b="1" dirty="0"/>
              <a:t>save typing</a:t>
            </a:r>
            <a:r>
              <a:rPr lang="en-US" dirty="0"/>
              <a:t> or </a:t>
            </a:r>
            <a:r>
              <a:rPr lang="en-US" b="1" dirty="0"/>
              <a:t>simplify long commands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alias </a:t>
            </a:r>
            <a:r>
              <a:rPr lang="en-US" dirty="0" err="1"/>
              <a:t>shortname</a:t>
            </a:r>
            <a:r>
              <a:rPr lang="en-US" dirty="0"/>
              <a:t>='</a:t>
            </a:r>
            <a:r>
              <a:rPr lang="en-US" dirty="0" err="1"/>
              <a:t>command_to_run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dirty="0" err="1"/>
              <a:t>Eg.</a:t>
            </a:r>
            <a:r>
              <a:rPr lang="en-US" dirty="0"/>
              <a:t> alias </a:t>
            </a:r>
            <a:r>
              <a:rPr lang="en-US" dirty="0" err="1"/>
              <a:t>ll</a:t>
            </a:r>
            <a:r>
              <a:rPr lang="en-US" dirty="0"/>
              <a:t>=‘</a:t>
            </a:r>
            <a:r>
              <a:rPr lang="en-US" dirty="0" err="1"/>
              <a:t>df</a:t>
            </a:r>
            <a:r>
              <a:rPr lang="en-US" dirty="0"/>
              <a:t> -h'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819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08B9-B542-FB92-722A-976CC02B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83A7-22E8-3DA2-6E3E-DF017BECF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 alias</a:t>
            </a:r>
          </a:p>
          <a:p>
            <a:pPr marL="0" indent="0" algn="ctr">
              <a:buNone/>
            </a:pPr>
            <a:r>
              <a:rPr lang="en-IN" dirty="0"/>
              <a:t>unalias </a:t>
            </a:r>
            <a:r>
              <a:rPr lang="en-IN" dirty="0" err="1"/>
              <a:t>ll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651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C2F1-BE14-951A-B5D6-E08068F6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history?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4232A-EE17-FA8C-A7C0-EAB9E4C2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shows a </a:t>
            </a:r>
            <a:r>
              <a:rPr lang="en-US" b="1" dirty="0"/>
              <a:t>list of commands you have previously executed</a:t>
            </a:r>
            <a:r>
              <a:rPr lang="en-US" dirty="0"/>
              <a:t> in the shell.</a:t>
            </a:r>
          </a:p>
          <a:p>
            <a:r>
              <a:rPr lang="en-US" dirty="0"/>
              <a:t>Very useful to </a:t>
            </a:r>
            <a:r>
              <a:rPr lang="en-US" b="1" dirty="0"/>
              <a:t>recall or repeat commands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Run a previous command</a:t>
            </a:r>
          </a:p>
          <a:p>
            <a:r>
              <a:rPr lang="en-US" dirty="0"/>
              <a:t>Use the number with !:</a:t>
            </a:r>
          </a:p>
          <a:p>
            <a:pPr marL="0" indent="0" algn="ctr">
              <a:buNone/>
            </a:pPr>
            <a:r>
              <a:rPr lang="en-US" dirty="0"/>
              <a:t>!3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212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904F-2030-21B3-1822-7FAE475F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9FC7BF-3295-4561-989F-9A08B3474E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5554" t="19931" r="38531" b="28403"/>
          <a:stretch>
            <a:fillRect/>
          </a:stretch>
        </p:blipFill>
        <p:spPr bwMode="auto">
          <a:xfrm>
            <a:off x="1219200" y="1722511"/>
            <a:ext cx="6364441" cy="402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77167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etch line 2">
            <a:extLst>
              <a:ext uri="{FF2B5EF4-FFF2-40B4-BE49-F238E27FC236}">
                <a16:creationId xmlns:a16="http://schemas.microsoft.com/office/drawing/2014/main" id="{753779A9-70D8-CFB7-2D51-C2700195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8530" y="1190295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sketch line 2">
            <a:extLst>
              <a:ext uri="{FF2B5EF4-FFF2-40B4-BE49-F238E27FC236}">
                <a16:creationId xmlns:a16="http://schemas.microsoft.com/office/drawing/2014/main" id="{21BA4BC3-7EC9-588A-154A-82C81A75C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574" y="5329068"/>
            <a:ext cx="8976852" cy="45719"/>
          </a:xfrm>
          <a:custGeom>
            <a:avLst/>
            <a:gdLst>
              <a:gd name="textAreaLeft" fmla="*/ 0 w 10853280"/>
              <a:gd name="textAreaRight" fmla="*/ 10854000 w 10853280"/>
              <a:gd name="textAreaTop" fmla="*/ 0 h 17640"/>
              <a:gd name="textAreaBottom" fmla="*/ 18360 h 17640"/>
            </a:gdLst>
            <a:ahLst/>
            <a:cxnLst/>
            <a:rect l="textAreaLeft" t="textAreaTop" r="textAreaRight" b="textAreaBottom"/>
            <a:pathLst>
              <a:path w="10853928" h="18288" fill="none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13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4204</TotalTime>
  <Words>1369</Words>
  <Application>Microsoft Office PowerPoint</Application>
  <PresentationFormat>On-screen Show (4:3)</PresentationFormat>
  <Paragraphs>186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Arial Unicode MS</vt:lpstr>
      <vt:lpstr>Bahnschrift</vt:lpstr>
      <vt:lpstr>Bahnschrift SemiBold</vt:lpstr>
      <vt:lpstr>Courier New</vt:lpstr>
      <vt:lpstr>Times New Roman</vt:lpstr>
      <vt:lpstr>Office Theme</vt:lpstr>
      <vt:lpstr>PowerPoint Presentation</vt:lpstr>
      <vt:lpstr>CAP 443</vt:lpstr>
      <vt:lpstr>Process Management Utilities:</vt:lpstr>
      <vt:lpstr>Network Utilities:</vt:lpstr>
      <vt:lpstr>PowerPoint Presentation</vt:lpstr>
      <vt:lpstr>Text Processing Utilities:</vt:lpstr>
      <vt:lpstr>User and Permissions Utilities:</vt:lpstr>
      <vt:lpstr>Demonstrating chmod +x with touch</vt:lpstr>
      <vt:lpstr>PowerPoint Presentation</vt:lpstr>
      <vt:lpstr>PowerPoint Presentation</vt:lpstr>
      <vt:lpstr>Do you need to run umask before creating a file?</vt:lpstr>
      <vt:lpstr> Step-by-step example</vt:lpstr>
      <vt:lpstr>PowerPoint Presentation</vt:lpstr>
      <vt:lpstr>PowerPoint Presentation</vt:lpstr>
      <vt:lpstr>PowerPoint Presentation</vt:lpstr>
      <vt:lpstr>PowerPoint Presentation</vt:lpstr>
      <vt:lpstr>ACL</vt:lpstr>
      <vt:lpstr>Change ownership</vt:lpstr>
      <vt:lpstr>Adding users to the Groups</vt:lpstr>
      <vt:lpstr>PowerPoint Presentation</vt:lpstr>
      <vt:lpstr>PowerPoint Presentation</vt:lpstr>
      <vt:lpstr>PowerPoint Presentation</vt:lpstr>
      <vt:lpstr>Filtering output: Grep command</vt:lpstr>
      <vt:lpstr>PowerPoint Presentation</vt:lpstr>
      <vt:lpstr>PowerPoint Presentation</vt:lpstr>
      <vt:lpstr>PIPE (|)</vt:lpstr>
      <vt:lpstr>PIPE (|)</vt:lpstr>
      <vt:lpstr>compression</vt:lpstr>
      <vt:lpstr>PowerPoint Presentation</vt:lpstr>
      <vt:lpstr>PowerPoint Presentation</vt:lpstr>
      <vt:lpstr>PowerPoint Presentation</vt:lpstr>
      <vt:lpstr>Locating commands</vt:lpstr>
      <vt:lpstr>What is an alias?</vt:lpstr>
      <vt:lpstr>PowerPoint Presentation</vt:lpstr>
      <vt:lpstr>What is history?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Examination 1</dc:creator>
  <cp:lastModifiedBy>Sheikh Umar Mushtaq</cp:lastModifiedBy>
  <cp:revision>154</cp:revision>
  <dcterms:created xsi:type="dcterms:W3CDTF">2020-11-19T03:56:33Z</dcterms:created>
  <dcterms:modified xsi:type="dcterms:W3CDTF">2025-10-06T05:23:04Z</dcterms:modified>
</cp:coreProperties>
</file>