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9" r:id="rId9"/>
    <p:sldId id="263" r:id="rId10"/>
    <p:sldId id="264" r:id="rId11"/>
    <p:sldId id="265" r:id="rId12"/>
    <p:sldId id="272" r:id="rId13"/>
    <p:sldId id="266" r:id="rId14"/>
    <p:sldId id="268" r:id="rId15"/>
    <p:sldId id="269" r:id="rId16"/>
    <p:sldId id="270" r:id="rId17"/>
    <p:sldId id="271" r:id="rId18"/>
    <p:sldId id="267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n-US" dirty="0"/>
              <a:t>Utilities and </a:t>
            </a:r>
            <a:r>
              <a:rPr lang="en-US" dirty="0" err="1"/>
              <a:t>Filesystem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188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Utilities in Linux: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Linux offers a wide range of command-line utilities and tools that are essential for system administration, troubleshooting, and everyday tasks. Some common categories of Linux utilities include:</a:t>
            </a:r>
          </a:p>
        </p:txBody>
      </p:sp>
    </p:spTree>
    <p:extLst>
      <p:ext uri="{BB962C8B-B14F-4D97-AF65-F5344CB8AC3E}">
        <p14:creationId xmlns:p14="http://schemas.microsoft.com/office/powerpoint/2010/main" val="1785522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Management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Utilities like </a:t>
            </a:r>
            <a:r>
              <a:rPr lang="en-US" dirty="0" err="1">
                <a:solidFill>
                  <a:srgbClr val="FF0000"/>
                </a:solidFill>
              </a:rPr>
              <a:t>ls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cp</a:t>
            </a:r>
            <a:r>
              <a:rPr lang="en-US" dirty="0">
                <a:solidFill>
                  <a:srgbClr val="FF0000"/>
                </a:solidFill>
              </a:rPr>
              <a:t>, mv,</a:t>
            </a:r>
            <a:r>
              <a:rPr lang="en-US" dirty="0"/>
              <a:t> and </a:t>
            </a:r>
            <a:r>
              <a:rPr lang="en-US" dirty="0" err="1">
                <a:solidFill>
                  <a:srgbClr val="FF0000"/>
                </a:solidFill>
              </a:rPr>
              <a:t>rm</a:t>
            </a:r>
            <a:r>
              <a:rPr lang="en-US" dirty="0"/>
              <a:t> are used for listing, copying, moving, and deleting files and directories.</a:t>
            </a:r>
          </a:p>
        </p:txBody>
      </p:sp>
    </p:spTree>
    <p:extLst>
      <p:ext uri="{BB962C8B-B14F-4D97-AF65-F5344CB8AC3E}">
        <p14:creationId xmlns:p14="http://schemas.microsoft.com/office/powerpoint/2010/main" val="838732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Disk Management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Tools like </a:t>
            </a:r>
            <a:r>
              <a:rPr lang="en-US" dirty="0" err="1">
                <a:solidFill>
                  <a:srgbClr val="FF0000"/>
                </a:solidFill>
              </a:rPr>
              <a:t>df</a:t>
            </a:r>
            <a:r>
              <a:rPr lang="en-US" dirty="0">
                <a:solidFill>
                  <a:srgbClr val="FF0000"/>
                </a:solidFill>
              </a:rPr>
              <a:t>, du</a:t>
            </a:r>
            <a:r>
              <a:rPr lang="en-US" dirty="0"/>
              <a:t>, and </a:t>
            </a:r>
            <a:r>
              <a:rPr lang="en-US" dirty="0" err="1">
                <a:solidFill>
                  <a:srgbClr val="FF0000"/>
                </a:solidFill>
              </a:rPr>
              <a:t>fdisk</a:t>
            </a:r>
            <a:r>
              <a:rPr lang="en-US" dirty="0"/>
              <a:t> help manage disk space, check disk usage, and create partitions on storage devices.</a:t>
            </a:r>
          </a:p>
        </p:txBody>
      </p:sp>
    </p:spTree>
    <p:extLst>
      <p:ext uri="{BB962C8B-B14F-4D97-AF65-F5344CB8AC3E}">
        <p14:creationId xmlns:p14="http://schemas.microsoft.com/office/powerpoint/2010/main" val="2053106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Monitoring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Utilities like </a:t>
            </a:r>
            <a:r>
              <a:rPr lang="en-US" dirty="0" err="1">
                <a:solidFill>
                  <a:srgbClr val="FF0000"/>
                </a:solidFill>
              </a:rPr>
              <a:t>sar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 err="1">
                <a:solidFill>
                  <a:srgbClr val="FF0000"/>
                </a:solidFill>
              </a:rPr>
              <a:t>iotop</a:t>
            </a:r>
            <a:r>
              <a:rPr lang="en-US" dirty="0"/>
              <a:t> provide real-time information about system resource usage, including CPU, memory, and disk activity.</a:t>
            </a:r>
          </a:p>
        </p:txBody>
      </p:sp>
    </p:spTree>
    <p:extLst>
      <p:ext uri="{BB962C8B-B14F-4D97-AF65-F5344CB8AC3E}">
        <p14:creationId xmlns:p14="http://schemas.microsoft.com/office/powerpoint/2010/main" val="1851084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Management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Commands like </a:t>
            </a:r>
            <a:r>
              <a:rPr lang="en-US" dirty="0" err="1">
                <a:solidFill>
                  <a:srgbClr val="FF0000"/>
                </a:solidFill>
              </a:rPr>
              <a:t>ps</a:t>
            </a:r>
            <a:r>
              <a:rPr lang="en-US" dirty="0">
                <a:solidFill>
                  <a:srgbClr val="FF0000"/>
                </a:solidFill>
              </a:rPr>
              <a:t>, kill, </a:t>
            </a:r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top</a:t>
            </a:r>
            <a:r>
              <a:rPr lang="en-US" dirty="0"/>
              <a:t> allow users to view and manage running processes.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59BC24-3785-0BB8-2296-0DD4F9243C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348" y="2814920"/>
            <a:ext cx="6020640" cy="2572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8037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785" y="2937337"/>
            <a:ext cx="8596668" cy="3880773"/>
          </a:xfrm>
        </p:spPr>
        <p:txBody>
          <a:bodyPr/>
          <a:lstStyle/>
          <a:p>
            <a:pPr algn="just"/>
            <a:r>
              <a:rPr lang="en-US" dirty="0"/>
              <a:t>Tools like </a:t>
            </a:r>
            <a:r>
              <a:rPr lang="en-US" dirty="0">
                <a:solidFill>
                  <a:srgbClr val="FF0000"/>
                </a:solidFill>
              </a:rPr>
              <a:t>ping, </a:t>
            </a:r>
            <a:r>
              <a:rPr lang="en-US" dirty="0" err="1">
                <a:solidFill>
                  <a:srgbClr val="FF0000"/>
                </a:solidFill>
              </a:rPr>
              <a:t>ifconfig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netstat</a:t>
            </a:r>
            <a:r>
              <a:rPr lang="en-US" dirty="0"/>
              <a:t> assist in network configuration, diagnostics, and monitoring.</a:t>
            </a:r>
          </a:p>
          <a:p>
            <a:pPr algn="just"/>
            <a:r>
              <a:rPr lang="en-US" dirty="0"/>
              <a:t>netstat -</a:t>
            </a:r>
            <a:r>
              <a:rPr lang="en-US" dirty="0" err="1"/>
              <a:t>tuln</a:t>
            </a: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BFC1ABF-2C5B-8AC4-7411-88E003E1B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3328" y="3981674"/>
            <a:ext cx="1230015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TCP connections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-u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UDP connections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Listening ports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-n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→ Show numeric addresses (instead of names)</a:t>
            </a: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7092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C20DA-F92F-1465-7223-EF72B04D3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ifconfig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A8062-477F-FC88-21F4-C39B07857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1. lo → Loopback interface</a:t>
            </a:r>
          </a:p>
          <a:p>
            <a:r>
              <a:rPr lang="en-US" dirty="0"/>
              <a:t>Special interface that </a:t>
            </a:r>
            <a:r>
              <a:rPr lang="en-US" b="1" dirty="0"/>
              <a:t>connects the system to itself</a:t>
            </a:r>
            <a:r>
              <a:rPr lang="en-US" dirty="0"/>
              <a:t>.</a:t>
            </a:r>
          </a:p>
          <a:p>
            <a:r>
              <a:rPr lang="en-US" dirty="0"/>
              <a:t>Always has IP </a:t>
            </a:r>
            <a:r>
              <a:rPr lang="en-US" b="1" dirty="0"/>
              <a:t>127.0.0.1</a:t>
            </a:r>
            <a:r>
              <a:rPr lang="en-US" dirty="0"/>
              <a:t>.</a:t>
            </a:r>
          </a:p>
          <a:p>
            <a:r>
              <a:rPr lang="en-US" dirty="0"/>
              <a:t>Used for </a:t>
            </a:r>
            <a:r>
              <a:rPr lang="en-US" b="1" dirty="0"/>
              <a:t>testing and internal communication</a:t>
            </a:r>
            <a:r>
              <a:rPr lang="en-US" dirty="0"/>
              <a:t>.</a:t>
            </a:r>
          </a:p>
          <a:p>
            <a:endParaRPr lang="en-IN" dirty="0"/>
          </a:p>
          <a:p>
            <a:endParaRPr lang="en-IN" dirty="0"/>
          </a:p>
          <a:p>
            <a:r>
              <a:rPr lang="en-US" b="1" dirty="0"/>
              <a:t>2. eth0 → Ethernet interface</a:t>
            </a:r>
          </a:p>
          <a:p>
            <a:r>
              <a:rPr lang="en-US" dirty="0"/>
              <a:t>This is your VM’s </a:t>
            </a:r>
            <a:r>
              <a:rPr lang="en-US" b="1" dirty="0"/>
              <a:t>virtual network card</a:t>
            </a:r>
            <a:r>
              <a:rPr lang="en-US" dirty="0"/>
              <a:t>.</a:t>
            </a:r>
          </a:p>
          <a:p>
            <a:r>
              <a:rPr lang="en-US" dirty="0"/>
              <a:t>It is used to connect to the </a:t>
            </a:r>
            <a:r>
              <a:rPr lang="en-US" b="1" dirty="0"/>
              <a:t>outside world</a:t>
            </a:r>
            <a:r>
              <a:rPr lang="en-US" dirty="0"/>
              <a:t> (LAN, internet, or host system).</a:t>
            </a:r>
          </a:p>
          <a:p>
            <a:r>
              <a:rPr lang="en-US" dirty="0"/>
              <a:t>The IP you see under eth0 is the address your VM uses to communicate.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8340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Processing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Utilities such as </a:t>
            </a:r>
            <a:r>
              <a:rPr lang="en-US" dirty="0">
                <a:solidFill>
                  <a:srgbClr val="FF0000"/>
                </a:solidFill>
              </a:rPr>
              <a:t>grep, sed</a:t>
            </a:r>
            <a:r>
              <a:rPr lang="en-US" dirty="0"/>
              <a:t>, and </a:t>
            </a:r>
            <a:r>
              <a:rPr lang="en-US" dirty="0">
                <a:solidFill>
                  <a:srgbClr val="FF0000"/>
                </a:solidFill>
              </a:rPr>
              <a:t>awk</a:t>
            </a:r>
            <a:r>
              <a:rPr lang="en-US" dirty="0"/>
              <a:t> are used for text searching, manipulation, and processing.</a:t>
            </a:r>
          </a:p>
          <a:p>
            <a:pPr algn="just"/>
            <a:r>
              <a:rPr lang="en-US" dirty="0"/>
              <a:t>Grep: write any text in text file and use grep to find the particular line by using search word. </a:t>
            </a:r>
            <a:r>
              <a:rPr lang="en-US" dirty="0" err="1"/>
              <a:t>Eg.</a:t>
            </a:r>
            <a:r>
              <a:rPr lang="en-US" dirty="0"/>
              <a:t> grep </a:t>
            </a:r>
            <a:r>
              <a:rPr lang="en-US" dirty="0" err="1"/>
              <a:t>search_word</a:t>
            </a:r>
            <a:r>
              <a:rPr lang="en-US" dirty="0"/>
              <a:t> test.txt</a:t>
            </a:r>
          </a:p>
          <a:p>
            <a:pPr marL="0" indent="0" algn="just">
              <a:buNone/>
            </a:pPr>
            <a:r>
              <a:rPr lang="en-US" dirty="0"/>
              <a:t>grep “</a:t>
            </a:r>
            <a:r>
              <a:rPr lang="en-US" dirty="0" err="1"/>
              <a:t>lpu</a:t>
            </a:r>
            <a:r>
              <a:rPr lang="en-US" dirty="0"/>
              <a:t>" file1.txt file2.txt        </a:t>
            </a:r>
          </a:p>
          <a:p>
            <a:pPr marL="0" indent="0" algn="just">
              <a:buNone/>
            </a:pPr>
            <a:r>
              <a:rPr lang="en-US" dirty="0"/>
              <a:t>   </a:t>
            </a:r>
            <a:r>
              <a:rPr lang="nn-NO" dirty="0"/>
              <a:t>grep -i "linux" file1.txt file2.txt       &lt;&lt;&lt;&lt;&lt;&lt;&lt;    </a:t>
            </a:r>
            <a:r>
              <a:rPr lang="en-IN" dirty="0"/>
              <a:t>Search ignoring case (case-insensitive)</a:t>
            </a:r>
            <a:r>
              <a:rPr lang="nn-NO" dirty="0"/>
              <a:t>  </a:t>
            </a:r>
          </a:p>
          <a:p>
            <a:pPr marL="0" indent="0" algn="just">
              <a:buNone/>
            </a:pPr>
            <a:r>
              <a:rPr lang="nn-NO" dirty="0"/>
              <a:t>   grep -c "Linux" file1.txt file2.txt    &lt;&lt;&lt;&lt;&lt;&lt; </a:t>
            </a:r>
            <a:r>
              <a:rPr lang="en-US" dirty="0"/>
              <a:t>Count number of matching lines</a:t>
            </a:r>
            <a:endParaRPr lang="nn-NO" dirty="0"/>
          </a:p>
          <a:p>
            <a:pPr marL="0" indent="0" algn="just">
              <a:buNone/>
            </a:pPr>
            <a:r>
              <a:rPr lang="nn-NO" dirty="0"/>
              <a:t>grep -n "Linux" file1.txt file2.txt      &lt;&lt;&lt;&lt;&lt;&lt;&lt;&lt;&lt;   </a:t>
            </a:r>
            <a:r>
              <a:rPr lang="en-US" dirty="0"/>
              <a:t>Display line numbers with matches</a:t>
            </a:r>
          </a:p>
          <a:p>
            <a:pPr algn="just"/>
            <a:r>
              <a:rPr lang="pt-BR" dirty="0"/>
              <a:t>sed ‘s/lpu/lovely/' file.txt&lt;&lt;&lt;&lt;&lt;&lt;&lt;for substituting</a:t>
            </a:r>
          </a:p>
          <a:p>
            <a:pPr algn="just"/>
            <a:endParaRPr lang="nn-NO" dirty="0"/>
          </a:p>
          <a:p>
            <a:pPr marL="0" indent="0" algn="just">
              <a:buNone/>
            </a:pPr>
            <a:endParaRPr lang="nn-NO" dirty="0"/>
          </a:p>
          <a:p>
            <a:pPr marL="0" indent="0" algn="just">
              <a:buNone/>
            </a:pPr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5350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Management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Linux distributions often provide package management tools like </a:t>
            </a:r>
            <a:r>
              <a:rPr lang="en-US" dirty="0">
                <a:solidFill>
                  <a:srgbClr val="FF0000"/>
                </a:solidFill>
              </a:rPr>
              <a:t> yum</a:t>
            </a:r>
            <a:r>
              <a:rPr lang="en-US" dirty="0"/>
              <a:t>(</a:t>
            </a:r>
            <a:r>
              <a:rPr lang="en-US" dirty="0" err="1"/>
              <a:t>Yellowdog</a:t>
            </a:r>
            <a:r>
              <a:rPr lang="en-US" dirty="0"/>
              <a:t> Updater Modified)</a:t>
            </a:r>
            <a:r>
              <a:rPr lang="en-US" dirty="0">
                <a:solidFill>
                  <a:srgbClr val="FF0000"/>
                </a:solidFill>
              </a:rPr>
              <a:t>, and </a:t>
            </a:r>
            <a:r>
              <a:rPr lang="en-US" dirty="0" err="1">
                <a:solidFill>
                  <a:srgbClr val="FF0000"/>
                </a:solidFill>
              </a:rPr>
              <a:t>dnf</a:t>
            </a:r>
            <a:r>
              <a:rPr lang="en-US" dirty="0"/>
              <a:t> (Dandified Yum) to install, update, and remove software packages.</a:t>
            </a:r>
          </a:p>
        </p:txBody>
      </p:sp>
    </p:spTree>
    <p:extLst>
      <p:ext uri="{BB962C8B-B14F-4D97-AF65-F5344CB8AC3E}">
        <p14:creationId xmlns:p14="http://schemas.microsoft.com/office/powerpoint/2010/main" val="42245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dirty="0"/>
              <a:t>User and Permissions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Commands like </a:t>
            </a:r>
            <a:r>
              <a:rPr lang="en-US" dirty="0" err="1">
                <a:solidFill>
                  <a:srgbClr val="FF0000"/>
                </a:solidFill>
              </a:rPr>
              <a:t>useradd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usermod</a:t>
            </a:r>
            <a:r>
              <a:rPr lang="en-US" dirty="0">
                <a:solidFill>
                  <a:srgbClr val="FF0000"/>
                </a:solidFill>
              </a:rPr>
              <a:t>, </a:t>
            </a:r>
            <a:r>
              <a:rPr lang="en-US" dirty="0" err="1">
                <a:solidFill>
                  <a:srgbClr val="FF0000"/>
                </a:solidFill>
              </a:rPr>
              <a:t>passwd</a:t>
            </a:r>
            <a:r>
              <a:rPr lang="en-US" dirty="0"/>
              <a:t>, and </a:t>
            </a:r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/>
              <a:t> are used for managing users and setting file permissions.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Changing File Permissions:</a:t>
            </a:r>
          </a:p>
          <a:p>
            <a:pPr algn="just"/>
            <a:r>
              <a:rPr lang="en-US" dirty="0"/>
              <a:t>To change file permissions, use the </a:t>
            </a:r>
            <a:r>
              <a:rPr lang="en-US" dirty="0" err="1"/>
              <a:t>chmod</a:t>
            </a:r>
            <a:r>
              <a:rPr lang="en-US" dirty="0"/>
              <a:t> command. For example, to make a file executable:</a:t>
            </a:r>
          </a:p>
          <a:p>
            <a:pPr algn="just"/>
            <a:r>
              <a:rPr lang="en-US" dirty="0" err="1">
                <a:solidFill>
                  <a:srgbClr val="FF0000"/>
                </a:solidFill>
              </a:rPr>
              <a:t>chmod</a:t>
            </a:r>
            <a:r>
              <a:rPr lang="en-US" dirty="0">
                <a:solidFill>
                  <a:srgbClr val="FF0000"/>
                </a:solidFill>
              </a:rPr>
              <a:t> +x filename.sh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106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Utilities: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 Hat Linux includes security-related tools such as </a:t>
            </a:r>
            <a:r>
              <a:rPr lang="en-US" dirty="0" err="1">
                <a:solidFill>
                  <a:srgbClr val="FF0000"/>
                </a:solidFill>
              </a:rPr>
              <a:t>selinux</a:t>
            </a:r>
            <a:r>
              <a:rPr lang="en-US" dirty="0">
                <a:solidFill>
                  <a:srgbClr val="FF0000"/>
                </a:solidFill>
              </a:rPr>
              <a:t>,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auditd</a:t>
            </a:r>
            <a:r>
              <a:rPr lang="en-US" dirty="0"/>
              <a:t>, and </a:t>
            </a:r>
            <a:r>
              <a:rPr lang="en-US" dirty="0" err="1">
                <a:solidFill>
                  <a:srgbClr val="FF0000"/>
                </a:solidFill>
              </a:rPr>
              <a:t>firewalld</a:t>
            </a:r>
            <a:r>
              <a:rPr lang="en-US" dirty="0"/>
              <a:t> to enhance system security.</a:t>
            </a:r>
          </a:p>
        </p:txBody>
      </p:sp>
    </p:spTree>
    <p:extLst>
      <p:ext uri="{BB962C8B-B14F-4D97-AF65-F5344CB8AC3E}">
        <p14:creationId xmlns:p14="http://schemas.microsoft.com/office/powerpoint/2010/main" val="16662384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Filesystems</a:t>
            </a:r>
            <a:r>
              <a:rPr lang="en-US" b="1" dirty="0"/>
              <a:t> in Linux: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Linux supports various </a:t>
            </a:r>
            <a:r>
              <a:rPr lang="en-US" dirty="0" err="1"/>
              <a:t>filesystems</a:t>
            </a:r>
            <a:r>
              <a:rPr lang="en-US" dirty="0"/>
              <a:t>, each with its own features and characteristics. Here are some commonly used Linux </a:t>
            </a:r>
            <a:r>
              <a:rPr lang="en-US" dirty="0" err="1"/>
              <a:t>filesystems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557969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92429"/>
            <a:ext cx="8596668" cy="5448934"/>
          </a:xfrm>
        </p:spPr>
        <p:txBody>
          <a:bodyPr/>
          <a:lstStyle/>
          <a:p>
            <a:pPr algn="just"/>
            <a:r>
              <a:rPr lang="en-US" b="1" dirty="0"/>
              <a:t>ext4:</a:t>
            </a:r>
            <a:r>
              <a:rPr lang="en-US" dirty="0"/>
              <a:t> The fourth extended </a:t>
            </a:r>
            <a:r>
              <a:rPr lang="en-US" dirty="0" err="1"/>
              <a:t>filesystem</a:t>
            </a:r>
            <a:r>
              <a:rPr lang="en-US" dirty="0"/>
              <a:t> is the default </a:t>
            </a:r>
            <a:r>
              <a:rPr lang="en-US" dirty="0" err="1"/>
              <a:t>filesystem</a:t>
            </a:r>
            <a:r>
              <a:rPr lang="en-US" dirty="0"/>
              <a:t> for many Linux distributions. </a:t>
            </a:r>
          </a:p>
          <a:p>
            <a:pPr algn="just"/>
            <a:r>
              <a:rPr lang="en-US" dirty="0"/>
              <a:t>It offers features like journaling, support for large files and partitions, and good performance.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XFS</a:t>
            </a:r>
            <a:r>
              <a:rPr lang="en-US" dirty="0"/>
              <a:t>(Extents File System)</a:t>
            </a:r>
            <a:r>
              <a:rPr lang="en-US" b="1" dirty="0"/>
              <a:t>:</a:t>
            </a:r>
            <a:r>
              <a:rPr lang="en-US" dirty="0"/>
              <a:t> Known for its scalability and high performance, XFS is often used in enterprise environments. </a:t>
            </a:r>
          </a:p>
          <a:p>
            <a:pPr algn="just"/>
            <a:r>
              <a:rPr lang="en-US" dirty="0"/>
              <a:t>It supports large </a:t>
            </a:r>
            <a:r>
              <a:rPr lang="en-US" dirty="0" err="1"/>
              <a:t>filesystems</a:t>
            </a:r>
            <a:r>
              <a:rPr lang="en-US" dirty="0"/>
              <a:t> and files and has advanced features like delayed allocation.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251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28035"/>
            <a:ext cx="8596668" cy="5513328"/>
          </a:xfrm>
        </p:spPr>
        <p:txBody>
          <a:bodyPr/>
          <a:lstStyle/>
          <a:p>
            <a:pPr algn="just"/>
            <a:r>
              <a:rPr lang="en-US" b="1" dirty="0" err="1"/>
              <a:t>Btrfs</a:t>
            </a:r>
            <a:r>
              <a:rPr lang="en-US" b="1" dirty="0"/>
              <a:t>:</a:t>
            </a:r>
            <a:r>
              <a:rPr lang="en-US" dirty="0"/>
              <a:t> The B-tree </a:t>
            </a:r>
            <a:r>
              <a:rPr lang="en-US" dirty="0" err="1"/>
              <a:t>filesystem</a:t>
            </a:r>
            <a:r>
              <a:rPr lang="en-US" dirty="0"/>
              <a:t> is a modern Linux </a:t>
            </a:r>
            <a:r>
              <a:rPr lang="en-US" dirty="0" err="1"/>
              <a:t>filesystem</a:t>
            </a:r>
            <a:r>
              <a:rPr lang="en-US" dirty="0"/>
              <a:t> that includes features such as snapshots, checksums, and support for RAID and SSD optimization.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ZFS(</a:t>
            </a:r>
            <a:r>
              <a:rPr lang="en-US" dirty="0" err="1"/>
              <a:t>Zettabyte</a:t>
            </a:r>
            <a:r>
              <a:rPr lang="en-US" dirty="0"/>
              <a:t> File System)</a:t>
            </a:r>
            <a:r>
              <a:rPr lang="en-US" b="1" dirty="0"/>
              <a:t>:</a:t>
            </a:r>
            <a:r>
              <a:rPr lang="en-US" dirty="0"/>
              <a:t> Although not native to Linux, ZFS can be used on Linux systems through third-party implementations. </a:t>
            </a:r>
          </a:p>
          <a:p>
            <a:pPr algn="just"/>
            <a:r>
              <a:rPr lang="en-US" dirty="0"/>
              <a:t>It offers advanced features like data </a:t>
            </a:r>
            <a:r>
              <a:rPr lang="en-US" dirty="0" err="1"/>
              <a:t>deduplication</a:t>
            </a:r>
            <a:r>
              <a:rPr lang="en-US" dirty="0"/>
              <a:t>, compression, and snapshots.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FAT32(</a:t>
            </a:r>
            <a:r>
              <a:rPr lang="en-US" dirty="0"/>
              <a:t>File Allocation Table)</a:t>
            </a:r>
            <a:r>
              <a:rPr lang="en-US" b="1" dirty="0"/>
              <a:t> and NTFS(</a:t>
            </a:r>
            <a:r>
              <a:rPr lang="en-US" dirty="0"/>
              <a:t>New Technology File System)</a:t>
            </a:r>
            <a:r>
              <a:rPr lang="en-US" b="1" dirty="0"/>
              <a:t>:</a:t>
            </a:r>
            <a:r>
              <a:rPr lang="en-US" dirty="0"/>
              <a:t> These </a:t>
            </a:r>
            <a:r>
              <a:rPr lang="en-US" dirty="0" err="1"/>
              <a:t>filesystems</a:t>
            </a:r>
            <a:r>
              <a:rPr lang="en-US" dirty="0"/>
              <a:t> are used for compatibility with Windows systems and external storage devices.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145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47731"/>
            <a:ext cx="8596668" cy="5693632"/>
          </a:xfrm>
        </p:spPr>
        <p:txBody>
          <a:bodyPr/>
          <a:lstStyle/>
          <a:p>
            <a:pPr algn="just"/>
            <a:r>
              <a:rPr lang="en-US" b="1" dirty="0" err="1"/>
              <a:t>tmpfs</a:t>
            </a:r>
            <a:r>
              <a:rPr lang="en-US" b="1" dirty="0"/>
              <a:t>:</a:t>
            </a:r>
            <a:r>
              <a:rPr lang="en-US" dirty="0"/>
              <a:t> A temporary </a:t>
            </a:r>
            <a:r>
              <a:rPr lang="en-US" dirty="0" err="1"/>
              <a:t>filesystem</a:t>
            </a:r>
            <a:r>
              <a:rPr lang="en-US" dirty="0"/>
              <a:t> stored in RAM, often used for temporary files and directories.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iso9660:</a:t>
            </a:r>
            <a:r>
              <a:rPr lang="en-US" dirty="0"/>
              <a:t> A </a:t>
            </a:r>
            <a:r>
              <a:rPr lang="en-US" dirty="0" err="1"/>
              <a:t>filesystem</a:t>
            </a:r>
            <a:r>
              <a:rPr lang="en-US" dirty="0"/>
              <a:t> used for optical discs like CDs and DVDs.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Choosing the right </a:t>
            </a:r>
            <a:r>
              <a:rPr lang="en-US" dirty="0" err="1"/>
              <a:t>filesystem</a:t>
            </a:r>
            <a:r>
              <a:rPr lang="en-US" dirty="0"/>
              <a:t> depends on factors such as the use case, performance requirements, and compatibility with other systems.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Linux provides the flexibility to work with multiple </a:t>
            </a:r>
            <a:r>
              <a:rPr lang="en-US" dirty="0" err="1"/>
              <a:t>filesystems</a:t>
            </a:r>
            <a:r>
              <a:rPr lang="en-US" dirty="0"/>
              <a:t>, and each </a:t>
            </a:r>
            <a:r>
              <a:rPr lang="en-US" dirty="0" err="1"/>
              <a:t>filesystem</a:t>
            </a:r>
            <a:r>
              <a:rPr lang="en-US" dirty="0"/>
              <a:t> has its strengths and weaknesses.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Understanding these utilities and </a:t>
            </a:r>
            <a:r>
              <a:rPr lang="en-US" dirty="0" err="1"/>
              <a:t>filesystems</a:t>
            </a:r>
            <a:r>
              <a:rPr lang="en-US" dirty="0"/>
              <a:t> is essential for effective Linux system administration, troubleshooting, and data management.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3872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61436" y="2979313"/>
            <a:ext cx="8596668" cy="1320800"/>
          </a:xfrm>
        </p:spPr>
        <p:txBody>
          <a:bodyPr/>
          <a:lstStyle/>
          <a:p>
            <a:r>
              <a:rPr lang="en-US" dirty="0"/>
              <a:t>Anatomy of file system</a:t>
            </a:r>
          </a:p>
        </p:txBody>
      </p:sp>
    </p:spTree>
    <p:extLst>
      <p:ext uri="{BB962C8B-B14F-4D97-AF65-F5344CB8AC3E}">
        <p14:creationId xmlns:p14="http://schemas.microsoft.com/office/powerpoint/2010/main" val="3002706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599"/>
            <a:ext cx="8596668" cy="388512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The anatomy of a file system in Red Hat Linux involves understanding its structure, components, and how data is organized and managed. </a:t>
            </a:r>
            <a:br>
              <a:rPr lang="en-US" dirty="0"/>
            </a:br>
            <a:r>
              <a:rPr lang="en-US" dirty="0"/>
              <a:t>Below, I'll describe the key aspects of a typical file system in Red Hat Linux:</a:t>
            </a:r>
          </a:p>
        </p:txBody>
      </p:sp>
    </p:spTree>
    <p:extLst>
      <p:ext uri="{BB962C8B-B14F-4D97-AF65-F5344CB8AC3E}">
        <p14:creationId xmlns:p14="http://schemas.microsoft.com/office/powerpoint/2010/main" val="9568880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56823"/>
            <a:ext cx="8596668" cy="5384539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Root Directory ("/"): The root directory is the top-level directory in the file system hierarchy. </a:t>
            </a:r>
          </a:p>
          <a:p>
            <a:pPr algn="just"/>
            <a:r>
              <a:rPr lang="en-US" dirty="0"/>
              <a:t>It serves as the starting point for all other directories and files. In Linux, the root directory is represented by a single forward slash ("/").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Directories ("Folders"): Directories are containers that hold files and other directories. </a:t>
            </a:r>
          </a:p>
          <a:p>
            <a:pPr algn="just"/>
            <a:r>
              <a:rPr lang="en-US" dirty="0"/>
              <a:t>They can be nested within each other to create a hierarchical structure. For example, the /home directory may contain user-specific directories like /home/user1 and /home/user2.</a:t>
            </a:r>
          </a:p>
        </p:txBody>
      </p:sp>
    </p:spTree>
    <p:extLst>
      <p:ext uri="{BB962C8B-B14F-4D97-AF65-F5344CB8AC3E}">
        <p14:creationId xmlns:p14="http://schemas.microsoft.com/office/powerpoint/2010/main" val="4282329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idx="1"/>
          </p:nvPr>
        </p:nvSpPr>
        <p:spPr>
          <a:xfrm>
            <a:off x="677334" y="618186"/>
            <a:ext cx="8596668" cy="5410297"/>
          </a:xfrm>
        </p:spPr>
        <p:txBody>
          <a:bodyPr/>
          <a:lstStyle/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b="1" dirty="0"/>
              <a:t>Files:</a:t>
            </a:r>
            <a:r>
              <a:rPr lang="en-US" dirty="0"/>
              <a:t> Files are data containers that can hold text, programs, documents, or any other type of information. </a:t>
            </a:r>
          </a:p>
          <a:p>
            <a:pPr algn="just"/>
            <a:r>
              <a:rPr lang="en-US" dirty="0"/>
              <a:t>They are organized within directories. In Linux, files do not rely on file extensions to determine their type, unlike some other operating systems.</a:t>
            </a:r>
          </a:p>
          <a:p>
            <a:pPr algn="just"/>
            <a:endParaRPr lang="en-US" dirty="0"/>
          </a:p>
          <a:p>
            <a:pPr algn="just"/>
            <a:r>
              <a:rPr lang="en-US" b="1" dirty="0" err="1"/>
              <a:t>Inodes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Inodes</a:t>
            </a:r>
            <a:r>
              <a:rPr lang="en-US" dirty="0"/>
              <a:t> are data structures that store metadata about files and directories. </a:t>
            </a:r>
          </a:p>
          <a:p>
            <a:pPr algn="just"/>
            <a:r>
              <a:rPr lang="en-US" dirty="0"/>
              <a:t>This metadata includes information such as file size, permissions, timestamps (creation, modification, access), and pointers to data blocks. </a:t>
            </a:r>
          </a:p>
          <a:p>
            <a:pPr algn="just"/>
            <a:r>
              <a:rPr lang="en-US" dirty="0" err="1"/>
              <a:t>Inodes</a:t>
            </a:r>
            <a:r>
              <a:rPr lang="en-US" dirty="0"/>
              <a:t> are a crucial part of the file system's structure.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0335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89397"/>
            <a:ext cx="8596668" cy="5551965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Data Blocks: Data blocks are storage units that hold the actual file content. When a file is too large to fit into a single data block, it is divided into multiple blocks. The </a:t>
            </a:r>
            <a:r>
              <a:rPr lang="en-US" dirty="0" err="1"/>
              <a:t>inode</a:t>
            </a:r>
            <a:r>
              <a:rPr lang="en-US" dirty="0"/>
              <a:t> stores pointers to these data blocks.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Mount Points: Mount points are directories where other file systems can be attached or "mounted." </a:t>
            </a:r>
          </a:p>
          <a:p>
            <a:pPr algn="just"/>
            <a:r>
              <a:rPr lang="en-US" dirty="0"/>
              <a:t>For example, the root file system is typically mounted at /, while additional storage devices or network shares can be mounted at other directories, allowing them to be accessed as part of the overall file system.</a:t>
            </a:r>
          </a:p>
        </p:txBody>
      </p:sp>
    </p:spTree>
    <p:extLst>
      <p:ext uri="{BB962C8B-B14F-4D97-AF65-F5344CB8AC3E}">
        <p14:creationId xmlns:p14="http://schemas.microsoft.com/office/powerpoint/2010/main" val="35870774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450761"/>
            <a:ext cx="8596668" cy="5590601"/>
          </a:xfrm>
        </p:spPr>
        <p:txBody>
          <a:bodyPr/>
          <a:lstStyle/>
          <a:p>
            <a:pPr algn="just"/>
            <a:endParaRPr lang="en-US" b="1" dirty="0"/>
          </a:p>
          <a:p>
            <a:pPr algn="just"/>
            <a:endParaRPr lang="en-US" b="1" dirty="0"/>
          </a:p>
          <a:p>
            <a:pPr algn="just"/>
            <a:r>
              <a:rPr lang="en-US" b="1" dirty="0" err="1"/>
              <a:t>Filesystem</a:t>
            </a:r>
            <a:r>
              <a:rPr lang="en-US" b="1" dirty="0"/>
              <a:t> Types:</a:t>
            </a:r>
            <a:r>
              <a:rPr lang="en-US" dirty="0"/>
              <a:t> Red Hat Linux supports various </a:t>
            </a:r>
            <a:r>
              <a:rPr lang="en-US" dirty="0" err="1"/>
              <a:t>filesystem</a:t>
            </a:r>
            <a:r>
              <a:rPr lang="en-US" dirty="0"/>
              <a:t> types, including ext4 (the default), XFS, </a:t>
            </a:r>
            <a:r>
              <a:rPr lang="en-US" dirty="0" err="1"/>
              <a:t>Btrfs</a:t>
            </a:r>
            <a:r>
              <a:rPr lang="en-US" dirty="0"/>
              <a:t>, and more. </a:t>
            </a:r>
          </a:p>
          <a:p>
            <a:pPr algn="just"/>
            <a:r>
              <a:rPr lang="en-US" dirty="0"/>
              <a:t>Each </a:t>
            </a:r>
            <a:r>
              <a:rPr lang="en-US" dirty="0" err="1"/>
              <a:t>filesystem</a:t>
            </a:r>
            <a:r>
              <a:rPr lang="en-US" dirty="0"/>
              <a:t> type has its own features and characteristics, such as journaling, scalability, and performance optimization.</a:t>
            </a:r>
          </a:p>
          <a:p>
            <a:pPr algn="just"/>
            <a:endParaRPr lang="en-US" dirty="0"/>
          </a:p>
          <a:p>
            <a:pPr algn="just"/>
            <a:r>
              <a:rPr lang="en-US" b="1" dirty="0"/>
              <a:t>File Permissions:</a:t>
            </a:r>
            <a:r>
              <a:rPr lang="en-US" dirty="0"/>
              <a:t> File permissions determine who can read, write, and execute files and directories. </a:t>
            </a:r>
          </a:p>
          <a:p>
            <a:pPr algn="just"/>
            <a:r>
              <a:rPr lang="en-US" dirty="0"/>
              <a:t>These permissions are assigned to owners, groups, and others, and they help control access to files and maintain security.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176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02277"/>
            <a:ext cx="8596668" cy="5539086"/>
          </a:xfrm>
        </p:spPr>
        <p:txBody>
          <a:bodyPr/>
          <a:lstStyle/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r>
              <a:rPr lang="en-US" dirty="0"/>
              <a:t>Symbolic Links: Symbolic links (</a:t>
            </a:r>
            <a:r>
              <a:rPr lang="en-US" dirty="0" err="1"/>
              <a:t>symlinks</a:t>
            </a:r>
            <a:r>
              <a:rPr lang="en-US" dirty="0"/>
              <a:t>) are special files that act as references to other files or directories. </a:t>
            </a:r>
          </a:p>
          <a:p>
            <a:pPr algn="just"/>
            <a:r>
              <a:rPr lang="en-US" dirty="0"/>
              <a:t>They can be used to create shortcuts or aliases to resources.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Filesystem</a:t>
            </a:r>
            <a:r>
              <a:rPr lang="en-US" dirty="0"/>
              <a:t> Structure: The overall structure of a Red Hat Linux </a:t>
            </a:r>
            <a:r>
              <a:rPr lang="en-US" dirty="0" err="1"/>
              <a:t>filesystem</a:t>
            </a:r>
            <a:r>
              <a:rPr lang="en-US" dirty="0"/>
              <a:t> follows a standard layout, including directories like /bin, /</a:t>
            </a:r>
            <a:r>
              <a:rPr lang="en-US" dirty="0" err="1"/>
              <a:t>sbin</a:t>
            </a:r>
            <a:r>
              <a:rPr lang="en-US" dirty="0"/>
              <a:t>, /</a:t>
            </a:r>
            <a:r>
              <a:rPr lang="en-US" dirty="0" err="1"/>
              <a:t>etc</a:t>
            </a:r>
            <a:r>
              <a:rPr lang="en-US" dirty="0"/>
              <a:t>, /home, /</a:t>
            </a:r>
            <a:r>
              <a:rPr lang="en-US" dirty="0" err="1"/>
              <a:t>var</a:t>
            </a:r>
            <a:r>
              <a:rPr lang="en-US" dirty="0"/>
              <a:t>, and more. </a:t>
            </a:r>
          </a:p>
          <a:p>
            <a:pPr algn="just"/>
            <a:r>
              <a:rPr lang="en-US" dirty="0"/>
              <a:t>These directories contain system binaries, configuration files, user home directories, and variable data.</a:t>
            </a:r>
          </a:p>
        </p:txBody>
      </p:sp>
    </p:spTree>
    <p:extLst>
      <p:ext uri="{BB962C8B-B14F-4D97-AF65-F5344CB8AC3E}">
        <p14:creationId xmlns:p14="http://schemas.microsoft.com/office/powerpoint/2010/main" val="37003769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566671"/>
            <a:ext cx="8596668" cy="5474692"/>
          </a:xfrm>
        </p:spPr>
        <p:txBody>
          <a:bodyPr/>
          <a:lstStyle/>
          <a:p>
            <a:pPr algn="just"/>
            <a:r>
              <a:rPr lang="en-US" dirty="0"/>
              <a:t>Mount Points File (/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): The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fstab</a:t>
            </a:r>
            <a:r>
              <a:rPr lang="en-US" dirty="0"/>
              <a:t> file contains configuration information about </a:t>
            </a:r>
            <a:r>
              <a:rPr lang="en-US" dirty="0" err="1"/>
              <a:t>filesystems</a:t>
            </a:r>
            <a:r>
              <a:rPr lang="en-US" dirty="0"/>
              <a:t> that should be mounted at boot time. </a:t>
            </a:r>
          </a:p>
          <a:p>
            <a:pPr algn="just"/>
            <a:r>
              <a:rPr lang="en-US" dirty="0"/>
              <a:t>It specifies device names, mount points, </a:t>
            </a:r>
            <a:r>
              <a:rPr lang="en-US" dirty="0" err="1"/>
              <a:t>filesystem</a:t>
            </a:r>
            <a:r>
              <a:rPr lang="en-US" dirty="0"/>
              <a:t> types, and mount options.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Swap Space: Swap space is a dedicated area on the storage device used as virtual memory when the physical RAM is exhausted. </a:t>
            </a:r>
          </a:p>
          <a:p>
            <a:pPr algn="just"/>
            <a:r>
              <a:rPr lang="en-US" dirty="0"/>
              <a:t>It plays a vital role in system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534172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596721"/>
            <a:ext cx="8596668" cy="1320800"/>
          </a:xfrm>
        </p:spPr>
        <p:txBody>
          <a:bodyPr/>
          <a:lstStyle/>
          <a:p>
            <a:pPr algn="just"/>
            <a:r>
              <a:rPr lang="en-US" dirty="0"/>
              <a:t>PIPE (|)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47710"/>
            <a:ext cx="8596668" cy="3880773"/>
          </a:xfrm>
        </p:spPr>
        <p:txBody>
          <a:bodyPr/>
          <a:lstStyle/>
          <a:p>
            <a:pPr algn="just"/>
            <a:r>
              <a:rPr lang="en-US" dirty="0"/>
              <a:t>In Red Hat Linux, and in Linux distributions in general, the pipe (|) is a powerful feature that allows you to combine and manipulate the output of one command as input to another command. </a:t>
            </a:r>
          </a:p>
          <a:p>
            <a:pPr algn="just"/>
            <a:r>
              <a:rPr lang="en-US" dirty="0"/>
              <a:t>It enables you to create complex and efficient data processing pipelines. Here's how you can use the pipe in Red Hat Linux:</a:t>
            </a:r>
          </a:p>
        </p:txBody>
      </p:sp>
    </p:spTree>
    <p:extLst>
      <p:ext uri="{BB962C8B-B14F-4D97-AF65-F5344CB8AC3E}">
        <p14:creationId xmlns:p14="http://schemas.microsoft.com/office/powerpoint/2010/main" val="10831334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Syntax: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The pipe symbol (|) is used to connect the output of one command to the input of another command. The basic syntax is as follows:</a:t>
            </a:r>
          </a:p>
          <a:p>
            <a:pPr algn="just"/>
            <a:r>
              <a:rPr lang="en-US" dirty="0">
                <a:solidFill>
                  <a:srgbClr val="FF0000"/>
                </a:solidFill>
              </a:rPr>
              <a:t>command1 | command2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623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Output: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n-US" dirty="0"/>
          </a:p>
          <a:p>
            <a:pPr algn="just"/>
            <a:r>
              <a:rPr lang="en-US" dirty="0"/>
              <a:t>You can use the </a:t>
            </a:r>
            <a:r>
              <a:rPr lang="en-US" dirty="0" err="1"/>
              <a:t>grep</a:t>
            </a:r>
            <a:r>
              <a:rPr lang="en-US" dirty="0"/>
              <a:t> command to filter lines containing a specific pattern from the output of another command. For instance, to search for the word "error" in a log file:</a:t>
            </a:r>
          </a:p>
          <a:p>
            <a:pPr algn="just"/>
            <a:endParaRPr lang="en-US" dirty="0"/>
          </a:p>
          <a:p>
            <a:pPr algn="just"/>
            <a:r>
              <a:rPr lang="en-US" dirty="0">
                <a:solidFill>
                  <a:srgbClr val="FF0000"/>
                </a:solidFill>
              </a:rPr>
              <a:t>cat logfile.txt | </a:t>
            </a:r>
            <a:r>
              <a:rPr lang="en-US" dirty="0" err="1">
                <a:solidFill>
                  <a:srgbClr val="FF0000"/>
                </a:solidFill>
              </a:rPr>
              <a:t>grep</a:t>
            </a:r>
            <a:r>
              <a:rPr lang="en-US" dirty="0">
                <a:solidFill>
                  <a:srgbClr val="FF0000"/>
                </a:solidFill>
              </a:rPr>
              <a:t> "error"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46143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156" y="2425521"/>
            <a:ext cx="8596668" cy="1320800"/>
          </a:xfrm>
        </p:spPr>
        <p:txBody>
          <a:bodyPr/>
          <a:lstStyle/>
          <a:p>
            <a:r>
              <a:rPr lang="en-US" dirty="0"/>
              <a:t>Obtaining User and System Information</a:t>
            </a:r>
          </a:p>
        </p:txBody>
      </p:sp>
    </p:spTree>
    <p:extLst>
      <p:ext uri="{BB962C8B-B14F-4D97-AF65-F5344CB8AC3E}">
        <p14:creationId xmlns:p14="http://schemas.microsoft.com/office/powerpoint/2010/main" val="26126726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Red Hat Linux, you can obtain user and system information using various commands and tools. Here are some common commands and methods to retrieve user and system information</a:t>
            </a:r>
          </a:p>
        </p:txBody>
      </p:sp>
    </p:spTree>
    <p:extLst>
      <p:ext uri="{BB962C8B-B14F-4D97-AF65-F5344CB8AC3E}">
        <p14:creationId xmlns:p14="http://schemas.microsoft.com/office/powerpoint/2010/main" val="15814423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 Information: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0000"/>
                </a:solidFill>
              </a:rPr>
              <a:t>whoami</a:t>
            </a:r>
            <a:r>
              <a:rPr lang="en-US" dirty="0"/>
              <a:t>: This command displays the username of the currently logged-in user.</a:t>
            </a:r>
          </a:p>
        </p:txBody>
      </p:sp>
    </p:spTree>
    <p:extLst>
      <p:ext uri="{BB962C8B-B14F-4D97-AF65-F5344CB8AC3E}">
        <p14:creationId xmlns:p14="http://schemas.microsoft.com/office/powerpoint/2010/main" val="37859043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399245"/>
            <a:ext cx="8596668" cy="5642117"/>
          </a:xfrm>
        </p:spPr>
        <p:txBody>
          <a:bodyPr/>
          <a:lstStyle/>
          <a:p>
            <a:pPr algn="just"/>
            <a:r>
              <a:rPr lang="en-US" dirty="0"/>
              <a:t>id: The id command provides information about the current user, including user ID (UID), group ID (GID), and group memberships.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finger: The finger command can be used to display detailed user information, including username, full name, login shell, and more.</a:t>
            </a:r>
          </a:p>
          <a:p>
            <a:pPr algn="just"/>
            <a:endParaRPr lang="en-US" dirty="0"/>
          </a:p>
          <a:p>
            <a:pPr algn="just"/>
            <a:r>
              <a:rPr lang="en-US" dirty="0" err="1"/>
              <a:t>getent</a:t>
            </a:r>
            <a:r>
              <a:rPr lang="en-US" dirty="0"/>
              <a:t> </a:t>
            </a:r>
            <a:r>
              <a:rPr lang="en-US" dirty="0" err="1"/>
              <a:t>passwd</a:t>
            </a:r>
            <a:r>
              <a:rPr lang="en-US" dirty="0"/>
              <a:t>: This command displays a list of all user accounts on the system, including their usernames, user IDs (UIDs), group IDs (GIDs), home directories, and login shells.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hostname: The hostname command displays the system's hostname.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cat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os</a:t>
            </a:r>
            <a:r>
              <a:rPr lang="en-US" dirty="0"/>
              <a:t>-release: This command displays information about the Linux distribution, including its name, version, and ID.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6749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System Information: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uname</a:t>
            </a:r>
            <a:r>
              <a:rPr lang="en-US" dirty="0"/>
              <a:t>: The </a:t>
            </a:r>
            <a:r>
              <a:rPr lang="en-US" dirty="0" err="1"/>
              <a:t>uname</a:t>
            </a:r>
            <a:r>
              <a:rPr lang="en-US" dirty="0"/>
              <a:t> command provides system information, such as the kernel name, node name, kernel release, kernel version, machine architecture, and more.</a:t>
            </a:r>
          </a:p>
          <a:p>
            <a:r>
              <a:rPr lang="en-US" dirty="0" err="1">
                <a:solidFill>
                  <a:srgbClr val="FF0000"/>
                </a:solidFill>
              </a:rPr>
              <a:t>uname</a:t>
            </a:r>
            <a:r>
              <a:rPr lang="en-US" dirty="0">
                <a:solidFill>
                  <a:srgbClr val="FF0000"/>
                </a:solidFill>
              </a:rPr>
              <a:t> –a</a:t>
            </a:r>
          </a:p>
          <a:p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85565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656823"/>
            <a:ext cx="8596668" cy="5384539"/>
          </a:xfrm>
        </p:spPr>
        <p:txBody>
          <a:bodyPr/>
          <a:lstStyle/>
          <a:p>
            <a:pPr algn="just"/>
            <a:r>
              <a:rPr lang="en-US" dirty="0" err="1"/>
              <a:t>lsb_release</a:t>
            </a:r>
            <a:r>
              <a:rPr lang="en-US" dirty="0"/>
              <a:t>: The </a:t>
            </a:r>
            <a:r>
              <a:rPr lang="en-US" dirty="0" err="1"/>
              <a:t>lsb_release</a:t>
            </a:r>
            <a:r>
              <a:rPr lang="en-US" dirty="0"/>
              <a:t> command displays LSB (Linux Standard Base) information, including distribution description, release number, and codename.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uptime: The uptime command shows the system's current uptime and load average, which indicates how busy the system is.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cat /</a:t>
            </a:r>
            <a:r>
              <a:rPr lang="en-US" dirty="0" err="1"/>
              <a:t>proc</a:t>
            </a:r>
            <a:r>
              <a:rPr lang="en-US" dirty="0"/>
              <a:t>/</a:t>
            </a:r>
            <a:r>
              <a:rPr lang="en-US" dirty="0" err="1"/>
              <a:t>cpuinfo</a:t>
            </a:r>
            <a:r>
              <a:rPr lang="en-US" dirty="0"/>
              <a:t>: This command displays detailed information about the system's CPU(s), including model, vendor, and features.</a:t>
            </a:r>
          </a:p>
          <a:p>
            <a:pPr algn="just"/>
            <a:endParaRPr lang="en-US" dirty="0"/>
          </a:p>
          <a:p>
            <a:pPr algn="just"/>
            <a:r>
              <a:rPr lang="en-US" dirty="0"/>
              <a:t>free: The free command provides information about the system's memory usage, including total, used, and free memory.</a:t>
            </a:r>
          </a:p>
        </p:txBody>
      </p:sp>
    </p:spTree>
    <p:extLst>
      <p:ext uri="{BB962C8B-B14F-4D97-AF65-F5344CB8AC3E}">
        <p14:creationId xmlns:p14="http://schemas.microsoft.com/office/powerpoint/2010/main" val="439356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396" y="2786130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latin typeface="Blackadder ITC" panose="04020505051007020D02" pitchFamily="82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4255141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383</TotalTime>
  <Words>1832</Words>
  <Application>Microsoft Office PowerPoint</Application>
  <PresentationFormat>Widescreen</PresentationFormat>
  <Paragraphs>151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Arial Unicode MS</vt:lpstr>
      <vt:lpstr>Blackadder ITC</vt:lpstr>
      <vt:lpstr>Trebuchet MS</vt:lpstr>
      <vt:lpstr>Wingdings 3</vt:lpstr>
      <vt:lpstr>Facet</vt:lpstr>
      <vt:lpstr>Utilities and Filesystem</vt:lpstr>
      <vt:lpstr>Utilities in Linux:</vt:lpstr>
      <vt:lpstr>File Management Utilities:</vt:lpstr>
      <vt:lpstr>Disk Management Utilities:</vt:lpstr>
      <vt:lpstr>System Monitoring Utilities:</vt:lpstr>
      <vt:lpstr>Process Management Utilities:</vt:lpstr>
      <vt:lpstr>Network Utilities:</vt:lpstr>
      <vt:lpstr>ifconfig</vt:lpstr>
      <vt:lpstr>Text Processing Utilities:</vt:lpstr>
      <vt:lpstr>Package Management Utilities:</vt:lpstr>
      <vt:lpstr>User and Permissions Utilities:</vt:lpstr>
      <vt:lpstr>Security Utilities:</vt:lpstr>
      <vt:lpstr>Filesystems in Linux:</vt:lpstr>
      <vt:lpstr>PowerPoint Presentation</vt:lpstr>
      <vt:lpstr>PowerPoint Presentation</vt:lpstr>
      <vt:lpstr>PowerPoint Presentation</vt:lpstr>
      <vt:lpstr>Anatomy of file system</vt:lpstr>
      <vt:lpstr>The anatomy of a file system in Red Hat Linux involves understanding its structure, components, and how data is organized and managed.  Below, I'll describe the key aspects of a typical file system in Red Hat Linux: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PIPE (|)</vt:lpstr>
      <vt:lpstr>Basic Syntax: </vt:lpstr>
      <vt:lpstr>Filtering Output: </vt:lpstr>
      <vt:lpstr>Obtaining User and System Information</vt:lpstr>
      <vt:lpstr>PowerPoint Presentation</vt:lpstr>
      <vt:lpstr>User Information:</vt:lpstr>
      <vt:lpstr>PowerPoint Presentation</vt:lpstr>
      <vt:lpstr>System Information: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Utilities and Filesystem</dc:title>
  <dc:creator>AABID</dc:creator>
  <cp:lastModifiedBy>Sheikh Umar Mushtaq</cp:lastModifiedBy>
  <cp:revision>18</cp:revision>
  <dcterms:created xsi:type="dcterms:W3CDTF">2023-08-28T14:47:18Z</dcterms:created>
  <dcterms:modified xsi:type="dcterms:W3CDTF">2025-09-29T10:34:34Z</dcterms:modified>
</cp:coreProperties>
</file>