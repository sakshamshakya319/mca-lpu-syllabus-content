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4665" y="1361854"/>
            <a:ext cx="6806883" cy="981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2961" y="2529329"/>
            <a:ext cx="8552477" cy="3425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4665" y="1503668"/>
            <a:ext cx="230568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Unit-</a:t>
            </a:r>
            <a:r>
              <a:rPr dirty="0"/>
              <a:t>3 </a:t>
            </a:r>
            <a:r>
              <a:rPr dirty="0" spc="-10"/>
              <a:t>Design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44665" y="1956328"/>
            <a:ext cx="4501515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>
                <a:latin typeface="Calibri"/>
                <a:cs typeface="Calibri"/>
              </a:rPr>
              <a:t>3.3</a:t>
            </a:r>
            <a:r>
              <a:rPr dirty="0" sz="3300" spc="-114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Coupling</a:t>
            </a:r>
            <a:r>
              <a:rPr dirty="0" sz="3300" spc="-12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and</a:t>
            </a:r>
            <a:r>
              <a:rPr dirty="0" sz="3300" spc="-100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Cohesion</a:t>
            </a:r>
            <a:endParaRPr sz="33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9124" y="2990528"/>
            <a:ext cx="3104387" cy="227785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933" y="2906268"/>
            <a:ext cx="4644526" cy="23261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912" y="1558630"/>
            <a:ext cx="4909820" cy="5797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600" spc="-90" b="1">
                <a:latin typeface="Calibri"/>
                <a:cs typeface="Calibri"/>
              </a:rPr>
              <a:t>COHESION</a:t>
            </a:r>
            <a:r>
              <a:rPr dirty="0" sz="3600" spc="-75" b="1">
                <a:latin typeface="Calibri"/>
                <a:cs typeface="Calibri"/>
              </a:rPr>
              <a:t> </a:t>
            </a:r>
            <a:r>
              <a:rPr dirty="0" sz="3600" spc="-125" b="1">
                <a:latin typeface="Calibri"/>
                <a:cs typeface="Calibri"/>
              </a:rPr>
              <a:t>AND</a:t>
            </a:r>
            <a:r>
              <a:rPr dirty="0" sz="3600" spc="-70" b="1">
                <a:latin typeface="Calibri"/>
                <a:cs typeface="Calibri"/>
              </a:rPr>
              <a:t> </a:t>
            </a:r>
            <a:r>
              <a:rPr dirty="0" sz="3600" spc="-45" b="1">
                <a:latin typeface="Calibri"/>
                <a:cs typeface="Calibri"/>
              </a:rPr>
              <a:t>COUPLING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1275" rIns="0" bIns="0" rtlCol="0" vert="horz">
            <a:spAutoFit/>
          </a:bodyPr>
          <a:lstStyle/>
          <a:p>
            <a:pPr marL="13335" marR="6985">
              <a:lnSpc>
                <a:spcPts val="1789"/>
              </a:lnSpc>
              <a:spcBef>
                <a:spcPts val="325"/>
              </a:spcBef>
            </a:pPr>
            <a:r>
              <a:rPr dirty="0" b="1">
                <a:latin typeface="Calibri"/>
                <a:cs typeface="Calibri"/>
              </a:rPr>
              <a:t>Cohesion</a:t>
            </a:r>
            <a:r>
              <a:rPr dirty="0" spc="85" b="1">
                <a:latin typeface="Calibri"/>
                <a:cs typeface="Calibri"/>
              </a:rPr>
              <a:t> </a:t>
            </a:r>
            <a:r>
              <a:rPr dirty="0"/>
              <a:t>is</a:t>
            </a:r>
            <a:r>
              <a:rPr dirty="0" spc="85"/>
              <a:t> </a:t>
            </a:r>
            <a:r>
              <a:rPr dirty="0"/>
              <a:t>a</a:t>
            </a:r>
            <a:r>
              <a:rPr dirty="0" spc="70"/>
              <a:t> </a:t>
            </a:r>
            <a:r>
              <a:rPr dirty="0"/>
              <a:t>measure</a:t>
            </a:r>
            <a:r>
              <a:rPr dirty="0" spc="80"/>
              <a:t> </a:t>
            </a:r>
            <a:r>
              <a:rPr dirty="0"/>
              <a:t>of</a:t>
            </a:r>
            <a:r>
              <a:rPr dirty="0" spc="80"/>
              <a:t> </a:t>
            </a:r>
            <a:r>
              <a:rPr dirty="0"/>
              <a:t>the</a:t>
            </a:r>
            <a:r>
              <a:rPr dirty="0" spc="75"/>
              <a:t> </a:t>
            </a:r>
            <a:r>
              <a:rPr dirty="0"/>
              <a:t>functional</a:t>
            </a:r>
            <a:r>
              <a:rPr dirty="0" spc="75"/>
              <a:t> </a:t>
            </a:r>
            <a:r>
              <a:rPr dirty="0"/>
              <a:t>strength</a:t>
            </a:r>
            <a:r>
              <a:rPr dirty="0" spc="7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a</a:t>
            </a:r>
            <a:r>
              <a:rPr dirty="0" spc="90"/>
              <a:t> </a:t>
            </a:r>
            <a:r>
              <a:rPr dirty="0"/>
              <a:t>module,</a:t>
            </a:r>
            <a:r>
              <a:rPr dirty="0" spc="75"/>
              <a:t> </a:t>
            </a:r>
            <a:r>
              <a:rPr dirty="0"/>
              <a:t>whereas</a:t>
            </a:r>
            <a:r>
              <a:rPr dirty="0" spc="85"/>
              <a:t> </a:t>
            </a:r>
            <a:r>
              <a:rPr dirty="0"/>
              <a:t>the</a:t>
            </a:r>
            <a:r>
              <a:rPr dirty="0" spc="90"/>
              <a:t> </a:t>
            </a:r>
            <a:r>
              <a:rPr dirty="0"/>
              <a:t>coupling</a:t>
            </a:r>
            <a:r>
              <a:rPr dirty="0" spc="70"/>
              <a:t> </a:t>
            </a:r>
            <a:r>
              <a:rPr dirty="0"/>
              <a:t>between</a:t>
            </a:r>
            <a:r>
              <a:rPr dirty="0" spc="65"/>
              <a:t> </a:t>
            </a:r>
            <a:r>
              <a:rPr dirty="0" spc="-25"/>
              <a:t>two </a:t>
            </a:r>
            <a:r>
              <a:rPr dirty="0"/>
              <a:t>modules</a:t>
            </a:r>
            <a:r>
              <a:rPr dirty="0" spc="-55"/>
              <a:t> </a:t>
            </a:r>
            <a:r>
              <a:rPr dirty="0"/>
              <a:t>is</a:t>
            </a:r>
            <a:r>
              <a:rPr dirty="0" spc="-5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/>
              <a:t>measure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/>
              <a:t>degree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 spc="-10"/>
              <a:t>interaction</a:t>
            </a:r>
            <a:r>
              <a:rPr dirty="0" spc="-30"/>
              <a:t> </a:t>
            </a:r>
            <a:r>
              <a:rPr dirty="0"/>
              <a:t>(or</a:t>
            </a:r>
            <a:r>
              <a:rPr dirty="0" spc="-20"/>
              <a:t> </a:t>
            </a:r>
            <a:r>
              <a:rPr dirty="0" spc="-10"/>
              <a:t>interdependence)</a:t>
            </a:r>
            <a:r>
              <a:rPr dirty="0" spc="-25"/>
              <a:t> </a:t>
            </a:r>
            <a:r>
              <a:rPr dirty="0"/>
              <a:t>between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/>
              <a:t>two</a:t>
            </a:r>
            <a:r>
              <a:rPr dirty="0" spc="-35"/>
              <a:t> </a:t>
            </a:r>
            <a:r>
              <a:rPr dirty="0" spc="-10"/>
              <a:t>modules.</a:t>
            </a:r>
          </a:p>
          <a:p>
            <a:pPr marL="13335">
              <a:lnSpc>
                <a:spcPct val="100000"/>
              </a:lnSpc>
              <a:spcBef>
                <a:spcPts val="590"/>
              </a:spcBef>
            </a:pPr>
            <a:r>
              <a:rPr dirty="0" b="1">
                <a:latin typeface="Calibri"/>
                <a:cs typeface="Calibri"/>
              </a:rPr>
              <a:t>Coupling</a:t>
            </a:r>
            <a:r>
              <a:rPr dirty="0"/>
              <a:t>:</a:t>
            </a:r>
            <a:r>
              <a:rPr dirty="0" spc="-25"/>
              <a:t> </a:t>
            </a:r>
            <a:r>
              <a:rPr dirty="0" spc="-20"/>
              <a:t>Two</a:t>
            </a:r>
            <a:r>
              <a:rPr dirty="0" spc="-40"/>
              <a:t> </a:t>
            </a:r>
            <a:r>
              <a:rPr dirty="0"/>
              <a:t>modules</a:t>
            </a:r>
            <a:r>
              <a:rPr dirty="0" spc="-50"/>
              <a:t> </a:t>
            </a:r>
            <a:r>
              <a:rPr dirty="0"/>
              <a:t>are</a:t>
            </a:r>
            <a:r>
              <a:rPr dirty="0" spc="-20"/>
              <a:t> </a:t>
            </a:r>
            <a:r>
              <a:rPr dirty="0"/>
              <a:t>said</a:t>
            </a:r>
            <a:r>
              <a:rPr dirty="0" spc="-5"/>
              <a:t> </a:t>
            </a:r>
            <a:r>
              <a:rPr dirty="0"/>
              <a:t>to</a:t>
            </a:r>
            <a:r>
              <a:rPr dirty="0" spc="-20"/>
              <a:t> </a:t>
            </a:r>
            <a:r>
              <a:rPr dirty="0"/>
              <a:t>be</a:t>
            </a:r>
            <a:r>
              <a:rPr dirty="0" spc="-25"/>
              <a:t> </a:t>
            </a:r>
            <a:r>
              <a:rPr dirty="0"/>
              <a:t>highly</a:t>
            </a:r>
            <a:r>
              <a:rPr dirty="0" spc="-65"/>
              <a:t> </a:t>
            </a:r>
            <a:r>
              <a:rPr dirty="0"/>
              <a:t>coupled,</a:t>
            </a:r>
            <a:r>
              <a:rPr dirty="0" spc="-60"/>
              <a:t> </a:t>
            </a:r>
            <a:r>
              <a:rPr dirty="0"/>
              <a:t>if</a:t>
            </a:r>
            <a:r>
              <a:rPr dirty="0" spc="-25"/>
              <a:t> </a:t>
            </a:r>
            <a:r>
              <a:rPr dirty="0"/>
              <a:t>either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/>
              <a:t>following</a:t>
            </a:r>
            <a:r>
              <a:rPr dirty="0" spc="-60"/>
              <a:t> </a:t>
            </a:r>
            <a:r>
              <a:rPr dirty="0"/>
              <a:t>two</a:t>
            </a:r>
            <a:r>
              <a:rPr dirty="0" spc="-40"/>
              <a:t> </a:t>
            </a:r>
            <a:r>
              <a:rPr dirty="0"/>
              <a:t>situations</a:t>
            </a:r>
            <a:r>
              <a:rPr dirty="0" spc="-50"/>
              <a:t> </a:t>
            </a:r>
            <a:r>
              <a:rPr dirty="0" spc="-10"/>
              <a:t>arise:</a:t>
            </a:r>
          </a:p>
          <a:p>
            <a:pPr marL="391160" marR="5715" indent="-378460">
              <a:lnSpc>
                <a:spcPts val="1789"/>
              </a:lnSpc>
              <a:spcBef>
                <a:spcPts val="845"/>
              </a:spcBef>
              <a:buAutoNum type="arabicPeriod"/>
              <a:tabLst>
                <a:tab pos="391160" algn="l"/>
              </a:tabLst>
            </a:pPr>
            <a:r>
              <a:rPr dirty="0"/>
              <a:t>If</a:t>
            </a:r>
            <a:r>
              <a:rPr dirty="0" spc="220"/>
              <a:t> </a:t>
            </a:r>
            <a:r>
              <a:rPr dirty="0"/>
              <a:t>the</a:t>
            </a:r>
            <a:r>
              <a:rPr dirty="0" spc="235"/>
              <a:t> </a:t>
            </a:r>
            <a:r>
              <a:rPr dirty="0"/>
              <a:t>function</a:t>
            </a:r>
            <a:r>
              <a:rPr dirty="0" spc="225"/>
              <a:t> </a:t>
            </a:r>
            <a:r>
              <a:rPr dirty="0"/>
              <a:t>calls</a:t>
            </a:r>
            <a:r>
              <a:rPr dirty="0" spc="215"/>
              <a:t> </a:t>
            </a:r>
            <a:r>
              <a:rPr dirty="0"/>
              <a:t>between</a:t>
            </a:r>
            <a:r>
              <a:rPr dirty="0" spc="240"/>
              <a:t> </a:t>
            </a:r>
            <a:r>
              <a:rPr dirty="0"/>
              <a:t>two</a:t>
            </a:r>
            <a:r>
              <a:rPr dirty="0" spc="204"/>
              <a:t> </a:t>
            </a:r>
            <a:r>
              <a:rPr dirty="0"/>
              <a:t>modules</a:t>
            </a:r>
            <a:r>
              <a:rPr dirty="0" spc="225"/>
              <a:t> </a:t>
            </a:r>
            <a:r>
              <a:rPr dirty="0"/>
              <a:t>involve</a:t>
            </a:r>
            <a:r>
              <a:rPr dirty="0" spc="220"/>
              <a:t> </a:t>
            </a:r>
            <a:r>
              <a:rPr dirty="0"/>
              <a:t>passing</a:t>
            </a:r>
            <a:r>
              <a:rPr dirty="0" spc="215"/>
              <a:t> </a:t>
            </a:r>
            <a:r>
              <a:rPr dirty="0"/>
              <a:t>large</a:t>
            </a:r>
            <a:r>
              <a:rPr dirty="0" spc="235"/>
              <a:t> </a:t>
            </a:r>
            <a:r>
              <a:rPr dirty="0"/>
              <a:t>chunks</a:t>
            </a:r>
            <a:r>
              <a:rPr dirty="0" spc="215"/>
              <a:t> </a:t>
            </a:r>
            <a:r>
              <a:rPr dirty="0"/>
              <a:t>of</a:t>
            </a:r>
            <a:r>
              <a:rPr dirty="0" spc="225"/>
              <a:t> </a:t>
            </a:r>
            <a:r>
              <a:rPr dirty="0"/>
              <a:t>shared</a:t>
            </a:r>
            <a:r>
              <a:rPr dirty="0" spc="225"/>
              <a:t> </a:t>
            </a:r>
            <a:r>
              <a:rPr dirty="0"/>
              <a:t>data,</a:t>
            </a:r>
            <a:r>
              <a:rPr dirty="0" spc="215"/>
              <a:t> </a:t>
            </a:r>
            <a:r>
              <a:rPr dirty="0" spc="-25"/>
              <a:t>the </a:t>
            </a:r>
            <a:r>
              <a:rPr dirty="0"/>
              <a:t>modules</a:t>
            </a:r>
            <a:r>
              <a:rPr dirty="0" spc="-70"/>
              <a:t> </a:t>
            </a:r>
            <a:r>
              <a:rPr dirty="0"/>
              <a:t>are</a:t>
            </a:r>
            <a:r>
              <a:rPr dirty="0" spc="-15"/>
              <a:t> </a:t>
            </a:r>
            <a:r>
              <a:rPr dirty="0"/>
              <a:t>tightly</a:t>
            </a:r>
            <a:r>
              <a:rPr dirty="0" spc="-40"/>
              <a:t> </a:t>
            </a:r>
            <a:r>
              <a:rPr dirty="0" spc="-10"/>
              <a:t>coupled.</a:t>
            </a:r>
          </a:p>
          <a:p>
            <a:pPr marL="391160" marR="5080" indent="-378460">
              <a:lnSpc>
                <a:spcPts val="1780"/>
              </a:lnSpc>
              <a:spcBef>
                <a:spcPts val="819"/>
              </a:spcBef>
              <a:buAutoNum type="arabicPeriod"/>
              <a:tabLst>
                <a:tab pos="391160" algn="l"/>
              </a:tabLst>
            </a:pPr>
            <a:r>
              <a:rPr dirty="0"/>
              <a:t>If</a:t>
            </a:r>
            <a:r>
              <a:rPr dirty="0" spc="290"/>
              <a:t> </a:t>
            </a:r>
            <a:r>
              <a:rPr dirty="0"/>
              <a:t>the</a:t>
            </a:r>
            <a:r>
              <a:rPr dirty="0" spc="290"/>
              <a:t> </a:t>
            </a:r>
            <a:r>
              <a:rPr dirty="0"/>
              <a:t>interactions</a:t>
            </a:r>
            <a:r>
              <a:rPr dirty="0" spc="300"/>
              <a:t> </a:t>
            </a:r>
            <a:r>
              <a:rPr dirty="0"/>
              <a:t>occur</a:t>
            </a:r>
            <a:r>
              <a:rPr dirty="0" spc="290"/>
              <a:t> </a:t>
            </a:r>
            <a:r>
              <a:rPr dirty="0"/>
              <a:t>through</a:t>
            </a:r>
            <a:r>
              <a:rPr dirty="0" spc="280"/>
              <a:t> </a:t>
            </a:r>
            <a:r>
              <a:rPr dirty="0"/>
              <a:t>some</a:t>
            </a:r>
            <a:r>
              <a:rPr dirty="0" spc="290"/>
              <a:t> </a:t>
            </a:r>
            <a:r>
              <a:rPr dirty="0"/>
              <a:t>shared</a:t>
            </a:r>
            <a:r>
              <a:rPr dirty="0" spc="280"/>
              <a:t> </a:t>
            </a:r>
            <a:r>
              <a:rPr dirty="0"/>
              <a:t>data,</a:t>
            </a:r>
            <a:r>
              <a:rPr dirty="0" spc="270"/>
              <a:t> </a:t>
            </a:r>
            <a:r>
              <a:rPr dirty="0"/>
              <a:t>then</a:t>
            </a:r>
            <a:r>
              <a:rPr dirty="0" spc="295"/>
              <a:t> </a:t>
            </a:r>
            <a:r>
              <a:rPr dirty="0"/>
              <a:t>also</a:t>
            </a:r>
            <a:r>
              <a:rPr dirty="0" spc="275"/>
              <a:t> </a:t>
            </a:r>
            <a:r>
              <a:rPr dirty="0"/>
              <a:t>we</a:t>
            </a:r>
            <a:r>
              <a:rPr dirty="0" spc="275"/>
              <a:t> </a:t>
            </a:r>
            <a:r>
              <a:rPr dirty="0"/>
              <a:t>say</a:t>
            </a:r>
            <a:r>
              <a:rPr dirty="0" spc="285"/>
              <a:t> </a:t>
            </a:r>
            <a:r>
              <a:rPr dirty="0"/>
              <a:t>that</a:t>
            </a:r>
            <a:r>
              <a:rPr dirty="0" spc="295"/>
              <a:t> </a:t>
            </a:r>
            <a:r>
              <a:rPr dirty="0"/>
              <a:t>they</a:t>
            </a:r>
            <a:r>
              <a:rPr dirty="0" spc="285"/>
              <a:t> </a:t>
            </a:r>
            <a:r>
              <a:rPr dirty="0"/>
              <a:t>are</a:t>
            </a:r>
            <a:r>
              <a:rPr dirty="0" spc="310"/>
              <a:t> </a:t>
            </a:r>
            <a:r>
              <a:rPr dirty="0" spc="-10"/>
              <a:t>highly coupled.</a:t>
            </a:r>
          </a:p>
          <a:p>
            <a:pPr lvl="1" marL="201930" marR="5715" indent="-189230">
              <a:lnSpc>
                <a:spcPts val="1780"/>
              </a:lnSpc>
              <a:spcBef>
                <a:spcPts val="830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 sz="1650">
                <a:latin typeface="Calibri"/>
                <a:cs typeface="Calibri"/>
              </a:rPr>
              <a:t>If</a:t>
            </a:r>
            <a:r>
              <a:rPr dirty="0" sz="1650" spc="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two</a:t>
            </a:r>
            <a:r>
              <a:rPr dirty="0" sz="1650" spc="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modules</a:t>
            </a:r>
            <a:r>
              <a:rPr dirty="0" sz="1650" spc="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either</a:t>
            </a:r>
            <a:r>
              <a:rPr dirty="0" sz="1650" spc="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do</a:t>
            </a:r>
            <a:r>
              <a:rPr dirty="0" sz="1650" spc="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not</a:t>
            </a:r>
            <a:r>
              <a:rPr dirty="0" sz="1650" spc="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interact</a:t>
            </a:r>
            <a:r>
              <a:rPr dirty="0" sz="1650" spc="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with</a:t>
            </a:r>
            <a:r>
              <a:rPr dirty="0" sz="1650" spc="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each</a:t>
            </a:r>
            <a:r>
              <a:rPr dirty="0" sz="1650" spc="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other</a:t>
            </a:r>
            <a:r>
              <a:rPr dirty="0" sz="1650" spc="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at</a:t>
            </a:r>
            <a:r>
              <a:rPr dirty="0" sz="1650" spc="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all</a:t>
            </a:r>
            <a:r>
              <a:rPr dirty="0" sz="1650" spc="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or</a:t>
            </a:r>
            <a:r>
              <a:rPr dirty="0" sz="1650" spc="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at</a:t>
            </a:r>
            <a:r>
              <a:rPr dirty="0" sz="1650" spc="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best</a:t>
            </a:r>
            <a:r>
              <a:rPr dirty="0" sz="1650" spc="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interact</a:t>
            </a:r>
            <a:r>
              <a:rPr dirty="0" sz="1650" spc="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by</a:t>
            </a:r>
            <a:r>
              <a:rPr dirty="0" sz="1650" spc="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passing</a:t>
            </a:r>
            <a:r>
              <a:rPr dirty="0" sz="1650" spc="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no</a:t>
            </a:r>
            <a:r>
              <a:rPr dirty="0" sz="1650" spc="30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data </a:t>
            </a:r>
            <a:r>
              <a:rPr dirty="0" sz="1650">
                <a:latin typeface="Calibri"/>
                <a:cs typeface="Calibri"/>
              </a:rPr>
              <a:t>or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only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few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primitive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items,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they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said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have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low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coupling.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912" y="1558630"/>
            <a:ext cx="1720214" cy="5797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600" spc="-55" b="1">
                <a:latin typeface="Calibri"/>
                <a:cs typeface="Calibri"/>
              </a:rPr>
              <a:t>Cohesion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2230" rIns="0" bIns="0" rtlCol="0" vert="horz">
            <a:spAutoFit/>
          </a:bodyPr>
          <a:lstStyle/>
          <a:p>
            <a:pPr marL="201930" marR="5080" indent="-189230">
              <a:lnSpc>
                <a:spcPts val="1580"/>
              </a:lnSpc>
              <a:spcBef>
                <a:spcPts val="490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/>
              <a:t>When</a:t>
            </a:r>
            <a:r>
              <a:rPr dirty="0" spc="65"/>
              <a:t> </a:t>
            </a:r>
            <a:r>
              <a:rPr dirty="0"/>
              <a:t>the</a:t>
            </a:r>
            <a:r>
              <a:rPr dirty="0" spc="60"/>
              <a:t> </a:t>
            </a:r>
            <a:r>
              <a:rPr dirty="0"/>
              <a:t>functions</a:t>
            </a:r>
            <a:r>
              <a:rPr dirty="0" spc="45"/>
              <a:t> </a:t>
            </a:r>
            <a:r>
              <a:rPr dirty="0"/>
              <a:t>of</a:t>
            </a:r>
            <a:r>
              <a:rPr dirty="0" spc="65"/>
              <a:t> </a:t>
            </a:r>
            <a:r>
              <a:rPr dirty="0"/>
              <a:t>the</a:t>
            </a:r>
            <a:r>
              <a:rPr dirty="0" spc="60"/>
              <a:t> </a:t>
            </a:r>
            <a:r>
              <a:rPr dirty="0"/>
              <a:t>module</a:t>
            </a:r>
            <a:r>
              <a:rPr dirty="0" spc="50"/>
              <a:t> </a:t>
            </a:r>
            <a:r>
              <a:rPr dirty="0" spc="-20"/>
              <a:t>co-</a:t>
            </a:r>
            <a:r>
              <a:rPr dirty="0"/>
              <a:t>operate</a:t>
            </a:r>
            <a:r>
              <a:rPr dirty="0" spc="30"/>
              <a:t> </a:t>
            </a:r>
            <a:r>
              <a:rPr dirty="0"/>
              <a:t>with</a:t>
            </a:r>
            <a:r>
              <a:rPr dirty="0" spc="55"/>
              <a:t> </a:t>
            </a:r>
            <a:r>
              <a:rPr dirty="0"/>
              <a:t>each</a:t>
            </a:r>
            <a:r>
              <a:rPr dirty="0" spc="65"/>
              <a:t> </a:t>
            </a:r>
            <a:r>
              <a:rPr dirty="0"/>
              <a:t>other</a:t>
            </a:r>
            <a:r>
              <a:rPr dirty="0" spc="60"/>
              <a:t> </a:t>
            </a:r>
            <a:r>
              <a:rPr dirty="0"/>
              <a:t>for</a:t>
            </a:r>
            <a:r>
              <a:rPr dirty="0" spc="50"/>
              <a:t> </a:t>
            </a:r>
            <a:r>
              <a:rPr dirty="0"/>
              <a:t>performing</a:t>
            </a:r>
            <a:r>
              <a:rPr dirty="0" spc="75"/>
              <a:t> </a:t>
            </a:r>
            <a:r>
              <a:rPr dirty="0"/>
              <a:t>a</a:t>
            </a:r>
            <a:r>
              <a:rPr dirty="0" spc="60"/>
              <a:t> </a:t>
            </a:r>
            <a:r>
              <a:rPr dirty="0"/>
              <a:t>single</a:t>
            </a:r>
            <a:r>
              <a:rPr dirty="0" spc="50"/>
              <a:t> </a:t>
            </a:r>
            <a:r>
              <a:rPr dirty="0" spc="-10"/>
              <a:t>objective, </a:t>
            </a:r>
            <a:r>
              <a:rPr dirty="0"/>
              <a:t>then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/>
              <a:t>module</a:t>
            </a:r>
            <a:r>
              <a:rPr dirty="0" spc="-45"/>
              <a:t> </a:t>
            </a:r>
            <a:r>
              <a:rPr dirty="0"/>
              <a:t>has</a:t>
            </a:r>
            <a:r>
              <a:rPr dirty="0" spc="-30"/>
              <a:t> </a:t>
            </a:r>
            <a:r>
              <a:rPr dirty="0"/>
              <a:t>good</a:t>
            </a:r>
            <a:r>
              <a:rPr dirty="0" spc="-50"/>
              <a:t> </a:t>
            </a:r>
            <a:r>
              <a:rPr dirty="0" spc="-10"/>
              <a:t>cohesion.</a:t>
            </a:r>
          </a:p>
          <a:p>
            <a:pPr marL="201930" marR="5080" indent="-189230">
              <a:lnSpc>
                <a:spcPts val="1580"/>
              </a:lnSpc>
              <a:spcBef>
                <a:spcPts val="835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/>
              <a:t>If</a:t>
            </a:r>
            <a:r>
              <a:rPr dirty="0" spc="50"/>
              <a:t> </a:t>
            </a:r>
            <a:r>
              <a:rPr dirty="0"/>
              <a:t>the</a:t>
            </a:r>
            <a:r>
              <a:rPr dirty="0" spc="45"/>
              <a:t> </a:t>
            </a:r>
            <a:r>
              <a:rPr dirty="0"/>
              <a:t>functions</a:t>
            </a:r>
            <a:r>
              <a:rPr dirty="0" spc="55"/>
              <a:t> </a:t>
            </a:r>
            <a:r>
              <a:rPr dirty="0"/>
              <a:t>of</a:t>
            </a:r>
            <a:r>
              <a:rPr dirty="0" spc="35"/>
              <a:t> </a:t>
            </a:r>
            <a:r>
              <a:rPr dirty="0"/>
              <a:t>the</a:t>
            </a:r>
            <a:r>
              <a:rPr dirty="0" spc="60"/>
              <a:t> </a:t>
            </a:r>
            <a:r>
              <a:rPr dirty="0"/>
              <a:t>module</a:t>
            </a:r>
            <a:r>
              <a:rPr dirty="0" spc="65"/>
              <a:t> </a:t>
            </a:r>
            <a:r>
              <a:rPr dirty="0"/>
              <a:t>do</a:t>
            </a:r>
            <a:r>
              <a:rPr dirty="0" spc="45"/>
              <a:t> </a:t>
            </a:r>
            <a:r>
              <a:rPr dirty="0"/>
              <a:t>very</a:t>
            </a:r>
            <a:r>
              <a:rPr dirty="0" spc="55"/>
              <a:t> </a:t>
            </a:r>
            <a:r>
              <a:rPr dirty="0"/>
              <a:t>different</a:t>
            </a:r>
            <a:r>
              <a:rPr dirty="0" spc="50"/>
              <a:t> </a:t>
            </a:r>
            <a:r>
              <a:rPr dirty="0"/>
              <a:t>things</a:t>
            </a:r>
            <a:r>
              <a:rPr dirty="0" spc="55"/>
              <a:t> </a:t>
            </a:r>
            <a:r>
              <a:rPr dirty="0"/>
              <a:t>and</a:t>
            </a:r>
            <a:r>
              <a:rPr dirty="0" spc="65"/>
              <a:t> </a:t>
            </a:r>
            <a:r>
              <a:rPr dirty="0"/>
              <a:t>do</a:t>
            </a:r>
            <a:r>
              <a:rPr dirty="0" spc="45"/>
              <a:t> </a:t>
            </a:r>
            <a:r>
              <a:rPr dirty="0"/>
              <a:t>not</a:t>
            </a:r>
            <a:r>
              <a:rPr dirty="0" spc="55"/>
              <a:t> </a:t>
            </a:r>
            <a:r>
              <a:rPr dirty="0" spc="-20"/>
              <a:t>co-</a:t>
            </a:r>
            <a:r>
              <a:rPr dirty="0"/>
              <a:t>operate</a:t>
            </a:r>
            <a:r>
              <a:rPr dirty="0" spc="45"/>
              <a:t> </a:t>
            </a:r>
            <a:r>
              <a:rPr dirty="0"/>
              <a:t>with</a:t>
            </a:r>
            <a:r>
              <a:rPr dirty="0" spc="50"/>
              <a:t> </a:t>
            </a:r>
            <a:r>
              <a:rPr dirty="0"/>
              <a:t>each</a:t>
            </a:r>
            <a:r>
              <a:rPr dirty="0" spc="65"/>
              <a:t> </a:t>
            </a:r>
            <a:r>
              <a:rPr dirty="0"/>
              <a:t>other</a:t>
            </a:r>
            <a:r>
              <a:rPr dirty="0" spc="45"/>
              <a:t> </a:t>
            </a:r>
            <a:r>
              <a:rPr dirty="0" spc="-25"/>
              <a:t>to </a:t>
            </a:r>
            <a:r>
              <a:rPr dirty="0"/>
              <a:t>perform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piece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35"/>
              <a:t> </a:t>
            </a:r>
            <a:r>
              <a:rPr dirty="0"/>
              <a:t>work,</a:t>
            </a:r>
            <a:r>
              <a:rPr dirty="0" spc="-40"/>
              <a:t> </a:t>
            </a:r>
            <a:r>
              <a:rPr dirty="0"/>
              <a:t>then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/>
              <a:t>module</a:t>
            </a:r>
            <a:r>
              <a:rPr dirty="0" spc="-40"/>
              <a:t> </a:t>
            </a:r>
            <a:r>
              <a:rPr dirty="0"/>
              <a:t>has</a:t>
            </a:r>
            <a:r>
              <a:rPr dirty="0" spc="-30"/>
              <a:t> </a:t>
            </a:r>
            <a:r>
              <a:rPr dirty="0"/>
              <a:t>very</a:t>
            </a:r>
            <a:r>
              <a:rPr dirty="0" spc="-50"/>
              <a:t> </a:t>
            </a:r>
            <a:r>
              <a:rPr dirty="0"/>
              <a:t>poor</a:t>
            </a:r>
            <a:r>
              <a:rPr dirty="0" spc="-40"/>
              <a:t> </a:t>
            </a:r>
            <a:r>
              <a:rPr dirty="0" spc="-10"/>
              <a:t>cohesion.</a:t>
            </a:r>
          </a:p>
          <a:p>
            <a:pPr marL="201930" marR="5080" indent="-189230">
              <a:lnSpc>
                <a:spcPts val="1580"/>
              </a:lnSpc>
              <a:spcBef>
                <a:spcPts val="840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 b="1">
                <a:latin typeface="Calibri"/>
                <a:cs typeface="Calibri"/>
              </a:rPr>
              <a:t>Functional</a:t>
            </a:r>
            <a:r>
              <a:rPr dirty="0" spc="60" b="1">
                <a:latin typeface="Calibri"/>
                <a:cs typeface="Calibri"/>
              </a:rPr>
              <a:t>  </a:t>
            </a:r>
            <a:r>
              <a:rPr dirty="0" b="1">
                <a:latin typeface="Calibri"/>
                <a:cs typeface="Calibri"/>
              </a:rPr>
              <a:t>independence:</a:t>
            </a:r>
            <a:r>
              <a:rPr dirty="0" spc="65" b="1">
                <a:latin typeface="Calibri"/>
                <a:cs typeface="Calibri"/>
              </a:rPr>
              <a:t>  </a:t>
            </a:r>
            <a:r>
              <a:rPr dirty="0"/>
              <a:t>By</a:t>
            </a:r>
            <a:r>
              <a:rPr dirty="0" spc="490"/>
              <a:t> </a:t>
            </a:r>
            <a:r>
              <a:rPr dirty="0"/>
              <a:t>the</a:t>
            </a:r>
            <a:r>
              <a:rPr dirty="0" spc="60"/>
              <a:t>  </a:t>
            </a:r>
            <a:r>
              <a:rPr dirty="0"/>
              <a:t>term</a:t>
            </a:r>
            <a:r>
              <a:rPr dirty="0" spc="65"/>
              <a:t>  </a:t>
            </a:r>
            <a:r>
              <a:rPr dirty="0"/>
              <a:t>functional</a:t>
            </a:r>
            <a:r>
              <a:rPr dirty="0" spc="490"/>
              <a:t> </a:t>
            </a:r>
            <a:r>
              <a:rPr dirty="0"/>
              <a:t>independence,</a:t>
            </a:r>
            <a:r>
              <a:rPr dirty="0" spc="480"/>
              <a:t> </a:t>
            </a:r>
            <a:r>
              <a:rPr dirty="0"/>
              <a:t>we</a:t>
            </a:r>
            <a:r>
              <a:rPr dirty="0" spc="60"/>
              <a:t>  </a:t>
            </a:r>
            <a:r>
              <a:rPr dirty="0"/>
              <a:t>mean</a:t>
            </a:r>
            <a:r>
              <a:rPr dirty="0" spc="65"/>
              <a:t>  </a:t>
            </a:r>
            <a:r>
              <a:rPr dirty="0"/>
              <a:t>that</a:t>
            </a:r>
            <a:r>
              <a:rPr dirty="0" spc="65"/>
              <a:t>  </a:t>
            </a:r>
            <a:r>
              <a:rPr dirty="0"/>
              <a:t>a</a:t>
            </a:r>
            <a:r>
              <a:rPr dirty="0" spc="484"/>
              <a:t> </a:t>
            </a:r>
            <a:r>
              <a:rPr dirty="0" spc="-10"/>
              <a:t>module </a:t>
            </a:r>
            <a:r>
              <a:rPr dirty="0"/>
              <a:t>performs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task</a:t>
            </a:r>
            <a:r>
              <a:rPr dirty="0" spc="-5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/>
              <a:t>needs</a:t>
            </a:r>
            <a:r>
              <a:rPr dirty="0" spc="-45"/>
              <a:t> </a:t>
            </a:r>
            <a:r>
              <a:rPr dirty="0"/>
              <a:t>very</a:t>
            </a:r>
            <a:r>
              <a:rPr dirty="0" spc="-35"/>
              <a:t> </a:t>
            </a:r>
            <a:r>
              <a:rPr dirty="0"/>
              <a:t>little</a:t>
            </a:r>
            <a:r>
              <a:rPr dirty="0" spc="-5"/>
              <a:t> </a:t>
            </a:r>
            <a:r>
              <a:rPr dirty="0" spc="-10"/>
              <a:t>interaction</a:t>
            </a:r>
            <a:r>
              <a:rPr dirty="0" spc="-40"/>
              <a:t> </a:t>
            </a:r>
            <a:r>
              <a:rPr dirty="0"/>
              <a:t>with</a:t>
            </a:r>
            <a:r>
              <a:rPr dirty="0" spc="-40"/>
              <a:t> </a:t>
            </a:r>
            <a:r>
              <a:rPr dirty="0"/>
              <a:t>other</a:t>
            </a:r>
            <a:r>
              <a:rPr dirty="0" spc="-25"/>
              <a:t> </a:t>
            </a:r>
            <a:r>
              <a:rPr dirty="0" spc="-10"/>
              <a:t>modules.</a:t>
            </a:r>
          </a:p>
          <a:p>
            <a:pPr marL="201930" marR="5080" indent="-189230">
              <a:lnSpc>
                <a:spcPts val="1580"/>
              </a:lnSpc>
              <a:spcBef>
                <a:spcPts val="819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/>
              <a:t>A</a:t>
            </a:r>
            <a:r>
              <a:rPr dirty="0" spc="250"/>
              <a:t> </a:t>
            </a:r>
            <a:r>
              <a:rPr dirty="0"/>
              <a:t>module</a:t>
            </a:r>
            <a:r>
              <a:rPr dirty="0" spc="254"/>
              <a:t> </a:t>
            </a:r>
            <a:r>
              <a:rPr dirty="0"/>
              <a:t>that</a:t>
            </a:r>
            <a:r>
              <a:rPr dirty="0" spc="245"/>
              <a:t> </a:t>
            </a:r>
            <a:r>
              <a:rPr dirty="0"/>
              <a:t>is</a:t>
            </a:r>
            <a:r>
              <a:rPr dirty="0" spc="245"/>
              <a:t> </a:t>
            </a:r>
            <a:r>
              <a:rPr dirty="0"/>
              <a:t>highly</a:t>
            </a:r>
            <a:r>
              <a:rPr dirty="0" spc="250"/>
              <a:t> </a:t>
            </a:r>
            <a:r>
              <a:rPr dirty="0"/>
              <a:t>cohesive</a:t>
            </a:r>
            <a:r>
              <a:rPr dirty="0" spc="240"/>
              <a:t> </a:t>
            </a:r>
            <a:r>
              <a:rPr dirty="0"/>
              <a:t>and</a:t>
            </a:r>
            <a:r>
              <a:rPr dirty="0" spc="254"/>
              <a:t> </a:t>
            </a:r>
            <a:r>
              <a:rPr dirty="0"/>
              <a:t>also</a:t>
            </a:r>
            <a:r>
              <a:rPr dirty="0" spc="240"/>
              <a:t> </a:t>
            </a:r>
            <a:r>
              <a:rPr dirty="0"/>
              <a:t>has</a:t>
            </a:r>
            <a:r>
              <a:rPr dirty="0" spc="250"/>
              <a:t> </a:t>
            </a:r>
            <a:r>
              <a:rPr dirty="0"/>
              <a:t>low</a:t>
            </a:r>
            <a:r>
              <a:rPr dirty="0" spc="254"/>
              <a:t> </a:t>
            </a:r>
            <a:r>
              <a:rPr dirty="0"/>
              <a:t>coupling</a:t>
            </a:r>
            <a:r>
              <a:rPr dirty="0" spc="235"/>
              <a:t> </a:t>
            </a:r>
            <a:r>
              <a:rPr dirty="0"/>
              <a:t>with</a:t>
            </a:r>
            <a:r>
              <a:rPr dirty="0" spc="260"/>
              <a:t> </a:t>
            </a:r>
            <a:r>
              <a:rPr dirty="0"/>
              <a:t>other</a:t>
            </a:r>
            <a:r>
              <a:rPr dirty="0" spc="250"/>
              <a:t> </a:t>
            </a:r>
            <a:r>
              <a:rPr dirty="0"/>
              <a:t>modules</a:t>
            </a:r>
            <a:r>
              <a:rPr dirty="0" spc="250"/>
              <a:t> </a:t>
            </a:r>
            <a:r>
              <a:rPr dirty="0"/>
              <a:t>is</a:t>
            </a:r>
            <a:r>
              <a:rPr dirty="0" spc="250"/>
              <a:t> </a:t>
            </a:r>
            <a:r>
              <a:rPr dirty="0"/>
              <a:t>said</a:t>
            </a:r>
            <a:r>
              <a:rPr dirty="0" spc="254"/>
              <a:t> </a:t>
            </a:r>
            <a:r>
              <a:rPr dirty="0"/>
              <a:t>to</a:t>
            </a:r>
            <a:r>
              <a:rPr dirty="0" spc="254"/>
              <a:t> </a:t>
            </a:r>
            <a:r>
              <a:rPr dirty="0" spc="-25"/>
              <a:t>be </a:t>
            </a:r>
            <a:r>
              <a:rPr dirty="0"/>
              <a:t>functionally</a:t>
            </a:r>
            <a:r>
              <a:rPr dirty="0" spc="-75"/>
              <a:t> </a:t>
            </a:r>
            <a:r>
              <a:rPr dirty="0"/>
              <a:t>independent</a:t>
            </a:r>
            <a:r>
              <a:rPr dirty="0" spc="-6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/>
              <a:t>other</a:t>
            </a:r>
            <a:r>
              <a:rPr dirty="0" spc="-35"/>
              <a:t> </a:t>
            </a:r>
            <a:r>
              <a:rPr dirty="0" spc="-10"/>
              <a:t>modules.</a:t>
            </a:r>
          </a:p>
          <a:p>
            <a:pPr marL="201930" marR="5715" indent="-189230">
              <a:lnSpc>
                <a:spcPts val="1580"/>
              </a:lnSpc>
              <a:spcBef>
                <a:spcPts val="840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/>
              <a:t>Functional</a:t>
            </a:r>
            <a:r>
              <a:rPr dirty="0" spc="15"/>
              <a:t> </a:t>
            </a:r>
            <a:r>
              <a:rPr dirty="0"/>
              <a:t>independence</a:t>
            </a:r>
            <a:r>
              <a:rPr dirty="0" spc="30"/>
              <a:t> </a:t>
            </a:r>
            <a:r>
              <a:rPr dirty="0"/>
              <a:t>is</a:t>
            </a:r>
            <a:r>
              <a:rPr dirty="0" spc="15"/>
              <a:t> </a:t>
            </a:r>
            <a:r>
              <a:rPr dirty="0"/>
              <a:t>a</a:t>
            </a:r>
            <a:r>
              <a:rPr dirty="0" spc="15"/>
              <a:t> </a:t>
            </a:r>
            <a:r>
              <a:rPr dirty="0"/>
              <a:t>key</a:t>
            </a:r>
            <a:r>
              <a:rPr dirty="0" spc="10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/>
              <a:t>any</a:t>
            </a:r>
            <a:r>
              <a:rPr dirty="0" spc="10"/>
              <a:t> </a:t>
            </a:r>
            <a:r>
              <a:rPr dirty="0"/>
              <a:t>good</a:t>
            </a:r>
            <a:r>
              <a:rPr dirty="0" spc="25"/>
              <a:t> </a:t>
            </a:r>
            <a:r>
              <a:rPr dirty="0"/>
              <a:t>design</a:t>
            </a:r>
            <a:r>
              <a:rPr dirty="0" spc="5"/>
              <a:t> </a:t>
            </a:r>
            <a:r>
              <a:rPr dirty="0"/>
              <a:t>primarily</a:t>
            </a:r>
            <a:r>
              <a:rPr dirty="0" spc="-5"/>
              <a:t> </a:t>
            </a:r>
            <a:r>
              <a:rPr dirty="0"/>
              <a:t>due</a:t>
            </a:r>
            <a:r>
              <a:rPr dirty="0" spc="20"/>
              <a:t> </a:t>
            </a:r>
            <a:r>
              <a:rPr dirty="0"/>
              <a:t>to</a:t>
            </a:r>
            <a:r>
              <a:rPr dirty="0" spc="20"/>
              <a:t> </a:t>
            </a:r>
            <a:r>
              <a:rPr dirty="0"/>
              <a:t>the</a:t>
            </a:r>
            <a:r>
              <a:rPr dirty="0" spc="20"/>
              <a:t> </a:t>
            </a:r>
            <a:r>
              <a:rPr dirty="0"/>
              <a:t>following</a:t>
            </a:r>
            <a:r>
              <a:rPr dirty="0" spc="15"/>
              <a:t> </a:t>
            </a:r>
            <a:r>
              <a:rPr dirty="0"/>
              <a:t>advantages</a:t>
            </a:r>
            <a:r>
              <a:rPr dirty="0" spc="15"/>
              <a:t> </a:t>
            </a:r>
            <a:r>
              <a:rPr dirty="0" spc="-25"/>
              <a:t>it </a:t>
            </a:r>
            <a:r>
              <a:rPr dirty="0" spc="-10"/>
              <a:t>offers:</a:t>
            </a:r>
          </a:p>
          <a:p>
            <a:pPr marL="391795" indent="-378460">
              <a:lnSpc>
                <a:spcPct val="100000"/>
              </a:lnSpc>
              <a:spcBef>
                <a:spcPts val="450"/>
              </a:spcBef>
              <a:buAutoNum type="arabicPeriod"/>
              <a:tabLst>
                <a:tab pos="391795" algn="l"/>
              </a:tabLst>
            </a:pPr>
            <a:r>
              <a:rPr dirty="0" b="1">
                <a:latin typeface="Calibri"/>
                <a:cs typeface="Calibri"/>
              </a:rPr>
              <a:t>Error</a:t>
            </a:r>
            <a:r>
              <a:rPr dirty="0" spc="-60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isolation</a:t>
            </a:r>
          </a:p>
          <a:p>
            <a:pPr marL="391795" indent="-378460">
              <a:lnSpc>
                <a:spcPct val="100000"/>
              </a:lnSpc>
              <a:spcBef>
                <a:spcPts val="430"/>
              </a:spcBef>
              <a:buAutoNum type="arabicPeriod"/>
              <a:tabLst>
                <a:tab pos="391795" algn="l"/>
              </a:tabLst>
            </a:pPr>
            <a:r>
              <a:rPr dirty="0" b="1">
                <a:latin typeface="Calibri"/>
                <a:cs typeface="Calibri"/>
              </a:rPr>
              <a:t>Scope</a:t>
            </a:r>
            <a:r>
              <a:rPr dirty="0" spc="-1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of</a:t>
            </a:r>
            <a:r>
              <a:rPr dirty="0" spc="-30" b="1">
                <a:latin typeface="Calibri"/>
                <a:cs typeface="Calibri"/>
              </a:rPr>
              <a:t> </a:t>
            </a:r>
            <a:r>
              <a:rPr dirty="0" spc="-20" b="1">
                <a:latin typeface="Calibri"/>
                <a:cs typeface="Calibri"/>
              </a:rPr>
              <a:t>reuse</a:t>
            </a:r>
          </a:p>
          <a:p>
            <a:pPr marL="391795" indent="-37846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391795" algn="l"/>
              </a:tabLst>
            </a:pPr>
            <a:r>
              <a:rPr dirty="0" spc="-10" b="1">
                <a:latin typeface="Calibri"/>
                <a:cs typeface="Calibri"/>
              </a:rPr>
              <a:t>Understandability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5273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35"/>
              </a:spcBef>
            </a:pPr>
            <a:r>
              <a:rPr dirty="0" sz="3600" spc="-90" b="1">
                <a:latin typeface="Calibri"/>
                <a:cs typeface="Calibri"/>
              </a:rPr>
              <a:t>Classification</a:t>
            </a:r>
            <a:r>
              <a:rPr dirty="0" sz="3600" spc="-100" b="1">
                <a:latin typeface="Calibri"/>
                <a:cs typeface="Calibri"/>
              </a:rPr>
              <a:t> </a:t>
            </a:r>
            <a:r>
              <a:rPr dirty="0" sz="3600" b="1">
                <a:latin typeface="Calibri"/>
                <a:cs typeface="Calibri"/>
              </a:rPr>
              <a:t>of</a:t>
            </a:r>
            <a:r>
              <a:rPr dirty="0" sz="3600" spc="-70" b="1">
                <a:latin typeface="Calibri"/>
                <a:cs typeface="Calibri"/>
              </a:rPr>
              <a:t> </a:t>
            </a:r>
            <a:r>
              <a:rPr dirty="0" sz="3600" spc="-55" b="1">
                <a:latin typeface="Calibri"/>
                <a:cs typeface="Calibri"/>
              </a:rPr>
              <a:t>Cohesiveness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55433" y="2550690"/>
            <a:ext cx="8550275" cy="73088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algn="just" marL="201295" marR="5080" indent="-189230">
              <a:lnSpc>
                <a:spcPct val="90000"/>
              </a:lnSpc>
              <a:spcBef>
                <a:spcPts val="30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10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cohesiveness</a:t>
            </a:r>
            <a:r>
              <a:rPr dirty="0" sz="1650" spc="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increases</a:t>
            </a:r>
            <a:r>
              <a:rPr dirty="0" sz="1650" spc="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from</a:t>
            </a:r>
            <a:r>
              <a:rPr dirty="0" sz="1650" spc="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coincidental</a:t>
            </a:r>
            <a:r>
              <a:rPr dirty="0" sz="1650" spc="10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9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functional</a:t>
            </a:r>
            <a:r>
              <a:rPr dirty="0" sz="1650" spc="10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cohesion.</a:t>
            </a:r>
            <a:r>
              <a:rPr dirty="0" sz="1650" spc="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That</a:t>
            </a:r>
            <a:r>
              <a:rPr dirty="0" sz="1650" spc="9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is,</a:t>
            </a:r>
            <a:r>
              <a:rPr dirty="0" sz="1650" spc="9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coincidental</a:t>
            </a:r>
            <a:r>
              <a:rPr dirty="0" sz="1650" spc="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100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the </a:t>
            </a:r>
            <a:r>
              <a:rPr dirty="0" sz="1650">
                <a:latin typeface="Calibri"/>
                <a:cs typeface="Calibri"/>
              </a:rPr>
              <a:t>worst</a:t>
            </a:r>
            <a:r>
              <a:rPr dirty="0" sz="1650" spc="1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type</a:t>
            </a:r>
            <a:r>
              <a:rPr dirty="0" sz="1650" spc="1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1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cohesion</a:t>
            </a:r>
            <a:r>
              <a:rPr dirty="0" sz="1650" spc="1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and</a:t>
            </a:r>
            <a:r>
              <a:rPr dirty="0" sz="1650" spc="1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functional</a:t>
            </a:r>
            <a:r>
              <a:rPr dirty="0" sz="1650" spc="1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19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1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best</a:t>
            </a:r>
            <a:r>
              <a:rPr dirty="0" sz="1650" spc="1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cohesion</a:t>
            </a:r>
            <a:r>
              <a:rPr dirty="0" sz="1650" spc="1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possible.</a:t>
            </a:r>
            <a:r>
              <a:rPr dirty="0" sz="1650" spc="1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These</a:t>
            </a:r>
            <a:r>
              <a:rPr dirty="0" sz="1650" spc="1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different</a:t>
            </a:r>
            <a:r>
              <a:rPr dirty="0" sz="1650" spc="1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classes</a:t>
            </a:r>
            <a:r>
              <a:rPr dirty="0" sz="1650" spc="175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of </a:t>
            </a:r>
            <a:r>
              <a:rPr dirty="0" sz="1650">
                <a:latin typeface="Calibri"/>
                <a:cs typeface="Calibri"/>
              </a:rPr>
              <a:t>cohesion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elaborated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below.</a:t>
            </a:r>
            <a:endParaRPr sz="165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7305" y="3413525"/>
            <a:ext cx="6087564" cy="159808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6775" y="5129784"/>
            <a:ext cx="6486113" cy="15864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06358" y="1179037"/>
            <a:ext cx="6665595" cy="472948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algn="just" marL="12700" marR="6985">
              <a:lnSpc>
                <a:spcPts val="1580"/>
              </a:lnSpc>
              <a:spcBef>
                <a:spcPts val="490"/>
              </a:spcBef>
            </a:pPr>
            <a:r>
              <a:rPr dirty="0" sz="1650" b="1">
                <a:latin typeface="Calibri"/>
                <a:cs typeface="Calibri"/>
              </a:rPr>
              <a:t>Coincidental</a:t>
            </a:r>
            <a:r>
              <a:rPr dirty="0" sz="1650" spc="160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cohesion:</a:t>
            </a:r>
            <a:r>
              <a:rPr dirty="0" sz="1650" spc="165" b="1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1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module</a:t>
            </a:r>
            <a:r>
              <a:rPr dirty="0" sz="1650" spc="1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1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said</a:t>
            </a:r>
            <a:r>
              <a:rPr dirty="0" sz="1650" spc="1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1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have</a:t>
            </a:r>
            <a:r>
              <a:rPr dirty="0" sz="1650" spc="1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coincidental</a:t>
            </a:r>
            <a:r>
              <a:rPr dirty="0" sz="1650" spc="1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cohesion,</a:t>
            </a:r>
            <a:r>
              <a:rPr dirty="0" sz="1650" spc="1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if</a:t>
            </a:r>
            <a:r>
              <a:rPr dirty="0" sz="1650" spc="170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it </a:t>
            </a:r>
            <a:r>
              <a:rPr dirty="0" sz="1650">
                <a:latin typeface="Calibri"/>
                <a:cs typeface="Calibri"/>
              </a:rPr>
              <a:t>performs</a:t>
            </a:r>
            <a:r>
              <a:rPr dirty="0" sz="1650" spc="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set</a:t>
            </a:r>
            <a:r>
              <a:rPr dirty="0" sz="1650" spc="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tasks</a:t>
            </a:r>
            <a:r>
              <a:rPr dirty="0" sz="1650" spc="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that</a:t>
            </a:r>
            <a:r>
              <a:rPr dirty="0" sz="1650" spc="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relate</a:t>
            </a:r>
            <a:r>
              <a:rPr dirty="0" sz="1650" spc="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each</a:t>
            </a:r>
            <a:r>
              <a:rPr dirty="0" sz="1650" spc="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other</a:t>
            </a:r>
            <a:r>
              <a:rPr dirty="0" sz="1650" spc="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very</a:t>
            </a:r>
            <a:r>
              <a:rPr dirty="0" sz="1650" spc="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loosely,</a:t>
            </a:r>
            <a:r>
              <a:rPr dirty="0" sz="1650" spc="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if</a:t>
            </a:r>
            <a:r>
              <a:rPr dirty="0" sz="1650" spc="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at</a:t>
            </a:r>
            <a:r>
              <a:rPr dirty="0" sz="1650" spc="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all.</a:t>
            </a:r>
            <a:r>
              <a:rPr dirty="0" sz="1650" spc="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</a:t>
            </a:r>
            <a:r>
              <a:rPr dirty="0" sz="1650" spc="90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this </a:t>
            </a:r>
            <a:r>
              <a:rPr dirty="0" sz="1650">
                <a:latin typeface="Calibri"/>
                <a:cs typeface="Calibri"/>
              </a:rPr>
              <a:t>case,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we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can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say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that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module</a:t>
            </a:r>
            <a:r>
              <a:rPr dirty="0" sz="1650" spc="-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contains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random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collection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functions.</a:t>
            </a:r>
            <a:endParaRPr sz="1650">
              <a:latin typeface="Calibri"/>
              <a:cs typeface="Calibri"/>
            </a:endParaRPr>
          </a:p>
          <a:p>
            <a:pPr algn="just" marL="12700" marR="5715">
              <a:lnSpc>
                <a:spcPts val="1580"/>
              </a:lnSpc>
              <a:spcBef>
                <a:spcPts val="840"/>
              </a:spcBef>
            </a:pPr>
            <a:r>
              <a:rPr dirty="0" sz="1650" b="1">
                <a:latin typeface="Calibri"/>
                <a:cs typeface="Calibri"/>
              </a:rPr>
              <a:t>Logical</a:t>
            </a:r>
            <a:r>
              <a:rPr dirty="0" sz="1650" spc="8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cohesion:</a:t>
            </a:r>
            <a:r>
              <a:rPr dirty="0" sz="1650" spc="75" b="1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10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module</a:t>
            </a:r>
            <a:r>
              <a:rPr dirty="0" sz="1650" spc="10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9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said</a:t>
            </a:r>
            <a:r>
              <a:rPr dirty="0" sz="1650" spc="9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10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</a:t>
            </a:r>
            <a:r>
              <a:rPr dirty="0" sz="1650" spc="10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logically</a:t>
            </a:r>
            <a:r>
              <a:rPr dirty="0" sz="1650" spc="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cohesive,</a:t>
            </a:r>
            <a:r>
              <a:rPr dirty="0" sz="1650" spc="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if</a:t>
            </a:r>
            <a:r>
              <a:rPr dirty="0" sz="1650" spc="1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all</a:t>
            </a:r>
            <a:r>
              <a:rPr dirty="0" sz="1650" spc="9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elements</a:t>
            </a:r>
            <a:r>
              <a:rPr dirty="0" sz="1650" spc="95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of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2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module</a:t>
            </a:r>
            <a:r>
              <a:rPr dirty="0" sz="1650" spc="204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perform</a:t>
            </a:r>
            <a:r>
              <a:rPr dirty="0" sz="1650" spc="2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similar</a:t>
            </a:r>
            <a:r>
              <a:rPr dirty="0" sz="1650" spc="2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operations,</a:t>
            </a:r>
            <a:r>
              <a:rPr dirty="0" sz="1650" spc="2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such</a:t>
            </a:r>
            <a:r>
              <a:rPr dirty="0" sz="1650" spc="2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as</a:t>
            </a:r>
            <a:r>
              <a:rPr dirty="0" sz="1650" spc="2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error</a:t>
            </a:r>
            <a:r>
              <a:rPr dirty="0" sz="1650" spc="1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handling,</a:t>
            </a:r>
            <a:r>
              <a:rPr dirty="0" sz="1650" spc="20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204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input, </a:t>
            </a: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output,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etc.</a:t>
            </a:r>
            <a:endParaRPr sz="1650">
              <a:latin typeface="Calibri"/>
              <a:cs typeface="Calibri"/>
            </a:endParaRPr>
          </a:p>
          <a:p>
            <a:pPr algn="just" marL="12700" marR="6350">
              <a:lnSpc>
                <a:spcPts val="1580"/>
              </a:lnSpc>
              <a:spcBef>
                <a:spcPts val="840"/>
              </a:spcBef>
            </a:pPr>
            <a:r>
              <a:rPr dirty="0" sz="1650" b="1">
                <a:latin typeface="Calibri"/>
                <a:cs typeface="Calibri"/>
              </a:rPr>
              <a:t>Temporal</a:t>
            </a:r>
            <a:r>
              <a:rPr dirty="0" sz="1650" spc="17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cohesion:</a:t>
            </a:r>
            <a:r>
              <a:rPr dirty="0" sz="1650" spc="185" b="1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When</a:t>
            </a:r>
            <a:r>
              <a:rPr dirty="0" sz="1650" spc="1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19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module</a:t>
            </a:r>
            <a:r>
              <a:rPr dirty="0" sz="1650" spc="19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contains</a:t>
            </a:r>
            <a:r>
              <a:rPr dirty="0" sz="1650" spc="1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functions</a:t>
            </a:r>
            <a:r>
              <a:rPr dirty="0" sz="1650" spc="1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that</a:t>
            </a:r>
            <a:r>
              <a:rPr dirty="0" sz="1650" spc="1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19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related</a:t>
            </a:r>
            <a:r>
              <a:rPr dirty="0" sz="1650" spc="195">
                <a:latin typeface="Calibri"/>
                <a:cs typeface="Calibri"/>
              </a:rPr>
              <a:t> </a:t>
            </a:r>
            <a:r>
              <a:rPr dirty="0" sz="1650" spc="-35">
                <a:latin typeface="Calibri"/>
                <a:cs typeface="Calibri"/>
              </a:rPr>
              <a:t>by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fact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that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these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functions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executed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same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time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span</a:t>
            </a:r>
            <a:endParaRPr sz="1650">
              <a:latin typeface="Calibri"/>
              <a:cs typeface="Calibri"/>
            </a:endParaRPr>
          </a:p>
          <a:p>
            <a:pPr algn="just" marL="12700" marR="5080">
              <a:lnSpc>
                <a:spcPts val="1580"/>
              </a:lnSpc>
              <a:spcBef>
                <a:spcPts val="825"/>
              </a:spcBef>
            </a:pPr>
            <a:r>
              <a:rPr dirty="0" sz="1650" b="1">
                <a:latin typeface="Calibri"/>
                <a:cs typeface="Calibri"/>
              </a:rPr>
              <a:t>Procedural</a:t>
            </a:r>
            <a:r>
              <a:rPr dirty="0" sz="1650" spc="50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cohesion:</a:t>
            </a:r>
            <a:r>
              <a:rPr dirty="0" sz="1650" spc="50" b="1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module</a:t>
            </a:r>
            <a:r>
              <a:rPr dirty="0" sz="1650" spc="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said</a:t>
            </a:r>
            <a:r>
              <a:rPr dirty="0" sz="1650" spc="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possess</a:t>
            </a:r>
            <a:r>
              <a:rPr dirty="0" sz="1650" spc="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procedural</a:t>
            </a:r>
            <a:r>
              <a:rPr dirty="0" sz="1650" spc="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cohesion,</a:t>
            </a:r>
            <a:r>
              <a:rPr dirty="0" sz="1650" spc="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if</a:t>
            </a:r>
            <a:r>
              <a:rPr dirty="0" sz="1650" spc="40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the </a:t>
            </a:r>
            <a:r>
              <a:rPr dirty="0" sz="1650">
                <a:latin typeface="Calibri"/>
                <a:cs typeface="Calibri"/>
              </a:rPr>
              <a:t>set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functions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module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-10">
                <a:latin typeface="Calibri"/>
                <a:cs typeface="Calibri"/>
              </a:rPr>
              <a:t> executed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one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after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other,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though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these </a:t>
            </a:r>
            <a:r>
              <a:rPr dirty="0" sz="1650">
                <a:latin typeface="Calibri"/>
                <a:cs typeface="Calibri"/>
              </a:rPr>
              <a:t>functions</a:t>
            </a:r>
            <a:r>
              <a:rPr dirty="0" sz="1650" spc="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may</a:t>
            </a:r>
            <a:r>
              <a:rPr dirty="0" sz="1650" spc="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work</a:t>
            </a:r>
            <a:r>
              <a:rPr dirty="0" sz="1650" spc="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towards</a:t>
            </a:r>
            <a:r>
              <a:rPr dirty="0" sz="1650" spc="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entirely</a:t>
            </a:r>
            <a:r>
              <a:rPr dirty="0" sz="1650" spc="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different</a:t>
            </a:r>
            <a:r>
              <a:rPr dirty="0" sz="1650" spc="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purposes</a:t>
            </a:r>
            <a:r>
              <a:rPr dirty="0" sz="1650" spc="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and</a:t>
            </a:r>
            <a:r>
              <a:rPr dirty="0" sz="1650" spc="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operate</a:t>
            </a:r>
            <a:r>
              <a:rPr dirty="0" sz="1650" spc="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on</a:t>
            </a:r>
            <a:r>
              <a:rPr dirty="0" sz="1650" spc="65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very </a:t>
            </a:r>
            <a:r>
              <a:rPr dirty="0" sz="1650" spc="-10">
                <a:latin typeface="Calibri"/>
                <a:cs typeface="Calibri"/>
              </a:rPr>
              <a:t>different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data.</a:t>
            </a:r>
            <a:endParaRPr sz="1650">
              <a:latin typeface="Calibri"/>
              <a:cs typeface="Calibri"/>
            </a:endParaRPr>
          </a:p>
          <a:p>
            <a:pPr algn="just" marL="12700" marR="6350">
              <a:lnSpc>
                <a:spcPts val="1580"/>
              </a:lnSpc>
              <a:spcBef>
                <a:spcPts val="844"/>
              </a:spcBef>
            </a:pPr>
            <a:r>
              <a:rPr dirty="0" sz="1650" b="1">
                <a:latin typeface="Calibri"/>
                <a:cs typeface="Calibri"/>
              </a:rPr>
              <a:t>Communicational</a:t>
            </a:r>
            <a:r>
              <a:rPr dirty="0" sz="1650" spc="75" b="1">
                <a:latin typeface="Calibri"/>
                <a:cs typeface="Calibri"/>
              </a:rPr>
              <a:t>  </a:t>
            </a:r>
            <a:r>
              <a:rPr dirty="0" sz="1650" b="1">
                <a:latin typeface="Calibri"/>
                <a:cs typeface="Calibri"/>
              </a:rPr>
              <a:t>cohesion:</a:t>
            </a:r>
            <a:r>
              <a:rPr dirty="0" sz="1650" spc="85" b="1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80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module</a:t>
            </a:r>
            <a:r>
              <a:rPr dirty="0" sz="1650" spc="95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80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said</a:t>
            </a:r>
            <a:r>
              <a:rPr dirty="0" sz="1650" spc="85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85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have</a:t>
            </a:r>
            <a:r>
              <a:rPr dirty="0" sz="1650" spc="95">
                <a:latin typeface="Calibri"/>
                <a:cs typeface="Calibri"/>
              </a:rPr>
              <a:t>  </a:t>
            </a:r>
            <a:r>
              <a:rPr dirty="0" sz="1650" spc="-10">
                <a:latin typeface="Calibri"/>
                <a:cs typeface="Calibri"/>
              </a:rPr>
              <a:t>communicational </a:t>
            </a:r>
            <a:r>
              <a:rPr dirty="0" sz="1650">
                <a:latin typeface="Calibri"/>
                <a:cs typeface="Calibri"/>
              </a:rPr>
              <a:t>cohesion,</a:t>
            </a:r>
            <a:r>
              <a:rPr dirty="0" sz="1650" spc="254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if</a:t>
            </a:r>
            <a:r>
              <a:rPr dirty="0" sz="1650" spc="2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all</a:t>
            </a:r>
            <a:r>
              <a:rPr dirty="0" sz="1650" spc="2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functions</a:t>
            </a:r>
            <a:r>
              <a:rPr dirty="0" sz="1650" spc="2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2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2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module</a:t>
            </a:r>
            <a:r>
              <a:rPr dirty="0" sz="1650" spc="2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refer</a:t>
            </a:r>
            <a:r>
              <a:rPr dirty="0" sz="1650" spc="254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2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or</a:t>
            </a:r>
            <a:r>
              <a:rPr dirty="0" sz="1650" spc="254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update</a:t>
            </a:r>
            <a:r>
              <a:rPr dirty="0" sz="1650" spc="2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2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same</a:t>
            </a:r>
            <a:r>
              <a:rPr dirty="0" sz="1650" spc="265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data </a:t>
            </a:r>
            <a:r>
              <a:rPr dirty="0" sz="1650" spc="-10">
                <a:latin typeface="Calibri"/>
                <a:cs typeface="Calibri"/>
              </a:rPr>
              <a:t>structure.</a:t>
            </a:r>
            <a:endParaRPr sz="1650">
              <a:latin typeface="Calibri"/>
              <a:cs typeface="Calibri"/>
            </a:endParaRPr>
          </a:p>
          <a:p>
            <a:pPr algn="just" marL="12700" marR="5715">
              <a:lnSpc>
                <a:spcPts val="1580"/>
              </a:lnSpc>
              <a:spcBef>
                <a:spcPts val="840"/>
              </a:spcBef>
            </a:pPr>
            <a:r>
              <a:rPr dirty="0" sz="1650" b="1">
                <a:latin typeface="Calibri"/>
                <a:cs typeface="Calibri"/>
              </a:rPr>
              <a:t>Sequential</a:t>
            </a:r>
            <a:r>
              <a:rPr dirty="0" sz="1650" spc="9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cohesion:</a:t>
            </a:r>
            <a:r>
              <a:rPr dirty="0" sz="1650" spc="90" b="1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9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module</a:t>
            </a:r>
            <a:r>
              <a:rPr dirty="0" sz="1650" spc="9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said</a:t>
            </a:r>
            <a:r>
              <a:rPr dirty="0" sz="1650" spc="9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9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possess</a:t>
            </a:r>
            <a:r>
              <a:rPr dirty="0" sz="1650" spc="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sequential</a:t>
            </a:r>
            <a:r>
              <a:rPr dirty="0" sz="1650" spc="10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cohesion,</a:t>
            </a:r>
            <a:r>
              <a:rPr dirty="0" sz="1650" spc="9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if</a:t>
            </a:r>
            <a:r>
              <a:rPr dirty="0" sz="1650" spc="80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the </a:t>
            </a:r>
            <a:r>
              <a:rPr dirty="0" sz="1650" spc="-10">
                <a:latin typeface="Calibri"/>
                <a:cs typeface="Calibri"/>
              </a:rPr>
              <a:t>different </a:t>
            </a:r>
            <a:r>
              <a:rPr dirty="0" sz="1650">
                <a:latin typeface="Calibri"/>
                <a:cs typeface="Calibri"/>
              </a:rPr>
              <a:t>functions of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module</a:t>
            </a:r>
            <a:r>
              <a:rPr dirty="0" sz="1650" spc="-10">
                <a:latin typeface="Calibri"/>
                <a:cs typeface="Calibri"/>
              </a:rPr>
              <a:t> execute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</a:t>
            </a:r>
            <a:r>
              <a:rPr dirty="0" sz="1650" spc="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 sequence,</a:t>
            </a:r>
            <a:r>
              <a:rPr dirty="0" sz="1650" spc="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and</a:t>
            </a:r>
            <a:r>
              <a:rPr dirty="0" sz="1650" spc="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output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from </a:t>
            </a:r>
            <a:r>
              <a:rPr dirty="0" sz="1650">
                <a:latin typeface="Calibri"/>
                <a:cs typeface="Calibri"/>
              </a:rPr>
              <a:t>one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function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input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 next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sequence.</a:t>
            </a:r>
            <a:endParaRPr sz="1650">
              <a:latin typeface="Calibri"/>
              <a:cs typeface="Calibri"/>
            </a:endParaRPr>
          </a:p>
          <a:p>
            <a:pPr algn="just" marL="12700" marR="7620">
              <a:lnSpc>
                <a:spcPts val="1580"/>
              </a:lnSpc>
              <a:spcBef>
                <a:spcPts val="840"/>
              </a:spcBef>
            </a:pPr>
            <a:r>
              <a:rPr dirty="0" sz="1650" b="1">
                <a:latin typeface="Calibri"/>
                <a:cs typeface="Calibri"/>
              </a:rPr>
              <a:t>Functional</a:t>
            </a:r>
            <a:r>
              <a:rPr dirty="0" sz="1650" spc="40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cohesion:</a:t>
            </a:r>
            <a:r>
              <a:rPr dirty="0" sz="1650" spc="400" b="1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40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module</a:t>
            </a:r>
            <a:r>
              <a:rPr dirty="0" sz="1650" spc="40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3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said</a:t>
            </a:r>
            <a:r>
              <a:rPr dirty="0" sz="1650" spc="39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39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possess</a:t>
            </a:r>
            <a:r>
              <a:rPr dirty="0" sz="1650" spc="3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functional</a:t>
            </a:r>
            <a:r>
              <a:rPr dirty="0" sz="1650" spc="40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cohesion,</a:t>
            </a:r>
            <a:r>
              <a:rPr dirty="0" sz="1650" spc="380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if </a:t>
            </a:r>
            <a:r>
              <a:rPr dirty="0" sz="1650" spc="-10">
                <a:latin typeface="Calibri"/>
                <a:cs typeface="Calibri"/>
              </a:rPr>
              <a:t>different</a:t>
            </a:r>
            <a:r>
              <a:rPr dirty="0" sz="1650" spc="-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functions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module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co-</a:t>
            </a:r>
            <a:r>
              <a:rPr dirty="0" sz="1650" spc="-10">
                <a:latin typeface="Calibri"/>
                <a:cs typeface="Calibri"/>
              </a:rPr>
              <a:t>operate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complete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single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task.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392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35"/>
              </a:spcBef>
            </a:pPr>
            <a:r>
              <a:rPr dirty="0" sz="3600" spc="-10"/>
              <a:t>Examples</a:t>
            </a:r>
            <a:r>
              <a:rPr dirty="0" sz="3600" spc="-110"/>
              <a:t> </a:t>
            </a:r>
            <a:r>
              <a:rPr dirty="0" sz="3600"/>
              <a:t>of</a:t>
            </a:r>
            <a:r>
              <a:rPr dirty="0" sz="3600" spc="-45"/>
              <a:t> </a:t>
            </a:r>
            <a:r>
              <a:rPr dirty="0" sz="3600" spc="-10"/>
              <a:t>Cohesion-</a:t>
            </a:r>
            <a:r>
              <a:rPr dirty="0" sz="3600" spc="-50"/>
              <a:t>1</a:t>
            </a:r>
            <a:endParaRPr sz="3600"/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820417" y="2751582"/>
          <a:ext cx="1717675" cy="1067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4380"/>
                <a:gridCol w="879475"/>
              </a:tblGrid>
              <a:tr h="313690">
                <a:tc gridSpan="2"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450">
                          <a:latin typeface="Arial MT"/>
                          <a:cs typeface="Arial MT"/>
                        </a:rPr>
                        <a:t>Function</a:t>
                      </a:r>
                      <a:r>
                        <a:rPr dirty="0" sz="14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50" spc="-50">
                          <a:latin typeface="Arial MT"/>
                          <a:cs typeface="Arial MT"/>
                        </a:rPr>
                        <a:t>A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4472C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7825">
                <a:tc>
                  <a:txBody>
                    <a:bodyPr/>
                    <a:lstStyle/>
                    <a:p>
                      <a:pPr algn="ctr" marL="36195">
                        <a:lnSpc>
                          <a:spcPts val="1350"/>
                        </a:lnSpc>
                      </a:pPr>
                      <a:r>
                        <a:rPr dirty="0" sz="1300" spc="-10">
                          <a:latin typeface="Arial MT"/>
                          <a:cs typeface="Arial MT"/>
                        </a:rPr>
                        <a:t>Function</a:t>
                      </a:r>
                      <a:endParaRPr sz="1300">
                        <a:latin typeface="Arial MT"/>
                        <a:cs typeface="Arial MT"/>
                      </a:endParaRPr>
                    </a:p>
                    <a:p>
                      <a:pPr algn="ctr" marL="36830">
                        <a:lnSpc>
                          <a:spcPts val="1500"/>
                        </a:lnSpc>
                        <a:spcBef>
                          <a:spcPts val="25"/>
                        </a:spcBef>
                      </a:pPr>
                      <a:r>
                        <a:rPr dirty="0" sz="1300" spc="-50">
                          <a:latin typeface="Arial MT"/>
                          <a:cs typeface="Arial MT"/>
                        </a:rPr>
                        <a:t>B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4472C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6195">
                        <a:lnSpc>
                          <a:spcPts val="1350"/>
                        </a:lnSpc>
                      </a:pPr>
                      <a:r>
                        <a:rPr dirty="0" sz="1300" spc="-10">
                          <a:latin typeface="Arial MT"/>
                          <a:cs typeface="Arial MT"/>
                        </a:rPr>
                        <a:t>Function</a:t>
                      </a:r>
                      <a:endParaRPr sz="1300">
                        <a:latin typeface="Arial MT"/>
                        <a:cs typeface="Arial MT"/>
                      </a:endParaRPr>
                    </a:p>
                    <a:p>
                      <a:pPr algn="ctr" marL="36830">
                        <a:lnSpc>
                          <a:spcPts val="1500"/>
                        </a:lnSpc>
                        <a:spcBef>
                          <a:spcPts val="25"/>
                        </a:spcBef>
                      </a:pPr>
                      <a:r>
                        <a:rPr dirty="0" sz="1300" spc="-50">
                          <a:latin typeface="Arial MT"/>
                          <a:cs typeface="Arial MT"/>
                        </a:rPr>
                        <a:t>C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4472C3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ctr" marR="43815">
                        <a:lnSpc>
                          <a:spcPts val="1340"/>
                        </a:lnSpc>
                      </a:pPr>
                      <a:r>
                        <a:rPr dirty="0" sz="1300" spc="-10">
                          <a:latin typeface="Arial MT"/>
                          <a:cs typeface="Arial MT"/>
                        </a:rPr>
                        <a:t>Function</a:t>
                      </a:r>
                      <a:endParaRPr sz="1300">
                        <a:latin typeface="Arial MT"/>
                        <a:cs typeface="Arial MT"/>
                      </a:endParaRPr>
                    </a:p>
                    <a:p>
                      <a:pPr algn="ctr" marR="43180">
                        <a:lnSpc>
                          <a:spcPts val="1500"/>
                        </a:lnSpc>
                        <a:spcBef>
                          <a:spcPts val="25"/>
                        </a:spcBef>
                      </a:pPr>
                      <a:r>
                        <a:rPr dirty="0" sz="1300" spc="-50">
                          <a:latin typeface="Arial MT"/>
                          <a:cs typeface="Arial MT"/>
                        </a:rPr>
                        <a:t>D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4472C3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270">
                        <a:lnSpc>
                          <a:spcPts val="1340"/>
                        </a:lnSpc>
                      </a:pPr>
                      <a:r>
                        <a:rPr dirty="0" sz="1300" spc="-10">
                          <a:latin typeface="Arial MT"/>
                          <a:cs typeface="Arial MT"/>
                        </a:rPr>
                        <a:t>Function</a:t>
                      </a:r>
                      <a:endParaRPr sz="1300">
                        <a:latin typeface="Arial MT"/>
                        <a:cs typeface="Arial MT"/>
                      </a:endParaRPr>
                    </a:p>
                    <a:p>
                      <a:pPr algn="ctr" marL="36830">
                        <a:lnSpc>
                          <a:spcPts val="1500"/>
                        </a:lnSpc>
                        <a:spcBef>
                          <a:spcPts val="25"/>
                        </a:spcBef>
                      </a:pPr>
                      <a:r>
                        <a:rPr dirty="0" sz="1300" spc="-50">
                          <a:latin typeface="Arial MT"/>
                          <a:cs typeface="Arial MT"/>
                        </a:rPr>
                        <a:t>E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4472C3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2027931" y="3942055"/>
            <a:ext cx="1306195" cy="4794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90"/>
              </a:spcBef>
            </a:pPr>
            <a:r>
              <a:rPr dirty="0" sz="1450" spc="-10">
                <a:latin typeface="Arial MT"/>
                <a:cs typeface="Arial MT"/>
              </a:rPr>
              <a:t>Coincidental </a:t>
            </a:r>
            <a:r>
              <a:rPr dirty="0" sz="1450">
                <a:latin typeface="Arial MT"/>
                <a:cs typeface="Arial MT"/>
              </a:rPr>
              <a:t>Parts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unrelated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271009" y="2751582"/>
            <a:ext cx="1767839" cy="1076325"/>
            <a:chOff x="4271009" y="2751582"/>
            <a:chExt cx="1767839" cy="1076325"/>
          </a:xfrm>
        </p:grpSpPr>
        <p:sp>
          <p:nvSpPr>
            <p:cNvPr id="6" name="object 6" descr=""/>
            <p:cNvSpPr/>
            <p:nvPr/>
          </p:nvSpPr>
          <p:spPr>
            <a:xfrm>
              <a:off x="4274819" y="2755392"/>
              <a:ext cx="1760220" cy="1068705"/>
            </a:xfrm>
            <a:custGeom>
              <a:avLst/>
              <a:gdLst/>
              <a:ahLst/>
              <a:cxnLst/>
              <a:rect l="l" t="t" r="r" b="b"/>
              <a:pathLst>
                <a:path w="1760220" h="1068704">
                  <a:moveTo>
                    <a:pt x="1760219" y="1068324"/>
                  </a:moveTo>
                  <a:lnTo>
                    <a:pt x="0" y="1068324"/>
                  </a:lnTo>
                  <a:lnTo>
                    <a:pt x="0" y="0"/>
                  </a:lnTo>
                  <a:lnTo>
                    <a:pt x="1760219" y="0"/>
                  </a:lnTo>
                  <a:lnTo>
                    <a:pt x="1760219" y="1068324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274819" y="2755392"/>
              <a:ext cx="1760220" cy="1068705"/>
            </a:xfrm>
            <a:custGeom>
              <a:avLst/>
              <a:gdLst/>
              <a:ahLst/>
              <a:cxnLst/>
              <a:rect l="l" t="t" r="r" b="b"/>
              <a:pathLst>
                <a:path w="1760220" h="1068704">
                  <a:moveTo>
                    <a:pt x="0" y="0"/>
                  </a:moveTo>
                  <a:lnTo>
                    <a:pt x="1760219" y="0"/>
                  </a:lnTo>
                  <a:lnTo>
                    <a:pt x="1760219" y="1068324"/>
                  </a:lnTo>
                  <a:lnTo>
                    <a:pt x="0" y="1068324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274819" y="3133343"/>
              <a:ext cx="1760220" cy="376555"/>
            </a:xfrm>
            <a:custGeom>
              <a:avLst/>
              <a:gdLst/>
              <a:ahLst/>
              <a:cxnLst/>
              <a:rect l="l" t="t" r="r" b="b"/>
              <a:pathLst>
                <a:path w="1760220" h="376554">
                  <a:moveTo>
                    <a:pt x="0" y="0"/>
                  </a:moveTo>
                  <a:lnTo>
                    <a:pt x="1760219" y="0"/>
                  </a:lnTo>
                </a:path>
                <a:path w="1760220" h="376554">
                  <a:moveTo>
                    <a:pt x="0" y="376428"/>
                  </a:moveTo>
                  <a:lnTo>
                    <a:pt x="1760219" y="376428"/>
                  </a:lnTo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4278629" y="2794536"/>
            <a:ext cx="175260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7973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 MT"/>
                <a:cs typeface="Arial MT"/>
              </a:rPr>
              <a:t>Function</a:t>
            </a:r>
            <a:r>
              <a:rPr dirty="0" sz="1300" spc="-55">
                <a:latin typeface="Arial MT"/>
                <a:cs typeface="Arial MT"/>
              </a:rPr>
              <a:t> </a:t>
            </a:r>
            <a:r>
              <a:rPr dirty="0" sz="1300" spc="-60">
                <a:latin typeface="Arial MT"/>
                <a:cs typeface="Arial MT"/>
              </a:rPr>
              <a:t>A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58891" y="3196856"/>
            <a:ext cx="829944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 MT"/>
                <a:cs typeface="Arial MT"/>
              </a:rPr>
              <a:t>Function</a:t>
            </a:r>
            <a:r>
              <a:rPr dirty="0" sz="1300" spc="-55">
                <a:latin typeface="Arial MT"/>
                <a:cs typeface="Arial MT"/>
              </a:rPr>
              <a:t> </a:t>
            </a:r>
            <a:r>
              <a:rPr dirty="0" sz="1300" spc="-35">
                <a:latin typeface="Arial MT"/>
                <a:cs typeface="Arial MT"/>
              </a:rPr>
              <a:t>A’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278629" y="3599176"/>
            <a:ext cx="175260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7973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 MT"/>
                <a:cs typeface="Arial MT"/>
              </a:rPr>
              <a:t>Function</a:t>
            </a:r>
            <a:r>
              <a:rPr dirty="0" sz="1300" spc="-55">
                <a:latin typeface="Arial MT"/>
                <a:cs typeface="Arial MT"/>
              </a:rPr>
              <a:t> </a:t>
            </a:r>
            <a:r>
              <a:rPr dirty="0" sz="1300" spc="-25">
                <a:latin typeface="Arial MT"/>
                <a:cs typeface="Arial MT"/>
              </a:rPr>
              <a:t>A’’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4369295" y="3006851"/>
            <a:ext cx="64135" cy="692150"/>
          </a:xfrm>
          <a:custGeom>
            <a:avLst/>
            <a:gdLst/>
            <a:ahLst/>
            <a:cxnLst/>
            <a:rect l="l" t="t" r="r" b="b"/>
            <a:pathLst>
              <a:path w="64135" h="692150">
                <a:moveTo>
                  <a:pt x="64008" y="440436"/>
                </a:moveTo>
                <a:lnTo>
                  <a:pt x="58547" y="429768"/>
                </a:lnTo>
                <a:lnTo>
                  <a:pt x="32004" y="377952"/>
                </a:lnTo>
                <a:lnTo>
                  <a:pt x="0" y="440436"/>
                </a:lnTo>
                <a:lnTo>
                  <a:pt x="27432" y="440436"/>
                </a:lnTo>
                <a:lnTo>
                  <a:pt x="27432" y="629412"/>
                </a:lnTo>
                <a:lnTo>
                  <a:pt x="0" y="629412"/>
                </a:lnTo>
                <a:lnTo>
                  <a:pt x="32004" y="691896"/>
                </a:lnTo>
                <a:lnTo>
                  <a:pt x="58547" y="640080"/>
                </a:lnTo>
                <a:lnTo>
                  <a:pt x="64008" y="629412"/>
                </a:lnTo>
                <a:lnTo>
                  <a:pt x="36576" y="629412"/>
                </a:lnTo>
                <a:lnTo>
                  <a:pt x="36576" y="440436"/>
                </a:lnTo>
                <a:lnTo>
                  <a:pt x="64008" y="440436"/>
                </a:lnTo>
                <a:close/>
              </a:path>
              <a:path w="64135" h="692150">
                <a:moveTo>
                  <a:pt x="64008" y="62484"/>
                </a:moveTo>
                <a:lnTo>
                  <a:pt x="59334" y="53340"/>
                </a:lnTo>
                <a:lnTo>
                  <a:pt x="32004" y="0"/>
                </a:lnTo>
                <a:lnTo>
                  <a:pt x="0" y="62484"/>
                </a:lnTo>
                <a:lnTo>
                  <a:pt x="27432" y="62484"/>
                </a:lnTo>
                <a:lnTo>
                  <a:pt x="27432" y="251460"/>
                </a:lnTo>
                <a:lnTo>
                  <a:pt x="0" y="251460"/>
                </a:lnTo>
                <a:lnTo>
                  <a:pt x="32004" y="313956"/>
                </a:lnTo>
                <a:lnTo>
                  <a:pt x="58547" y="262128"/>
                </a:lnTo>
                <a:lnTo>
                  <a:pt x="64008" y="251460"/>
                </a:lnTo>
                <a:lnTo>
                  <a:pt x="36576" y="251460"/>
                </a:lnTo>
                <a:lnTo>
                  <a:pt x="36576" y="62484"/>
                </a:lnTo>
                <a:lnTo>
                  <a:pt x="64008" y="624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4073168" y="3259351"/>
            <a:ext cx="32448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latin typeface="Arial MT"/>
                <a:cs typeface="Arial MT"/>
              </a:rPr>
              <a:t>logic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400839" y="3967984"/>
            <a:ext cx="1410970" cy="4794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391160">
              <a:lnSpc>
                <a:spcPct val="102800"/>
              </a:lnSpc>
              <a:spcBef>
                <a:spcPts val="90"/>
              </a:spcBef>
            </a:pPr>
            <a:r>
              <a:rPr dirty="0" sz="1450" spc="-10">
                <a:latin typeface="Arial MT"/>
                <a:cs typeface="Arial MT"/>
              </a:rPr>
              <a:t>Logical </a:t>
            </a:r>
            <a:r>
              <a:rPr dirty="0" sz="1450">
                <a:latin typeface="Arial MT"/>
                <a:cs typeface="Arial MT"/>
              </a:rPr>
              <a:t>Similar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functions</a:t>
            </a:r>
            <a:endParaRPr sz="1450">
              <a:latin typeface="Arial MT"/>
              <a:cs typeface="Arial MT"/>
            </a:endParaRPr>
          </a:p>
        </p:txBody>
      </p:sp>
      <p:graphicFrame>
        <p:nvGraphicFramePr>
          <p:cNvPr id="15" name="object 15" descr=""/>
          <p:cNvGraphicFramePr>
            <a:graphicFrameLocks noGrp="1"/>
          </p:cNvGraphicFramePr>
          <p:nvPr/>
        </p:nvGraphicFramePr>
        <p:xfrm>
          <a:off x="6723126" y="2751582"/>
          <a:ext cx="1655445" cy="1067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0990"/>
              </a:tblGrid>
              <a:tr h="313690">
                <a:tc>
                  <a:txBody>
                    <a:bodyPr/>
                    <a:lstStyle/>
                    <a:p>
                      <a:pPr algn="ctr" marL="2667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Time</a:t>
                      </a:r>
                      <a:r>
                        <a:rPr dirty="0" sz="13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 spc="-25">
                          <a:latin typeface="Arial MT"/>
                          <a:cs typeface="Arial MT"/>
                        </a:rPr>
                        <a:t>t</a:t>
                      </a:r>
                      <a:r>
                        <a:rPr dirty="0" baseline="-19607" sz="1275" spc="-37">
                          <a:latin typeface="Arial MT"/>
                          <a:cs typeface="Arial MT"/>
                        </a:rPr>
                        <a:t>0</a:t>
                      </a:r>
                      <a:endParaRPr baseline="-19607" sz="1275">
                        <a:latin typeface="Arial MT"/>
                        <a:cs typeface="Arial MT"/>
                      </a:endParaRPr>
                    </a:p>
                  </a:txBody>
                  <a:tcPr marL="0" marR="0" marB="0" marT="755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4472C3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algn="ctr" marL="2730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Time</a:t>
                      </a:r>
                      <a:r>
                        <a:rPr dirty="0" sz="13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t</a:t>
                      </a:r>
                      <a:r>
                        <a:rPr dirty="0" baseline="-19607" sz="1275">
                          <a:latin typeface="Arial MT"/>
                          <a:cs typeface="Arial MT"/>
                        </a:rPr>
                        <a:t>0</a:t>
                      </a:r>
                      <a:r>
                        <a:rPr dirty="0" baseline="-19607" sz="1275" spc="22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13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 spc="-60">
                          <a:latin typeface="Arial MT"/>
                          <a:cs typeface="Arial MT"/>
                        </a:rPr>
                        <a:t>X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965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4472C3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Time</a:t>
                      </a:r>
                      <a:r>
                        <a:rPr dirty="0" sz="13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t</a:t>
                      </a:r>
                      <a:r>
                        <a:rPr dirty="0" baseline="-19607" sz="1275">
                          <a:latin typeface="Arial MT"/>
                          <a:cs typeface="Arial MT"/>
                        </a:rPr>
                        <a:t>0</a:t>
                      </a:r>
                      <a:r>
                        <a:rPr dirty="0" baseline="-19607" sz="1275" spc="382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13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 spc="-25">
                          <a:latin typeface="Arial MT"/>
                          <a:cs typeface="Arial MT"/>
                        </a:rPr>
                        <a:t>2X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539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4472C3"/>
                    </a:solidFill>
                  </a:tcPr>
                </a:tc>
              </a:tr>
            </a:tbl>
          </a:graphicData>
        </a:graphic>
      </p:graphicFrame>
      <p:sp>
        <p:nvSpPr>
          <p:cNvPr id="16" name="object 16" descr=""/>
          <p:cNvSpPr txBox="1"/>
          <p:nvPr/>
        </p:nvSpPr>
        <p:spPr>
          <a:xfrm>
            <a:off x="6852918" y="4032022"/>
            <a:ext cx="1336675" cy="4794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264795">
              <a:lnSpc>
                <a:spcPct val="102800"/>
              </a:lnSpc>
              <a:spcBef>
                <a:spcPts val="90"/>
              </a:spcBef>
            </a:pPr>
            <a:r>
              <a:rPr dirty="0" sz="1450" spc="-10">
                <a:latin typeface="Arial MT"/>
                <a:cs typeface="Arial MT"/>
              </a:rPr>
              <a:t>Temporal </a:t>
            </a:r>
            <a:r>
              <a:rPr dirty="0" sz="1450">
                <a:latin typeface="Arial MT"/>
                <a:cs typeface="Arial MT"/>
              </a:rPr>
              <a:t>Related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by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 spc="-20">
                <a:latin typeface="Arial MT"/>
                <a:cs typeface="Arial MT"/>
              </a:rPr>
              <a:t>time</a:t>
            </a:r>
            <a:endParaRPr sz="1450">
              <a:latin typeface="Arial MT"/>
              <a:cs typeface="Arial MT"/>
            </a:endParaRPr>
          </a:p>
        </p:txBody>
      </p:sp>
      <p:graphicFrame>
        <p:nvGraphicFramePr>
          <p:cNvPr id="17" name="object 17" descr=""/>
          <p:cNvGraphicFramePr>
            <a:graphicFrameLocks noGrp="1"/>
          </p:cNvGraphicFramePr>
          <p:nvPr/>
        </p:nvGraphicFramePr>
        <p:xfrm>
          <a:off x="4225290" y="4743450"/>
          <a:ext cx="1717675" cy="1068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3855"/>
              </a:tblGrid>
              <a:tr h="314960">
                <a:tc>
                  <a:txBody>
                    <a:bodyPr/>
                    <a:lstStyle/>
                    <a:p>
                      <a:pPr algn="ctr" marR="57785">
                        <a:lnSpc>
                          <a:spcPts val="1495"/>
                        </a:lnSpc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Function</a:t>
                      </a:r>
                      <a:r>
                        <a:rPr dirty="0" sz="13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 spc="-60">
                          <a:latin typeface="Arial MT"/>
                          <a:cs typeface="Arial MT"/>
                        </a:rPr>
                        <a:t>A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4472C3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Function</a:t>
                      </a:r>
                      <a:r>
                        <a:rPr dirty="0" sz="13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 spc="-50">
                          <a:latin typeface="Arial MT"/>
                          <a:cs typeface="Arial MT"/>
                        </a:rPr>
                        <a:t>B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4472C3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algn="ctr" marR="3873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Function</a:t>
                      </a:r>
                      <a:r>
                        <a:rPr dirty="0" sz="13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 spc="-50">
                          <a:latin typeface="Arial MT"/>
                          <a:cs typeface="Arial MT"/>
                        </a:rPr>
                        <a:t>C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047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4472C3"/>
                    </a:solidFill>
                  </a:tcPr>
                </a:tc>
              </a:tr>
            </a:tbl>
          </a:graphicData>
        </a:graphic>
      </p:graphicFrame>
      <p:sp>
        <p:nvSpPr>
          <p:cNvPr id="18" name="object 18" descr=""/>
          <p:cNvSpPr txBox="1"/>
          <p:nvPr/>
        </p:nvSpPr>
        <p:spPr>
          <a:xfrm>
            <a:off x="3788143" y="5927887"/>
            <a:ext cx="2437130" cy="4794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450" spc="-10">
                <a:latin typeface="Arial MT"/>
                <a:cs typeface="Arial MT"/>
              </a:rPr>
              <a:t>Procedural</a:t>
            </a:r>
            <a:endParaRPr sz="14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dirty="0" sz="1450">
                <a:latin typeface="Arial MT"/>
                <a:cs typeface="Arial MT"/>
              </a:rPr>
              <a:t>Related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by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order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functions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392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35"/>
              </a:spcBef>
            </a:pPr>
            <a:r>
              <a:rPr dirty="0" sz="3600" spc="-10"/>
              <a:t>Examples</a:t>
            </a:r>
            <a:r>
              <a:rPr dirty="0" sz="3600" spc="-110"/>
              <a:t> </a:t>
            </a:r>
            <a:r>
              <a:rPr dirty="0" sz="3600"/>
              <a:t>of</a:t>
            </a:r>
            <a:r>
              <a:rPr dirty="0" sz="3600" spc="-45"/>
              <a:t> </a:t>
            </a:r>
            <a:r>
              <a:rPr dirty="0" sz="3600" spc="-10"/>
              <a:t>Cohesion-</a:t>
            </a:r>
            <a:r>
              <a:rPr dirty="0" sz="3600" spc="-50"/>
              <a:t>2</a:t>
            </a:r>
            <a:endParaRPr sz="3600"/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225290" y="4743450"/>
          <a:ext cx="1717675" cy="1068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3855"/>
              </a:tblGrid>
              <a:tr h="314960">
                <a:tc>
                  <a:txBody>
                    <a:bodyPr/>
                    <a:lstStyle/>
                    <a:p>
                      <a:pPr algn="ctr">
                        <a:lnSpc>
                          <a:spcPts val="1495"/>
                        </a:lnSpc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Function</a:t>
                      </a:r>
                      <a:r>
                        <a:rPr dirty="0" sz="13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3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part</a:t>
                      </a:r>
                      <a:r>
                        <a:rPr dirty="0" sz="13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 spc="-50">
                          <a:latin typeface="Arial MT"/>
                          <a:cs typeface="Arial MT"/>
                        </a:rPr>
                        <a:t>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4472C3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Function</a:t>
                      </a:r>
                      <a:r>
                        <a:rPr dirty="0" sz="13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3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part</a:t>
                      </a:r>
                      <a:r>
                        <a:rPr dirty="0" sz="13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 spc="-50">
                          <a:latin typeface="Arial MT"/>
                          <a:cs typeface="Arial MT"/>
                        </a:rPr>
                        <a:t>2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4472C3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300">
                          <a:latin typeface="Arial MT"/>
                          <a:cs typeface="Arial MT"/>
                        </a:rPr>
                        <a:t>Function</a:t>
                      </a:r>
                      <a:r>
                        <a:rPr dirty="0" sz="13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3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>
                          <a:latin typeface="Arial MT"/>
                          <a:cs typeface="Arial MT"/>
                        </a:rPr>
                        <a:t>part</a:t>
                      </a:r>
                      <a:r>
                        <a:rPr dirty="0" sz="13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300" spc="-50">
                          <a:latin typeface="Arial MT"/>
                          <a:cs typeface="Arial MT"/>
                        </a:rPr>
                        <a:t>3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B="0" marT="1047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4472C3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3201467" y="5927887"/>
            <a:ext cx="3610610" cy="4794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450" spc="-10">
                <a:latin typeface="Arial MT"/>
                <a:cs typeface="Arial MT"/>
              </a:rPr>
              <a:t>Functional</a:t>
            </a:r>
            <a:endParaRPr sz="14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dirty="0" sz="1450">
                <a:latin typeface="Arial MT"/>
                <a:cs typeface="Arial MT"/>
              </a:rPr>
              <a:t>Sequential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with</a:t>
            </a:r>
            <a:r>
              <a:rPr dirty="0" sz="1450" spc="7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complete,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related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functions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323338" y="2669286"/>
            <a:ext cx="1641475" cy="1076325"/>
            <a:chOff x="2323338" y="2669286"/>
            <a:chExt cx="1641475" cy="1076325"/>
          </a:xfrm>
        </p:grpSpPr>
        <p:sp>
          <p:nvSpPr>
            <p:cNvPr id="6" name="object 6" descr=""/>
            <p:cNvSpPr/>
            <p:nvPr/>
          </p:nvSpPr>
          <p:spPr>
            <a:xfrm>
              <a:off x="2327148" y="2673096"/>
              <a:ext cx="1633855" cy="1068705"/>
            </a:xfrm>
            <a:custGeom>
              <a:avLst/>
              <a:gdLst/>
              <a:ahLst/>
              <a:cxnLst/>
              <a:rect l="l" t="t" r="r" b="b"/>
              <a:pathLst>
                <a:path w="1633854" h="1068704">
                  <a:moveTo>
                    <a:pt x="1633727" y="1068323"/>
                  </a:moveTo>
                  <a:lnTo>
                    <a:pt x="0" y="1068323"/>
                  </a:lnTo>
                  <a:lnTo>
                    <a:pt x="0" y="0"/>
                  </a:lnTo>
                  <a:lnTo>
                    <a:pt x="1633727" y="0"/>
                  </a:lnTo>
                  <a:lnTo>
                    <a:pt x="1633727" y="1068323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327148" y="2673096"/>
              <a:ext cx="1633855" cy="1068705"/>
            </a:xfrm>
            <a:custGeom>
              <a:avLst/>
              <a:gdLst/>
              <a:ahLst/>
              <a:cxnLst/>
              <a:rect l="l" t="t" r="r" b="b"/>
              <a:pathLst>
                <a:path w="1633854" h="1068704">
                  <a:moveTo>
                    <a:pt x="0" y="0"/>
                  </a:moveTo>
                  <a:lnTo>
                    <a:pt x="1633727" y="0"/>
                  </a:lnTo>
                  <a:lnTo>
                    <a:pt x="1633727" y="1068323"/>
                  </a:lnTo>
                  <a:lnTo>
                    <a:pt x="0" y="1068323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2330958" y="2649733"/>
            <a:ext cx="16262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481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 MT"/>
                <a:cs typeface="Arial MT"/>
              </a:rPr>
              <a:t>Function</a:t>
            </a:r>
            <a:r>
              <a:rPr dirty="0" sz="1300" spc="-55">
                <a:latin typeface="Arial MT"/>
                <a:cs typeface="Arial MT"/>
              </a:rPr>
              <a:t> </a:t>
            </a:r>
            <a:r>
              <a:rPr dirty="0" sz="1300" spc="-60">
                <a:latin typeface="Arial MT"/>
                <a:cs typeface="Arial MT"/>
              </a:rPr>
              <a:t>A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327148" y="2987039"/>
            <a:ext cx="1633855" cy="378460"/>
          </a:xfrm>
          <a:prstGeom prst="rect">
            <a:avLst/>
          </a:prstGeom>
          <a:solidFill>
            <a:srgbClr val="4472C3"/>
          </a:solidFill>
          <a:ln w="7620">
            <a:solidFill>
              <a:srgbClr val="000000"/>
            </a:solidFill>
          </a:ln>
        </p:spPr>
        <p:txBody>
          <a:bodyPr wrap="square" lIns="0" tIns="80010" rIns="0" bIns="0" rtlCol="0" vert="horz">
            <a:spAutoFit/>
          </a:bodyPr>
          <a:lstStyle/>
          <a:p>
            <a:pPr marL="388620">
              <a:lnSpc>
                <a:spcPct val="100000"/>
              </a:lnSpc>
              <a:spcBef>
                <a:spcPts val="630"/>
              </a:spcBef>
            </a:pPr>
            <a:r>
              <a:rPr dirty="0" sz="1300">
                <a:latin typeface="Arial MT"/>
                <a:cs typeface="Arial MT"/>
              </a:rPr>
              <a:t>Function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 spc="-50">
                <a:latin typeface="Arial MT"/>
                <a:cs typeface="Arial MT"/>
              </a:rPr>
              <a:t>B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327148" y="3364991"/>
            <a:ext cx="1633855" cy="376555"/>
          </a:xfrm>
          <a:prstGeom prst="rect">
            <a:avLst/>
          </a:prstGeom>
          <a:solidFill>
            <a:srgbClr val="4472C3"/>
          </a:solidFill>
          <a:ln w="7620">
            <a:solidFill>
              <a:srgbClr val="000000"/>
            </a:solidFill>
          </a:ln>
        </p:spPr>
        <p:txBody>
          <a:bodyPr wrap="square" lIns="0" tIns="104139" rIns="0" bIns="0" rtlCol="0" vert="horz">
            <a:spAutoFit/>
          </a:bodyPr>
          <a:lstStyle/>
          <a:p>
            <a:pPr marL="388620">
              <a:lnSpc>
                <a:spcPct val="100000"/>
              </a:lnSpc>
              <a:spcBef>
                <a:spcPts val="819"/>
              </a:spcBef>
            </a:pPr>
            <a:r>
              <a:rPr dirty="0" sz="1300">
                <a:latin typeface="Arial MT"/>
                <a:cs typeface="Arial MT"/>
              </a:rPr>
              <a:t>Function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 spc="-50">
                <a:latin typeface="Arial MT"/>
                <a:cs typeface="Arial MT"/>
              </a:rPr>
              <a:t>C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320531" y="3853657"/>
            <a:ext cx="1567180" cy="4794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39370">
              <a:lnSpc>
                <a:spcPct val="102800"/>
              </a:lnSpc>
              <a:spcBef>
                <a:spcPts val="90"/>
              </a:spcBef>
            </a:pPr>
            <a:r>
              <a:rPr dirty="0" sz="1450" spc="-10">
                <a:latin typeface="Arial MT"/>
                <a:cs typeface="Arial MT"/>
              </a:rPr>
              <a:t>Communicational </a:t>
            </a:r>
            <a:r>
              <a:rPr dirty="0" sz="1450">
                <a:latin typeface="Arial MT"/>
                <a:cs typeface="Arial MT"/>
              </a:rPr>
              <a:t>Access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same</a:t>
            </a:r>
            <a:r>
              <a:rPr dirty="0" sz="1450" spc="80">
                <a:latin typeface="Arial MT"/>
                <a:cs typeface="Arial MT"/>
              </a:rPr>
              <a:t> </a:t>
            </a:r>
            <a:r>
              <a:rPr dirty="0" sz="1450" spc="-20">
                <a:latin typeface="Arial MT"/>
                <a:cs typeface="Arial MT"/>
              </a:rPr>
              <a:t>data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236970" y="2669286"/>
            <a:ext cx="1641475" cy="1076325"/>
            <a:chOff x="6236970" y="2669286"/>
            <a:chExt cx="1641475" cy="1076325"/>
          </a:xfrm>
        </p:grpSpPr>
        <p:sp>
          <p:nvSpPr>
            <p:cNvPr id="13" name="object 13" descr=""/>
            <p:cNvSpPr/>
            <p:nvPr/>
          </p:nvSpPr>
          <p:spPr>
            <a:xfrm>
              <a:off x="6240780" y="2673096"/>
              <a:ext cx="1633855" cy="1068705"/>
            </a:xfrm>
            <a:custGeom>
              <a:avLst/>
              <a:gdLst/>
              <a:ahLst/>
              <a:cxnLst/>
              <a:rect l="l" t="t" r="r" b="b"/>
              <a:pathLst>
                <a:path w="1633854" h="1068704">
                  <a:moveTo>
                    <a:pt x="1633727" y="1068323"/>
                  </a:moveTo>
                  <a:lnTo>
                    <a:pt x="0" y="1068323"/>
                  </a:lnTo>
                  <a:lnTo>
                    <a:pt x="0" y="0"/>
                  </a:lnTo>
                  <a:lnTo>
                    <a:pt x="1633727" y="0"/>
                  </a:lnTo>
                  <a:lnTo>
                    <a:pt x="1633727" y="1068323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240780" y="2673096"/>
              <a:ext cx="1633855" cy="1068705"/>
            </a:xfrm>
            <a:custGeom>
              <a:avLst/>
              <a:gdLst/>
              <a:ahLst/>
              <a:cxnLst/>
              <a:rect l="l" t="t" r="r" b="b"/>
              <a:pathLst>
                <a:path w="1633854" h="1068704">
                  <a:moveTo>
                    <a:pt x="0" y="0"/>
                  </a:moveTo>
                  <a:lnTo>
                    <a:pt x="1633727" y="0"/>
                  </a:lnTo>
                  <a:lnTo>
                    <a:pt x="1633727" y="1068323"/>
                  </a:lnTo>
                  <a:lnTo>
                    <a:pt x="0" y="1068323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240780" y="2987040"/>
              <a:ext cx="1633855" cy="378460"/>
            </a:xfrm>
            <a:custGeom>
              <a:avLst/>
              <a:gdLst/>
              <a:ahLst/>
              <a:cxnLst/>
              <a:rect l="l" t="t" r="r" b="b"/>
              <a:pathLst>
                <a:path w="1633854" h="378460">
                  <a:moveTo>
                    <a:pt x="0" y="0"/>
                  </a:moveTo>
                  <a:lnTo>
                    <a:pt x="1633727" y="0"/>
                  </a:lnTo>
                </a:path>
                <a:path w="1633854" h="378460">
                  <a:moveTo>
                    <a:pt x="0" y="377951"/>
                  </a:moveTo>
                  <a:lnTo>
                    <a:pt x="1633727" y="377951"/>
                  </a:lnTo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244590" y="2649733"/>
            <a:ext cx="16262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4175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 MT"/>
                <a:cs typeface="Arial MT"/>
              </a:rPr>
              <a:t>Function</a:t>
            </a:r>
            <a:r>
              <a:rPr dirty="0" sz="1300" spc="-55">
                <a:latin typeface="Arial MT"/>
                <a:cs typeface="Arial MT"/>
              </a:rPr>
              <a:t> </a:t>
            </a:r>
            <a:r>
              <a:rPr dirty="0" sz="1300" spc="-60">
                <a:latin typeface="Arial MT"/>
                <a:cs typeface="Arial MT"/>
              </a:rPr>
              <a:t>A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244590" y="3052054"/>
            <a:ext cx="16262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4175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 MT"/>
                <a:cs typeface="Arial MT"/>
              </a:rPr>
              <a:t>Function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 spc="-50">
                <a:latin typeface="Arial MT"/>
                <a:cs typeface="Arial MT"/>
              </a:rPr>
              <a:t>B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244590" y="3454374"/>
            <a:ext cx="16262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4175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 MT"/>
                <a:cs typeface="Arial MT"/>
              </a:rPr>
              <a:t>Function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 spc="-50">
                <a:latin typeface="Arial MT"/>
                <a:cs typeface="Arial MT"/>
              </a:rPr>
              <a:t>C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658160" y="3853657"/>
            <a:ext cx="2720975" cy="4794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450" spc="-10">
                <a:latin typeface="Arial MT"/>
                <a:cs typeface="Arial MT"/>
              </a:rPr>
              <a:t>Sequential</a:t>
            </a:r>
            <a:endParaRPr sz="14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dirty="0" sz="1450">
                <a:latin typeface="Arial MT"/>
                <a:cs typeface="Arial MT"/>
              </a:rPr>
              <a:t>Output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one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input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another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751838" y="2091689"/>
            <a:ext cx="763270" cy="1418590"/>
            <a:chOff x="1751838" y="2091689"/>
            <a:chExt cx="763270" cy="1418590"/>
          </a:xfrm>
        </p:grpSpPr>
        <p:sp>
          <p:nvSpPr>
            <p:cNvPr id="21" name="object 21" descr=""/>
            <p:cNvSpPr/>
            <p:nvPr/>
          </p:nvSpPr>
          <p:spPr>
            <a:xfrm>
              <a:off x="1755648" y="2157983"/>
              <a:ext cx="502920" cy="440690"/>
            </a:xfrm>
            <a:custGeom>
              <a:avLst/>
              <a:gdLst/>
              <a:ahLst/>
              <a:cxnLst/>
              <a:rect l="l" t="t" r="r" b="b"/>
              <a:pathLst>
                <a:path w="502919" h="440689">
                  <a:moveTo>
                    <a:pt x="251459" y="440436"/>
                  </a:moveTo>
                  <a:lnTo>
                    <a:pt x="184679" y="438241"/>
                  </a:lnTo>
                  <a:lnTo>
                    <a:pt x="124629" y="432025"/>
                  </a:lnTo>
                  <a:lnTo>
                    <a:pt x="73723" y="422338"/>
                  </a:lnTo>
                  <a:lnTo>
                    <a:pt x="34374" y="409730"/>
                  </a:lnTo>
                  <a:lnTo>
                    <a:pt x="0" y="377952"/>
                  </a:lnTo>
                  <a:lnTo>
                    <a:pt x="0" y="0"/>
                  </a:lnTo>
                  <a:lnTo>
                    <a:pt x="8995" y="16799"/>
                  </a:lnTo>
                  <a:lnTo>
                    <a:pt x="34374" y="31778"/>
                  </a:lnTo>
                  <a:lnTo>
                    <a:pt x="73723" y="44386"/>
                  </a:lnTo>
                  <a:lnTo>
                    <a:pt x="124629" y="54073"/>
                  </a:lnTo>
                  <a:lnTo>
                    <a:pt x="184679" y="60289"/>
                  </a:lnTo>
                  <a:lnTo>
                    <a:pt x="251459" y="62484"/>
                  </a:lnTo>
                  <a:lnTo>
                    <a:pt x="318240" y="60289"/>
                  </a:lnTo>
                  <a:lnTo>
                    <a:pt x="378290" y="54073"/>
                  </a:lnTo>
                  <a:lnTo>
                    <a:pt x="429196" y="44386"/>
                  </a:lnTo>
                  <a:lnTo>
                    <a:pt x="468545" y="31778"/>
                  </a:lnTo>
                  <a:lnTo>
                    <a:pt x="502919" y="0"/>
                  </a:lnTo>
                  <a:lnTo>
                    <a:pt x="502919" y="377952"/>
                  </a:lnTo>
                  <a:lnTo>
                    <a:pt x="468545" y="409730"/>
                  </a:lnTo>
                  <a:lnTo>
                    <a:pt x="429196" y="422338"/>
                  </a:lnTo>
                  <a:lnTo>
                    <a:pt x="378290" y="432025"/>
                  </a:lnTo>
                  <a:lnTo>
                    <a:pt x="318240" y="438241"/>
                  </a:lnTo>
                  <a:lnTo>
                    <a:pt x="251459" y="440436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755648" y="2095499"/>
              <a:ext cx="502920" cy="125095"/>
            </a:xfrm>
            <a:custGeom>
              <a:avLst/>
              <a:gdLst/>
              <a:ahLst/>
              <a:cxnLst/>
              <a:rect l="l" t="t" r="r" b="b"/>
              <a:pathLst>
                <a:path w="502919" h="125094">
                  <a:moveTo>
                    <a:pt x="251459" y="124968"/>
                  </a:moveTo>
                  <a:lnTo>
                    <a:pt x="184679" y="122773"/>
                  </a:lnTo>
                  <a:lnTo>
                    <a:pt x="124629" y="116557"/>
                  </a:lnTo>
                  <a:lnTo>
                    <a:pt x="73723" y="106870"/>
                  </a:lnTo>
                  <a:lnTo>
                    <a:pt x="34374" y="94262"/>
                  </a:lnTo>
                  <a:lnTo>
                    <a:pt x="0" y="62484"/>
                  </a:lnTo>
                  <a:lnTo>
                    <a:pt x="8995" y="45684"/>
                  </a:lnTo>
                  <a:lnTo>
                    <a:pt x="73723" y="18097"/>
                  </a:lnTo>
                  <a:lnTo>
                    <a:pt x="124629" y="8410"/>
                  </a:lnTo>
                  <a:lnTo>
                    <a:pt x="184679" y="2194"/>
                  </a:lnTo>
                  <a:lnTo>
                    <a:pt x="251459" y="0"/>
                  </a:lnTo>
                  <a:lnTo>
                    <a:pt x="318240" y="2194"/>
                  </a:lnTo>
                  <a:lnTo>
                    <a:pt x="378290" y="8410"/>
                  </a:lnTo>
                  <a:lnTo>
                    <a:pt x="429196" y="18097"/>
                  </a:lnTo>
                  <a:lnTo>
                    <a:pt x="468545" y="30705"/>
                  </a:lnTo>
                  <a:lnTo>
                    <a:pt x="502919" y="62484"/>
                  </a:lnTo>
                  <a:lnTo>
                    <a:pt x="493924" y="79283"/>
                  </a:lnTo>
                  <a:lnTo>
                    <a:pt x="429196" y="106870"/>
                  </a:lnTo>
                  <a:lnTo>
                    <a:pt x="378290" y="116557"/>
                  </a:lnTo>
                  <a:lnTo>
                    <a:pt x="318240" y="122773"/>
                  </a:lnTo>
                  <a:lnTo>
                    <a:pt x="251459" y="124968"/>
                  </a:lnTo>
                  <a:close/>
                </a:path>
              </a:pathLst>
            </a:custGeom>
            <a:solidFill>
              <a:srgbClr val="8EAA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755648" y="209549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502919" y="62484"/>
                  </a:moveTo>
                  <a:lnTo>
                    <a:pt x="468545" y="94262"/>
                  </a:lnTo>
                  <a:lnTo>
                    <a:pt x="429196" y="106870"/>
                  </a:lnTo>
                  <a:lnTo>
                    <a:pt x="378290" y="116557"/>
                  </a:lnTo>
                  <a:lnTo>
                    <a:pt x="318240" y="122773"/>
                  </a:lnTo>
                  <a:lnTo>
                    <a:pt x="251459" y="124968"/>
                  </a:lnTo>
                  <a:lnTo>
                    <a:pt x="184679" y="122773"/>
                  </a:lnTo>
                  <a:lnTo>
                    <a:pt x="124629" y="116557"/>
                  </a:lnTo>
                  <a:lnTo>
                    <a:pt x="73723" y="106870"/>
                  </a:lnTo>
                  <a:lnTo>
                    <a:pt x="34374" y="94262"/>
                  </a:lnTo>
                  <a:lnTo>
                    <a:pt x="0" y="62484"/>
                  </a:lnTo>
                  <a:lnTo>
                    <a:pt x="8995" y="45684"/>
                  </a:lnTo>
                  <a:lnTo>
                    <a:pt x="73723" y="18097"/>
                  </a:lnTo>
                  <a:lnTo>
                    <a:pt x="124629" y="8410"/>
                  </a:lnTo>
                  <a:lnTo>
                    <a:pt x="184679" y="2194"/>
                  </a:lnTo>
                  <a:lnTo>
                    <a:pt x="251459" y="0"/>
                  </a:lnTo>
                  <a:lnTo>
                    <a:pt x="318240" y="2194"/>
                  </a:lnTo>
                  <a:lnTo>
                    <a:pt x="378290" y="8410"/>
                  </a:lnTo>
                  <a:lnTo>
                    <a:pt x="429196" y="18097"/>
                  </a:lnTo>
                  <a:lnTo>
                    <a:pt x="468545" y="30705"/>
                  </a:lnTo>
                  <a:lnTo>
                    <a:pt x="502919" y="62484"/>
                  </a:lnTo>
                  <a:lnTo>
                    <a:pt x="502919" y="440436"/>
                  </a:lnTo>
                  <a:lnTo>
                    <a:pt x="468545" y="472214"/>
                  </a:lnTo>
                  <a:lnTo>
                    <a:pt x="429196" y="484822"/>
                  </a:lnTo>
                  <a:lnTo>
                    <a:pt x="378290" y="494509"/>
                  </a:lnTo>
                  <a:lnTo>
                    <a:pt x="318240" y="500725"/>
                  </a:lnTo>
                  <a:lnTo>
                    <a:pt x="251459" y="502920"/>
                  </a:lnTo>
                  <a:lnTo>
                    <a:pt x="184679" y="500725"/>
                  </a:lnTo>
                  <a:lnTo>
                    <a:pt x="124629" y="494509"/>
                  </a:lnTo>
                  <a:lnTo>
                    <a:pt x="73723" y="484822"/>
                  </a:lnTo>
                  <a:lnTo>
                    <a:pt x="34374" y="472214"/>
                  </a:lnTo>
                  <a:lnTo>
                    <a:pt x="0" y="440436"/>
                  </a:lnTo>
                  <a:lnTo>
                    <a:pt x="0" y="62484"/>
                  </a:lnTo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882127" y="2378976"/>
              <a:ext cx="633095" cy="1130935"/>
            </a:xfrm>
            <a:custGeom>
              <a:avLst/>
              <a:gdLst/>
              <a:ahLst/>
              <a:cxnLst/>
              <a:rect l="l" t="t" r="r" b="b"/>
              <a:pathLst>
                <a:path w="633094" h="1130935">
                  <a:moveTo>
                    <a:pt x="445020" y="829056"/>
                  </a:moveTo>
                  <a:lnTo>
                    <a:pt x="444017" y="783336"/>
                  </a:lnTo>
                  <a:lnTo>
                    <a:pt x="443953" y="780288"/>
                  </a:lnTo>
                  <a:lnTo>
                    <a:pt x="443839" y="775220"/>
                  </a:lnTo>
                  <a:lnTo>
                    <a:pt x="443763" y="771486"/>
                  </a:lnTo>
                  <a:lnTo>
                    <a:pt x="443496" y="758952"/>
                  </a:lnTo>
                  <a:lnTo>
                    <a:pt x="419061" y="771486"/>
                  </a:lnTo>
                  <a:lnTo>
                    <a:pt x="157441" y="273227"/>
                  </a:lnTo>
                  <a:lnTo>
                    <a:pt x="175590" y="263652"/>
                  </a:lnTo>
                  <a:lnTo>
                    <a:pt x="181368" y="260604"/>
                  </a:lnTo>
                  <a:lnTo>
                    <a:pt x="124980" y="219456"/>
                  </a:lnTo>
                  <a:lnTo>
                    <a:pt x="126504" y="289560"/>
                  </a:lnTo>
                  <a:lnTo>
                    <a:pt x="150774" y="276745"/>
                  </a:lnTo>
                  <a:lnTo>
                    <a:pt x="411810" y="775220"/>
                  </a:lnTo>
                  <a:lnTo>
                    <a:pt x="387108" y="787908"/>
                  </a:lnTo>
                  <a:lnTo>
                    <a:pt x="445020" y="829056"/>
                  </a:lnTo>
                  <a:close/>
                </a:path>
                <a:path w="633094" h="1130935">
                  <a:moveTo>
                    <a:pt x="449580" y="1060691"/>
                  </a:moveTo>
                  <a:lnTo>
                    <a:pt x="424446" y="1071283"/>
                  </a:lnTo>
                  <a:lnTo>
                    <a:pt x="31419" y="119354"/>
                  </a:lnTo>
                  <a:lnTo>
                    <a:pt x="54292" y="109715"/>
                  </a:lnTo>
                  <a:lnTo>
                    <a:pt x="57912" y="108191"/>
                  </a:lnTo>
                  <a:lnTo>
                    <a:pt x="4572" y="62471"/>
                  </a:lnTo>
                  <a:lnTo>
                    <a:pt x="0" y="132575"/>
                  </a:lnTo>
                  <a:lnTo>
                    <a:pt x="25133" y="121996"/>
                  </a:lnTo>
                  <a:lnTo>
                    <a:pt x="416890" y="1074458"/>
                  </a:lnTo>
                  <a:lnTo>
                    <a:pt x="391668" y="1085088"/>
                  </a:lnTo>
                  <a:lnTo>
                    <a:pt x="445008" y="1130795"/>
                  </a:lnTo>
                  <a:lnTo>
                    <a:pt x="448094" y="1083564"/>
                  </a:lnTo>
                  <a:lnTo>
                    <a:pt x="449580" y="1060691"/>
                  </a:lnTo>
                  <a:close/>
                </a:path>
                <a:path w="633094" h="1130935">
                  <a:moveTo>
                    <a:pt x="632472" y="438912"/>
                  </a:moveTo>
                  <a:lnTo>
                    <a:pt x="630605" y="396240"/>
                  </a:lnTo>
                  <a:lnTo>
                    <a:pt x="629424" y="368808"/>
                  </a:lnTo>
                  <a:lnTo>
                    <a:pt x="605904" y="382524"/>
                  </a:lnTo>
                  <a:lnTo>
                    <a:pt x="416775" y="51904"/>
                  </a:lnTo>
                  <a:lnTo>
                    <a:pt x="432600" y="42672"/>
                  </a:lnTo>
                  <a:lnTo>
                    <a:pt x="440448" y="38100"/>
                  </a:lnTo>
                  <a:lnTo>
                    <a:pt x="381012" y="0"/>
                  </a:lnTo>
                  <a:lnTo>
                    <a:pt x="385584" y="70104"/>
                  </a:lnTo>
                  <a:lnTo>
                    <a:pt x="409092" y="56375"/>
                  </a:lnTo>
                  <a:lnTo>
                    <a:pt x="598220" y="386994"/>
                  </a:lnTo>
                  <a:lnTo>
                    <a:pt x="574560" y="400812"/>
                  </a:lnTo>
                  <a:lnTo>
                    <a:pt x="632472" y="4389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/>
          <p:nvPr/>
        </p:nvSpPr>
        <p:spPr>
          <a:xfrm>
            <a:off x="6318491" y="2817875"/>
            <a:ext cx="62865" cy="629920"/>
          </a:xfrm>
          <a:custGeom>
            <a:avLst/>
            <a:gdLst/>
            <a:ahLst/>
            <a:cxnLst/>
            <a:rect l="l" t="t" r="r" b="b"/>
            <a:pathLst>
              <a:path w="62864" h="629920">
                <a:moveTo>
                  <a:pt x="62484" y="566928"/>
                </a:moveTo>
                <a:lnTo>
                  <a:pt x="35052" y="566928"/>
                </a:lnTo>
                <a:lnTo>
                  <a:pt x="35052" y="377952"/>
                </a:lnTo>
                <a:lnTo>
                  <a:pt x="27432" y="377952"/>
                </a:lnTo>
                <a:lnTo>
                  <a:pt x="27432" y="566928"/>
                </a:lnTo>
                <a:lnTo>
                  <a:pt x="0" y="566928"/>
                </a:lnTo>
                <a:lnTo>
                  <a:pt x="32004" y="629412"/>
                </a:lnTo>
                <a:lnTo>
                  <a:pt x="57289" y="577596"/>
                </a:lnTo>
                <a:lnTo>
                  <a:pt x="62484" y="566928"/>
                </a:lnTo>
                <a:close/>
              </a:path>
              <a:path w="62864" h="629920">
                <a:moveTo>
                  <a:pt x="62484" y="188976"/>
                </a:moveTo>
                <a:lnTo>
                  <a:pt x="35052" y="188976"/>
                </a:lnTo>
                <a:lnTo>
                  <a:pt x="35052" y="0"/>
                </a:lnTo>
                <a:lnTo>
                  <a:pt x="27432" y="0"/>
                </a:lnTo>
                <a:lnTo>
                  <a:pt x="27432" y="188976"/>
                </a:lnTo>
                <a:lnTo>
                  <a:pt x="0" y="188976"/>
                </a:lnTo>
                <a:lnTo>
                  <a:pt x="32004" y="251460"/>
                </a:lnTo>
                <a:lnTo>
                  <a:pt x="57289" y="199644"/>
                </a:lnTo>
                <a:lnTo>
                  <a:pt x="62484" y="1889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490" y="1559983"/>
            <a:ext cx="4559935" cy="5797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600" spc="-90" b="1">
                <a:latin typeface="Calibri"/>
                <a:cs typeface="Calibri"/>
              </a:rPr>
              <a:t>Classification</a:t>
            </a:r>
            <a:r>
              <a:rPr dirty="0" sz="3600" spc="-100" b="1">
                <a:latin typeface="Calibri"/>
                <a:cs typeface="Calibri"/>
              </a:rPr>
              <a:t> </a:t>
            </a:r>
            <a:r>
              <a:rPr dirty="0" sz="3600" b="1">
                <a:latin typeface="Calibri"/>
                <a:cs typeface="Calibri"/>
              </a:rPr>
              <a:t>of</a:t>
            </a:r>
            <a:r>
              <a:rPr dirty="0" sz="3600" spc="-70" b="1">
                <a:latin typeface="Calibri"/>
                <a:cs typeface="Calibri"/>
              </a:rPr>
              <a:t> </a:t>
            </a:r>
            <a:r>
              <a:rPr dirty="0" sz="3600" spc="-45" b="1">
                <a:latin typeface="Calibri"/>
                <a:cs typeface="Calibri"/>
              </a:rPr>
              <a:t>Coupling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698759" y="1973049"/>
            <a:ext cx="6664959" cy="318770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algn="just" marL="12700" marR="5080">
              <a:lnSpc>
                <a:spcPts val="1789"/>
              </a:lnSpc>
              <a:spcBef>
                <a:spcPts val="325"/>
              </a:spcBef>
            </a:pP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coupling</a:t>
            </a:r>
            <a:r>
              <a:rPr dirty="0" sz="1650" spc="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between</a:t>
            </a:r>
            <a:r>
              <a:rPr dirty="0" sz="1650" spc="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two</a:t>
            </a:r>
            <a:r>
              <a:rPr dirty="0" sz="1650" spc="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modules</a:t>
            </a:r>
            <a:r>
              <a:rPr dirty="0" sz="1650" spc="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indicates</a:t>
            </a:r>
            <a:r>
              <a:rPr dirty="0" sz="1650" spc="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degree</a:t>
            </a:r>
            <a:r>
              <a:rPr dirty="0" sz="1650" spc="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2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interdependence </a:t>
            </a:r>
            <a:r>
              <a:rPr dirty="0" sz="1650">
                <a:latin typeface="Calibri"/>
                <a:cs typeface="Calibri"/>
              </a:rPr>
              <a:t>between</a:t>
            </a:r>
            <a:r>
              <a:rPr dirty="0" sz="1650" spc="-75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them.</a:t>
            </a:r>
            <a:endParaRPr sz="1650">
              <a:latin typeface="Calibri"/>
              <a:cs typeface="Calibri"/>
            </a:endParaRPr>
          </a:p>
          <a:p>
            <a:pPr algn="just" marL="12700" marR="5080">
              <a:lnSpc>
                <a:spcPct val="90000"/>
              </a:lnSpc>
              <a:spcBef>
                <a:spcPts val="790"/>
              </a:spcBef>
            </a:pPr>
            <a:r>
              <a:rPr dirty="0" sz="1650">
                <a:latin typeface="Calibri"/>
                <a:cs typeface="Calibri"/>
              </a:rPr>
              <a:t>Intuitively,</a:t>
            </a:r>
            <a:r>
              <a:rPr dirty="0" sz="1650" spc="10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if</a:t>
            </a:r>
            <a:r>
              <a:rPr dirty="0" sz="1650" spc="9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two</a:t>
            </a:r>
            <a:r>
              <a:rPr dirty="0" sz="1650" spc="9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modules</a:t>
            </a:r>
            <a:r>
              <a:rPr dirty="0" sz="1650" spc="10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interchange</a:t>
            </a:r>
            <a:r>
              <a:rPr dirty="0" sz="1650" spc="10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large</a:t>
            </a:r>
            <a:r>
              <a:rPr dirty="0" sz="1650" spc="10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amounts</a:t>
            </a:r>
            <a:r>
              <a:rPr dirty="0" sz="1650" spc="10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10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data,</a:t>
            </a:r>
            <a:r>
              <a:rPr dirty="0" sz="1650" spc="10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then</a:t>
            </a:r>
            <a:r>
              <a:rPr dirty="0" sz="1650" spc="10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they</a:t>
            </a:r>
            <a:r>
              <a:rPr dirty="0" sz="1650" spc="85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are </a:t>
            </a:r>
            <a:r>
              <a:rPr dirty="0" sz="1650">
                <a:latin typeface="Calibri"/>
                <a:cs typeface="Calibri"/>
              </a:rPr>
              <a:t>highly</a:t>
            </a:r>
            <a:r>
              <a:rPr dirty="0" sz="1650" spc="1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interdependent</a:t>
            </a:r>
            <a:r>
              <a:rPr dirty="0" sz="1650" spc="19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or</a:t>
            </a:r>
            <a:r>
              <a:rPr dirty="0" sz="1650" spc="1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coupled.</a:t>
            </a:r>
            <a:r>
              <a:rPr dirty="0" sz="1650" spc="1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We</a:t>
            </a:r>
            <a:r>
              <a:rPr dirty="0" sz="1650" spc="19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can</a:t>
            </a:r>
            <a:r>
              <a:rPr dirty="0" sz="1650" spc="19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alternately</a:t>
            </a:r>
            <a:r>
              <a:rPr dirty="0" sz="1650" spc="1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state</a:t>
            </a:r>
            <a:r>
              <a:rPr dirty="0" sz="1650" spc="19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this</a:t>
            </a:r>
            <a:r>
              <a:rPr dirty="0" sz="1650" spc="1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concept</a:t>
            </a:r>
            <a:r>
              <a:rPr dirty="0" sz="1650" spc="175">
                <a:latin typeface="Calibri"/>
                <a:cs typeface="Calibri"/>
              </a:rPr>
              <a:t> </a:t>
            </a:r>
            <a:r>
              <a:rPr dirty="0" sz="1650" spc="-35">
                <a:latin typeface="Calibri"/>
                <a:cs typeface="Calibri"/>
              </a:rPr>
              <a:t>as </a:t>
            </a:r>
            <a:r>
              <a:rPr dirty="0" sz="1650" spc="-10">
                <a:latin typeface="Calibri"/>
                <a:cs typeface="Calibri"/>
              </a:rPr>
              <a:t>follows.</a:t>
            </a:r>
            <a:endParaRPr sz="1650">
              <a:latin typeface="Calibri"/>
              <a:cs typeface="Calibri"/>
            </a:endParaRPr>
          </a:p>
          <a:p>
            <a:pPr algn="just" marL="12700" marR="7620">
              <a:lnSpc>
                <a:spcPts val="1789"/>
              </a:lnSpc>
              <a:spcBef>
                <a:spcPts val="840"/>
              </a:spcBef>
            </a:pPr>
            <a:r>
              <a:rPr dirty="0" sz="1650" b="1">
                <a:latin typeface="Calibri"/>
                <a:cs typeface="Calibri"/>
              </a:rPr>
              <a:t>The</a:t>
            </a:r>
            <a:r>
              <a:rPr dirty="0" sz="1650" spc="21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degree</a:t>
            </a:r>
            <a:r>
              <a:rPr dirty="0" sz="1650" spc="21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of</a:t>
            </a:r>
            <a:r>
              <a:rPr dirty="0" sz="1650" spc="210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coupling</a:t>
            </a:r>
            <a:r>
              <a:rPr dirty="0" sz="1650" spc="210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between</a:t>
            </a:r>
            <a:r>
              <a:rPr dirty="0" sz="1650" spc="22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two</a:t>
            </a:r>
            <a:r>
              <a:rPr dirty="0" sz="1650" spc="22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modules</a:t>
            </a:r>
            <a:r>
              <a:rPr dirty="0" sz="1650" spc="204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depends</a:t>
            </a:r>
            <a:r>
              <a:rPr dirty="0" sz="1650" spc="220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on</a:t>
            </a:r>
            <a:r>
              <a:rPr dirty="0" sz="1650" spc="22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their</a:t>
            </a:r>
            <a:r>
              <a:rPr dirty="0" sz="1650" spc="215" b="1">
                <a:latin typeface="Calibri"/>
                <a:cs typeface="Calibri"/>
              </a:rPr>
              <a:t> </a:t>
            </a:r>
            <a:r>
              <a:rPr dirty="0" sz="1650" spc="-10" b="1">
                <a:latin typeface="Calibri"/>
                <a:cs typeface="Calibri"/>
              </a:rPr>
              <a:t>interface complexity.</a:t>
            </a:r>
            <a:endParaRPr sz="1650">
              <a:latin typeface="Calibri"/>
              <a:cs typeface="Calibri"/>
            </a:endParaRPr>
          </a:p>
          <a:p>
            <a:pPr algn="just" marL="12700" marR="7620">
              <a:lnSpc>
                <a:spcPts val="1780"/>
              </a:lnSpc>
              <a:spcBef>
                <a:spcPts val="819"/>
              </a:spcBef>
            </a:pPr>
            <a:r>
              <a:rPr dirty="0" sz="1650">
                <a:latin typeface="Calibri"/>
                <a:cs typeface="Calibri"/>
              </a:rPr>
              <a:t>Between</a:t>
            </a:r>
            <a:r>
              <a:rPr dirty="0" sz="1650" spc="3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any</a:t>
            </a:r>
            <a:r>
              <a:rPr dirty="0" sz="1650" spc="3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two</a:t>
            </a:r>
            <a:r>
              <a:rPr dirty="0" sz="1650" spc="3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interacting</a:t>
            </a:r>
            <a:r>
              <a:rPr dirty="0" sz="1650" spc="3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modules,</a:t>
            </a:r>
            <a:r>
              <a:rPr dirty="0" sz="1650" spc="3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any</a:t>
            </a:r>
            <a:r>
              <a:rPr dirty="0" sz="1650" spc="3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3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3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following</a:t>
            </a:r>
            <a:r>
              <a:rPr dirty="0" sz="1650" spc="3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five</a:t>
            </a:r>
            <a:r>
              <a:rPr dirty="0" sz="1650" spc="32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different </a:t>
            </a:r>
            <a:r>
              <a:rPr dirty="0" sz="1650">
                <a:latin typeface="Calibri"/>
                <a:cs typeface="Calibri"/>
              </a:rPr>
              <a:t>types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coupling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can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exist.</a:t>
            </a:r>
            <a:endParaRPr sz="1650">
              <a:latin typeface="Calibri"/>
              <a:cs typeface="Calibri"/>
            </a:endParaRPr>
          </a:p>
          <a:p>
            <a:pPr algn="just" marL="12700" marR="5080">
              <a:lnSpc>
                <a:spcPct val="90000"/>
              </a:lnSpc>
              <a:spcBef>
                <a:spcPts val="805"/>
              </a:spcBef>
            </a:pP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1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interface</a:t>
            </a:r>
            <a:r>
              <a:rPr dirty="0" sz="1650" spc="10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complexity</a:t>
            </a:r>
            <a:r>
              <a:rPr dirty="0" sz="1650" spc="10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1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determined</a:t>
            </a:r>
            <a:r>
              <a:rPr dirty="0" sz="1650" spc="9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based</a:t>
            </a:r>
            <a:r>
              <a:rPr dirty="0" sz="1650" spc="10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on</a:t>
            </a:r>
            <a:r>
              <a:rPr dirty="0" sz="1650" spc="1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10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number</a:t>
            </a:r>
            <a:r>
              <a:rPr dirty="0" sz="1650" spc="9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9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parameters </a:t>
            </a:r>
            <a:r>
              <a:rPr dirty="0" sz="1650">
                <a:latin typeface="Calibri"/>
                <a:cs typeface="Calibri"/>
              </a:rPr>
              <a:t>and</a:t>
            </a:r>
            <a:r>
              <a:rPr dirty="0" sz="1650" spc="4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4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complexity</a:t>
            </a:r>
            <a:r>
              <a:rPr dirty="0" sz="1650" spc="459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4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4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parameters</a:t>
            </a:r>
            <a:r>
              <a:rPr dirty="0" sz="1650" spc="4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that</a:t>
            </a:r>
            <a:r>
              <a:rPr dirty="0" sz="1650" spc="4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4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interchanged</a:t>
            </a:r>
            <a:r>
              <a:rPr dirty="0" sz="1650" spc="4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while</a:t>
            </a:r>
            <a:r>
              <a:rPr dirty="0" sz="1650" spc="450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one </a:t>
            </a:r>
            <a:r>
              <a:rPr dirty="0" sz="1650">
                <a:latin typeface="Calibri"/>
                <a:cs typeface="Calibri"/>
              </a:rPr>
              <a:t>module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invokes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functions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other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module.</a:t>
            </a:r>
            <a:endParaRPr sz="165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8157" y="5288280"/>
            <a:ext cx="6518666" cy="13651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850" rIns="0" bIns="0" rtlCol="0" vert="horz">
            <a:spAutoFit/>
          </a:bodyPr>
          <a:lstStyle/>
          <a:p>
            <a:pPr marL="21590" marR="5080">
              <a:lnSpc>
                <a:spcPts val="3560"/>
              </a:lnSpc>
              <a:spcBef>
                <a:spcPts val="550"/>
              </a:spcBef>
            </a:pPr>
            <a:r>
              <a:rPr dirty="0" spc="-20"/>
              <a:t>Coupling:</a:t>
            </a:r>
            <a:r>
              <a:rPr dirty="0" spc="-120"/>
              <a:t> </a:t>
            </a:r>
            <a:r>
              <a:rPr dirty="0" spc="-10"/>
              <a:t>Degree</a:t>
            </a:r>
            <a:r>
              <a:rPr dirty="0" spc="-125"/>
              <a:t> </a:t>
            </a:r>
            <a:r>
              <a:rPr dirty="0"/>
              <a:t>of</a:t>
            </a:r>
            <a:r>
              <a:rPr dirty="0" spc="-80"/>
              <a:t> </a:t>
            </a:r>
            <a:r>
              <a:rPr dirty="0" spc="-10"/>
              <a:t>dependence</a:t>
            </a:r>
            <a:r>
              <a:rPr dirty="0" spc="-125"/>
              <a:t> </a:t>
            </a:r>
            <a:r>
              <a:rPr dirty="0" spc="-10"/>
              <a:t>among components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071877" y="2814066"/>
            <a:ext cx="573405" cy="323215"/>
            <a:chOff x="2071877" y="2814066"/>
            <a:chExt cx="573405" cy="323215"/>
          </a:xfrm>
        </p:grpSpPr>
        <p:sp>
          <p:nvSpPr>
            <p:cNvPr id="4" name="object 4" descr=""/>
            <p:cNvSpPr/>
            <p:nvPr/>
          </p:nvSpPr>
          <p:spPr>
            <a:xfrm>
              <a:off x="2075687" y="2817876"/>
              <a:ext cx="565785" cy="315595"/>
            </a:xfrm>
            <a:custGeom>
              <a:avLst/>
              <a:gdLst/>
              <a:ahLst/>
              <a:cxnLst/>
              <a:rect l="l" t="t" r="r" b="b"/>
              <a:pathLst>
                <a:path w="565785" h="315594">
                  <a:moveTo>
                    <a:pt x="565404" y="315467"/>
                  </a:moveTo>
                  <a:lnTo>
                    <a:pt x="0" y="315467"/>
                  </a:lnTo>
                  <a:lnTo>
                    <a:pt x="0" y="0"/>
                  </a:lnTo>
                  <a:lnTo>
                    <a:pt x="565404" y="0"/>
                  </a:lnTo>
                  <a:lnTo>
                    <a:pt x="565404" y="315467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075687" y="2817876"/>
              <a:ext cx="565785" cy="315595"/>
            </a:xfrm>
            <a:custGeom>
              <a:avLst/>
              <a:gdLst/>
              <a:ahLst/>
              <a:cxnLst/>
              <a:rect l="l" t="t" r="r" b="b"/>
              <a:pathLst>
                <a:path w="565785" h="315594">
                  <a:moveTo>
                    <a:pt x="0" y="0"/>
                  </a:moveTo>
                  <a:lnTo>
                    <a:pt x="565404" y="0"/>
                  </a:lnTo>
                  <a:lnTo>
                    <a:pt x="565404" y="315467"/>
                  </a:lnTo>
                  <a:lnTo>
                    <a:pt x="0" y="315467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2071877" y="3380994"/>
            <a:ext cx="573405" cy="321945"/>
            <a:chOff x="2071877" y="3380994"/>
            <a:chExt cx="573405" cy="321945"/>
          </a:xfrm>
        </p:grpSpPr>
        <p:sp>
          <p:nvSpPr>
            <p:cNvPr id="7" name="object 7" descr=""/>
            <p:cNvSpPr/>
            <p:nvPr/>
          </p:nvSpPr>
          <p:spPr>
            <a:xfrm>
              <a:off x="2075687" y="3384804"/>
              <a:ext cx="565785" cy="314325"/>
            </a:xfrm>
            <a:custGeom>
              <a:avLst/>
              <a:gdLst/>
              <a:ahLst/>
              <a:cxnLst/>
              <a:rect l="l" t="t" r="r" b="b"/>
              <a:pathLst>
                <a:path w="565785" h="314325">
                  <a:moveTo>
                    <a:pt x="565404" y="313944"/>
                  </a:moveTo>
                  <a:lnTo>
                    <a:pt x="0" y="313944"/>
                  </a:lnTo>
                  <a:lnTo>
                    <a:pt x="0" y="0"/>
                  </a:lnTo>
                  <a:lnTo>
                    <a:pt x="565404" y="0"/>
                  </a:lnTo>
                  <a:lnTo>
                    <a:pt x="565404" y="313944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075687" y="3384804"/>
              <a:ext cx="565785" cy="314325"/>
            </a:xfrm>
            <a:custGeom>
              <a:avLst/>
              <a:gdLst/>
              <a:ahLst/>
              <a:cxnLst/>
              <a:rect l="l" t="t" r="r" b="b"/>
              <a:pathLst>
                <a:path w="565785" h="314325">
                  <a:moveTo>
                    <a:pt x="0" y="0"/>
                  </a:moveTo>
                  <a:lnTo>
                    <a:pt x="565404" y="0"/>
                  </a:lnTo>
                  <a:lnTo>
                    <a:pt x="565404" y="313944"/>
                  </a:lnTo>
                  <a:lnTo>
                    <a:pt x="0" y="313944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2888741" y="3380994"/>
            <a:ext cx="573405" cy="321945"/>
            <a:chOff x="2888741" y="3380994"/>
            <a:chExt cx="573405" cy="321945"/>
          </a:xfrm>
        </p:grpSpPr>
        <p:sp>
          <p:nvSpPr>
            <p:cNvPr id="10" name="object 10" descr=""/>
            <p:cNvSpPr/>
            <p:nvPr/>
          </p:nvSpPr>
          <p:spPr>
            <a:xfrm>
              <a:off x="2892551" y="3384804"/>
              <a:ext cx="565785" cy="314325"/>
            </a:xfrm>
            <a:custGeom>
              <a:avLst/>
              <a:gdLst/>
              <a:ahLst/>
              <a:cxnLst/>
              <a:rect l="l" t="t" r="r" b="b"/>
              <a:pathLst>
                <a:path w="565785" h="314325">
                  <a:moveTo>
                    <a:pt x="565404" y="313944"/>
                  </a:moveTo>
                  <a:lnTo>
                    <a:pt x="0" y="313944"/>
                  </a:lnTo>
                  <a:lnTo>
                    <a:pt x="0" y="0"/>
                  </a:lnTo>
                  <a:lnTo>
                    <a:pt x="565404" y="0"/>
                  </a:lnTo>
                  <a:lnTo>
                    <a:pt x="565404" y="313944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892551" y="3384804"/>
              <a:ext cx="565785" cy="314325"/>
            </a:xfrm>
            <a:custGeom>
              <a:avLst/>
              <a:gdLst/>
              <a:ahLst/>
              <a:cxnLst/>
              <a:rect l="l" t="t" r="r" b="b"/>
              <a:pathLst>
                <a:path w="565785" h="314325">
                  <a:moveTo>
                    <a:pt x="0" y="0"/>
                  </a:moveTo>
                  <a:lnTo>
                    <a:pt x="565404" y="0"/>
                  </a:lnTo>
                  <a:lnTo>
                    <a:pt x="565404" y="313944"/>
                  </a:lnTo>
                  <a:lnTo>
                    <a:pt x="0" y="313944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2888741" y="2814066"/>
            <a:ext cx="573405" cy="323215"/>
            <a:chOff x="2888741" y="2814066"/>
            <a:chExt cx="573405" cy="323215"/>
          </a:xfrm>
        </p:grpSpPr>
        <p:sp>
          <p:nvSpPr>
            <p:cNvPr id="13" name="object 13" descr=""/>
            <p:cNvSpPr/>
            <p:nvPr/>
          </p:nvSpPr>
          <p:spPr>
            <a:xfrm>
              <a:off x="2892551" y="2817876"/>
              <a:ext cx="565785" cy="315595"/>
            </a:xfrm>
            <a:custGeom>
              <a:avLst/>
              <a:gdLst/>
              <a:ahLst/>
              <a:cxnLst/>
              <a:rect l="l" t="t" r="r" b="b"/>
              <a:pathLst>
                <a:path w="565785" h="315594">
                  <a:moveTo>
                    <a:pt x="565404" y="315467"/>
                  </a:moveTo>
                  <a:lnTo>
                    <a:pt x="0" y="315467"/>
                  </a:lnTo>
                  <a:lnTo>
                    <a:pt x="0" y="0"/>
                  </a:lnTo>
                  <a:lnTo>
                    <a:pt x="565404" y="0"/>
                  </a:lnTo>
                  <a:lnTo>
                    <a:pt x="565404" y="315467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892551" y="2817876"/>
              <a:ext cx="565785" cy="315595"/>
            </a:xfrm>
            <a:custGeom>
              <a:avLst/>
              <a:gdLst/>
              <a:ahLst/>
              <a:cxnLst/>
              <a:rect l="l" t="t" r="r" b="b"/>
              <a:pathLst>
                <a:path w="565785" h="315594">
                  <a:moveTo>
                    <a:pt x="0" y="0"/>
                  </a:moveTo>
                  <a:lnTo>
                    <a:pt x="565404" y="0"/>
                  </a:lnTo>
                  <a:lnTo>
                    <a:pt x="565404" y="315467"/>
                  </a:lnTo>
                  <a:lnTo>
                    <a:pt x="0" y="315467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5403341" y="2751582"/>
            <a:ext cx="1390015" cy="889000"/>
            <a:chOff x="5403341" y="2751582"/>
            <a:chExt cx="1390015" cy="889000"/>
          </a:xfrm>
        </p:grpSpPr>
        <p:sp>
          <p:nvSpPr>
            <p:cNvPr id="16" name="object 16" descr=""/>
            <p:cNvSpPr/>
            <p:nvPr/>
          </p:nvSpPr>
          <p:spPr>
            <a:xfrm>
              <a:off x="5407151" y="2755392"/>
              <a:ext cx="565785" cy="314325"/>
            </a:xfrm>
            <a:custGeom>
              <a:avLst/>
              <a:gdLst/>
              <a:ahLst/>
              <a:cxnLst/>
              <a:rect l="l" t="t" r="r" b="b"/>
              <a:pathLst>
                <a:path w="565785" h="314325">
                  <a:moveTo>
                    <a:pt x="565403" y="313943"/>
                  </a:moveTo>
                  <a:lnTo>
                    <a:pt x="0" y="313943"/>
                  </a:lnTo>
                  <a:lnTo>
                    <a:pt x="0" y="0"/>
                  </a:lnTo>
                  <a:lnTo>
                    <a:pt x="565403" y="0"/>
                  </a:lnTo>
                  <a:lnTo>
                    <a:pt x="565403" y="313943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407151" y="2755392"/>
              <a:ext cx="565785" cy="314325"/>
            </a:xfrm>
            <a:custGeom>
              <a:avLst/>
              <a:gdLst/>
              <a:ahLst/>
              <a:cxnLst/>
              <a:rect l="l" t="t" r="r" b="b"/>
              <a:pathLst>
                <a:path w="565785" h="314325">
                  <a:moveTo>
                    <a:pt x="0" y="0"/>
                  </a:moveTo>
                  <a:lnTo>
                    <a:pt x="565403" y="0"/>
                  </a:lnTo>
                  <a:lnTo>
                    <a:pt x="565403" y="313943"/>
                  </a:lnTo>
                  <a:lnTo>
                    <a:pt x="0" y="313943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407151" y="3320796"/>
              <a:ext cx="565785" cy="315595"/>
            </a:xfrm>
            <a:custGeom>
              <a:avLst/>
              <a:gdLst/>
              <a:ahLst/>
              <a:cxnLst/>
              <a:rect l="l" t="t" r="r" b="b"/>
              <a:pathLst>
                <a:path w="565785" h="315595">
                  <a:moveTo>
                    <a:pt x="565403" y="315467"/>
                  </a:moveTo>
                  <a:lnTo>
                    <a:pt x="0" y="315467"/>
                  </a:lnTo>
                  <a:lnTo>
                    <a:pt x="0" y="0"/>
                  </a:lnTo>
                  <a:lnTo>
                    <a:pt x="565403" y="0"/>
                  </a:lnTo>
                  <a:lnTo>
                    <a:pt x="565403" y="315467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407151" y="3320796"/>
              <a:ext cx="565785" cy="315595"/>
            </a:xfrm>
            <a:custGeom>
              <a:avLst/>
              <a:gdLst/>
              <a:ahLst/>
              <a:cxnLst/>
              <a:rect l="l" t="t" r="r" b="b"/>
              <a:pathLst>
                <a:path w="565785" h="315595">
                  <a:moveTo>
                    <a:pt x="0" y="0"/>
                  </a:moveTo>
                  <a:lnTo>
                    <a:pt x="565403" y="0"/>
                  </a:lnTo>
                  <a:lnTo>
                    <a:pt x="565403" y="315467"/>
                  </a:lnTo>
                  <a:lnTo>
                    <a:pt x="0" y="315467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224016" y="3320796"/>
              <a:ext cx="565785" cy="315595"/>
            </a:xfrm>
            <a:custGeom>
              <a:avLst/>
              <a:gdLst/>
              <a:ahLst/>
              <a:cxnLst/>
              <a:rect l="l" t="t" r="r" b="b"/>
              <a:pathLst>
                <a:path w="565784" h="315595">
                  <a:moveTo>
                    <a:pt x="565403" y="315467"/>
                  </a:moveTo>
                  <a:lnTo>
                    <a:pt x="0" y="315467"/>
                  </a:lnTo>
                  <a:lnTo>
                    <a:pt x="0" y="0"/>
                  </a:lnTo>
                  <a:lnTo>
                    <a:pt x="565403" y="0"/>
                  </a:lnTo>
                  <a:lnTo>
                    <a:pt x="565403" y="315467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224016" y="3320796"/>
              <a:ext cx="565785" cy="315595"/>
            </a:xfrm>
            <a:custGeom>
              <a:avLst/>
              <a:gdLst/>
              <a:ahLst/>
              <a:cxnLst/>
              <a:rect l="l" t="t" r="r" b="b"/>
              <a:pathLst>
                <a:path w="565784" h="315595">
                  <a:moveTo>
                    <a:pt x="0" y="0"/>
                  </a:moveTo>
                  <a:lnTo>
                    <a:pt x="565403" y="0"/>
                  </a:lnTo>
                  <a:lnTo>
                    <a:pt x="565403" y="315467"/>
                  </a:lnTo>
                  <a:lnTo>
                    <a:pt x="0" y="315467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224016" y="2755392"/>
              <a:ext cx="565785" cy="314325"/>
            </a:xfrm>
            <a:custGeom>
              <a:avLst/>
              <a:gdLst/>
              <a:ahLst/>
              <a:cxnLst/>
              <a:rect l="l" t="t" r="r" b="b"/>
              <a:pathLst>
                <a:path w="565784" h="314325">
                  <a:moveTo>
                    <a:pt x="565403" y="313943"/>
                  </a:moveTo>
                  <a:lnTo>
                    <a:pt x="0" y="313943"/>
                  </a:lnTo>
                  <a:lnTo>
                    <a:pt x="0" y="0"/>
                  </a:lnTo>
                  <a:lnTo>
                    <a:pt x="565403" y="0"/>
                  </a:lnTo>
                  <a:lnTo>
                    <a:pt x="565403" y="313943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224016" y="2755392"/>
              <a:ext cx="565785" cy="314325"/>
            </a:xfrm>
            <a:custGeom>
              <a:avLst/>
              <a:gdLst/>
              <a:ahLst/>
              <a:cxnLst/>
              <a:rect l="l" t="t" r="r" b="b"/>
              <a:pathLst>
                <a:path w="565784" h="314325">
                  <a:moveTo>
                    <a:pt x="0" y="0"/>
                  </a:moveTo>
                  <a:lnTo>
                    <a:pt x="565403" y="0"/>
                  </a:lnTo>
                  <a:lnTo>
                    <a:pt x="565403" y="313943"/>
                  </a:lnTo>
                  <a:lnTo>
                    <a:pt x="0" y="313943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501640" y="2849879"/>
              <a:ext cx="1005840" cy="471170"/>
            </a:xfrm>
            <a:custGeom>
              <a:avLst/>
              <a:gdLst/>
              <a:ahLst/>
              <a:cxnLst/>
              <a:rect l="l" t="t" r="r" b="b"/>
              <a:pathLst>
                <a:path w="1005840" h="471170">
                  <a:moveTo>
                    <a:pt x="62484" y="408432"/>
                  </a:moveTo>
                  <a:lnTo>
                    <a:pt x="35052" y="408432"/>
                  </a:lnTo>
                  <a:lnTo>
                    <a:pt x="35052" y="219456"/>
                  </a:lnTo>
                  <a:lnTo>
                    <a:pt x="27432" y="219456"/>
                  </a:lnTo>
                  <a:lnTo>
                    <a:pt x="27432" y="408432"/>
                  </a:lnTo>
                  <a:lnTo>
                    <a:pt x="0" y="408432"/>
                  </a:lnTo>
                  <a:lnTo>
                    <a:pt x="30480" y="470916"/>
                  </a:lnTo>
                  <a:lnTo>
                    <a:pt x="57010" y="419100"/>
                  </a:lnTo>
                  <a:lnTo>
                    <a:pt x="62484" y="408432"/>
                  </a:lnTo>
                  <a:close/>
                </a:path>
                <a:path w="1005840" h="471170">
                  <a:moveTo>
                    <a:pt x="251447" y="283476"/>
                  </a:moveTo>
                  <a:lnTo>
                    <a:pt x="246113" y="272808"/>
                  </a:lnTo>
                  <a:lnTo>
                    <a:pt x="219443" y="219468"/>
                  </a:lnTo>
                  <a:lnTo>
                    <a:pt x="188963" y="283476"/>
                  </a:lnTo>
                  <a:lnTo>
                    <a:pt x="216395" y="283476"/>
                  </a:lnTo>
                  <a:lnTo>
                    <a:pt x="216395" y="470928"/>
                  </a:lnTo>
                  <a:lnTo>
                    <a:pt x="224015" y="470928"/>
                  </a:lnTo>
                  <a:lnTo>
                    <a:pt x="224015" y="283476"/>
                  </a:lnTo>
                  <a:lnTo>
                    <a:pt x="251447" y="283476"/>
                  </a:lnTo>
                  <a:close/>
                </a:path>
                <a:path w="1005840" h="471170">
                  <a:moveTo>
                    <a:pt x="722363" y="32004"/>
                  </a:moveTo>
                  <a:lnTo>
                    <a:pt x="713447" y="27432"/>
                  </a:lnTo>
                  <a:lnTo>
                    <a:pt x="659879" y="0"/>
                  </a:lnTo>
                  <a:lnTo>
                    <a:pt x="659879" y="27432"/>
                  </a:lnTo>
                  <a:lnTo>
                    <a:pt x="470903" y="27432"/>
                  </a:lnTo>
                  <a:lnTo>
                    <a:pt x="470903" y="35052"/>
                  </a:lnTo>
                  <a:lnTo>
                    <a:pt x="659879" y="35052"/>
                  </a:lnTo>
                  <a:lnTo>
                    <a:pt x="659879" y="62484"/>
                  </a:lnTo>
                  <a:lnTo>
                    <a:pt x="716114" y="35052"/>
                  </a:lnTo>
                  <a:lnTo>
                    <a:pt x="722363" y="32004"/>
                  </a:lnTo>
                  <a:close/>
                </a:path>
                <a:path w="1005840" h="471170">
                  <a:moveTo>
                    <a:pt x="1005840" y="408432"/>
                  </a:moveTo>
                  <a:lnTo>
                    <a:pt x="978408" y="408432"/>
                  </a:lnTo>
                  <a:lnTo>
                    <a:pt x="978408" y="219456"/>
                  </a:lnTo>
                  <a:lnTo>
                    <a:pt x="970788" y="219456"/>
                  </a:lnTo>
                  <a:lnTo>
                    <a:pt x="970788" y="408432"/>
                  </a:lnTo>
                  <a:lnTo>
                    <a:pt x="943356" y="408432"/>
                  </a:lnTo>
                  <a:lnTo>
                    <a:pt x="973836" y="470916"/>
                  </a:lnTo>
                  <a:lnTo>
                    <a:pt x="1000366" y="419100"/>
                  </a:lnTo>
                  <a:lnTo>
                    <a:pt x="1005840" y="4084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32447" y="3069336"/>
              <a:ext cx="64008" cy="251460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5972555" y="3479292"/>
              <a:ext cx="251460" cy="62865"/>
            </a:xfrm>
            <a:custGeom>
              <a:avLst/>
              <a:gdLst/>
              <a:ahLst/>
              <a:cxnLst/>
              <a:rect l="l" t="t" r="r" b="b"/>
              <a:pathLst>
                <a:path w="251460" h="62864">
                  <a:moveTo>
                    <a:pt x="62484" y="62484"/>
                  </a:moveTo>
                  <a:lnTo>
                    <a:pt x="0" y="30480"/>
                  </a:lnTo>
                  <a:lnTo>
                    <a:pt x="62484" y="0"/>
                  </a:lnTo>
                  <a:lnTo>
                    <a:pt x="62484" y="27432"/>
                  </a:lnTo>
                  <a:lnTo>
                    <a:pt x="53340" y="27432"/>
                  </a:lnTo>
                  <a:lnTo>
                    <a:pt x="53340" y="35052"/>
                  </a:lnTo>
                  <a:lnTo>
                    <a:pt x="62484" y="35052"/>
                  </a:lnTo>
                  <a:lnTo>
                    <a:pt x="62484" y="62484"/>
                  </a:lnTo>
                  <a:close/>
                </a:path>
                <a:path w="251460" h="62864">
                  <a:moveTo>
                    <a:pt x="62484" y="35052"/>
                  </a:moveTo>
                  <a:lnTo>
                    <a:pt x="53340" y="35052"/>
                  </a:lnTo>
                  <a:lnTo>
                    <a:pt x="53340" y="27432"/>
                  </a:lnTo>
                  <a:lnTo>
                    <a:pt x="62484" y="27432"/>
                  </a:lnTo>
                  <a:lnTo>
                    <a:pt x="62484" y="35052"/>
                  </a:lnTo>
                  <a:close/>
                </a:path>
                <a:path w="251460" h="62864">
                  <a:moveTo>
                    <a:pt x="251460" y="35052"/>
                  </a:moveTo>
                  <a:lnTo>
                    <a:pt x="62484" y="35052"/>
                  </a:lnTo>
                  <a:lnTo>
                    <a:pt x="62484" y="27432"/>
                  </a:lnTo>
                  <a:lnTo>
                    <a:pt x="251460" y="27432"/>
                  </a:lnTo>
                  <a:lnTo>
                    <a:pt x="251460" y="350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 descr=""/>
          <p:cNvGrpSpPr/>
          <p:nvPr/>
        </p:nvGrpSpPr>
        <p:grpSpPr>
          <a:xfrm>
            <a:off x="1945385" y="4386833"/>
            <a:ext cx="1391920" cy="887094"/>
            <a:chOff x="1945385" y="4386833"/>
            <a:chExt cx="1391920" cy="887094"/>
          </a:xfrm>
        </p:grpSpPr>
        <p:sp>
          <p:nvSpPr>
            <p:cNvPr id="28" name="object 28" descr=""/>
            <p:cNvSpPr/>
            <p:nvPr/>
          </p:nvSpPr>
          <p:spPr>
            <a:xfrm>
              <a:off x="1949195" y="4390643"/>
              <a:ext cx="565785" cy="314325"/>
            </a:xfrm>
            <a:custGeom>
              <a:avLst/>
              <a:gdLst/>
              <a:ahLst/>
              <a:cxnLst/>
              <a:rect l="l" t="t" r="r" b="b"/>
              <a:pathLst>
                <a:path w="565785" h="314325">
                  <a:moveTo>
                    <a:pt x="565404" y="313944"/>
                  </a:moveTo>
                  <a:lnTo>
                    <a:pt x="0" y="313944"/>
                  </a:lnTo>
                  <a:lnTo>
                    <a:pt x="0" y="0"/>
                  </a:lnTo>
                  <a:lnTo>
                    <a:pt x="565404" y="0"/>
                  </a:lnTo>
                  <a:lnTo>
                    <a:pt x="565404" y="313944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949195" y="4390643"/>
              <a:ext cx="565785" cy="314325"/>
            </a:xfrm>
            <a:custGeom>
              <a:avLst/>
              <a:gdLst/>
              <a:ahLst/>
              <a:cxnLst/>
              <a:rect l="l" t="t" r="r" b="b"/>
              <a:pathLst>
                <a:path w="565785" h="314325">
                  <a:moveTo>
                    <a:pt x="0" y="0"/>
                  </a:moveTo>
                  <a:lnTo>
                    <a:pt x="565404" y="0"/>
                  </a:lnTo>
                  <a:lnTo>
                    <a:pt x="565404" y="313944"/>
                  </a:lnTo>
                  <a:lnTo>
                    <a:pt x="0" y="313944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949195" y="4956047"/>
              <a:ext cx="565785" cy="314325"/>
            </a:xfrm>
            <a:custGeom>
              <a:avLst/>
              <a:gdLst/>
              <a:ahLst/>
              <a:cxnLst/>
              <a:rect l="l" t="t" r="r" b="b"/>
              <a:pathLst>
                <a:path w="565785" h="314325">
                  <a:moveTo>
                    <a:pt x="565404" y="313944"/>
                  </a:moveTo>
                  <a:lnTo>
                    <a:pt x="0" y="313944"/>
                  </a:lnTo>
                  <a:lnTo>
                    <a:pt x="0" y="0"/>
                  </a:lnTo>
                  <a:lnTo>
                    <a:pt x="565404" y="0"/>
                  </a:lnTo>
                  <a:lnTo>
                    <a:pt x="565404" y="313944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949195" y="4956047"/>
              <a:ext cx="565785" cy="314325"/>
            </a:xfrm>
            <a:custGeom>
              <a:avLst/>
              <a:gdLst/>
              <a:ahLst/>
              <a:cxnLst/>
              <a:rect l="l" t="t" r="r" b="b"/>
              <a:pathLst>
                <a:path w="565785" h="314325">
                  <a:moveTo>
                    <a:pt x="0" y="0"/>
                  </a:moveTo>
                  <a:lnTo>
                    <a:pt x="565404" y="0"/>
                  </a:lnTo>
                  <a:lnTo>
                    <a:pt x="565404" y="313944"/>
                  </a:lnTo>
                  <a:lnTo>
                    <a:pt x="0" y="313944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766059" y="4956047"/>
              <a:ext cx="567055" cy="314325"/>
            </a:xfrm>
            <a:custGeom>
              <a:avLst/>
              <a:gdLst/>
              <a:ahLst/>
              <a:cxnLst/>
              <a:rect l="l" t="t" r="r" b="b"/>
              <a:pathLst>
                <a:path w="567054" h="314325">
                  <a:moveTo>
                    <a:pt x="566928" y="313944"/>
                  </a:moveTo>
                  <a:lnTo>
                    <a:pt x="0" y="313944"/>
                  </a:lnTo>
                  <a:lnTo>
                    <a:pt x="0" y="0"/>
                  </a:lnTo>
                  <a:lnTo>
                    <a:pt x="566928" y="0"/>
                  </a:lnTo>
                  <a:lnTo>
                    <a:pt x="566928" y="313944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766059" y="4956047"/>
              <a:ext cx="567055" cy="314325"/>
            </a:xfrm>
            <a:custGeom>
              <a:avLst/>
              <a:gdLst/>
              <a:ahLst/>
              <a:cxnLst/>
              <a:rect l="l" t="t" r="r" b="b"/>
              <a:pathLst>
                <a:path w="567054" h="314325">
                  <a:moveTo>
                    <a:pt x="0" y="0"/>
                  </a:moveTo>
                  <a:lnTo>
                    <a:pt x="566928" y="0"/>
                  </a:lnTo>
                  <a:lnTo>
                    <a:pt x="566928" y="313944"/>
                  </a:lnTo>
                  <a:lnTo>
                    <a:pt x="0" y="313944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766059" y="4390643"/>
              <a:ext cx="567055" cy="314325"/>
            </a:xfrm>
            <a:custGeom>
              <a:avLst/>
              <a:gdLst/>
              <a:ahLst/>
              <a:cxnLst/>
              <a:rect l="l" t="t" r="r" b="b"/>
              <a:pathLst>
                <a:path w="567054" h="314325">
                  <a:moveTo>
                    <a:pt x="566928" y="313944"/>
                  </a:moveTo>
                  <a:lnTo>
                    <a:pt x="0" y="313944"/>
                  </a:lnTo>
                  <a:lnTo>
                    <a:pt x="0" y="0"/>
                  </a:lnTo>
                  <a:lnTo>
                    <a:pt x="566928" y="0"/>
                  </a:lnTo>
                  <a:lnTo>
                    <a:pt x="566928" y="313944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766059" y="4390643"/>
              <a:ext cx="567055" cy="314325"/>
            </a:xfrm>
            <a:custGeom>
              <a:avLst/>
              <a:gdLst/>
              <a:ahLst/>
              <a:cxnLst/>
              <a:rect l="l" t="t" r="r" b="b"/>
              <a:pathLst>
                <a:path w="567054" h="314325">
                  <a:moveTo>
                    <a:pt x="0" y="0"/>
                  </a:moveTo>
                  <a:lnTo>
                    <a:pt x="566928" y="0"/>
                  </a:lnTo>
                  <a:lnTo>
                    <a:pt x="566928" y="313944"/>
                  </a:lnTo>
                  <a:lnTo>
                    <a:pt x="0" y="313944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2043684" y="4421136"/>
              <a:ext cx="943610" cy="818515"/>
            </a:xfrm>
            <a:custGeom>
              <a:avLst/>
              <a:gdLst/>
              <a:ahLst/>
              <a:cxnLst/>
              <a:rect l="l" t="t" r="r" b="b"/>
              <a:pathLst>
                <a:path w="943610" h="818514">
                  <a:moveTo>
                    <a:pt x="62484" y="345948"/>
                  </a:moveTo>
                  <a:lnTo>
                    <a:pt x="57277" y="335280"/>
                  </a:lnTo>
                  <a:lnTo>
                    <a:pt x="32004" y="283464"/>
                  </a:lnTo>
                  <a:lnTo>
                    <a:pt x="0" y="345948"/>
                  </a:lnTo>
                  <a:lnTo>
                    <a:pt x="27432" y="345948"/>
                  </a:lnTo>
                  <a:lnTo>
                    <a:pt x="27432" y="534924"/>
                  </a:lnTo>
                  <a:lnTo>
                    <a:pt x="35052" y="534924"/>
                  </a:lnTo>
                  <a:lnTo>
                    <a:pt x="35052" y="345948"/>
                  </a:lnTo>
                  <a:lnTo>
                    <a:pt x="62484" y="345948"/>
                  </a:lnTo>
                  <a:close/>
                </a:path>
                <a:path w="943610" h="818514">
                  <a:moveTo>
                    <a:pt x="188976" y="345948"/>
                  </a:moveTo>
                  <a:lnTo>
                    <a:pt x="183502" y="335280"/>
                  </a:lnTo>
                  <a:lnTo>
                    <a:pt x="156972" y="283464"/>
                  </a:lnTo>
                  <a:lnTo>
                    <a:pt x="126492" y="345948"/>
                  </a:lnTo>
                  <a:lnTo>
                    <a:pt x="153924" y="345948"/>
                  </a:lnTo>
                  <a:lnTo>
                    <a:pt x="153924" y="534924"/>
                  </a:lnTo>
                  <a:lnTo>
                    <a:pt x="161544" y="534924"/>
                  </a:lnTo>
                  <a:lnTo>
                    <a:pt x="161544" y="345948"/>
                  </a:lnTo>
                  <a:lnTo>
                    <a:pt x="188976" y="345948"/>
                  </a:lnTo>
                  <a:close/>
                </a:path>
                <a:path w="943610" h="818514">
                  <a:moveTo>
                    <a:pt x="313931" y="345948"/>
                  </a:moveTo>
                  <a:lnTo>
                    <a:pt x="308737" y="335280"/>
                  </a:lnTo>
                  <a:lnTo>
                    <a:pt x="283451" y="283464"/>
                  </a:lnTo>
                  <a:lnTo>
                    <a:pt x="251447" y="345948"/>
                  </a:lnTo>
                  <a:lnTo>
                    <a:pt x="278879" y="345948"/>
                  </a:lnTo>
                  <a:lnTo>
                    <a:pt x="278879" y="534924"/>
                  </a:lnTo>
                  <a:lnTo>
                    <a:pt x="286499" y="534924"/>
                  </a:lnTo>
                  <a:lnTo>
                    <a:pt x="286499" y="345948"/>
                  </a:lnTo>
                  <a:lnTo>
                    <a:pt x="313931" y="345948"/>
                  </a:lnTo>
                  <a:close/>
                </a:path>
                <a:path w="943610" h="818514">
                  <a:moveTo>
                    <a:pt x="722363" y="781799"/>
                  </a:moveTo>
                  <a:lnTo>
                    <a:pt x="534911" y="781799"/>
                  </a:lnTo>
                  <a:lnTo>
                    <a:pt x="534911" y="754367"/>
                  </a:lnTo>
                  <a:lnTo>
                    <a:pt x="470903" y="786371"/>
                  </a:lnTo>
                  <a:lnTo>
                    <a:pt x="534911" y="818375"/>
                  </a:lnTo>
                  <a:lnTo>
                    <a:pt x="534911" y="790943"/>
                  </a:lnTo>
                  <a:lnTo>
                    <a:pt x="722363" y="790943"/>
                  </a:lnTo>
                  <a:lnTo>
                    <a:pt x="722363" y="781799"/>
                  </a:lnTo>
                  <a:close/>
                </a:path>
                <a:path w="943610" h="818514">
                  <a:moveTo>
                    <a:pt x="722363" y="719315"/>
                  </a:moveTo>
                  <a:lnTo>
                    <a:pt x="534911" y="719315"/>
                  </a:lnTo>
                  <a:lnTo>
                    <a:pt x="534911" y="691883"/>
                  </a:lnTo>
                  <a:lnTo>
                    <a:pt x="470903" y="723887"/>
                  </a:lnTo>
                  <a:lnTo>
                    <a:pt x="534911" y="754367"/>
                  </a:lnTo>
                  <a:lnTo>
                    <a:pt x="534911" y="726935"/>
                  </a:lnTo>
                  <a:lnTo>
                    <a:pt x="722363" y="726935"/>
                  </a:lnTo>
                  <a:lnTo>
                    <a:pt x="722363" y="719315"/>
                  </a:lnTo>
                  <a:close/>
                </a:path>
                <a:path w="943610" h="818514">
                  <a:moveTo>
                    <a:pt x="722363" y="91440"/>
                  </a:moveTo>
                  <a:lnTo>
                    <a:pt x="534911" y="91440"/>
                  </a:lnTo>
                  <a:lnTo>
                    <a:pt x="534911" y="64008"/>
                  </a:lnTo>
                  <a:lnTo>
                    <a:pt x="470903" y="94488"/>
                  </a:lnTo>
                  <a:lnTo>
                    <a:pt x="534911" y="126492"/>
                  </a:lnTo>
                  <a:lnTo>
                    <a:pt x="534911" y="99060"/>
                  </a:lnTo>
                  <a:lnTo>
                    <a:pt x="722363" y="99060"/>
                  </a:lnTo>
                  <a:lnTo>
                    <a:pt x="722363" y="91440"/>
                  </a:lnTo>
                  <a:close/>
                </a:path>
                <a:path w="943610" h="818514">
                  <a:moveTo>
                    <a:pt x="722376" y="659879"/>
                  </a:moveTo>
                  <a:lnTo>
                    <a:pt x="716127" y="656831"/>
                  </a:lnTo>
                  <a:lnTo>
                    <a:pt x="659892" y="629399"/>
                  </a:lnTo>
                  <a:lnTo>
                    <a:pt x="659892" y="656831"/>
                  </a:lnTo>
                  <a:lnTo>
                    <a:pt x="470916" y="656831"/>
                  </a:lnTo>
                  <a:lnTo>
                    <a:pt x="470916" y="664451"/>
                  </a:lnTo>
                  <a:lnTo>
                    <a:pt x="659892" y="664451"/>
                  </a:lnTo>
                  <a:lnTo>
                    <a:pt x="659892" y="691883"/>
                  </a:lnTo>
                  <a:lnTo>
                    <a:pt x="713447" y="664451"/>
                  </a:lnTo>
                  <a:lnTo>
                    <a:pt x="722376" y="659879"/>
                  </a:lnTo>
                  <a:close/>
                </a:path>
                <a:path w="943610" h="818514">
                  <a:moveTo>
                    <a:pt x="722376" y="345948"/>
                  </a:moveTo>
                  <a:lnTo>
                    <a:pt x="652272" y="352044"/>
                  </a:lnTo>
                  <a:lnTo>
                    <a:pt x="667283" y="375932"/>
                  </a:lnTo>
                  <a:lnTo>
                    <a:pt x="406908" y="531876"/>
                  </a:lnTo>
                  <a:lnTo>
                    <a:pt x="411480" y="537972"/>
                  </a:lnTo>
                  <a:lnTo>
                    <a:pt x="670915" y="381711"/>
                  </a:lnTo>
                  <a:lnTo>
                    <a:pt x="685800" y="405384"/>
                  </a:lnTo>
                  <a:lnTo>
                    <a:pt x="707364" y="370332"/>
                  </a:lnTo>
                  <a:lnTo>
                    <a:pt x="722376" y="345948"/>
                  </a:lnTo>
                  <a:close/>
                </a:path>
                <a:path w="943610" h="818514">
                  <a:moveTo>
                    <a:pt x="722376" y="283464"/>
                  </a:moveTo>
                  <a:lnTo>
                    <a:pt x="652272" y="289560"/>
                  </a:lnTo>
                  <a:lnTo>
                    <a:pt x="666610" y="312381"/>
                  </a:lnTo>
                  <a:lnTo>
                    <a:pt x="406908" y="469392"/>
                  </a:lnTo>
                  <a:lnTo>
                    <a:pt x="411480" y="475488"/>
                  </a:lnTo>
                  <a:lnTo>
                    <a:pt x="670915" y="319227"/>
                  </a:lnTo>
                  <a:lnTo>
                    <a:pt x="685800" y="342900"/>
                  </a:lnTo>
                  <a:lnTo>
                    <a:pt x="708304" y="306324"/>
                  </a:lnTo>
                  <a:lnTo>
                    <a:pt x="722376" y="283464"/>
                  </a:lnTo>
                  <a:close/>
                </a:path>
                <a:path w="943610" h="818514">
                  <a:moveTo>
                    <a:pt x="722376" y="220980"/>
                  </a:moveTo>
                  <a:lnTo>
                    <a:pt x="713447" y="216408"/>
                  </a:lnTo>
                  <a:lnTo>
                    <a:pt x="659892" y="188976"/>
                  </a:lnTo>
                  <a:lnTo>
                    <a:pt x="659892" y="216408"/>
                  </a:lnTo>
                  <a:lnTo>
                    <a:pt x="470916" y="216408"/>
                  </a:lnTo>
                  <a:lnTo>
                    <a:pt x="470916" y="224028"/>
                  </a:lnTo>
                  <a:lnTo>
                    <a:pt x="659892" y="224028"/>
                  </a:lnTo>
                  <a:lnTo>
                    <a:pt x="659892" y="251460"/>
                  </a:lnTo>
                  <a:lnTo>
                    <a:pt x="716127" y="224028"/>
                  </a:lnTo>
                  <a:lnTo>
                    <a:pt x="722376" y="220980"/>
                  </a:lnTo>
                  <a:close/>
                </a:path>
                <a:path w="943610" h="818514">
                  <a:moveTo>
                    <a:pt x="722376" y="156972"/>
                  </a:moveTo>
                  <a:lnTo>
                    <a:pt x="716127" y="153924"/>
                  </a:lnTo>
                  <a:lnTo>
                    <a:pt x="659892" y="126492"/>
                  </a:lnTo>
                  <a:lnTo>
                    <a:pt x="659892" y="153924"/>
                  </a:lnTo>
                  <a:lnTo>
                    <a:pt x="470916" y="153924"/>
                  </a:lnTo>
                  <a:lnTo>
                    <a:pt x="470916" y="161544"/>
                  </a:lnTo>
                  <a:lnTo>
                    <a:pt x="659892" y="161544"/>
                  </a:lnTo>
                  <a:lnTo>
                    <a:pt x="659892" y="188976"/>
                  </a:lnTo>
                  <a:lnTo>
                    <a:pt x="713447" y="161544"/>
                  </a:lnTo>
                  <a:lnTo>
                    <a:pt x="722376" y="156972"/>
                  </a:lnTo>
                  <a:close/>
                </a:path>
                <a:path w="943610" h="818514">
                  <a:moveTo>
                    <a:pt x="722376" y="32004"/>
                  </a:moveTo>
                  <a:lnTo>
                    <a:pt x="713447" y="27432"/>
                  </a:lnTo>
                  <a:lnTo>
                    <a:pt x="659892" y="0"/>
                  </a:lnTo>
                  <a:lnTo>
                    <a:pt x="659892" y="27432"/>
                  </a:lnTo>
                  <a:lnTo>
                    <a:pt x="470916" y="27432"/>
                  </a:lnTo>
                  <a:lnTo>
                    <a:pt x="470916" y="36576"/>
                  </a:lnTo>
                  <a:lnTo>
                    <a:pt x="659892" y="36576"/>
                  </a:lnTo>
                  <a:lnTo>
                    <a:pt x="659892" y="64008"/>
                  </a:lnTo>
                  <a:lnTo>
                    <a:pt x="713447" y="36576"/>
                  </a:lnTo>
                  <a:lnTo>
                    <a:pt x="722376" y="32004"/>
                  </a:lnTo>
                  <a:close/>
                </a:path>
                <a:path w="943610" h="818514">
                  <a:moveTo>
                    <a:pt x="816864" y="345948"/>
                  </a:moveTo>
                  <a:lnTo>
                    <a:pt x="811657" y="335280"/>
                  </a:lnTo>
                  <a:lnTo>
                    <a:pt x="786384" y="283464"/>
                  </a:lnTo>
                  <a:lnTo>
                    <a:pt x="754380" y="345948"/>
                  </a:lnTo>
                  <a:lnTo>
                    <a:pt x="781812" y="345948"/>
                  </a:lnTo>
                  <a:lnTo>
                    <a:pt x="781812" y="534924"/>
                  </a:lnTo>
                  <a:lnTo>
                    <a:pt x="789432" y="534924"/>
                  </a:lnTo>
                  <a:lnTo>
                    <a:pt x="789432" y="345948"/>
                  </a:lnTo>
                  <a:lnTo>
                    <a:pt x="816864" y="345948"/>
                  </a:lnTo>
                  <a:close/>
                </a:path>
                <a:path w="943610" h="818514">
                  <a:moveTo>
                    <a:pt x="943356" y="345948"/>
                  </a:moveTo>
                  <a:lnTo>
                    <a:pt x="937882" y="335280"/>
                  </a:lnTo>
                  <a:lnTo>
                    <a:pt x="911352" y="283464"/>
                  </a:lnTo>
                  <a:lnTo>
                    <a:pt x="880872" y="345948"/>
                  </a:lnTo>
                  <a:lnTo>
                    <a:pt x="908304" y="345948"/>
                  </a:lnTo>
                  <a:lnTo>
                    <a:pt x="908304" y="534924"/>
                  </a:lnTo>
                  <a:lnTo>
                    <a:pt x="915924" y="534924"/>
                  </a:lnTo>
                  <a:lnTo>
                    <a:pt x="915924" y="345948"/>
                  </a:lnTo>
                  <a:lnTo>
                    <a:pt x="943356" y="3459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2123988" y="3746988"/>
            <a:ext cx="149796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>
                <a:latin typeface="Arial MT"/>
                <a:cs typeface="Arial MT"/>
              </a:rPr>
              <a:t>No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dependencies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4777223" y="3684519"/>
            <a:ext cx="314198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>
                <a:latin typeface="Arial MT"/>
                <a:cs typeface="Arial MT"/>
              </a:rPr>
              <a:t>Loosely</a:t>
            </a:r>
            <a:r>
              <a:rPr dirty="0" sz="1450" spc="8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coupled-some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dependencies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634753" y="5382262"/>
            <a:ext cx="301561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>
                <a:latin typeface="Arial MT"/>
                <a:cs typeface="Arial MT"/>
              </a:rPr>
              <a:t>Highly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coupled-many</a:t>
            </a:r>
            <a:r>
              <a:rPr dirty="0" sz="1450" spc="7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dependencies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4777740" y="4578096"/>
            <a:ext cx="3961129" cy="1887220"/>
          </a:xfrm>
          <a:prstGeom prst="rect">
            <a:avLst/>
          </a:prstGeom>
          <a:solidFill>
            <a:srgbClr val="4472C3"/>
          </a:solidFill>
          <a:ln w="7619">
            <a:solidFill>
              <a:srgbClr val="000000"/>
            </a:solidFill>
          </a:ln>
        </p:spPr>
        <p:txBody>
          <a:bodyPr wrap="square" lIns="0" tIns="144145" rIns="0" bIns="0" rtlCol="0" vert="horz">
            <a:spAutoFit/>
          </a:bodyPr>
          <a:lstStyle/>
          <a:p>
            <a:pPr marL="138430" marR="84455">
              <a:lnSpc>
                <a:spcPct val="101499"/>
              </a:lnSpc>
              <a:spcBef>
                <a:spcPts val="1135"/>
              </a:spcBef>
            </a:pP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High</a:t>
            </a:r>
            <a:r>
              <a:rPr dirty="0" sz="1950" spc="75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coupling</a:t>
            </a:r>
            <a:r>
              <a:rPr dirty="0" sz="1950" spc="50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makes</a:t>
            </a:r>
            <a:r>
              <a:rPr dirty="0" sz="1950" spc="65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ED7C31"/>
                </a:solidFill>
                <a:latin typeface="Arial MT"/>
                <a:cs typeface="Arial MT"/>
              </a:rPr>
              <a:t>modifying </a:t>
            </a: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parts</a:t>
            </a:r>
            <a:r>
              <a:rPr dirty="0" sz="1950" spc="35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of</a:t>
            </a:r>
            <a:r>
              <a:rPr dirty="0" sz="1950" spc="40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the</a:t>
            </a:r>
            <a:r>
              <a:rPr dirty="0" sz="1950" spc="50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system</a:t>
            </a:r>
            <a:r>
              <a:rPr dirty="0" sz="1950" spc="30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difficult,</a:t>
            </a:r>
            <a:r>
              <a:rPr dirty="0" sz="1950" spc="20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ED7C31"/>
                </a:solidFill>
                <a:latin typeface="Arial MT"/>
                <a:cs typeface="Arial MT"/>
              </a:rPr>
              <a:t>e.g., </a:t>
            </a: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modifying</a:t>
            </a:r>
            <a:r>
              <a:rPr dirty="0" sz="1950" spc="55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a</a:t>
            </a:r>
            <a:r>
              <a:rPr dirty="0" sz="1950" spc="60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component</a:t>
            </a:r>
            <a:r>
              <a:rPr dirty="0" sz="1950" spc="50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affects</a:t>
            </a:r>
            <a:r>
              <a:rPr dirty="0" sz="1950" spc="25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 spc="-25">
                <a:solidFill>
                  <a:srgbClr val="ED7C31"/>
                </a:solidFill>
                <a:latin typeface="Arial MT"/>
                <a:cs typeface="Arial MT"/>
              </a:rPr>
              <a:t>all </a:t>
            </a: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the</a:t>
            </a:r>
            <a:r>
              <a:rPr dirty="0" sz="1950" spc="50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components</a:t>
            </a:r>
            <a:r>
              <a:rPr dirty="0" sz="1950" spc="40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to</a:t>
            </a:r>
            <a:r>
              <a:rPr dirty="0" sz="1950" spc="55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which</a:t>
            </a:r>
            <a:r>
              <a:rPr dirty="0" sz="1950" spc="75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 spc="-25">
                <a:solidFill>
                  <a:srgbClr val="ED7C31"/>
                </a:solidFill>
                <a:latin typeface="Arial MT"/>
                <a:cs typeface="Arial MT"/>
              </a:rPr>
              <a:t>the </a:t>
            </a: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component</a:t>
            </a:r>
            <a:r>
              <a:rPr dirty="0" sz="1950" spc="45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is</a:t>
            </a:r>
            <a:r>
              <a:rPr dirty="0" sz="1950" spc="65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ED7C31"/>
                </a:solidFill>
                <a:latin typeface="Arial MT"/>
                <a:cs typeface="Arial MT"/>
              </a:rPr>
              <a:t>connected.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53893" y="2549149"/>
            <a:ext cx="8550910" cy="273494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algn="just" marL="12700" marR="6350">
              <a:lnSpc>
                <a:spcPts val="1789"/>
              </a:lnSpc>
              <a:spcBef>
                <a:spcPts val="325"/>
              </a:spcBef>
            </a:pPr>
            <a:r>
              <a:rPr dirty="0" sz="1650" b="1">
                <a:latin typeface="Calibri"/>
                <a:cs typeface="Calibri"/>
              </a:rPr>
              <a:t>Data</a:t>
            </a:r>
            <a:r>
              <a:rPr dirty="0" sz="1650" spc="20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coupling:</a:t>
            </a:r>
            <a:r>
              <a:rPr dirty="0" sz="1650" spc="30" b="1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Two</a:t>
            </a:r>
            <a:r>
              <a:rPr dirty="0" sz="1650" spc="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modules</a:t>
            </a:r>
            <a:r>
              <a:rPr dirty="0" sz="1650" spc="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coupled,</a:t>
            </a:r>
            <a:r>
              <a:rPr dirty="0" sz="1650" spc="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if</a:t>
            </a:r>
            <a:r>
              <a:rPr dirty="0" sz="1650" spc="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they</a:t>
            </a:r>
            <a:r>
              <a:rPr dirty="0" sz="1650" spc="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communicate</a:t>
            </a:r>
            <a:r>
              <a:rPr dirty="0" sz="1650" spc="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using</a:t>
            </a:r>
            <a:r>
              <a:rPr dirty="0" sz="1650" spc="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</a:t>
            </a:r>
            <a:r>
              <a:rPr dirty="0" sz="1650" spc="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elementary</a:t>
            </a:r>
            <a:r>
              <a:rPr dirty="0" sz="1650" spc="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30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item </a:t>
            </a:r>
            <a:r>
              <a:rPr dirty="0" sz="1650">
                <a:latin typeface="Calibri"/>
                <a:cs typeface="Calibri"/>
              </a:rPr>
              <a:t>that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passed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as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10">
                <a:latin typeface="Calibri"/>
                <a:cs typeface="Calibri"/>
              </a:rPr>
              <a:t> parameter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between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two.</a:t>
            </a:r>
            <a:endParaRPr sz="1650">
              <a:latin typeface="Calibri"/>
              <a:cs typeface="Calibri"/>
            </a:endParaRPr>
          </a:p>
          <a:p>
            <a:pPr algn="just" marL="12700" marR="5080">
              <a:lnSpc>
                <a:spcPts val="1780"/>
              </a:lnSpc>
              <a:spcBef>
                <a:spcPts val="820"/>
              </a:spcBef>
            </a:pPr>
            <a:r>
              <a:rPr dirty="0" sz="1650" b="1">
                <a:latin typeface="Calibri"/>
                <a:cs typeface="Calibri"/>
              </a:rPr>
              <a:t>Stamp</a:t>
            </a:r>
            <a:r>
              <a:rPr dirty="0" sz="1650" spc="-50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coupling:</a:t>
            </a:r>
            <a:r>
              <a:rPr dirty="0" sz="1650" spc="-45" b="1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Two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modules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stamp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coupled,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if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they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communicate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using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composite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-20">
                <a:latin typeface="Calibri"/>
                <a:cs typeface="Calibri"/>
              </a:rPr>
              <a:t> item </a:t>
            </a:r>
            <a:r>
              <a:rPr dirty="0" sz="1650">
                <a:latin typeface="Calibri"/>
                <a:cs typeface="Calibri"/>
              </a:rPr>
              <a:t>such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as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structure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C.</a:t>
            </a:r>
            <a:endParaRPr sz="1650">
              <a:latin typeface="Calibri"/>
              <a:cs typeface="Calibri"/>
            </a:endParaRPr>
          </a:p>
          <a:p>
            <a:pPr algn="just" marL="12700" marR="5080">
              <a:lnSpc>
                <a:spcPct val="90000"/>
              </a:lnSpc>
              <a:spcBef>
                <a:spcPts val="800"/>
              </a:spcBef>
            </a:pPr>
            <a:r>
              <a:rPr dirty="0" sz="1650" b="1">
                <a:latin typeface="Calibri"/>
                <a:cs typeface="Calibri"/>
              </a:rPr>
              <a:t>Control</a:t>
            </a:r>
            <a:r>
              <a:rPr dirty="0" sz="1650" spc="-1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coupling:</a:t>
            </a:r>
            <a:r>
              <a:rPr dirty="0" sz="1650" spc="-20" b="1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Control</a:t>
            </a:r>
            <a:r>
              <a:rPr dirty="0" sz="1650" spc="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coupling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exists</a:t>
            </a:r>
            <a:r>
              <a:rPr dirty="0" sz="1650" spc="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between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two modules,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if data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from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one module</a:t>
            </a:r>
            <a:r>
              <a:rPr dirty="0" sz="1650" spc="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used </a:t>
            </a:r>
            <a:r>
              <a:rPr dirty="0" sz="1650" spc="-25">
                <a:latin typeface="Calibri"/>
                <a:cs typeface="Calibri"/>
              </a:rPr>
              <a:t>to </a:t>
            </a:r>
            <a:r>
              <a:rPr dirty="0" sz="1650">
                <a:latin typeface="Calibri"/>
                <a:cs typeface="Calibri"/>
              </a:rPr>
              <a:t>direct</a:t>
            </a:r>
            <a:r>
              <a:rPr dirty="0" sz="1650" spc="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order</a:t>
            </a:r>
            <a:r>
              <a:rPr dirty="0" sz="1650" spc="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instruction</a:t>
            </a:r>
            <a:r>
              <a:rPr dirty="0" sz="1650" spc="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execution</a:t>
            </a:r>
            <a:r>
              <a:rPr dirty="0" sz="1650" spc="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</a:t>
            </a:r>
            <a:r>
              <a:rPr dirty="0" sz="1650" spc="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another.</a:t>
            </a:r>
            <a:r>
              <a:rPr dirty="0" sz="1650" spc="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</a:t>
            </a:r>
            <a:r>
              <a:rPr dirty="0" sz="1650" spc="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example</a:t>
            </a:r>
            <a:r>
              <a:rPr dirty="0" sz="1650" spc="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control</a:t>
            </a:r>
            <a:r>
              <a:rPr dirty="0" sz="1650" spc="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coupling</a:t>
            </a:r>
            <a:r>
              <a:rPr dirty="0" sz="1650" spc="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flag</a:t>
            </a:r>
            <a:r>
              <a:rPr dirty="0" sz="1650" spc="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set</a:t>
            </a:r>
            <a:r>
              <a:rPr dirty="0" sz="1650" spc="70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in </a:t>
            </a:r>
            <a:r>
              <a:rPr dirty="0" sz="1650">
                <a:latin typeface="Calibri"/>
                <a:cs typeface="Calibri"/>
              </a:rPr>
              <a:t>one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module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and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tested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another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module.</a:t>
            </a:r>
            <a:endParaRPr sz="165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625"/>
              </a:spcBef>
            </a:pPr>
            <a:r>
              <a:rPr dirty="0" sz="1650" b="1">
                <a:latin typeface="Calibri"/>
                <a:cs typeface="Calibri"/>
              </a:rPr>
              <a:t>Common</a:t>
            </a:r>
            <a:r>
              <a:rPr dirty="0" sz="1650" spc="-3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coupling:</a:t>
            </a:r>
            <a:r>
              <a:rPr dirty="0" sz="1650" spc="-40" b="1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Two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modules</a:t>
            </a:r>
            <a:r>
              <a:rPr dirty="0" sz="1650" spc="-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common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coupled,</a:t>
            </a:r>
            <a:r>
              <a:rPr dirty="0" sz="1650" spc="-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if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they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share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some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global</a:t>
            </a:r>
            <a:r>
              <a:rPr dirty="0" sz="1650" spc="-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items.</a:t>
            </a:r>
            <a:endParaRPr sz="1650">
              <a:latin typeface="Calibri"/>
              <a:cs typeface="Calibri"/>
            </a:endParaRPr>
          </a:p>
          <a:p>
            <a:pPr algn="just" marL="12700" marR="5715">
              <a:lnSpc>
                <a:spcPts val="1789"/>
              </a:lnSpc>
              <a:spcBef>
                <a:spcPts val="840"/>
              </a:spcBef>
            </a:pPr>
            <a:r>
              <a:rPr dirty="0" sz="1650" b="1">
                <a:latin typeface="Calibri"/>
                <a:cs typeface="Calibri"/>
              </a:rPr>
              <a:t>Content</a:t>
            </a:r>
            <a:r>
              <a:rPr dirty="0" sz="1650" spc="-5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coupling:</a:t>
            </a:r>
            <a:r>
              <a:rPr dirty="0" sz="1650" spc="-45" b="1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Content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coupling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exists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between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two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modules,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if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they</a:t>
            </a:r>
            <a:r>
              <a:rPr dirty="0" sz="1650" spc="2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share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code.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That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is,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jump </a:t>
            </a:r>
            <a:r>
              <a:rPr dirty="0" sz="1650">
                <a:latin typeface="Calibri"/>
                <a:cs typeface="Calibri"/>
              </a:rPr>
              <a:t>from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one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module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into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code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another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module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can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occur.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dc:title>Microsoft PowerPoint - Design3.2</dc:title>
  <dcterms:created xsi:type="dcterms:W3CDTF">2025-09-23T09:33:53Z</dcterms:created>
  <dcterms:modified xsi:type="dcterms:W3CDTF">2025-09-23T09:33:53Z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2020-09-18T00:00:00Z</vt:filetime>
  </property>
  <property fmtid="{D5CDD505-2E9C-101B-9397-08002B2CF9AE}" pid="3" name="LastSaved">
    <vt:filetime>2025-09-23T00:00:00Z</vt:filetime>
  </property>
  <property fmtid="{D5CDD505-2E9C-101B-9397-08002B2CF9AE}" pid="4" name="Producer">
    <vt:lpwstr>Microsoft: Print To PDF</vt:lpwstr>
  </property>
</Properties>
</file>