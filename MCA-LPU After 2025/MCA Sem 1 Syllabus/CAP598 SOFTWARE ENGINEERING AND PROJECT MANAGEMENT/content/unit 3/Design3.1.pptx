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589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300" y="1272011"/>
            <a:ext cx="7543800" cy="2705947"/>
          </a:xfrm>
        </p:spPr>
        <p:txBody>
          <a:bodyPr anchor="b"/>
          <a:lstStyle>
            <a:lvl1pPr algn="ctr">
              <a:defRPr sz="495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1980"/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02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154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276" y="1937704"/>
            <a:ext cx="8675370" cy="3233102"/>
          </a:xfrm>
        </p:spPr>
        <p:txBody>
          <a:bodyPr anchor="b"/>
          <a:lstStyle>
            <a:lvl1pPr>
              <a:defRPr sz="495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6276" y="5201392"/>
            <a:ext cx="8675370" cy="1700212"/>
          </a:xfrm>
        </p:spPr>
        <p:txBody>
          <a:bodyPr/>
          <a:lstStyle>
            <a:lvl1pPr marL="0" indent="0">
              <a:buNone/>
              <a:defRPr sz="1980">
                <a:solidFill>
                  <a:schemeClr val="tx1">
                    <a:tint val="82000"/>
                  </a:schemeClr>
                </a:solidFill>
              </a:defRPr>
            </a:lvl1pPr>
            <a:lvl2pPr marL="377190" indent="0">
              <a:buNone/>
              <a:defRPr sz="1650">
                <a:solidFill>
                  <a:schemeClr val="tx1">
                    <a:tint val="82000"/>
                  </a:schemeClr>
                </a:solidFill>
              </a:defRPr>
            </a:lvl2pPr>
            <a:lvl3pPr marL="754380" indent="0">
              <a:buNone/>
              <a:defRPr sz="1485">
                <a:solidFill>
                  <a:schemeClr val="tx1">
                    <a:tint val="82000"/>
                  </a:schemeClr>
                </a:solidFill>
              </a:defRPr>
            </a:lvl3pPr>
            <a:lvl4pPr marL="113157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4pPr>
            <a:lvl5pPr marL="150876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5pPr>
            <a:lvl6pPr marL="188595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6pPr>
            <a:lvl7pPr marL="226314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7pPr>
            <a:lvl8pPr marL="264033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8pPr>
            <a:lvl9pPr marL="301752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094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299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413809"/>
            <a:ext cx="8675370" cy="150230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92065" y="1905318"/>
            <a:ext cx="4276130" cy="933767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92065" y="2839085"/>
            <a:ext cx="4276130" cy="417586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9472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847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249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268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6130" y="1119082"/>
            <a:ext cx="5092065" cy="5523442"/>
          </a:xfrm>
        </p:spPr>
        <p:txBody>
          <a:bodyPr/>
          <a:lstStyle>
            <a:lvl1pPr>
              <a:defRPr sz="2640"/>
            </a:lvl1pPr>
            <a:lvl2pPr>
              <a:defRPr sz="2310"/>
            </a:lvl2pPr>
            <a:lvl3pPr>
              <a:defRPr sz="198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003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76130" y="1119082"/>
            <a:ext cx="5092065" cy="5523442"/>
          </a:xfrm>
        </p:spPr>
        <p:txBody>
          <a:bodyPr/>
          <a:lstStyle>
            <a:lvl1pPr marL="0" indent="0">
              <a:buNone/>
              <a:defRPr sz="2640"/>
            </a:lvl1pPr>
            <a:lvl2pPr marL="377190" indent="0">
              <a:buNone/>
              <a:defRPr sz="2310"/>
            </a:lvl2pPr>
            <a:lvl3pPr marL="754380" indent="0">
              <a:buNone/>
              <a:defRPr sz="1980"/>
            </a:lvl3pPr>
            <a:lvl4pPr marL="1131570" indent="0">
              <a:buNone/>
              <a:defRPr sz="1650"/>
            </a:lvl4pPr>
            <a:lvl5pPr marL="1508760" indent="0">
              <a:buNone/>
              <a:defRPr sz="1650"/>
            </a:lvl5pPr>
            <a:lvl6pPr marL="1885950" indent="0">
              <a:buNone/>
              <a:defRPr sz="1650"/>
            </a:lvl6pPr>
            <a:lvl7pPr marL="2263140" indent="0">
              <a:buNone/>
              <a:defRPr sz="1650"/>
            </a:lvl7pPr>
            <a:lvl8pPr marL="2640330" indent="0">
              <a:buNone/>
              <a:defRPr sz="1650"/>
            </a:lvl8pPr>
            <a:lvl9pPr marL="3017520" indent="0">
              <a:buNone/>
              <a:defRPr sz="1650"/>
            </a:lvl9pPr>
          </a:lstStyle>
          <a:p>
            <a:r>
              <a:rPr lang="en-US" smtClean="0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8774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198042" y="413808"/>
            <a:ext cx="2168843" cy="65867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130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" y="7682718"/>
            <a:ext cx="10058398" cy="89682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543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85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3606C-9B53-79F1-02DD-16BC50BEB5CE}"/>
              </a:ext>
            </a:extLst>
          </p:cNvPr>
          <p:cNvSpPr/>
          <p:nvPr/>
        </p:nvSpPr>
        <p:spPr>
          <a:xfrm>
            <a:off x="1714891" y="488487"/>
            <a:ext cx="6688476" cy="527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2934" y="202081"/>
            <a:ext cx="1276704" cy="47444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32" y="202083"/>
            <a:ext cx="1304492" cy="572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0174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0058400" cy="7797949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165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5222" y="504257"/>
            <a:ext cx="4518920" cy="3730752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95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5205222" y="4478756"/>
            <a:ext cx="1760220" cy="1139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504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5" y="413809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151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1845" y="7203864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374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00DB2-1B79-F076-988B-189E25D268A4}"/>
              </a:ext>
            </a:extLst>
          </p:cNvPr>
          <p:cNvSpPr/>
          <p:nvPr/>
        </p:nvSpPr>
        <p:spPr>
          <a:xfrm>
            <a:off x="1714891" y="488487"/>
            <a:ext cx="6688476" cy="527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6FB77-67DC-C0AD-16FE-6E68AF2B887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42934" y="202081"/>
            <a:ext cx="1276704" cy="4744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D9CD6-CADD-7BD4-3F8E-872DFDE3128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0832" y="202083"/>
            <a:ext cx="1304492" cy="57280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318C861-1BD5-B856-A0FD-4B28D1D8BE11}"/>
              </a:ext>
            </a:extLst>
          </p:cNvPr>
          <p:cNvSpPr/>
          <p:nvPr/>
        </p:nvSpPr>
        <p:spPr>
          <a:xfrm>
            <a:off x="1" y="7682718"/>
            <a:ext cx="10058398" cy="89682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543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85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309914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</p:sldLayoutIdLst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36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595" indent="-188595" algn="l" defTabSz="75438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1pPr>
      <a:lvl2pPr marL="56578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94297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132016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69735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207454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914400" y="1601759"/>
            <a:ext cx="8534400" cy="1442703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 marR="5080" indent="3017520" algn="l">
              <a:lnSpc>
                <a:spcPts val="3560"/>
              </a:lnSpc>
              <a:spcBef>
                <a:spcPts val="550"/>
              </a:spcBef>
            </a:pPr>
            <a:r>
              <a:rPr sz="3300" spc="-35" dirty="0"/>
              <a:t>Unit-</a:t>
            </a:r>
            <a:r>
              <a:rPr sz="3300" dirty="0"/>
              <a:t>3 </a:t>
            </a:r>
            <a:r>
              <a:rPr lang="en-IN" sz="3300" dirty="0" smtClean="0"/>
              <a:t/>
            </a:r>
            <a:br>
              <a:rPr lang="en-IN" sz="3300" dirty="0" smtClean="0"/>
            </a:br>
            <a:r>
              <a:rPr sz="3300" spc="-20" dirty="0" smtClean="0"/>
              <a:t>Design </a:t>
            </a:r>
            <a:r>
              <a:rPr sz="3300" dirty="0"/>
              <a:t>3.1-</a:t>
            </a:r>
            <a:r>
              <a:rPr sz="3300" spc="-114" dirty="0"/>
              <a:t> </a:t>
            </a:r>
            <a:r>
              <a:rPr sz="3300" dirty="0"/>
              <a:t>Design</a:t>
            </a:r>
            <a:r>
              <a:rPr sz="3300" spc="-155" dirty="0"/>
              <a:t> </a:t>
            </a:r>
            <a:r>
              <a:rPr sz="3300" spc="-10" dirty="0"/>
              <a:t>Process</a:t>
            </a:r>
            <a:endParaRPr sz="3300" dirty="0"/>
          </a:p>
          <a:p>
            <a:pPr marL="12700">
              <a:lnSpc>
                <a:spcPts val="3515"/>
              </a:lnSpc>
            </a:pPr>
            <a:r>
              <a:rPr sz="3300" dirty="0"/>
              <a:t>3.2-</a:t>
            </a:r>
            <a:r>
              <a:rPr sz="3300" spc="-114" dirty="0"/>
              <a:t> </a:t>
            </a:r>
            <a:r>
              <a:rPr sz="3300" dirty="0"/>
              <a:t>Design</a:t>
            </a:r>
            <a:r>
              <a:rPr sz="3300" spc="-155" dirty="0"/>
              <a:t> </a:t>
            </a:r>
            <a:r>
              <a:rPr sz="3300" spc="-10" dirty="0"/>
              <a:t>Concepts</a:t>
            </a:r>
            <a:endParaRPr sz="3300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3" name="object 3"/>
          <p:cNvGrpSpPr/>
          <p:nvPr/>
        </p:nvGrpSpPr>
        <p:grpSpPr>
          <a:xfrm>
            <a:off x="381000" y="3005458"/>
            <a:ext cx="4140835" cy="3947160"/>
            <a:chOff x="448056" y="2589276"/>
            <a:chExt cx="4140835" cy="39471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2752" y="2589276"/>
              <a:ext cx="3185159" cy="167030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8056" y="4244339"/>
              <a:ext cx="4140708" cy="229209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81600" y="3403984"/>
            <a:ext cx="3781043" cy="31501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9628" y="3108541"/>
            <a:ext cx="4116704" cy="781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950" spc="-45" dirty="0"/>
              <a:t>Software</a:t>
            </a:r>
            <a:r>
              <a:rPr sz="4950" spc="-220" dirty="0"/>
              <a:t> </a:t>
            </a:r>
            <a:r>
              <a:rPr sz="4950" spc="-10" dirty="0"/>
              <a:t>Design</a:t>
            </a:r>
            <a:endParaRPr sz="49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0532" y="1274064"/>
            <a:ext cx="6118860" cy="49895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5251" y="1450848"/>
            <a:ext cx="7018019" cy="41803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Design</a:t>
            </a:r>
            <a:r>
              <a:rPr spc="-85" dirty="0"/>
              <a:t> </a:t>
            </a:r>
            <a:r>
              <a:rPr spc="-10" dirty="0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936" y="2533947"/>
            <a:ext cx="8551545" cy="143446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00025" marR="10160" indent="-187960">
              <a:lnSpc>
                <a:spcPts val="2500"/>
              </a:lnSpc>
              <a:spcBef>
                <a:spcPts val="415"/>
              </a:spcBef>
              <a:buFont typeface="Arial MT"/>
              <a:buChar char="•"/>
              <a:tabLst>
                <a:tab pos="201295" algn="l"/>
              </a:tabLst>
            </a:pPr>
            <a:r>
              <a:rPr sz="2300" dirty="0">
                <a:latin typeface="Calibri"/>
                <a:cs typeface="Calibri"/>
              </a:rPr>
              <a:t>S/w</a:t>
            </a:r>
            <a:r>
              <a:rPr sz="2300" spc="3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design</a:t>
            </a:r>
            <a:r>
              <a:rPr sz="2300" spc="3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38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</a:t>
            </a:r>
            <a:r>
              <a:rPr sz="2300" spc="39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iterative</a:t>
            </a:r>
            <a:r>
              <a:rPr sz="2300" spc="39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process</a:t>
            </a:r>
            <a:r>
              <a:rPr sz="2300" spc="3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through</a:t>
            </a:r>
            <a:r>
              <a:rPr sz="2300" spc="37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which</a:t>
            </a:r>
            <a:r>
              <a:rPr sz="2300" spc="37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requirements</a:t>
            </a:r>
            <a:r>
              <a:rPr sz="2300" spc="380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are 	</a:t>
            </a:r>
            <a:r>
              <a:rPr sz="2300" dirty="0">
                <a:latin typeface="Calibri"/>
                <a:cs typeface="Calibri"/>
              </a:rPr>
              <a:t>translated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into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“blueprint”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for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constructing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s/w.</a:t>
            </a:r>
            <a:endParaRPr sz="2300">
              <a:latin typeface="Calibri"/>
              <a:cs typeface="Calibri"/>
            </a:endParaRPr>
          </a:p>
          <a:p>
            <a:pPr marL="200025" marR="5080" indent="-187960">
              <a:lnSpc>
                <a:spcPts val="2500"/>
              </a:lnSpc>
              <a:spcBef>
                <a:spcPts val="819"/>
              </a:spcBef>
              <a:buFont typeface="Arial MT"/>
              <a:buChar char="•"/>
              <a:tabLst>
                <a:tab pos="201295" algn="l"/>
                <a:tab pos="636270" algn="l"/>
                <a:tab pos="1560195" algn="l"/>
                <a:tab pos="2724785" algn="l"/>
                <a:tab pos="3577590" algn="l"/>
                <a:tab pos="5119370" algn="l"/>
                <a:tab pos="6592570" algn="l"/>
                <a:tab pos="7363459" algn="l"/>
                <a:tab pos="7763509" algn="l"/>
              </a:tabLst>
            </a:pPr>
            <a:r>
              <a:rPr sz="2300" spc="-25" dirty="0">
                <a:latin typeface="Calibri"/>
                <a:cs typeface="Calibri"/>
              </a:rPr>
              <a:t>As</a:t>
            </a:r>
            <a:r>
              <a:rPr sz="2300" dirty="0">
                <a:latin typeface="Calibri"/>
                <a:cs typeface="Calibri"/>
              </a:rPr>
              <a:t>	</a:t>
            </a:r>
            <a:r>
              <a:rPr sz="2300" spc="-10" dirty="0">
                <a:latin typeface="Calibri"/>
                <a:cs typeface="Calibri"/>
              </a:rPr>
              <a:t>design</a:t>
            </a:r>
            <a:r>
              <a:rPr sz="2300" dirty="0">
                <a:latin typeface="Calibri"/>
                <a:cs typeface="Calibri"/>
              </a:rPr>
              <a:t>	</a:t>
            </a:r>
            <a:r>
              <a:rPr sz="2300" spc="-10" dirty="0">
                <a:latin typeface="Calibri"/>
                <a:cs typeface="Calibri"/>
              </a:rPr>
              <a:t>iteration</a:t>
            </a:r>
            <a:r>
              <a:rPr sz="2300" dirty="0">
                <a:latin typeface="Calibri"/>
                <a:cs typeface="Calibri"/>
              </a:rPr>
              <a:t>	</a:t>
            </a:r>
            <a:r>
              <a:rPr sz="2300" spc="-10" dirty="0">
                <a:latin typeface="Calibri"/>
                <a:cs typeface="Calibri"/>
              </a:rPr>
              <a:t>occur,</a:t>
            </a:r>
            <a:r>
              <a:rPr sz="2300" dirty="0">
                <a:latin typeface="Calibri"/>
                <a:cs typeface="Calibri"/>
              </a:rPr>
              <a:t>	</a:t>
            </a:r>
            <a:r>
              <a:rPr sz="2300" spc="-10" dirty="0">
                <a:latin typeface="Calibri"/>
                <a:cs typeface="Calibri"/>
              </a:rPr>
              <a:t>subsequent</a:t>
            </a:r>
            <a:r>
              <a:rPr sz="2300" dirty="0">
                <a:latin typeface="Calibri"/>
                <a:cs typeface="Calibri"/>
              </a:rPr>
              <a:t>	</a:t>
            </a:r>
            <a:r>
              <a:rPr sz="2300" spc="-10" dirty="0">
                <a:latin typeface="Calibri"/>
                <a:cs typeface="Calibri"/>
              </a:rPr>
              <a:t>refinement</a:t>
            </a:r>
            <a:r>
              <a:rPr sz="2300" dirty="0">
                <a:latin typeface="Calibri"/>
                <a:cs typeface="Calibri"/>
              </a:rPr>
              <a:t>	</a:t>
            </a:r>
            <a:r>
              <a:rPr sz="2300" spc="-10" dirty="0">
                <a:latin typeface="Calibri"/>
                <a:cs typeface="Calibri"/>
              </a:rPr>
              <a:t>leads</a:t>
            </a:r>
            <a:r>
              <a:rPr sz="2300" dirty="0">
                <a:latin typeface="Calibri"/>
                <a:cs typeface="Calibri"/>
              </a:rPr>
              <a:t>	</a:t>
            </a:r>
            <a:r>
              <a:rPr sz="2300" spc="-25" dirty="0">
                <a:latin typeface="Calibri"/>
                <a:cs typeface="Calibri"/>
              </a:rPr>
              <a:t>to</a:t>
            </a:r>
            <a:r>
              <a:rPr sz="2300" dirty="0">
                <a:latin typeface="Calibri"/>
                <a:cs typeface="Calibri"/>
              </a:rPr>
              <a:t>	</a:t>
            </a:r>
            <a:r>
              <a:rPr sz="2300" spc="-10" dirty="0">
                <a:latin typeface="Calibri"/>
                <a:cs typeface="Calibri"/>
              </a:rPr>
              <a:t>design 	representation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at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much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lower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levels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of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abstraction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Goal</a:t>
            </a:r>
            <a:r>
              <a:rPr spc="-5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design</a:t>
            </a:r>
            <a:r>
              <a:rPr spc="-50" dirty="0"/>
              <a:t> </a:t>
            </a:r>
            <a:r>
              <a:rPr spc="-10" dirty="0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831" y="2518708"/>
            <a:ext cx="8549640" cy="246888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200025" marR="43180" indent="-187960">
              <a:lnSpc>
                <a:spcPct val="81300"/>
              </a:lnSpc>
              <a:spcBef>
                <a:spcPts val="565"/>
              </a:spcBef>
              <a:buFont typeface="Arial MT"/>
              <a:buChar char="•"/>
              <a:tabLst>
                <a:tab pos="201295" algn="l"/>
              </a:tabLst>
            </a:pPr>
            <a:r>
              <a:rPr sz="1950" dirty="0">
                <a:latin typeface="Calibri"/>
                <a:cs typeface="Calibri"/>
              </a:rPr>
              <a:t>The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design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must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implement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all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of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the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explicit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requirements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contained</a:t>
            </a:r>
            <a:r>
              <a:rPr sz="1950" spc="4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in </a:t>
            </a:r>
            <a:r>
              <a:rPr sz="1950" spc="-25" dirty="0">
                <a:latin typeface="Calibri"/>
                <a:cs typeface="Calibri"/>
              </a:rPr>
              <a:t>the 	</a:t>
            </a:r>
            <a:r>
              <a:rPr sz="1950" dirty="0">
                <a:latin typeface="Calibri"/>
                <a:cs typeface="Calibri"/>
              </a:rPr>
              <a:t>analysis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model, and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it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must</a:t>
            </a:r>
            <a:r>
              <a:rPr sz="1950" spc="-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accommodate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all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of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the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implicit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requirements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desired 	</a:t>
            </a:r>
            <a:r>
              <a:rPr sz="1950" dirty="0">
                <a:latin typeface="Calibri"/>
                <a:cs typeface="Calibri"/>
              </a:rPr>
              <a:t>by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the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customer.</a:t>
            </a:r>
            <a:endParaRPr sz="1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Font typeface="Arial MT"/>
              <a:buChar char="•"/>
            </a:pPr>
            <a:endParaRPr sz="1950">
              <a:latin typeface="Calibri"/>
              <a:cs typeface="Calibri"/>
            </a:endParaRPr>
          </a:p>
          <a:p>
            <a:pPr marL="200025" marR="440055" indent="-187960">
              <a:lnSpc>
                <a:spcPts val="1910"/>
              </a:lnSpc>
              <a:spcBef>
                <a:spcPts val="5"/>
              </a:spcBef>
              <a:buFont typeface="Arial MT"/>
              <a:buChar char="•"/>
              <a:tabLst>
                <a:tab pos="201295" algn="l"/>
              </a:tabLst>
            </a:pPr>
            <a:r>
              <a:rPr sz="1950" dirty="0">
                <a:latin typeface="Calibri"/>
                <a:cs typeface="Calibri"/>
              </a:rPr>
              <a:t>The</a:t>
            </a:r>
            <a:r>
              <a:rPr sz="1950" spc="4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design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must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be</a:t>
            </a:r>
            <a:r>
              <a:rPr sz="1950" spc="4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readable,</a:t>
            </a:r>
            <a:r>
              <a:rPr sz="1950" spc="4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understandable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guide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for</a:t>
            </a:r>
            <a:r>
              <a:rPr sz="1950" spc="4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those who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generate 	</a:t>
            </a:r>
            <a:r>
              <a:rPr sz="1950" dirty="0">
                <a:latin typeface="Calibri"/>
                <a:cs typeface="Calibri"/>
              </a:rPr>
              <a:t>code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and</a:t>
            </a:r>
            <a:r>
              <a:rPr sz="1950" spc="4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for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those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who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test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and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subsequently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support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the</a:t>
            </a:r>
            <a:r>
              <a:rPr sz="1950" spc="4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software.</a:t>
            </a:r>
            <a:endParaRPr sz="1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5"/>
              </a:spcBef>
              <a:buFont typeface="Arial MT"/>
              <a:buChar char="•"/>
            </a:pPr>
            <a:endParaRPr sz="1950">
              <a:latin typeface="Calibri"/>
              <a:cs typeface="Calibri"/>
            </a:endParaRPr>
          </a:p>
          <a:p>
            <a:pPr marL="200025" marR="5080" indent="-187960">
              <a:lnSpc>
                <a:spcPts val="1910"/>
              </a:lnSpc>
              <a:buFont typeface="Arial MT"/>
              <a:buChar char="•"/>
              <a:tabLst>
                <a:tab pos="201295" algn="l"/>
              </a:tabLst>
            </a:pPr>
            <a:r>
              <a:rPr sz="1950" dirty="0">
                <a:latin typeface="Calibri"/>
                <a:cs typeface="Calibri"/>
              </a:rPr>
              <a:t>The</a:t>
            </a:r>
            <a:r>
              <a:rPr sz="1950" spc="36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design</a:t>
            </a:r>
            <a:r>
              <a:rPr sz="1950" spc="33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should</a:t>
            </a:r>
            <a:r>
              <a:rPr sz="1950" spc="36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provide</a:t>
            </a:r>
            <a:r>
              <a:rPr sz="1950" spc="34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</a:t>
            </a:r>
            <a:r>
              <a:rPr sz="1950" spc="35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complete</a:t>
            </a:r>
            <a:r>
              <a:rPr sz="1950" spc="34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picture</a:t>
            </a:r>
            <a:r>
              <a:rPr sz="1950" spc="36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of</a:t>
            </a:r>
            <a:r>
              <a:rPr sz="1950" spc="34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the</a:t>
            </a:r>
            <a:r>
              <a:rPr sz="1950" spc="34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software,</a:t>
            </a:r>
            <a:r>
              <a:rPr sz="1950" spc="33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addressing</a:t>
            </a:r>
            <a:r>
              <a:rPr sz="1950" spc="350" dirty="0">
                <a:latin typeface="Calibri"/>
                <a:cs typeface="Calibri"/>
              </a:rPr>
              <a:t> </a:t>
            </a:r>
            <a:r>
              <a:rPr sz="1950" spc="-25" dirty="0">
                <a:latin typeface="Calibri"/>
                <a:cs typeface="Calibri"/>
              </a:rPr>
              <a:t>the 	</a:t>
            </a:r>
            <a:r>
              <a:rPr sz="1950" dirty="0">
                <a:latin typeface="Calibri"/>
                <a:cs typeface="Calibri"/>
              </a:rPr>
              <a:t>data,</a:t>
            </a:r>
            <a:r>
              <a:rPr sz="1950" spc="4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functional,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and</a:t>
            </a:r>
            <a:r>
              <a:rPr sz="1950" spc="4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behavioral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domains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from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an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implementation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perspective</a:t>
            </a:r>
            <a:endParaRPr sz="1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35"/>
              </a:spcBef>
            </a:pPr>
            <a:r>
              <a:rPr b="1" spc="-114" dirty="0">
                <a:latin typeface="Calibri"/>
                <a:cs typeface="Calibri"/>
              </a:rPr>
              <a:t>SOFTWARE</a:t>
            </a:r>
            <a:r>
              <a:rPr b="1" spc="-70" dirty="0">
                <a:latin typeface="Calibri"/>
                <a:cs typeface="Calibri"/>
              </a:rPr>
              <a:t> </a:t>
            </a:r>
            <a:r>
              <a:rPr b="1" spc="-55" dirty="0">
                <a:latin typeface="Calibri"/>
                <a:cs typeface="Calibri"/>
              </a:rPr>
              <a:t>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5433" y="2550690"/>
            <a:ext cx="8551545" cy="106172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01295" marR="6985" indent="-189230">
              <a:lnSpc>
                <a:spcPts val="1789"/>
              </a:lnSpc>
              <a:spcBef>
                <a:spcPts val="325"/>
              </a:spcBef>
              <a:buFont typeface="Arial MT"/>
              <a:buChar char="•"/>
              <a:tabLst>
                <a:tab pos="201295" algn="l"/>
              </a:tabLst>
            </a:pPr>
            <a:r>
              <a:rPr sz="1650" dirty="0">
                <a:latin typeface="Calibri"/>
                <a:cs typeface="Calibri"/>
              </a:rPr>
              <a:t>The</a:t>
            </a:r>
            <a:r>
              <a:rPr sz="1650" spc="1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activities</a:t>
            </a:r>
            <a:r>
              <a:rPr sz="1650" spc="1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carried</a:t>
            </a:r>
            <a:r>
              <a:rPr sz="1650" spc="114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out</a:t>
            </a:r>
            <a:r>
              <a:rPr sz="1650" spc="1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during</a:t>
            </a:r>
            <a:r>
              <a:rPr sz="1650" spc="1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1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design</a:t>
            </a:r>
            <a:r>
              <a:rPr sz="1650" spc="1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phase</a:t>
            </a:r>
            <a:r>
              <a:rPr sz="1650" spc="1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(called</a:t>
            </a:r>
            <a:r>
              <a:rPr sz="1650" spc="15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as</a:t>
            </a:r>
            <a:r>
              <a:rPr sz="1650" spc="1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design</a:t>
            </a:r>
            <a:r>
              <a:rPr sz="1650" spc="1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process</a:t>
            </a:r>
            <a:r>
              <a:rPr sz="1650" spc="1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)</a:t>
            </a:r>
            <a:r>
              <a:rPr sz="1650" spc="1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transform</a:t>
            </a:r>
            <a:r>
              <a:rPr sz="1650" spc="1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150" dirty="0">
                <a:latin typeface="Calibri"/>
                <a:cs typeface="Calibri"/>
              </a:rPr>
              <a:t> </a:t>
            </a:r>
            <a:r>
              <a:rPr sz="1650" spc="-25" dirty="0">
                <a:latin typeface="Calibri"/>
                <a:cs typeface="Calibri"/>
              </a:rPr>
              <a:t>SRS </a:t>
            </a:r>
            <a:r>
              <a:rPr sz="1650" dirty="0">
                <a:latin typeface="Calibri"/>
                <a:cs typeface="Calibri"/>
              </a:rPr>
              <a:t>document</a:t>
            </a:r>
            <a:r>
              <a:rPr sz="1650" spc="-7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into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design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document.</a:t>
            </a:r>
            <a:endParaRPr sz="1650">
              <a:latin typeface="Calibri"/>
              <a:cs typeface="Calibri"/>
            </a:endParaRPr>
          </a:p>
          <a:p>
            <a:pPr marL="201295" marR="5080" indent="-189230">
              <a:lnSpc>
                <a:spcPts val="1780"/>
              </a:lnSpc>
              <a:spcBef>
                <a:spcPts val="820"/>
              </a:spcBef>
              <a:buFont typeface="Arial MT"/>
              <a:buChar char="•"/>
              <a:tabLst>
                <a:tab pos="201295" algn="l"/>
              </a:tabLst>
            </a:pPr>
            <a:r>
              <a:rPr sz="1650" dirty="0">
                <a:latin typeface="Calibri"/>
                <a:cs typeface="Calibri"/>
              </a:rPr>
              <a:t>The</a:t>
            </a:r>
            <a:r>
              <a:rPr sz="1650" spc="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design</a:t>
            </a:r>
            <a:r>
              <a:rPr sz="1650" spc="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document</a:t>
            </a:r>
            <a:r>
              <a:rPr sz="1650" spc="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produced</a:t>
            </a:r>
            <a:r>
              <a:rPr sz="1650" spc="5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at</a:t>
            </a:r>
            <a:r>
              <a:rPr sz="1650" spc="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end</a:t>
            </a:r>
            <a:r>
              <a:rPr sz="1650" spc="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of</a:t>
            </a:r>
            <a:r>
              <a:rPr sz="1650" spc="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design</a:t>
            </a:r>
            <a:r>
              <a:rPr sz="1650" spc="5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phase</a:t>
            </a:r>
            <a:r>
              <a:rPr sz="1650" spc="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should</a:t>
            </a:r>
            <a:r>
              <a:rPr sz="1650" spc="5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be</a:t>
            </a:r>
            <a:r>
              <a:rPr sz="1650" spc="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implementable</a:t>
            </a:r>
            <a:r>
              <a:rPr sz="1650" spc="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using</a:t>
            </a:r>
            <a:r>
              <a:rPr sz="1650" spc="30" dirty="0">
                <a:latin typeface="Calibri"/>
                <a:cs typeface="Calibri"/>
              </a:rPr>
              <a:t> </a:t>
            </a:r>
            <a:r>
              <a:rPr sz="1650" spc="-50" dirty="0">
                <a:latin typeface="Calibri"/>
                <a:cs typeface="Calibri"/>
              </a:rPr>
              <a:t>a </a:t>
            </a:r>
            <a:r>
              <a:rPr sz="1650" spc="-10" dirty="0">
                <a:latin typeface="Calibri"/>
                <a:cs typeface="Calibri"/>
              </a:rPr>
              <a:t>programming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language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in the</a:t>
            </a:r>
            <a:r>
              <a:rPr sz="1650" spc="-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subsequent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(coding)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phase.</a:t>
            </a:r>
            <a:endParaRPr sz="16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8949" y="3737874"/>
            <a:ext cx="5953350" cy="24293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1" spc="-85" dirty="0">
                <a:latin typeface="Calibri"/>
                <a:cs typeface="Calibri"/>
              </a:rPr>
              <a:t>Outcome</a:t>
            </a:r>
            <a:r>
              <a:rPr b="1" spc="-12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of</a:t>
            </a:r>
            <a:r>
              <a:rPr b="1" spc="-170" dirty="0">
                <a:latin typeface="Calibri"/>
                <a:cs typeface="Calibri"/>
              </a:rPr>
              <a:t> </a:t>
            </a:r>
            <a:r>
              <a:rPr b="1" spc="-20" dirty="0">
                <a:latin typeface="Calibri"/>
                <a:cs typeface="Calibri"/>
              </a:rPr>
              <a:t>the</a:t>
            </a:r>
            <a:r>
              <a:rPr b="1" spc="-140" dirty="0">
                <a:latin typeface="Calibri"/>
                <a:cs typeface="Calibri"/>
              </a:rPr>
              <a:t> </a:t>
            </a:r>
            <a:r>
              <a:rPr b="1" spc="-70" dirty="0">
                <a:latin typeface="Calibri"/>
                <a:cs typeface="Calibri"/>
              </a:rPr>
              <a:t>Design</a:t>
            </a:r>
            <a:r>
              <a:rPr b="1" spc="-135" dirty="0">
                <a:latin typeface="Calibri"/>
                <a:cs typeface="Calibri"/>
              </a:rPr>
              <a:t> </a:t>
            </a:r>
            <a:r>
              <a:rPr b="1" spc="-35" dirty="0">
                <a:latin typeface="Calibri"/>
                <a:cs typeface="Calibri"/>
              </a:rPr>
              <a:t>Process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00660" marR="5080" indent="-187960">
              <a:lnSpc>
                <a:spcPts val="2500"/>
              </a:lnSpc>
              <a:spcBef>
                <a:spcPts val="415"/>
              </a:spcBef>
              <a:buFont typeface="Arial MT"/>
              <a:buChar char="•"/>
              <a:tabLst>
                <a:tab pos="202565" algn="l"/>
              </a:tabLst>
            </a:pPr>
            <a:r>
              <a:rPr dirty="0"/>
              <a:t>The</a:t>
            </a:r>
            <a:r>
              <a:rPr spc="114" dirty="0"/>
              <a:t> </a:t>
            </a:r>
            <a:r>
              <a:rPr dirty="0"/>
              <a:t>following</a:t>
            </a:r>
            <a:r>
              <a:rPr spc="110" dirty="0"/>
              <a:t> </a:t>
            </a:r>
            <a:r>
              <a:rPr dirty="0"/>
              <a:t>items</a:t>
            </a:r>
            <a:r>
              <a:rPr spc="130" dirty="0"/>
              <a:t> </a:t>
            </a:r>
            <a:r>
              <a:rPr dirty="0"/>
              <a:t>are</a:t>
            </a:r>
            <a:r>
              <a:rPr spc="90" dirty="0"/>
              <a:t> </a:t>
            </a:r>
            <a:r>
              <a:rPr dirty="0"/>
              <a:t>designed</a:t>
            </a:r>
            <a:r>
              <a:rPr spc="120" dirty="0"/>
              <a:t> </a:t>
            </a:r>
            <a:r>
              <a:rPr dirty="0"/>
              <a:t>and</a:t>
            </a:r>
            <a:r>
              <a:rPr spc="125" dirty="0"/>
              <a:t> </a:t>
            </a:r>
            <a:r>
              <a:rPr dirty="0"/>
              <a:t>documented</a:t>
            </a:r>
            <a:r>
              <a:rPr spc="120" dirty="0"/>
              <a:t> </a:t>
            </a:r>
            <a:r>
              <a:rPr dirty="0"/>
              <a:t>during</a:t>
            </a:r>
            <a:r>
              <a:rPr spc="130" dirty="0"/>
              <a:t> </a:t>
            </a:r>
            <a:r>
              <a:rPr dirty="0"/>
              <a:t>the</a:t>
            </a:r>
            <a:r>
              <a:rPr spc="114" dirty="0"/>
              <a:t> </a:t>
            </a:r>
            <a:r>
              <a:rPr spc="-10" dirty="0"/>
              <a:t>design 	phase.</a:t>
            </a:r>
          </a:p>
          <a:p>
            <a:pPr marL="436245" indent="-422909">
              <a:lnSpc>
                <a:spcPct val="100000"/>
              </a:lnSpc>
              <a:spcBef>
                <a:spcPts val="520"/>
              </a:spcBef>
              <a:buAutoNum type="arabicPeriod"/>
              <a:tabLst>
                <a:tab pos="436880" algn="l"/>
              </a:tabLst>
            </a:pPr>
            <a:r>
              <a:rPr spc="-10" dirty="0"/>
              <a:t>Different</a:t>
            </a:r>
            <a:r>
              <a:rPr spc="-70" dirty="0"/>
              <a:t> </a:t>
            </a:r>
            <a:r>
              <a:rPr dirty="0"/>
              <a:t>modules</a:t>
            </a:r>
            <a:r>
              <a:rPr spc="-30" dirty="0"/>
              <a:t> </a:t>
            </a:r>
            <a:r>
              <a:rPr spc="-10" dirty="0"/>
              <a:t>required.</a:t>
            </a:r>
          </a:p>
          <a:p>
            <a:pPr marL="436245" indent="-422909">
              <a:lnSpc>
                <a:spcPct val="100000"/>
              </a:lnSpc>
              <a:spcBef>
                <a:spcPts val="550"/>
              </a:spcBef>
              <a:buAutoNum type="arabicPeriod"/>
              <a:tabLst>
                <a:tab pos="436880" algn="l"/>
              </a:tabLst>
            </a:pPr>
            <a:r>
              <a:rPr dirty="0"/>
              <a:t>Relationships</a:t>
            </a:r>
            <a:r>
              <a:rPr spc="-70" dirty="0"/>
              <a:t> </a:t>
            </a:r>
            <a:r>
              <a:rPr dirty="0"/>
              <a:t>among</a:t>
            </a:r>
            <a:r>
              <a:rPr spc="-65" dirty="0"/>
              <a:t> </a:t>
            </a:r>
            <a:r>
              <a:rPr spc="-10" dirty="0"/>
              <a:t>modules.</a:t>
            </a:r>
          </a:p>
          <a:p>
            <a:pPr marL="436245" indent="-422909">
              <a:lnSpc>
                <a:spcPct val="100000"/>
              </a:lnSpc>
              <a:spcBef>
                <a:spcPts val="565"/>
              </a:spcBef>
              <a:buAutoNum type="arabicPeriod"/>
              <a:tabLst>
                <a:tab pos="436880" algn="l"/>
              </a:tabLst>
            </a:pPr>
            <a:r>
              <a:rPr dirty="0"/>
              <a:t>Interfaces</a:t>
            </a:r>
            <a:r>
              <a:rPr spc="-90" dirty="0"/>
              <a:t> </a:t>
            </a:r>
            <a:r>
              <a:rPr dirty="0"/>
              <a:t>among</a:t>
            </a:r>
            <a:r>
              <a:rPr spc="-85" dirty="0"/>
              <a:t> </a:t>
            </a:r>
            <a:r>
              <a:rPr spc="-10" dirty="0"/>
              <a:t>different</a:t>
            </a:r>
            <a:r>
              <a:rPr spc="-70" dirty="0"/>
              <a:t> </a:t>
            </a:r>
            <a:r>
              <a:rPr spc="-10" dirty="0"/>
              <a:t>modules</a:t>
            </a:r>
          </a:p>
          <a:p>
            <a:pPr marL="436245" indent="-422909">
              <a:lnSpc>
                <a:spcPct val="100000"/>
              </a:lnSpc>
              <a:spcBef>
                <a:spcPts val="565"/>
              </a:spcBef>
              <a:buAutoNum type="arabicPeriod"/>
              <a:tabLst>
                <a:tab pos="436880" algn="l"/>
              </a:tabLst>
            </a:pPr>
            <a:r>
              <a:rPr dirty="0"/>
              <a:t>Data</a:t>
            </a:r>
            <a:r>
              <a:rPr spc="-50" dirty="0"/>
              <a:t> </a:t>
            </a:r>
            <a:r>
              <a:rPr dirty="0"/>
              <a:t>structures</a:t>
            </a:r>
            <a:r>
              <a:rPr spc="-3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individual</a:t>
            </a:r>
            <a:r>
              <a:rPr spc="-45" dirty="0"/>
              <a:t> </a:t>
            </a:r>
            <a:r>
              <a:rPr spc="-10" dirty="0"/>
              <a:t>modules</a:t>
            </a:r>
          </a:p>
          <a:p>
            <a:pPr marL="436245" indent="-422909">
              <a:lnSpc>
                <a:spcPct val="100000"/>
              </a:lnSpc>
              <a:spcBef>
                <a:spcPts val="550"/>
              </a:spcBef>
              <a:buAutoNum type="arabicPeriod"/>
              <a:tabLst>
                <a:tab pos="436880" algn="l"/>
              </a:tabLst>
            </a:pPr>
            <a:r>
              <a:rPr dirty="0"/>
              <a:t>Algorithms</a:t>
            </a:r>
            <a:r>
              <a:rPr spc="-70" dirty="0"/>
              <a:t> </a:t>
            </a:r>
            <a:r>
              <a:rPr dirty="0"/>
              <a:t>required</a:t>
            </a:r>
            <a:r>
              <a:rPr spc="-30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dirty="0"/>
              <a:t>implement</a:t>
            </a:r>
            <a:r>
              <a:rPr spc="-3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individual</a:t>
            </a:r>
            <a:r>
              <a:rPr spc="-20" dirty="0"/>
              <a:t> </a:t>
            </a:r>
            <a:r>
              <a:rPr spc="-10" dirty="0"/>
              <a:t>modules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1" spc="-90" dirty="0">
                <a:latin typeface="Calibri"/>
                <a:cs typeface="Calibri"/>
              </a:rPr>
              <a:t>Classification</a:t>
            </a:r>
            <a:r>
              <a:rPr b="1" spc="-10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of</a:t>
            </a:r>
            <a:r>
              <a:rPr b="1" spc="-70" dirty="0">
                <a:latin typeface="Calibri"/>
                <a:cs typeface="Calibri"/>
              </a:rPr>
              <a:t> Design</a:t>
            </a:r>
            <a:r>
              <a:rPr b="1" spc="-100" dirty="0">
                <a:latin typeface="Calibri"/>
                <a:cs typeface="Calibri"/>
              </a:rPr>
              <a:t> </a:t>
            </a:r>
            <a:r>
              <a:rPr b="1" spc="-60" dirty="0">
                <a:latin typeface="Calibri"/>
                <a:cs typeface="Calibri"/>
              </a:rPr>
              <a:t>Activities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850" y="2546064"/>
            <a:ext cx="8550275" cy="271272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200025" marR="5080" indent="-187960">
              <a:lnSpc>
                <a:spcPts val="1970"/>
              </a:lnSpc>
              <a:spcBef>
                <a:spcPts val="335"/>
              </a:spcBef>
              <a:buFont typeface="Arial MT"/>
              <a:buChar char="•"/>
              <a:tabLst>
                <a:tab pos="201295" algn="l"/>
              </a:tabLst>
            </a:pPr>
            <a:r>
              <a:rPr sz="1800" dirty="0">
                <a:latin typeface="Calibri"/>
                <a:cs typeface="Calibri"/>
              </a:rPr>
              <a:t>Depending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order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various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design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activities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performed,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broadly 	</a:t>
            </a:r>
            <a:r>
              <a:rPr sz="1800" dirty="0">
                <a:latin typeface="Calibri"/>
                <a:cs typeface="Calibri"/>
              </a:rPr>
              <a:t>classify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them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two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important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stages.</a:t>
            </a:r>
            <a:endParaRPr sz="1800">
              <a:latin typeface="Calibri"/>
              <a:cs typeface="Calibri"/>
            </a:endParaRPr>
          </a:p>
          <a:p>
            <a:pPr marL="389890" indent="-377190">
              <a:lnSpc>
                <a:spcPct val="100000"/>
              </a:lnSpc>
              <a:spcBef>
                <a:spcPts val="590"/>
              </a:spcBef>
              <a:buAutoNum type="arabicPeriod"/>
              <a:tabLst>
                <a:tab pos="389890" algn="l"/>
              </a:tabLst>
            </a:pPr>
            <a:r>
              <a:rPr sz="1800" dirty="0">
                <a:latin typeface="Calibri"/>
                <a:cs typeface="Calibri"/>
              </a:rPr>
              <a:t>Preliminary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(or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high-</a:t>
            </a:r>
            <a:r>
              <a:rPr sz="1800" dirty="0">
                <a:latin typeface="Calibri"/>
                <a:cs typeface="Calibri"/>
              </a:rPr>
              <a:t>level)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design,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and</a:t>
            </a:r>
            <a:endParaRPr sz="1800">
              <a:latin typeface="Calibri"/>
              <a:cs typeface="Calibri"/>
            </a:endParaRPr>
          </a:p>
          <a:p>
            <a:pPr marL="389890" indent="-377190">
              <a:lnSpc>
                <a:spcPct val="100000"/>
              </a:lnSpc>
              <a:spcBef>
                <a:spcPts val="620"/>
              </a:spcBef>
              <a:buAutoNum type="arabicPeriod"/>
              <a:tabLst>
                <a:tab pos="389890" algn="l"/>
              </a:tabLst>
            </a:pPr>
            <a:r>
              <a:rPr sz="1800" dirty="0">
                <a:latin typeface="Calibri"/>
                <a:cs typeface="Calibri"/>
              </a:rPr>
              <a:t>Detailed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design.</a:t>
            </a:r>
            <a:endParaRPr sz="1800">
              <a:latin typeface="Calibri"/>
              <a:cs typeface="Calibri"/>
            </a:endParaRPr>
          </a:p>
          <a:p>
            <a:pPr marL="200025" marR="5080" lvl="1" indent="-187960" algn="just">
              <a:lnSpc>
                <a:spcPct val="90800"/>
              </a:lnSpc>
              <a:spcBef>
                <a:spcPts val="825"/>
              </a:spcBef>
              <a:buFont typeface="Arial MT"/>
              <a:buChar char="•"/>
              <a:tabLst>
                <a:tab pos="201295" algn="l"/>
              </a:tabLst>
            </a:pPr>
            <a:r>
              <a:rPr sz="1800" dirty="0">
                <a:latin typeface="Calibri"/>
                <a:cs typeface="Calibri"/>
              </a:rPr>
              <a:t>Through</a:t>
            </a:r>
            <a:r>
              <a:rPr sz="1800" spc="1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high-level</a:t>
            </a:r>
            <a:r>
              <a:rPr sz="1800" b="1" spc="10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design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114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problem</a:t>
            </a:r>
            <a:r>
              <a:rPr sz="1800" spc="1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1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decomposed</a:t>
            </a:r>
            <a:r>
              <a:rPr sz="1800" spc="10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into</a:t>
            </a:r>
            <a:r>
              <a:rPr sz="1800" spc="1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1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set</a:t>
            </a:r>
            <a:r>
              <a:rPr sz="1800" spc="1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1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modules.</a:t>
            </a:r>
            <a:r>
              <a:rPr sz="1800" spc="1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control 	</a:t>
            </a:r>
            <a:r>
              <a:rPr sz="1800" dirty="0">
                <a:latin typeface="Calibri"/>
                <a:cs typeface="Calibri"/>
              </a:rPr>
              <a:t>relationships</a:t>
            </a:r>
            <a:r>
              <a:rPr sz="1800" spc="1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among</a:t>
            </a:r>
            <a:r>
              <a:rPr sz="1800" spc="1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modules</a:t>
            </a:r>
            <a:r>
              <a:rPr sz="1800" spc="1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1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identified,</a:t>
            </a:r>
            <a:r>
              <a:rPr sz="1800" spc="1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also</a:t>
            </a:r>
            <a:r>
              <a:rPr sz="1800" spc="1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interfaces</a:t>
            </a:r>
            <a:r>
              <a:rPr sz="1800" spc="1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among</a:t>
            </a:r>
            <a:r>
              <a:rPr sz="1800" spc="1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various 	</a:t>
            </a:r>
            <a:r>
              <a:rPr sz="1800" dirty="0">
                <a:latin typeface="Calibri"/>
                <a:cs typeface="Calibri"/>
              </a:rPr>
              <a:t>modules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identified.</a:t>
            </a:r>
            <a:endParaRPr sz="1800">
              <a:latin typeface="Calibri"/>
              <a:cs typeface="Calibri"/>
            </a:endParaRPr>
          </a:p>
          <a:p>
            <a:pPr marL="200025" marR="5080" lvl="1" indent="-187960" algn="just">
              <a:lnSpc>
                <a:spcPts val="1960"/>
              </a:lnSpc>
              <a:spcBef>
                <a:spcPts val="855"/>
              </a:spcBef>
              <a:buFont typeface="Arial MT"/>
              <a:buChar char="•"/>
              <a:tabLst>
                <a:tab pos="201295" algn="l"/>
              </a:tabLst>
            </a:pPr>
            <a:r>
              <a:rPr sz="1800" dirty="0">
                <a:latin typeface="Calibri"/>
                <a:cs typeface="Calibri"/>
              </a:rPr>
              <a:t>During</a:t>
            </a:r>
            <a:r>
              <a:rPr sz="1800" spc="1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detailed</a:t>
            </a:r>
            <a:r>
              <a:rPr sz="1800" b="1" spc="18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design</a:t>
            </a:r>
            <a:r>
              <a:rPr sz="1800" b="1" spc="1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1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module</a:t>
            </a:r>
            <a:r>
              <a:rPr sz="1800" spc="1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1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examined</a:t>
            </a:r>
            <a:r>
              <a:rPr sz="1800" spc="1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carefully</a:t>
            </a:r>
            <a:r>
              <a:rPr sz="1800" spc="1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1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design</a:t>
            </a:r>
            <a:r>
              <a:rPr sz="1800" spc="1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its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structures 	</a:t>
            </a:r>
            <a:r>
              <a:rPr sz="1800" dirty="0">
                <a:latin typeface="Calibri"/>
                <a:cs typeface="Calibri"/>
              </a:rPr>
              <a:t>and the </a:t>
            </a:r>
            <a:r>
              <a:rPr sz="1800" spc="-10" dirty="0">
                <a:latin typeface="Calibri"/>
                <a:cs typeface="Calibri"/>
              </a:rPr>
              <a:t>algorithms.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Design</a:t>
            </a:r>
            <a:r>
              <a:rPr spc="-85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936" y="2490576"/>
            <a:ext cx="8264525" cy="249936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455"/>
              </a:spcBef>
              <a:buFont typeface="Arial MT"/>
              <a:buChar char="•"/>
              <a:tabLst>
                <a:tab pos="200660" algn="l"/>
              </a:tabLst>
            </a:pPr>
            <a:r>
              <a:rPr sz="2300" b="1" spc="-10" dirty="0">
                <a:latin typeface="Calibri"/>
                <a:cs typeface="Calibri"/>
              </a:rPr>
              <a:t>Abstraction</a:t>
            </a:r>
            <a:endParaRPr sz="2300">
              <a:latin typeface="Calibri"/>
              <a:cs typeface="Calibri"/>
            </a:endParaRPr>
          </a:p>
          <a:p>
            <a:pPr marL="577850" marR="168275" lvl="1" indent="-187960">
              <a:lnSpc>
                <a:spcPts val="1789"/>
              </a:lnSpc>
              <a:spcBef>
                <a:spcPts val="470"/>
              </a:spcBef>
              <a:buFont typeface="Arial MT"/>
              <a:buChar char="•"/>
              <a:tabLst>
                <a:tab pos="577850" algn="l"/>
              </a:tabLst>
            </a:pPr>
            <a:r>
              <a:rPr sz="1650" dirty="0">
                <a:latin typeface="Calibri"/>
                <a:cs typeface="Calibri"/>
              </a:rPr>
              <a:t>When</a:t>
            </a:r>
            <a:r>
              <a:rPr sz="1650" spc="-6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we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consider</a:t>
            </a:r>
            <a:r>
              <a:rPr sz="1650" spc="-6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modular</a:t>
            </a:r>
            <a:r>
              <a:rPr sz="1650" spc="-5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solution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to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any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problem,</a:t>
            </a:r>
            <a:r>
              <a:rPr sz="1650" spc="-7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many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levels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of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abstraction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can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spc="-25" dirty="0">
                <a:latin typeface="Calibri"/>
                <a:cs typeface="Calibri"/>
              </a:rPr>
              <a:t>be </a:t>
            </a:r>
            <a:r>
              <a:rPr sz="1650" spc="-10" dirty="0">
                <a:latin typeface="Calibri"/>
                <a:cs typeface="Calibri"/>
              </a:rPr>
              <a:t>posed.</a:t>
            </a:r>
            <a:endParaRPr sz="1650">
              <a:latin typeface="Calibri"/>
              <a:cs typeface="Calibri"/>
            </a:endParaRPr>
          </a:p>
          <a:p>
            <a:pPr marL="577850" lvl="1" indent="-187325">
              <a:lnSpc>
                <a:spcPct val="100000"/>
              </a:lnSpc>
              <a:spcBef>
                <a:spcPts val="190"/>
              </a:spcBef>
              <a:buFont typeface="Arial MT"/>
              <a:buChar char="•"/>
              <a:tabLst>
                <a:tab pos="577850" algn="l"/>
              </a:tabLst>
            </a:pPr>
            <a:r>
              <a:rPr sz="1650" dirty="0">
                <a:latin typeface="Calibri"/>
                <a:cs typeface="Calibri"/>
              </a:rPr>
              <a:t>At</a:t>
            </a:r>
            <a:r>
              <a:rPr sz="1650" spc="-1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highest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level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of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abstraction,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solution</a:t>
            </a:r>
            <a:r>
              <a:rPr sz="1650" spc="-6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is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stated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in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broad</a:t>
            </a:r>
            <a:r>
              <a:rPr sz="1650" spc="-6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terms</a:t>
            </a:r>
            <a:endParaRPr sz="1650">
              <a:latin typeface="Calibri"/>
              <a:cs typeface="Calibri"/>
            </a:endParaRPr>
          </a:p>
          <a:p>
            <a:pPr marL="577850" lvl="1" indent="-18732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577850" algn="l"/>
              </a:tabLst>
            </a:pPr>
            <a:r>
              <a:rPr sz="1650" dirty="0">
                <a:latin typeface="Calibri"/>
                <a:cs typeface="Calibri"/>
              </a:rPr>
              <a:t>At</a:t>
            </a:r>
            <a:r>
              <a:rPr sz="1650" spc="-1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lower</a:t>
            </a:r>
            <a:r>
              <a:rPr sz="1650" spc="-5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levels</a:t>
            </a:r>
            <a:r>
              <a:rPr sz="1650" spc="-5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of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abstraction,</a:t>
            </a:r>
            <a:r>
              <a:rPr sz="1650" spc="-1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more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detailed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description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of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solution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is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provided.</a:t>
            </a:r>
            <a:endParaRPr sz="1650">
              <a:latin typeface="Calibri"/>
              <a:cs typeface="Calibri"/>
            </a:endParaRPr>
          </a:p>
          <a:p>
            <a:pPr marL="577850" marR="5080" lvl="1" indent="-187960">
              <a:lnSpc>
                <a:spcPts val="1780"/>
              </a:lnSpc>
              <a:spcBef>
                <a:spcPts val="440"/>
              </a:spcBef>
              <a:buFont typeface="Arial MT"/>
              <a:buChar char="•"/>
              <a:tabLst>
                <a:tab pos="577850" algn="l"/>
              </a:tabLst>
            </a:pPr>
            <a:r>
              <a:rPr sz="1650" spc="-10" dirty="0">
                <a:latin typeface="Calibri"/>
                <a:cs typeface="Calibri"/>
              </a:rPr>
              <a:t>Problem-oriented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terminology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is</a:t>
            </a:r>
            <a:r>
              <a:rPr sz="1650" spc="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coupled</a:t>
            </a:r>
            <a:r>
              <a:rPr sz="1650" spc="-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with</a:t>
            </a:r>
            <a:r>
              <a:rPr sz="1650" spc="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implementation-oriented terminology</a:t>
            </a:r>
            <a:r>
              <a:rPr sz="1650" dirty="0">
                <a:latin typeface="Calibri"/>
                <a:cs typeface="Calibri"/>
              </a:rPr>
              <a:t> in</a:t>
            </a:r>
            <a:r>
              <a:rPr sz="1650" spc="20" dirty="0">
                <a:latin typeface="Calibri"/>
                <a:cs typeface="Calibri"/>
              </a:rPr>
              <a:t> </a:t>
            </a:r>
            <a:r>
              <a:rPr sz="1650" spc="-25" dirty="0">
                <a:latin typeface="Calibri"/>
                <a:cs typeface="Calibri"/>
              </a:rPr>
              <a:t>an </a:t>
            </a:r>
            <a:r>
              <a:rPr sz="1650" spc="-10" dirty="0">
                <a:latin typeface="Calibri"/>
                <a:cs typeface="Calibri"/>
              </a:rPr>
              <a:t>effort</a:t>
            </a:r>
            <a:r>
              <a:rPr sz="1650" spc="-5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to</a:t>
            </a:r>
            <a:r>
              <a:rPr sz="1650" spc="-5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state</a:t>
            </a:r>
            <a:r>
              <a:rPr sz="1650" spc="-1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solution.</a:t>
            </a:r>
            <a:endParaRPr sz="1650">
              <a:latin typeface="Calibri"/>
              <a:cs typeface="Calibri"/>
            </a:endParaRPr>
          </a:p>
          <a:p>
            <a:pPr marL="577850" marR="311150" lvl="1" indent="-187960">
              <a:lnSpc>
                <a:spcPts val="1780"/>
              </a:lnSpc>
              <a:spcBef>
                <a:spcPts val="414"/>
              </a:spcBef>
              <a:buFont typeface="Arial MT"/>
              <a:buChar char="•"/>
              <a:tabLst>
                <a:tab pos="577850" algn="l"/>
              </a:tabLst>
            </a:pPr>
            <a:r>
              <a:rPr sz="1650" spc="-10" dirty="0">
                <a:latin typeface="Calibri"/>
                <a:cs typeface="Calibri"/>
              </a:rPr>
              <a:t>Finally,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at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lowest</a:t>
            </a:r>
            <a:r>
              <a:rPr sz="1650" spc="-5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level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of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abstraction,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solution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is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stated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in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manner</a:t>
            </a:r>
            <a:r>
              <a:rPr sz="1650" spc="-6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that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can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spc="-25" dirty="0">
                <a:latin typeface="Calibri"/>
                <a:cs typeface="Calibri"/>
              </a:rPr>
              <a:t>be </a:t>
            </a:r>
            <a:r>
              <a:rPr sz="1650" dirty="0">
                <a:latin typeface="Calibri"/>
                <a:cs typeface="Calibri"/>
              </a:rPr>
              <a:t>directly</a:t>
            </a:r>
            <a:r>
              <a:rPr sz="1650" spc="-5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implemented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Design</a:t>
            </a:r>
            <a:r>
              <a:rPr spc="-85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936" y="2504757"/>
            <a:ext cx="8331834" cy="252095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345"/>
              </a:spcBef>
              <a:buFont typeface="Arial MT"/>
              <a:buChar char="•"/>
              <a:tabLst>
                <a:tab pos="200660" algn="l"/>
              </a:tabLst>
            </a:pPr>
            <a:r>
              <a:rPr sz="2300" spc="-10" dirty="0">
                <a:latin typeface="Calibri"/>
                <a:cs typeface="Calibri"/>
              </a:rPr>
              <a:t>Refinement</a:t>
            </a:r>
            <a:endParaRPr sz="2300">
              <a:latin typeface="Calibri"/>
              <a:cs typeface="Calibri"/>
            </a:endParaRPr>
          </a:p>
          <a:p>
            <a:pPr marL="577215" lvl="1" indent="-186690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577215" algn="l"/>
              </a:tabLst>
            </a:pPr>
            <a:r>
              <a:rPr sz="1950" dirty="0">
                <a:latin typeface="Calibri"/>
                <a:cs typeface="Calibri"/>
              </a:rPr>
              <a:t>refinement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is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top-down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design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strategy</a:t>
            </a:r>
            <a:endParaRPr sz="1950">
              <a:latin typeface="Calibri"/>
              <a:cs typeface="Calibri"/>
            </a:endParaRPr>
          </a:p>
          <a:p>
            <a:pPr marL="577215" lvl="1" indent="-186690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577215" algn="l"/>
              </a:tabLst>
            </a:pPr>
            <a:r>
              <a:rPr sz="1950" dirty="0">
                <a:latin typeface="Calibri"/>
                <a:cs typeface="Calibri"/>
              </a:rPr>
              <a:t>Refinement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is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actually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process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of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elaboration</a:t>
            </a:r>
            <a:endParaRPr sz="1950">
              <a:latin typeface="Calibri"/>
              <a:cs typeface="Calibri"/>
            </a:endParaRPr>
          </a:p>
          <a:p>
            <a:pPr marL="576580" marR="5080" lvl="1" indent="-186690">
              <a:lnSpc>
                <a:spcPts val="2140"/>
              </a:lnSpc>
              <a:spcBef>
                <a:spcPts val="450"/>
              </a:spcBef>
              <a:buFont typeface="Arial MT"/>
              <a:buChar char="•"/>
              <a:tabLst>
                <a:tab pos="577850" algn="l"/>
              </a:tabLst>
            </a:pPr>
            <a:r>
              <a:rPr sz="1950" dirty="0">
                <a:latin typeface="Calibri"/>
                <a:cs typeface="Calibri"/>
              </a:rPr>
              <a:t>Refinement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causes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the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designer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to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elaborate</a:t>
            </a:r>
            <a:r>
              <a:rPr sz="1950" spc="4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on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the</a:t>
            </a:r>
            <a:r>
              <a:rPr sz="1950" spc="4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original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statement, 	</a:t>
            </a:r>
            <a:r>
              <a:rPr sz="1950" dirty="0">
                <a:latin typeface="Calibri"/>
                <a:cs typeface="Calibri"/>
              </a:rPr>
              <a:t>providing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more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and</a:t>
            </a:r>
            <a:r>
              <a:rPr sz="1950" spc="4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more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detail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as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each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successive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refinement </a:t>
            </a:r>
            <a:r>
              <a:rPr sz="1950" spc="-10" dirty="0">
                <a:latin typeface="Calibri"/>
                <a:cs typeface="Calibri"/>
              </a:rPr>
              <a:t>(elaboration) 	occurs</a:t>
            </a:r>
            <a:endParaRPr sz="1950">
              <a:latin typeface="Calibri"/>
              <a:cs typeface="Calibri"/>
            </a:endParaRPr>
          </a:p>
          <a:p>
            <a:pPr marL="576580" marR="876935" lvl="1" indent="-186690">
              <a:lnSpc>
                <a:spcPts val="2140"/>
              </a:lnSpc>
              <a:spcBef>
                <a:spcPts val="409"/>
              </a:spcBef>
              <a:buFont typeface="Arial MT"/>
              <a:buChar char="•"/>
              <a:tabLst>
                <a:tab pos="577850" algn="l"/>
              </a:tabLst>
            </a:pPr>
            <a:r>
              <a:rPr sz="1950" dirty="0">
                <a:latin typeface="Calibri"/>
                <a:cs typeface="Calibri"/>
              </a:rPr>
              <a:t>Refinement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helps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the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designer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to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expose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low-level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details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as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design 	progresses</a:t>
            </a:r>
            <a:endParaRPr sz="1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7262" y="1349703"/>
            <a:ext cx="2257425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dirty="0"/>
              <a:t>Design</a:t>
            </a:r>
            <a:r>
              <a:rPr sz="2650" spc="-145" dirty="0"/>
              <a:t> </a:t>
            </a:r>
            <a:r>
              <a:rPr sz="2650" spc="-10" dirty="0"/>
              <a:t>Concepts</a:t>
            </a:r>
            <a:endParaRPr sz="2650"/>
          </a:p>
        </p:txBody>
      </p:sp>
      <p:sp>
        <p:nvSpPr>
          <p:cNvPr id="3" name="object 3"/>
          <p:cNvSpPr txBox="1"/>
          <p:nvPr/>
        </p:nvSpPr>
        <p:spPr>
          <a:xfrm>
            <a:off x="1697170" y="2048260"/>
            <a:ext cx="6664959" cy="255905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400"/>
              </a:spcBef>
              <a:buFont typeface="Arial MT"/>
              <a:buChar char="•"/>
              <a:tabLst>
                <a:tab pos="200660" algn="l"/>
              </a:tabLst>
            </a:pPr>
            <a:r>
              <a:rPr sz="1950" b="1" spc="-10" dirty="0">
                <a:latin typeface="Calibri"/>
                <a:cs typeface="Calibri"/>
              </a:rPr>
              <a:t>Modularity</a:t>
            </a:r>
            <a:endParaRPr sz="1950">
              <a:latin typeface="Calibri"/>
              <a:cs typeface="Calibri"/>
            </a:endParaRPr>
          </a:p>
          <a:p>
            <a:pPr marL="577850" marR="8255" lvl="1" indent="-187960" algn="just">
              <a:lnSpc>
                <a:spcPct val="90000"/>
              </a:lnSpc>
              <a:spcBef>
                <a:spcPts val="439"/>
              </a:spcBef>
              <a:buFont typeface="Arial MT"/>
              <a:buChar char="•"/>
              <a:tabLst>
                <a:tab pos="577850" algn="l"/>
              </a:tabLst>
            </a:pPr>
            <a:r>
              <a:rPr sz="1650" dirty="0">
                <a:latin typeface="Calibri"/>
                <a:cs typeface="Calibri"/>
              </a:rPr>
              <a:t>A</a:t>
            </a:r>
            <a:r>
              <a:rPr sz="1650" spc="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modular</a:t>
            </a:r>
            <a:r>
              <a:rPr sz="1650" spc="6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design,</a:t>
            </a:r>
            <a:r>
              <a:rPr sz="1650" spc="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in</a:t>
            </a:r>
            <a:r>
              <a:rPr sz="1650" spc="7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simple</a:t>
            </a:r>
            <a:r>
              <a:rPr sz="1650" spc="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words,</a:t>
            </a:r>
            <a:r>
              <a:rPr sz="1650" spc="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implies</a:t>
            </a:r>
            <a:r>
              <a:rPr sz="1650" spc="6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that</a:t>
            </a:r>
            <a:r>
              <a:rPr sz="1650" spc="5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5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problem</a:t>
            </a:r>
            <a:r>
              <a:rPr sz="1650" spc="5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has</a:t>
            </a:r>
            <a:r>
              <a:rPr sz="1650" spc="55" dirty="0">
                <a:latin typeface="Calibri"/>
                <a:cs typeface="Calibri"/>
              </a:rPr>
              <a:t> </a:t>
            </a:r>
            <a:r>
              <a:rPr sz="1650" spc="-20" dirty="0">
                <a:latin typeface="Calibri"/>
                <a:cs typeface="Calibri"/>
              </a:rPr>
              <a:t>been </a:t>
            </a:r>
            <a:r>
              <a:rPr sz="1650" dirty="0">
                <a:latin typeface="Calibri"/>
                <a:cs typeface="Calibri"/>
              </a:rPr>
              <a:t>decomposed</a:t>
            </a:r>
            <a:r>
              <a:rPr sz="1650" spc="9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into</a:t>
            </a:r>
            <a:r>
              <a:rPr sz="1650" spc="10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</a:t>
            </a:r>
            <a:r>
              <a:rPr sz="1650" spc="10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set</a:t>
            </a:r>
            <a:r>
              <a:rPr sz="1650" spc="11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of</a:t>
            </a:r>
            <a:r>
              <a:rPr sz="1650" spc="9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modules</a:t>
            </a:r>
            <a:r>
              <a:rPr sz="1650" spc="8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that</a:t>
            </a:r>
            <a:r>
              <a:rPr sz="1650" spc="10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have</a:t>
            </a:r>
            <a:r>
              <a:rPr sz="1650" spc="7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only</a:t>
            </a:r>
            <a:r>
              <a:rPr sz="1650" spc="10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limited</a:t>
            </a:r>
            <a:r>
              <a:rPr sz="1650" spc="11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interactions </a:t>
            </a:r>
            <a:r>
              <a:rPr sz="1650" dirty="0">
                <a:latin typeface="Calibri"/>
                <a:cs typeface="Calibri"/>
              </a:rPr>
              <a:t>with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each</a:t>
            </a:r>
            <a:r>
              <a:rPr sz="1650" spc="-10" dirty="0">
                <a:latin typeface="Calibri"/>
                <a:cs typeface="Calibri"/>
              </a:rPr>
              <a:t> other.</a:t>
            </a:r>
            <a:endParaRPr sz="1650">
              <a:latin typeface="Calibri"/>
              <a:cs typeface="Calibri"/>
            </a:endParaRPr>
          </a:p>
          <a:p>
            <a:pPr marL="577850" marR="7620" lvl="1" indent="-187960" algn="just">
              <a:lnSpc>
                <a:spcPts val="1780"/>
              </a:lnSpc>
              <a:spcBef>
                <a:spcPts val="440"/>
              </a:spcBef>
              <a:buFont typeface="Arial MT"/>
              <a:buChar char="•"/>
              <a:tabLst>
                <a:tab pos="577850" algn="l"/>
              </a:tabLst>
            </a:pPr>
            <a:r>
              <a:rPr sz="1650" dirty="0">
                <a:latin typeface="Calibri"/>
                <a:cs typeface="Calibri"/>
              </a:rPr>
              <a:t>Decomposition</a:t>
            </a:r>
            <a:r>
              <a:rPr sz="1650" spc="5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of</a:t>
            </a:r>
            <a:r>
              <a:rPr sz="1650" spc="5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</a:t>
            </a:r>
            <a:r>
              <a:rPr sz="1650" spc="8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problem</a:t>
            </a:r>
            <a:r>
              <a:rPr sz="1650" spc="6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into</a:t>
            </a:r>
            <a:r>
              <a:rPr sz="1650" spc="5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modules</a:t>
            </a:r>
            <a:r>
              <a:rPr sz="1650" spc="6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facilitates</a:t>
            </a:r>
            <a:r>
              <a:rPr sz="1650" spc="7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taking</a:t>
            </a:r>
            <a:r>
              <a:rPr sz="1650" spc="8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advantage </a:t>
            </a:r>
            <a:r>
              <a:rPr sz="1650" dirty="0">
                <a:latin typeface="Calibri"/>
                <a:cs typeface="Calibri"/>
              </a:rPr>
              <a:t>of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 divide</a:t>
            </a:r>
            <a:r>
              <a:rPr sz="1650" spc="-5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and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conquer</a:t>
            </a:r>
            <a:r>
              <a:rPr sz="1650" spc="-5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principle.</a:t>
            </a:r>
            <a:endParaRPr sz="1650">
              <a:latin typeface="Calibri"/>
              <a:cs typeface="Calibri"/>
            </a:endParaRPr>
          </a:p>
          <a:p>
            <a:pPr marL="577850" marR="5080" lvl="1" indent="-187960" algn="just">
              <a:lnSpc>
                <a:spcPct val="90100"/>
              </a:lnSpc>
              <a:spcBef>
                <a:spcPts val="380"/>
              </a:spcBef>
              <a:buFont typeface="Arial MT"/>
              <a:buChar char="•"/>
              <a:tabLst>
                <a:tab pos="577850" algn="l"/>
              </a:tabLst>
            </a:pPr>
            <a:r>
              <a:rPr sz="1650" dirty="0">
                <a:latin typeface="Calibri"/>
                <a:cs typeface="Calibri"/>
              </a:rPr>
              <a:t>A</a:t>
            </a:r>
            <a:r>
              <a:rPr sz="1650" spc="140" dirty="0">
                <a:latin typeface="Calibri"/>
                <a:cs typeface="Calibri"/>
              </a:rPr>
              <a:t>  </a:t>
            </a:r>
            <a:r>
              <a:rPr sz="1650" dirty="0">
                <a:latin typeface="Calibri"/>
                <a:cs typeface="Calibri"/>
              </a:rPr>
              <a:t>software</a:t>
            </a:r>
            <a:r>
              <a:rPr sz="1650" spc="130" dirty="0">
                <a:latin typeface="Calibri"/>
                <a:cs typeface="Calibri"/>
              </a:rPr>
              <a:t>  </a:t>
            </a:r>
            <a:r>
              <a:rPr sz="1650" dirty="0">
                <a:latin typeface="Calibri"/>
                <a:cs typeface="Calibri"/>
              </a:rPr>
              <a:t>design</a:t>
            </a:r>
            <a:r>
              <a:rPr sz="1650" spc="130" dirty="0">
                <a:latin typeface="Calibri"/>
                <a:cs typeface="Calibri"/>
              </a:rPr>
              <a:t>  </a:t>
            </a:r>
            <a:r>
              <a:rPr sz="1650" dirty="0">
                <a:latin typeface="Calibri"/>
                <a:cs typeface="Calibri"/>
              </a:rPr>
              <a:t>with</a:t>
            </a:r>
            <a:r>
              <a:rPr sz="1650" spc="135" dirty="0">
                <a:latin typeface="Calibri"/>
                <a:cs typeface="Calibri"/>
              </a:rPr>
              <a:t>  </a:t>
            </a:r>
            <a:r>
              <a:rPr sz="1650" dirty="0">
                <a:latin typeface="Calibri"/>
                <a:cs typeface="Calibri"/>
              </a:rPr>
              <a:t>high</a:t>
            </a:r>
            <a:r>
              <a:rPr sz="1650" spc="135" dirty="0">
                <a:latin typeface="Calibri"/>
                <a:cs typeface="Calibri"/>
              </a:rPr>
              <a:t>  </a:t>
            </a:r>
            <a:r>
              <a:rPr sz="1650" dirty="0">
                <a:latin typeface="Calibri"/>
                <a:cs typeface="Calibri"/>
              </a:rPr>
              <a:t>cohesion</a:t>
            </a:r>
            <a:r>
              <a:rPr sz="1650" spc="145" dirty="0">
                <a:latin typeface="Calibri"/>
                <a:cs typeface="Calibri"/>
              </a:rPr>
              <a:t>  </a:t>
            </a:r>
            <a:r>
              <a:rPr sz="1650" dirty="0">
                <a:latin typeface="Calibri"/>
                <a:cs typeface="Calibri"/>
              </a:rPr>
              <a:t>and</a:t>
            </a:r>
            <a:r>
              <a:rPr sz="1650" spc="140" dirty="0">
                <a:latin typeface="Calibri"/>
                <a:cs typeface="Calibri"/>
              </a:rPr>
              <a:t>  </a:t>
            </a:r>
            <a:r>
              <a:rPr sz="1650" dirty="0">
                <a:latin typeface="Calibri"/>
                <a:cs typeface="Calibri"/>
              </a:rPr>
              <a:t>low</a:t>
            </a:r>
            <a:r>
              <a:rPr sz="1650" spc="130" dirty="0">
                <a:latin typeface="Calibri"/>
                <a:cs typeface="Calibri"/>
              </a:rPr>
              <a:t>  </a:t>
            </a:r>
            <a:r>
              <a:rPr sz="1650" dirty="0">
                <a:latin typeface="Calibri"/>
                <a:cs typeface="Calibri"/>
              </a:rPr>
              <a:t>coupling</a:t>
            </a:r>
            <a:r>
              <a:rPr sz="1650" spc="130" dirty="0">
                <a:latin typeface="Calibri"/>
                <a:cs typeface="Calibri"/>
              </a:rPr>
              <a:t>  </a:t>
            </a:r>
            <a:r>
              <a:rPr sz="1650" spc="-10" dirty="0">
                <a:latin typeface="Calibri"/>
                <a:cs typeface="Calibri"/>
              </a:rPr>
              <a:t>among </a:t>
            </a:r>
            <a:r>
              <a:rPr sz="1650" dirty="0">
                <a:latin typeface="Calibri"/>
                <a:cs typeface="Calibri"/>
              </a:rPr>
              <a:t>modules</a:t>
            </a:r>
            <a:r>
              <a:rPr sz="1650" spc="8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is</a:t>
            </a:r>
            <a:r>
              <a:rPr sz="1650" spc="8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5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effective</a:t>
            </a:r>
            <a:r>
              <a:rPr sz="1650" spc="7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problem</a:t>
            </a:r>
            <a:r>
              <a:rPr sz="1650" spc="5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decomposition.</a:t>
            </a:r>
            <a:r>
              <a:rPr sz="1650" spc="6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Such</a:t>
            </a:r>
            <a:r>
              <a:rPr sz="1650" spc="7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</a:t>
            </a:r>
            <a:r>
              <a:rPr sz="1650" spc="6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design</a:t>
            </a:r>
            <a:r>
              <a:rPr sz="1650" spc="5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would </a:t>
            </a:r>
            <a:r>
              <a:rPr sz="1650" dirty="0">
                <a:latin typeface="Calibri"/>
                <a:cs typeface="Calibri"/>
              </a:rPr>
              <a:t>lead</a:t>
            </a:r>
            <a:r>
              <a:rPr sz="1650" spc="200" dirty="0">
                <a:latin typeface="Calibri"/>
                <a:cs typeface="Calibri"/>
              </a:rPr>
              <a:t>  </a:t>
            </a:r>
            <a:r>
              <a:rPr sz="1650" dirty="0">
                <a:latin typeface="Calibri"/>
                <a:cs typeface="Calibri"/>
              </a:rPr>
              <a:t>to</a:t>
            </a:r>
            <a:r>
              <a:rPr sz="1650" spc="195" dirty="0">
                <a:latin typeface="Calibri"/>
                <a:cs typeface="Calibri"/>
              </a:rPr>
              <a:t>  </a:t>
            </a:r>
            <a:r>
              <a:rPr sz="1650" dirty="0">
                <a:latin typeface="Calibri"/>
                <a:cs typeface="Calibri"/>
              </a:rPr>
              <a:t>increased</a:t>
            </a:r>
            <a:r>
              <a:rPr sz="1650" spc="204" dirty="0">
                <a:latin typeface="Calibri"/>
                <a:cs typeface="Calibri"/>
              </a:rPr>
              <a:t>  </a:t>
            </a:r>
            <a:r>
              <a:rPr sz="1650" dirty="0">
                <a:latin typeface="Calibri"/>
                <a:cs typeface="Calibri"/>
              </a:rPr>
              <a:t>productivity</a:t>
            </a:r>
            <a:r>
              <a:rPr sz="1650" spc="200" dirty="0">
                <a:latin typeface="Calibri"/>
                <a:cs typeface="Calibri"/>
              </a:rPr>
              <a:t>  </a:t>
            </a:r>
            <a:r>
              <a:rPr sz="1650" dirty="0">
                <a:latin typeface="Calibri"/>
                <a:cs typeface="Calibri"/>
              </a:rPr>
              <a:t>during</a:t>
            </a:r>
            <a:r>
              <a:rPr sz="1650" spc="200" dirty="0">
                <a:latin typeface="Calibri"/>
                <a:cs typeface="Calibri"/>
              </a:rPr>
              <a:t>  </a:t>
            </a:r>
            <a:r>
              <a:rPr sz="1650" dirty="0">
                <a:latin typeface="Calibri"/>
                <a:cs typeface="Calibri"/>
              </a:rPr>
              <a:t>program</a:t>
            </a:r>
            <a:r>
              <a:rPr sz="1650" spc="195" dirty="0">
                <a:latin typeface="Calibri"/>
                <a:cs typeface="Calibri"/>
              </a:rPr>
              <a:t>  </a:t>
            </a:r>
            <a:r>
              <a:rPr sz="1650" dirty="0">
                <a:latin typeface="Calibri"/>
                <a:cs typeface="Calibri"/>
              </a:rPr>
              <a:t>development</a:t>
            </a:r>
            <a:r>
              <a:rPr sz="1650" spc="200" dirty="0">
                <a:latin typeface="Calibri"/>
                <a:cs typeface="Calibri"/>
              </a:rPr>
              <a:t>  </a:t>
            </a:r>
            <a:r>
              <a:rPr sz="1650" spc="-25" dirty="0">
                <a:latin typeface="Calibri"/>
                <a:cs typeface="Calibri"/>
              </a:rPr>
              <a:t>by </a:t>
            </a:r>
            <a:r>
              <a:rPr sz="1650" dirty="0">
                <a:latin typeface="Calibri"/>
                <a:cs typeface="Calibri"/>
              </a:rPr>
              <a:t>bringing</a:t>
            </a:r>
            <a:r>
              <a:rPr sz="1650" spc="-6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down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1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perceived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problem</a:t>
            </a:r>
            <a:r>
              <a:rPr sz="1650" spc="-5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complexity.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35"/>
              </a:spcBef>
            </a:pPr>
            <a:r>
              <a:rPr dirty="0"/>
              <a:t>Design</a:t>
            </a:r>
            <a:r>
              <a:rPr spc="-85" dirty="0"/>
              <a:t> </a:t>
            </a:r>
            <a:r>
              <a:rPr spc="-10" dirty="0"/>
              <a:t>Concepts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2408" y="2715508"/>
            <a:ext cx="6484191" cy="309397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Design</a:t>
            </a:r>
            <a:r>
              <a:rPr spc="-85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831" y="2474580"/>
            <a:ext cx="8442960" cy="330962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475"/>
              </a:spcBef>
              <a:buFont typeface="Arial MT"/>
              <a:buChar char="•"/>
              <a:tabLst>
                <a:tab pos="200660" algn="l"/>
              </a:tabLst>
            </a:pPr>
            <a:r>
              <a:rPr sz="1950" dirty="0">
                <a:latin typeface="Calibri"/>
                <a:cs typeface="Calibri"/>
              </a:rPr>
              <a:t>Architecture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and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design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pattern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embody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modularity.</a:t>
            </a:r>
            <a:endParaRPr sz="1950">
              <a:latin typeface="Calibri"/>
              <a:cs typeface="Calibri"/>
            </a:endParaRPr>
          </a:p>
          <a:p>
            <a:pPr marL="200025" marR="5080" indent="-187960">
              <a:lnSpc>
                <a:spcPts val="1900"/>
              </a:lnSpc>
              <a:spcBef>
                <a:spcPts val="815"/>
              </a:spcBef>
              <a:buFont typeface="Arial MT"/>
              <a:buChar char="•"/>
              <a:tabLst>
                <a:tab pos="201295" algn="l"/>
              </a:tabLst>
            </a:pPr>
            <a:r>
              <a:rPr sz="1950" dirty="0">
                <a:latin typeface="Calibri"/>
                <a:cs typeface="Calibri"/>
              </a:rPr>
              <a:t>Software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is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divided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into</a:t>
            </a:r>
            <a:r>
              <a:rPr sz="1950" spc="4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separately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named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and</a:t>
            </a:r>
            <a:r>
              <a:rPr sz="1950" spc="4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addressable </a:t>
            </a:r>
            <a:r>
              <a:rPr sz="1950" spc="-10" dirty="0">
                <a:latin typeface="Calibri"/>
                <a:cs typeface="Calibri"/>
              </a:rPr>
              <a:t>components, 	</a:t>
            </a:r>
            <a:r>
              <a:rPr sz="1950" dirty="0">
                <a:latin typeface="Calibri"/>
                <a:cs typeface="Calibri"/>
              </a:rPr>
              <a:t>sometimes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called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modules,</a:t>
            </a:r>
            <a:r>
              <a:rPr sz="1950" spc="-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which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are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integrated</a:t>
            </a:r>
            <a:r>
              <a:rPr sz="1950" spc="4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to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satisfy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problem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requirement.</a:t>
            </a:r>
            <a:endParaRPr sz="1950">
              <a:latin typeface="Calibri"/>
              <a:cs typeface="Calibri"/>
            </a:endParaRPr>
          </a:p>
          <a:p>
            <a:pPr marL="200025" marR="820419" indent="-187960">
              <a:lnSpc>
                <a:spcPts val="1900"/>
              </a:lnSpc>
              <a:spcBef>
                <a:spcPts val="830"/>
              </a:spcBef>
              <a:buFont typeface="Arial MT"/>
              <a:buChar char="•"/>
              <a:tabLst>
                <a:tab pos="201295" algn="l"/>
              </a:tabLst>
            </a:pPr>
            <a:r>
              <a:rPr sz="1950" dirty="0">
                <a:latin typeface="Calibri"/>
                <a:cs typeface="Calibri"/>
              </a:rPr>
              <a:t>modularity</a:t>
            </a:r>
            <a:r>
              <a:rPr sz="1950" spc="-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is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the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single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attribute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of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software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that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allows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program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to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spc="-25" dirty="0">
                <a:latin typeface="Calibri"/>
                <a:cs typeface="Calibri"/>
              </a:rPr>
              <a:t>be 	</a:t>
            </a:r>
            <a:r>
              <a:rPr sz="1950" dirty="0">
                <a:latin typeface="Calibri"/>
                <a:cs typeface="Calibri"/>
              </a:rPr>
              <a:t>intellectually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manageable</a:t>
            </a:r>
            <a:endParaRPr sz="1950">
              <a:latin typeface="Calibri"/>
              <a:cs typeface="Calibri"/>
            </a:endParaRPr>
          </a:p>
          <a:p>
            <a:pPr marL="200025" marR="690880" indent="-187960">
              <a:lnSpc>
                <a:spcPts val="1900"/>
              </a:lnSpc>
              <a:spcBef>
                <a:spcPts val="819"/>
              </a:spcBef>
              <a:buFont typeface="Arial MT"/>
              <a:buChar char="•"/>
              <a:tabLst>
                <a:tab pos="201295" algn="l"/>
              </a:tabLst>
            </a:pPr>
            <a:r>
              <a:rPr sz="1950" dirty="0">
                <a:latin typeface="Calibri"/>
                <a:cs typeface="Calibri"/>
              </a:rPr>
              <a:t>It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leads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to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“divide</a:t>
            </a:r>
            <a:r>
              <a:rPr sz="1950" spc="-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and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conquer”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strategy.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–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it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is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easier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to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solve</a:t>
            </a:r>
            <a:r>
              <a:rPr sz="1950" spc="-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complex 	</a:t>
            </a:r>
            <a:r>
              <a:rPr sz="1950" dirty="0">
                <a:latin typeface="Calibri"/>
                <a:cs typeface="Calibri"/>
              </a:rPr>
              <a:t>problem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when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you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break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into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manageable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pieces.</a:t>
            </a:r>
            <a:endParaRPr sz="1950">
              <a:latin typeface="Calibri"/>
              <a:cs typeface="Calibri"/>
            </a:endParaRPr>
          </a:p>
          <a:p>
            <a:pPr marL="200025" marR="264795" indent="-187960">
              <a:lnSpc>
                <a:spcPts val="1900"/>
              </a:lnSpc>
              <a:spcBef>
                <a:spcPts val="835"/>
              </a:spcBef>
              <a:buFont typeface="Arial MT"/>
              <a:buChar char="•"/>
              <a:tabLst>
                <a:tab pos="201295" algn="l"/>
              </a:tabLst>
            </a:pPr>
            <a:r>
              <a:rPr sz="1950" dirty="0">
                <a:latin typeface="Calibri"/>
                <a:cs typeface="Calibri"/>
              </a:rPr>
              <a:t>Refer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fig.</a:t>
            </a:r>
            <a:r>
              <a:rPr sz="1950" spc="-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that</a:t>
            </a:r>
            <a:r>
              <a:rPr sz="1950" spc="-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state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that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effort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(cost)</a:t>
            </a:r>
            <a:r>
              <a:rPr sz="1950" spc="-3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to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develop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an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individual software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module 	</a:t>
            </a:r>
            <a:r>
              <a:rPr sz="1950" dirty="0">
                <a:latin typeface="Calibri"/>
                <a:cs typeface="Calibri"/>
              </a:rPr>
              <a:t>does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decrease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if</a:t>
            </a:r>
            <a:r>
              <a:rPr sz="1950" spc="4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total</a:t>
            </a:r>
            <a:r>
              <a:rPr sz="1950" spc="4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number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of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modules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increase.</a:t>
            </a:r>
            <a:endParaRPr sz="1950">
              <a:latin typeface="Calibri"/>
              <a:cs typeface="Calibri"/>
            </a:endParaRPr>
          </a:p>
          <a:p>
            <a:pPr marL="200025" marR="1042669" indent="-187960">
              <a:lnSpc>
                <a:spcPts val="1910"/>
              </a:lnSpc>
              <a:spcBef>
                <a:spcPts val="810"/>
              </a:spcBef>
              <a:buFont typeface="Arial MT"/>
              <a:buChar char="•"/>
              <a:tabLst>
                <a:tab pos="201295" algn="l"/>
              </a:tabLst>
            </a:pPr>
            <a:r>
              <a:rPr sz="1950" dirty="0">
                <a:latin typeface="Calibri"/>
                <a:cs typeface="Calibri"/>
              </a:rPr>
              <a:t>However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as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the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no.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of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modules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grows,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the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effort (cost)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associated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spc="-20" dirty="0">
                <a:latin typeface="Calibri"/>
                <a:cs typeface="Calibri"/>
              </a:rPr>
              <a:t>with 	</a:t>
            </a:r>
            <a:r>
              <a:rPr sz="1950" dirty="0">
                <a:latin typeface="Calibri"/>
                <a:cs typeface="Calibri"/>
              </a:rPr>
              <a:t>integrating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the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modules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also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grows.</a:t>
            </a:r>
            <a:endParaRPr sz="1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Modularity</a:t>
            </a:r>
            <a:r>
              <a:rPr spc="-135" dirty="0"/>
              <a:t> </a:t>
            </a:r>
            <a:r>
              <a:rPr dirty="0"/>
              <a:t>and</a:t>
            </a:r>
            <a:r>
              <a:rPr spc="-105" dirty="0"/>
              <a:t> </a:t>
            </a:r>
            <a:r>
              <a:rPr spc="-10" dirty="0"/>
              <a:t>software</a:t>
            </a:r>
            <a:r>
              <a:rPr spc="-140" dirty="0"/>
              <a:t> </a:t>
            </a:r>
            <a:r>
              <a:rPr spc="-20" dirty="0"/>
              <a:t>cost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7778" y="2795511"/>
            <a:ext cx="7431376" cy="32286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Design</a:t>
            </a:r>
            <a:r>
              <a:rPr spc="-85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869" y="2538491"/>
            <a:ext cx="8358505" cy="253682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01295" marR="123189" indent="-189230">
              <a:lnSpc>
                <a:spcPts val="2320"/>
              </a:lnSpc>
              <a:spcBef>
                <a:spcPts val="390"/>
              </a:spcBef>
              <a:buFont typeface="Arial MT"/>
              <a:buChar char="•"/>
              <a:tabLst>
                <a:tab pos="201295" algn="l"/>
              </a:tabLst>
            </a:pPr>
            <a:r>
              <a:rPr sz="2150" dirty="0">
                <a:latin typeface="Calibri"/>
                <a:cs typeface="Calibri"/>
              </a:rPr>
              <a:t>Undermodularity</a:t>
            </a:r>
            <a:r>
              <a:rPr sz="2150" spc="-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-4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overmodularity</a:t>
            </a:r>
            <a:r>
              <a:rPr sz="2150" spc="-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should</a:t>
            </a:r>
            <a:r>
              <a:rPr sz="2150" spc="-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be</a:t>
            </a:r>
            <a:r>
              <a:rPr sz="2150" spc="-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avoided.</a:t>
            </a:r>
            <a:r>
              <a:rPr sz="2150" spc="-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But</a:t>
            </a:r>
            <a:r>
              <a:rPr sz="2150" spc="-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how</a:t>
            </a:r>
            <a:r>
              <a:rPr sz="2150" spc="-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do</a:t>
            </a:r>
            <a:r>
              <a:rPr sz="2150" spc="-50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we </a:t>
            </a:r>
            <a:r>
              <a:rPr sz="2150" dirty="0">
                <a:latin typeface="Calibri"/>
                <a:cs typeface="Calibri"/>
              </a:rPr>
              <a:t>know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-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vicinity</a:t>
            </a:r>
            <a:r>
              <a:rPr sz="2150" spc="-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</a:t>
            </a:r>
            <a:r>
              <a:rPr sz="2150" spc="-30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M?</a:t>
            </a:r>
            <a:endParaRPr sz="2150">
              <a:latin typeface="Calibri"/>
              <a:cs typeface="Calibri"/>
            </a:endParaRPr>
          </a:p>
          <a:p>
            <a:pPr marL="201295" indent="-188595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201295" algn="l"/>
              </a:tabLst>
            </a:pPr>
            <a:r>
              <a:rPr sz="2150" spc="-10" dirty="0">
                <a:latin typeface="Calibri"/>
                <a:cs typeface="Calibri"/>
              </a:rPr>
              <a:t>We</a:t>
            </a:r>
            <a:r>
              <a:rPr sz="2150" spc="-4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modularize</a:t>
            </a:r>
            <a:r>
              <a:rPr sz="2150" spc="-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</a:t>
            </a:r>
            <a:r>
              <a:rPr sz="2150" spc="-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design</a:t>
            </a:r>
            <a:r>
              <a:rPr sz="2150" spc="-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so</a:t>
            </a:r>
            <a:r>
              <a:rPr sz="2150" spc="-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that</a:t>
            </a:r>
            <a:r>
              <a:rPr sz="2150" spc="-3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development</a:t>
            </a:r>
            <a:r>
              <a:rPr sz="2150" spc="-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can</a:t>
            </a:r>
            <a:r>
              <a:rPr sz="2150" spc="-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be</a:t>
            </a:r>
            <a:r>
              <a:rPr sz="2150" spc="-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more</a:t>
            </a:r>
            <a:r>
              <a:rPr sz="2150" spc="-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easily</a:t>
            </a:r>
            <a:r>
              <a:rPr sz="2150" spc="-5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planned.</a:t>
            </a:r>
            <a:endParaRPr sz="2150">
              <a:latin typeface="Calibri"/>
              <a:cs typeface="Calibri"/>
            </a:endParaRPr>
          </a:p>
          <a:p>
            <a:pPr marL="201295" indent="-188595">
              <a:lnSpc>
                <a:spcPct val="100000"/>
              </a:lnSpc>
              <a:spcBef>
                <a:spcPts val="565"/>
              </a:spcBef>
              <a:buFont typeface="Arial MT"/>
              <a:buChar char="•"/>
              <a:tabLst>
                <a:tab pos="201295" algn="l"/>
              </a:tabLst>
            </a:pPr>
            <a:r>
              <a:rPr sz="2150" spc="-10" dirty="0">
                <a:latin typeface="Calibri"/>
                <a:cs typeface="Calibri"/>
              </a:rPr>
              <a:t>Software</a:t>
            </a:r>
            <a:r>
              <a:rPr sz="2150" spc="-4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increments</a:t>
            </a:r>
            <a:r>
              <a:rPr sz="2150" spc="-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can</a:t>
            </a:r>
            <a:r>
              <a:rPr sz="2150" spc="-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be</a:t>
            </a:r>
            <a:r>
              <a:rPr sz="2150" spc="-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defined</a:t>
            </a:r>
            <a:r>
              <a:rPr sz="2150" spc="-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-3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delivered.</a:t>
            </a:r>
            <a:endParaRPr sz="2150">
              <a:latin typeface="Calibri"/>
              <a:cs typeface="Calibri"/>
            </a:endParaRPr>
          </a:p>
          <a:p>
            <a:pPr marL="201295" indent="-188595">
              <a:lnSpc>
                <a:spcPct val="100000"/>
              </a:lnSpc>
              <a:spcBef>
                <a:spcPts val="550"/>
              </a:spcBef>
              <a:buFont typeface="Arial MT"/>
              <a:buChar char="•"/>
              <a:tabLst>
                <a:tab pos="201295" algn="l"/>
              </a:tabLst>
            </a:pPr>
            <a:r>
              <a:rPr sz="2150" dirty="0">
                <a:latin typeface="Calibri"/>
                <a:cs typeface="Calibri"/>
              </a:rPr>
              <a:t>Changes</a:t>
            </a:r>
            <a:r>
              <a:rPr sz="2150" spc="-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can</a:t>
            </a:r>
            <a:r>
              <a:rPr sz="2150" spc="-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be</a:t>
            </a:r>
            <a:r>
              <a:rPr sz="2150" spc="-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more</a:t>
            </a:r>
            <a:r>
              <a:rPr sz="2150" spc="-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easily</a:t>
            </a:r>
            <a:r>
              <a:rPr sz="2150" spc="-5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accommodated.</a:t>
            </a:r>
            <a:endParaRPr sz="2150">
              <a:latin typeface="Calibri"/>
              <a:cs typeface="Calibri"/>
            </a:endParaRPr>
          </a:p>
          <a:p>
            <a:pPr marL="201295" marR="229235" indent="-189230">
              <a:lnSpc>
                <a:spcPts val="2320"/>
              </a:lnSpc>
              <a:spcBef>
                <a:spcPts val="860"/>
              </a:spcBef>
              <a:buFont typeface="Arial MT"/>
              <a:buChar char="•"/>
              <a:tabLst>
                <a:tab pos="201295" algn="l"/>
              </a:tabLst>
            </a:pPr>
            <a:r>
              <a:rPr sz="2150" spc="-30" dirty="0">
                <a:latin typeface="Calibri"/>
                <a:cs typeface="Calibri"/>
              </a:rPr>
              <a:t>Testing</a:t>
            </a:r>
            <a:r>
              <a:rPr sz="2150" spc="-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-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debugging</a:t>
            </a:r>
            <a:r>
              <a:rPr sz="2150" spc="-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can</a:t>
            </a:r>
            <a:r>
              <a:rPr sz="2150" spc="-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be</a:t>
            </a:r>
            <a:r>
              <a:rPr sz="2150" spc="-3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conducted</a:t>
            </a:r>
            <a:r>
              <a:rPr sz="2150" spc="-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more</a:t>
            </a:r>
            <a:r>
              <a:rPr sz="2150" spc="-3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efficiently</a:t>
            </a:r>
            <a:r>
              <a:rPr sz="2150" spc="-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-5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long-</a:t>
            </a:r>
            <a:r>
              <a:rPr sz="2150" spc="-20" dirty="0">
                <a:latin typeface="Calibri"/>
                <a:cs typeface="Calibri"/>
              </a:rPr>
              <a:t>term </a:t>
            </a:r>
            <a:r>
              <a:rPr sz="2150" dirty="0">
                <a:latin typeface="Calibri"/>
                <a:cs typeface="Calibri"/>
              </a:rPr>
              <a:t>maintained</a:t>
            </a:r>
            <a:r>
              <a:rPr sz="2150" spc="-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can</a:t>
            </a:r>
            <a:r>
              <a:rPr sz="2150" spc="-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be</a:t>
            </a:r>
            <a:r>
              <a:rPr sz="2150" spc="-4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conducted</a:t>
            </a:r>
            <a:r>
              <a:rPr sz="2150" spc="-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without</a:t>
            </a:r>
            <a:r>
              <a:rPr sz="2150" spc="-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serious</a:t>
            </a:r>
            <a:r>
              <a:rPr sz="2150" spc="-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side</a:t>
            </a:r>
            <a:r>
              <a:rPr sz="2150" spc="-2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effects.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Design</a:t>
            </a:r>
            <a:r>
              <a:rPr spc="-85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936" y="2504757"/>
            <a:ext cx="8102600" cy="206438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345"/>
              </a:spcBef>
              <a:buFont typeface="Arial MT"/>
              <a:buChar char="•"/>
              <a:tabLst>
                <a:tab pos="200660" algn="l"/>
              </a:tabLst>
            </a:pPr>
            <a:r>
              <a:rPr sz="2300" spc="-10" dirty="0">
                <a:latin typeface="Calibri"/>
                <a:cs typeface="Calibri"/>
              </a:rPr>
              <a:t>Refactoring</a:t>
            </a:r>
            <a:endParaRPr sz="2300">
              <a:latin typeface="Calibri"/>
              <a:cs typeface="Calibri"/>
            </a:endParaRPr>
          </a:p>
          <a:p>
            <a:pPr marL="576580" marR="349885" lvl="1" indent="-186690">
              <a:lnSpc>
                <a:spcPts val="2140"/>
              </a:lnSpc>
              <a:spcBef>
                <a:spcPts val="465"/>
              </a:spcBef>
              <a:buFont typeface="Arial MT"/>
              <a:buChar char="•"/>
              <a:tabLst>
                <a:tab pos="577850" algn="l"/>
              </a:tabLst>
            </a:pPr>
            <a:r>
              <a:rPr sz="1950" dirty="0">
                <a:latin typeface="Calibri"/>
                <a:cs typeface="Calibri"/>
              </a:rPr>
              <a:t>refactoring</a:t>
            </a:r>
            <a:r>
              <a:rPr sz="1950" spc="-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is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reorganization technique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that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simplifies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the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design of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spc="-50" dirty="0">
                <a:latin typeface="Calibri"/>
                <a:cs typeface="Calibri"/>
              </a:rPr>
              <a:t>a 	</a:t>
            </a:r>
            <a:r>
              <a:rPr sz="1950" dirty="0">
                <a:latin typeface="Calibri"/>
                <a:cs typeface="Calibri"/>
              </a:rPr>
              <a:t>component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without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changing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its</a:t>
            </a:r>
            <a:r>
              <a:rPr sz="1950" spc="6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function</a:t>
            </a:r>
            <a:r>
              <a:rPr sz="1950" spc="5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or</a:t>
            </a:r>
            <a:r>
              <a:rPr sz="1950" spc="4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behavior</a:t>
            </a:r>
            <a:endParaRPr sz="1950">
              <a:latin typeface="Calibri"/>
              <a:cs typeface="Calibri"/>
            </a:endParaRPr>
          </a:p>
          <a:p>
            <a:pPr marL="577215" lvl="1" indent="-186690">
              <a:lnSpc>
                <a:spcPct val="100000"/>
              </a:lnSpc>
              <a:spcBef>
                <a:spcPts val="175"/>
              </a:spcBef>
              <a:buFont typeface="Arial MT"/>
              <a:buChar char="•"/>
              <a:tabLst>
                <a:tab pos="577215" algn="l"/>
              </a:tabLst>
            </a:pPr>
            <a:r>
              <a:rPr sz="1950" dirty="0">
                <a:latin typeface="Calibri"/>
                <a:cs typeface="Calibri"/>
              </a:rPr>
              <a:t>When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software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is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refactored,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the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existing design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is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examined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spc="-25" dirty="0">
                <a:latin typeface="Calibri"/>
                <a:cs typeface="Calibri"/>
              </a:rPr>
              <a:t>for</a:t>
            </a:r>
            <a:endParaRPr sz="1950">
              <a:latin typeface="Calibri"/>
              <a:cs typeface="Calibri"/>
            </a:endParaRPr>
          </a:p>
          <a:p>
            <a:pPr marL="955675" marR="5080" lvl="2" indent="-189230">
              <a:lnSpc>
                <a:spcPct val="90000"/>
              </a:lnSpc>
              <a:spcBef>
                <a:spcPts val="440"/>
              </a:spcBef>
              <a:buFont typeface="Arial MT"/>
              <a:buChar char="•"/>
              <a:tabLst>
                <a:tab pos="955675" algn="l"/>
              </a:tabLst>
            </a:pPr>
            <a:r>
              <a:rPr sz="1650" spc="-20" dirty="0">
                <a:latin typeface="Calibri"/>
                <a:cs typeface="Calibri"/>
              </a:rPr>
              <a:t>redundancy,</a:t>
            </a:r>
            <a:r>
              <a:rPr sz="1650" spc="-6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unused</a:t>
            </a:r>
            <a:r>
              <a:rPr sz="1650" spc="-5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design</a:t>
            </a:r>
            <a:r>
              <a:rPr sz="1650" spc="-5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elements,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inefficient</a:t>
            </a:r>
            <a:r>
              <a:rPr sz="1650" spc="-6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or</a:t>
            </a:r>
            <a:r>
              <a:rPr sz="1650" spc="-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unnecessary</a:t>
            </a:r>
            <a:r>
              <a:rPr sz="1650" spc="-6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algorithms,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poorly constructed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or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inappropriate</a:t>
            </a:r>
            <a:r>
              <a:rPr sz="1650" spc="-5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data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structures,</a:t>
            </a:r>
            <a:r>
              <a:rPr sz="1650" spc="-1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or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any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other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design</a:t>
            </a:r>
            <a:r>
              <a:rPr sz="1650" spc="-5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failure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that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can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spc="-25" dirty="0">
                <a:latin typeface="Calibri"/>
                <a:cs typeface="Calibri"/>
              </a:rPr>
              <a:t>be </a:t>
            </a:r>
            <a:r>
              <a:rPr sz="1650" spc="-10" dirty="0">
                <a:latin typeface="Calibri"/>
                <a:cs typeface="Calibri"/>
              </a:rPr>
              <a:t>corrected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7296" y="1406209"/>
            <a:ext cx="3094990" cy="57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Design</a:t>
            </a:r>
            <a:r>
              <a:rPr spc="-85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20799" y="2344944"/>
            <a:ext cx="7406005" cy="30949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14"/>
              </a:spcBef>
              <a:buFont typeface="Arial MT"/>
              <a:buChar char="•"/>
              <a:tabLst>
                <a:tab pos="200660" algn="l"/>
              </a:tabLst>
            </a:pPr>
            <a:r>
              <a:rPr sz="2300" b="1" dirty="0">
                <a:latin typeface="Calibri"/>
                <a:cs typeface="Calibri"/>
              </a:rPr>
              <a:t>Information</a:t>
            </a:r>
            <a:r>
              <a:rPr sz="2300" b="1" spc="-100" dirty="0">
                <a:latin typeface="Calibri"/>
                <a:cs typeface="Calibri"/>
              </a:rPr>
              <a:t> </a:t>
            </a:r>
            <a:r>
              <a:rPr sz="2300" b="1" spc="-10" dirty="0">
                <a:latin typeface="Calibri"/>
                <a:cs typeface="Calibri"/>
              </a:rPr>
              <a:t>Hiding</a:t>
            </a:r>
            <a:endParaRPr sz="2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45"/>
              </a:spcBef>
              <a:buFont typeface="Arial MT"/>
              <a:buChar char="•"/>
            </a:pPr>
            <a:endParaRPr sz="2300">
              <a:latin typeface="Calibri"/>
              <a:cs typeface="Calibri"/>
            </a:endParaRPr>
          </a:p>
          <a:p>
            <a:pPr marL="576580" marR="5080" lvl="1" indent="-186690">
              <a:lnSpc>
                <a:spcPts val="1900"/>
              </a:lnSpc>
              <a:spcBef>
                <a:spcPts val="5"/>
              </a:spcBef>
              <a:buFont typeface="Arial MT"/>
              <a:buChar char="•"/>
              <a:tabLst>
                <a:tab pos="577850" algn="l"/>
              </a:tabLst>
            </a:pPr>
            <a:r>
              <a:rPr sz="1950" dirty="0">
                <a:latin typeface="Calibri"/>
                <a:cs typeface="Calibri"/>
              </a:rPr>
              <a:t>The</a:t>
            </a:r>
            <a:r>
              <a:rPr sz="1950" spc="5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principle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of</a:t>
            </a:r>
            <a:r>
              <a:rPr sz="1950" spc="4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information</a:t>
            </a:r>
            <a:r>
              <a:rPr sz="1950" spc="4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hiding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suggests</a:t>
            </a:r>
            <a:r>
              <a:rPr sz="1950" spc="-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that</a:t>
            </a:r>
            <a:r>
              <a:rPr sz="1950" spc="4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modules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spc="-25" dirty="0">
                <a:latin typeface="Calibri"/>
                <a:cs typeface="Calibri"/>
              </a:rPr>
              <a:t>be 	</a:t>
            </a:r>
            <a:r>
              <a:rPr sz="1950" dirty="0">
                <a:latin typeface="Calibri"/>
                <a:cs typeface="Calibri"/>
              </a:rPr>
              <a:t>"characterized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by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design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decisions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that (each)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hides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from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all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others 	modules.“</a:t>
            </a:r>
            <a:endParaRPr sz="1950">
              <a:latin typeface="Calibri"/>
              <a:cs typeface="Calibri"/>
            </a:endParaRPr>
          </a:p>
          <a:p>
            <a:pPr marL="576580" marR="121920" lvl="1" indent="-186690">
              <a:lnSpc>
                <a:spcPct val="81200"/>
              </a:lnSpc>
              <a:spcBef>
                <a:spcPts val="415"/>
              </a:spcBef>
              <a:buFont typeface="Arial MT"/>
              <a:buChar char="•"/>
              <a:tabLst>
                <a:tab pos="577850" algn="l"/>
              </a:tabLst>
            </a:pPr>
            <a:r>
              <a:rPr sz="1950" dirty="0">
                <a:latin typeface="Calibri"/>
                <a:cs typeface="Calibri"/>
              </a:rPr>
              <a:t>In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other</a:t>
            </a:r>
            <a:r>
              <a:rPr sz="1950" spc="5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words,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modules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should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be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specified</a:t>
            </a:r>
            <a:r>
              <a:rPr sz="1950" spc="4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and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designed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so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spc="-20" dirty="0">
                <a:latin typeface="Calibri"/>
                <a:cs typeface="Calibri"/>
              </a:rPr>
              <a:t>that 	</a:t>
            </a:r>
            <a:r>
              <a:rPr sz="1950" dirty="0">
                <a:latin typeface="Calibri"/>
                <a:cs typeface="Calibri"/>
              </a:rPr>
              <a:t>information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(algorithm</a:t>
            </a:r>
            <a:r>
              <a:rPr sz="1950" spc="-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and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data)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contained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within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</a:t>
            </a:r>
            <a:r>
              <a:rPr sz="1950" spc="5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module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spc="-25" dirty="0">
                <a:latin typeface="Calibri"/>
                <a:cs typeface="Calibri"/>
              </a:rPr>
              <a:t>is 	</a:t>
            </a:r>
            <a:r>
              <a:rPr sz="1950" dirty="0">
                <a:latin typeface="Calibri"/>
                <a:cs typeface="Calibri"/>
              </a:rPr>
              <a:t>inaccessible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to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other</a:t>
            </a:r>
            <a:r>
              <a:rPr sz="1950" spc="4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modules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that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have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no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need</a:t>
            </a:r>
            <a:r>
              <a:rPr sz="1950" spc="4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for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spc="-20" dirty="0">
                <a:latin typeface="Calibri"/>
                <a:cs typeface="Calibri"/>
              </a:rPr>
              <a:t>such 	</a:t>
            </a:r>
            <a:r>
              <a:rPr sz="1950" spc="-10" dirty="0">
                <a:latin typeface="Calibri"/>
                <a:cs typeface="Calibri"/>
              </a:rPr>
              <a:t>information.</a:t>
            </a:r>
            <a:endParaRPr sz="1950">
              <a:latin typeface="Calibri"/>
              <a:cs typeface="Calibri"/>
            </a:endParaRPr>
          </a:p>
          <a:p>
            <a:pPr marL="576580" marR="347345" lvl="1" indent="-186690">
              <a:lnSpc>
                <a:spcPts val="1900"/>
              </a:lnSpc>
              <a:spcBef>
                <a:spcPts val="405"/>
              </a:spcBef>
              <a:buFont typeface="Arial MT"/>
              <a:buChar char="•"/>
              <a:tabLst>
                <a:tab pos="577850" algn="l"/>
              </a:tabLst>
            </a:pPr>
            <a:r>
              <a:rPr sz="1950" dirty="0">
                <a:latin typeface="Calibri"/>
                <a:cs typeface="Calibri"/>
              </a:rPr>
              <a:t>The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intent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of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information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hiding</a:t>
            </a:r>
            <a:r>
              <a:rPr sz="1950" spc="-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is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to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hide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the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details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of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spc="-20" dirty="0">
                <a:latin typeface="Calibri"/>
                <a:cs typeface="Calibri"/>
              </a:rPr>
              <a:t>data 	</a:t>
            </a:r>
            <a:r>
              <a:rPr sz="1950" dirty="0">
                <a:latin typeface="Calibri"/>
                <a:cs typeface="Calibri"/>
              </a:rPr>
              <a:t>structure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and</a:t>
            </a:r>
            <a:r>
              <a:rPr sz="1950" spc="4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procedural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processing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behind</a:t>
            </a:r>
            <a:r>
              <a:rPr sz="1950" spc="4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module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interface</a:t>
            </a:r>
            <a:r>
              <a:rPr sz="1650" spc="-10" dirty="0">
                <a:latin typeface="Calibri"/>
                <a:cs typeface="Calibri"/>
              </a:rPr>
              <a:t>.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Design</a:t>
            </a:r>
            <a:r>
              <a:rPr spc="-85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7224" y="2181642"/>
            <a:ext cx="6650990" cy="334391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345"/>
              </a:spcBef>
              <a:buFont typeface="Arial MT"/>
              <a:buChar char="•"/>
              <a:tabLst>
                <a:tab pos="200660" algn="l"/>
              </a:tabLst>
            </a:pPr>
            <a:r>
              <a:rPr sz="2300" dirty="0">
                <a:latin typeface="Calibri"/>
                <a:cs typeface="Calibri"/>
              </a:rPr>
              <a:t>Control</a:t>
            </a:r>
            <a:r>
              <a:rPr sz="2300" spc="-8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Hierarchy</a:t>
            </a:r>
            <a:endParaRPr sz="2300">
              <a:latin typeface="Calibri"/>
              <a:cs typeface="Calibri"/>
            </a:endParaRPr>
          </a:p>
          <a:p>
            <a:pPr marL="577215" lvl="1" indent="-186690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577215" algn="l"/>
              </a:tabLst>
            </a:pPr>
            <a:r>
              <a:rPr sz="1950" dirty="0">
                <a:latin typeface="Calibri"/>
                <a:cs typeface="Calibri"/>
              </a:rPr>
              <a:t>system</a:t>
            </a:r>
            <a:r>
              <a:rPr sz="1950" spc="-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is</a:t>
            </a:r>
            <a:r>
              <a:rPr sz="1950" spc="-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hierarchy</a:t>
            </a:r>
            <a:r>
              <a:rPr sz="1950" spc="-4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of</a:t>
            </a:r>
            <a:r>
              <a:rPr sz="1950" spc="-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components</a:t>
            </a:r>
            <a:endParaRPr sz="1950">
              <a:latin typeface="Calibri"/>
              <a:cs typeface="Calibri"/>
            </a:endParaRPr>
          </a:p>
          <a:p>
            <a:pPr marL="577215" lvl="1" indent="-186690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577215" algn="l"/>
              </a:tabLst>
            </a:pPr>
            <a:r>
              <a:rPr sz="1950" spc="-55" dirty="0">
                <a:latin typeface="Calibri"/>
                <a:cs typeface="Calibri"/>
              </a:rPr>
              <a:t>To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design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such</a:t>
            </a:r>
            <a:r>
              <a:rPr sz="1950" spc="-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hierarchy</a:t>
            </a:r>
            <a:endParaRPr sz="1950">
              <a:latin typeface="Calibri"/>
              <a:cs typeface="Calibri"/>
            </a:endParaRPr>
          </a:p>
          <a:p>
            <a:pPr marL="955675" lvl="2" indent="-189230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955675" algn="l"/>
              </a:tabLst>
            </a:pPr>
            <a:r>
              <a:rPr sz="1650" spc="-45" dirty="0">
                <a:latin typeface="Calibri"/>
                <a:cs typeface="Calibri"/>
              </a:rPr>
              <a:t>Top-</a:t>
            </a:r>
            <a:r>
              <a:rPr sz="1650" dirty="0">
                <a:latin typeface="Calibri"/>
                <a:cs typeface="Calibri"/>
              </a:rPr>
              <a:t>down</a:t>
            </a:r>
            <a:r>
              <a:rPr sz="1650" spc="-6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and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bottom</a:t>
            </a:r>
            <a:r>
              <a:rPr sz="1650" spc="-50" dirty="0">
                <a:latin typeface="Calibri"/>
                <a:cs typeface="Calibri"/>
              </a:rPr>
              <a:t> </a:t>
            </a:r>
            <a:r>
              <a:rPr sz="1650" spc="-25" dirty="0">
                <a:latin typeface="Calibri"/>
                <a:cs typeface="Calibri"/>
              </a:rPr>
              <a:t>up</a:t>
            </a:r>
            <a:endParaRPr sz="1650">
              <a:latin typeface="Calibri"/>
              <a:cs typeface="Calibri"/>
            </a:endParaRPr>
          </a:p>
          <a:p>
            <a:pPr marL="576580" marR="5080" lvl="1" indent="-186690">
              <a:lnSpc>
                <a:spcPts val="2140"/>
              </a:lnSpc>
              <a:spcBef>
                <a:spcPts val="420"/>
              </a:spcBef>
              <a:buFont typeface="Arial MT"/>
              <a:buChar char="•"/>
              <a:tabLst>
                <a:tab pos="577850" algn="l"/>
              </a:tabLst>
            </a:pPr>
            <a:r>
              <a:rPr sz="1950" dirty="0">
                <a:latin typeface="Calibri"/>
                <a:cs typeface="Calibri"/>
              </a:rPr>
              <a:t>A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top-down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design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approach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starts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by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identifying</a:t>
            </a:r>
            <a:r>
              <a:rPr sz="1950" spc="4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the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major 	</a:t>
            </a:r>
            <a:r>
              <a:rPr sz="1950" dirty="0">
                <a:latin typeface="Calibri"/>
                <a:cs typeface="Calibri"/>
              </a:rPr>
              <a:t>components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of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the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system,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decomposing</a:t>
            </a:r>
            <a:r>
              <a:rPr sz="1950" spc="-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them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into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their 	</a:t>
            </a:r>
            <a:r>
              <a:rPr sz="1950" dirty="0">
                <a:latin typeface="Calibri"/>
                <a:cs typeface="Calibri"/>
              </a:rPr>
              <a:t>lower-level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spc="-10" dirty="0">
                <a:latin typeface="Calibri"/>
                <a:cs typeface="Calibri"/>
              </a:rPr>
              <a:t>components</a:t>
            </a:r>
            <a:endParaRPr sz="1950">
              <a:latin typeface="Calibri"/>
              <a:cs typeface="Calibri"/>
            </a:endParaRPr>
          </a:p>
          <a:p>
            <a:pPr marL="576580" marR="467995" lvl="1" indent="-186690">
              <a:lnSpc>
                <a:spcPct val="91400"/>
              </a:lnSpc>
              <a:spcBef>
                <a:spcPts val="370"/>
              </a:spcBef>
              <a:buFont typeface="Arial MT"/>
              <a:buChar char="•"/>
              <a:tabLst>
                <a:tab pos="577850" algn="l"/>
              </a:tabLst>
            </a:pPr>
            <a:r>
              <a:rPr sz="1950" dirty="0">
                <a:latin typeface="Calibri"/>
                <a:cs typeface="Calibri"/>
              </a:rPr>
              <a:t>A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bottom-up</a:t>
            </a:r>
            <a:r>
              <a:rPr sz="1950" spc="4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design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approach</a:t>
            </a:r>
            <a:r>
              <a:rPr sz="1950" spc="4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starts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with</a:t>
            </a:r>
            <a:r>
              <a:rPr sz="1950" spc="2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designing</a:t>
            </a:r>
            <a:r>
              <a:rPr sz="1950" spc="5" dirty="0">
                <a:latin typeface="Calibri"/>
                <a:cs typeface="Calibri"/>
              </a:rPr>
              <a:t> </a:t>
            </a:r>
            <a:r>
              <a:rPr sz="1950" spc="-25" dirty="0">
                <a:latin typeface="Calibri"/>
                <a:cs typeface="Calibri"/>
              </a:rPr>
              <a:t>the 	</a:t>
            </a:r>
            <a:r>
              <a:rPr sz="1950" dirty="0">
                <a:latin typeface="Calibri"/>
                <a:cs typeface="Calibri"/>
              </a:rPr>
              <a:t>most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basic</a:t>
            </a:r>
            <a:r>
              <a:rPr sz="1950" spc="2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or</a:t>
            </a:r>
            <a:r>
              <a:rPr sz="1950" spc="3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primitive</a:t>
            </a:r>
            <a:r>
              <a:rPr sz="1950" spc="1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components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and</a:t>
            </a:r>
            <a:r>
              <a:rPr sz="1950" spc="1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proceeds</a:t>
            </a:r>
            <a:r>
              <a:rPr sz="1950" spc="55" dirty="0">
                <a:latin typeface="Calibri"/>
                <a:cs typeface="Calibri"/>
              </a:rPr>
              <a:t> </a:t>
            </a:r>
            <a:r>
              <a:rPr sz="1950" spc="-25" dirty="0">
                <a:latin typeface="Calibri"/>
                <a:cs typeface="Calibri"/>
              </a:rPr>
              <a:t>to 	</a:t>
            </a:r>
            <a:r>
              <a:rPr sz="1950" dirty="0">
                <a:latin typeface="Calibri"/>
                <a:cs typeface="Calibri"/>
              </a:rPr>
              <a:t>higher-level</a:t>
            </a:r>
            <a:r>
              <a:rPr sz="1950" spc="3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components</a:t>
            </a:r>
            <a:r>
              <a:rPr sz="1950" spc="5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that</a:t>
            </a:r>
            <a:r>
              <a:rPr sz="1950" spc="40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use</a:t>
            </a:r>
            <a:r>
              <a:rPr sz="1950" spc="5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these</a:t>
            </a:r>
            <a:r>
              <a:rPr sz="1950" spc="55" dirty="0">
                <a:latin typeface="Calibri"/>
                <a:cs typeface="Calibri"/>
              </a:rPr>
              <a:t> </a:t>
            </a:r>
            <a:r>
              <a:rPr sz="1950" dirty="0">
                <a:latin typeface="Calibri"/>
                <a:cs typeface="Calibri"/>
              </a:rPr>
              <a:t>lower-</a:t>
            </a:r>
            <a:r>
              <a:rPr sz="1950" spc="-10" dirty="0">
                <a:latin typeface="Calibri"/>
                <a:cs typeface="Calibri"/>
              </a:rPr>
              <a:t>level 	components</a:t>
            </a:r>
            <a:endParaRPr sz="1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</Template>
  <TotalTime>1</TotalTime>
  <Words>460</Words>
  <Application>Microsoft Office PowerPoint</Application>
  <PresentationFormat>Custom</PresentationFormat>
  <Paragraphs>79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Arial MT</vt:lpstr>
      <vt:lpstr>Calibri</vt:lpstr>
      <vt:lpstr>1_Office Theme</vt:lpstr>
      <vt:lpstr>Unit-3  Design 3.1- Design Process 3.2- Design Concepts</vt:lpstr>
      <vt:lpstr>Software Design</vt:lpstr>
      <vt:lpstr>PowerPoint Presentation</vt:lpstr>
      <vt:lpstr>PowerPoint Presentation</vt:lpstr>
      <vt:lpstr>Design Process</vt:lpstr>
      <vt:lpstr>Goal of design process</vt:lpstr>
      <vt:lpstr>SOFTWARE DESIGN</vt:lpstr>
      <vt:lpstr>Outcome of the Design Process</vt:lpstr>
      <vt:lpstr>Classification of Design Activities</vt:lpstr>
      <vt:lpstr>Design Concepts</vt:lpstr>
      <vt:lpstr>Design Concepts</vt:lpstr>
      <vt:lpstr>Design Concepts</vt:lpstr>
      <vt:lpstr>Design Concepts</vt:lpstr>
      <vt:lpstr>Design Concepts</vt:lpstr>
      <vt:lpstr>Modularity and software cost</vt:lpstr>
      <vt:lpstr>Design Concepts</vt:lpstr>
      <vt:lpstr>Design Concepts</vt:lpstr>
      <vt:lpstr>Design Concepts</vt:lpstr>
      <vt:lpstr>Design Concepts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Design 1.1</dc:title>
  <dc:creator>Hp</dc:creator>
  <cp:lastModifiedBy>snowb</cp:lastModifiedBy>
  <cp:revision>2</cp:revision>
  <dcterms:created xsi:type="dcterms:W3CDTF">2025-09-23T09:35:19Z</dcterms:created>
  <dcterms:modified xsi:type="dcterms:W3CDTF">2025-09-23T09:38:30Z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2020-09-18T00:00:00Z</vt:filetime>
  </property>
  <property fmtid="{D5CDD505-2E9C-101B-9397-08002B2CF9AE}" pid="3" name="LastSaved">
    <vt:filetime>2025-09-23T00:00:00Z</vt:filetime>
  </property>
  <property fmtid="{D5CDD505-2E9C-101B-9397-08002B2CF9AE}" pid="4" name="Producer">
    <vt:lpwstr>Microsoft: Print To PDF</vt:lpwstr>
  </property>
</Properties>
</file>