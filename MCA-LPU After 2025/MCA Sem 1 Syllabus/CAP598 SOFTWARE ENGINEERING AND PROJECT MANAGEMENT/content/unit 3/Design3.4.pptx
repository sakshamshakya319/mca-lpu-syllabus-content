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05575" y="2175700"/>
            <a:ext cx="230568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912" y="1558630"/>
            <a:ext cx="7208520" cy="579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3004" y="2546064"/>
            <a:ext cx="8552391" cy="342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35"/>
              <a:t>Unit-</a:t>
            </a:r>
            <a:r>
              <a:rPr dirty="0" sz="3300"/>
              <a:t>3 </a:t>
            </a:r>
            <a:r>
              <a:rPr dirty="0" sz="3300" spc="-10"/>
              <a:t>Design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1320841" y="3026119"/>
            <a:ext cx="3094990" cy="1155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90"/>
              </a:spcBef>
            </a:pPr>
            <a:r>
              <a:rPr dirty="0" sz="1950">
                <a:latin typeface="Calibri"/>
                <a:cs typeface="Calibri"/>
              </a:rPr>
              <a:t>3.6-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Function-Oriented</a:t>
            </a:r>
            <a:r>
              <a:rPr dirty="0" sz="1950" spc="5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Design </a:t>
            </a:r>
            <a:r>
              <a:rPr dirty="0" sz="1950">
                <a:latin typeface="Calibri"/>
                <a:cs typeface="Calibri"/>
              </a:rPr>
              <a:t>3.7-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Object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Oriented</a:t>
            </a:r>
            <a:r>
              <a:rPr dirty="0" sz="1950" spc="5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Design </a:t>
            </a:r>
            <a:r>
              <a:rPr dirty="0" sz="1950">
                <a:latin typeface="Calibri"/>
                <a:cs typeface="Calibri"/>
              </a:rPr>
              <a:t>3.8-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Component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Base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Design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668337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20" b="1">
                <a:latin typeface="Calibri"/>
                <a:cs typeface="Calibri"/>
              </a:rPr>
              <a:t>APPROACHES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spc="-105" b="1">
                <a:latin typeface="Calibri"/>
                <a:cs typeface="Calibri"/>
              </a:rPr>
              <a:t>TO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spc="-120" b="1">
                <a:latin typeface="Calibri"/>
                <a:cs typeface="Calibri"/>
              </a:rPr>
              <a:t>SOFTWARE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spc="-20" b="1">
                <a:latin typeface="Calibri"/>
                <a:cs typeface="Calibri"/>
              </a:rPr>
              <a:t>DESIGN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2545" rIns="0" bIns="0" rtlCol="0" vert="horz">
            <a:spAutoFit/>
          </a:bodyPr>
          <a:lstStyle/>
          <a:p>
            <a:pPr marL="13335" marR="7620">
              <a:lnSpc>
                <a:spcPts val="1970"/>
              </a:lnSpc>
              <a:spcBef>
                <a:spcPts val="335"/>
              </a:spcBef>
            </a:pPr>
            <a:r>
              <a:rPr dirty="0" sz="1800"/>
              <a:t>There</a:t>
            </a:r>
            <a:r>
              <a:rPr dirty="0" sz="1800" spc="385"/>
              <a:t> </a:t>
            </a:r>
            <a:r>
              <a:rPr dirty="0" sz="1800"/>
              <a:t>are</a:t>
            </a:r>
            <a:r>
              <a:rPr dirty="0" sz="1800" spc="390"/>
              <a:t> </a:t>
            </a:r>
            <a:r>
              <a:rPr dirty="0" sz="1800"/>
              <a:t>two</a:t>
            </a:r>
            <a:r>
              <a:rPr dirty="0" sz="1800" spc="390"/>
              <a:t> </a:t>
            </a:r>
            <a:r>
              <a:rPr dirty="0" sz="1800"/>
              <a:t>fundamentally</a:t>
            </a:r>
            <a:r>
              <a:rPr dirty="0" sz="1800" spc="395"/>
              <a:t> </a:t>
            </a:r>
            <a:r>
              <a:rPr dirty="0" sz="1800"/>
              <a:t>different</a:t>
            </a:r>
            <a:r>
              <a:rPr dirty="0" sz="1800" spc="395"/>
              <a:t> </a:t>
            </a:r>
            <a:r>
              <a:rPr dirty="0" sz="1800"/>
              <a:t>approaches</a:t>
            </a:r>
            <a:r>
              <a:rPr dirty="0" sz="1800" spc="380"/>
              <a:t> </a:t>
            </a:r>
            <a:r>
              <a:rPr dirty="0" sz="1800"/>
              <a:t>to</a:t>
            </a:r>
            <a:r>
              <a:rPr dirty="0" sz="1800" spc="405"/>
              <a:t> </a:t>
            </a:r>
            <a:r>
              <a:rPr dirty="0" sz="1800"/>
              <a:t>software</a:t>
            </a:r>
            <a:r>
              <a:rPr dirty="0" sz="1800" spc="390"/>
              <a:t> </a:t>
            </a:r>
            <a:r>
              <a:rPr dirty="0" sz="1800"/>
              <a:t>design</a:t>
            </a:r>
            <a:r>
              <a:rPr dirty="0" sz="1800" spc="390"/>
              <a:t> </a:t>
            </a:r>
            <a:r>
              <a:rPr dirty="0" sz="1800"/>
              <a:t>that</a:t>
            </a:r>
            <a:r>
              <a:rPr dirty="0" sz="1800" spc="409"/>
              <a:t> </a:t>
            </a:r>
            <a:r>
              <a:rPr dirty="0" sz="1800"/>
              <a:t>are</a:t>
            </a:r>
            <a:r>
              <a:rPr dirty="0" sz="1800" spc="405"/>
              <a:t> </a:t>
            </a:r>
            <a:r>
              <a:rPr dirty="0" sz="1800"/>
              <a:t>in</a:t>
            </a:r>
            <a:r>
              <a:rPr dirty="0" sz="1800" spc="390"/>
              <a:t> </a:t>
            </a:r>
            <a:r>
              <a:rPr dirty="0" sz="1800" spc="-25"/>
              <a:t>use </a:t>
            </a:r>
            <a:r>
              <a:rPr dirty="0" sz="1800" spc="-10"/>
              <a:t>today—</a:t>
            </a:r>
            <a:endParaRPr sz="1800"/>
          </a:p>
          <a:p>
            <a:pPr marL="390525" indent="-377190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390525" algn="l"/>
              </a:tabLst>
            </a:pPr>
            <a:r>
              <a:rPr dirty="0" sz="1800" spc="-10"/>
              <a:t>Function-</a:t>
            </a:r>
            <a:r>
              <a:rPr dirty="0" sz="1800"/>
              <a:t>oriented</a:t>
            </a:r>
            <a:r>
              <a:rPr dirty="0" sz="1800" spc="35"/>
              <a:t> </a:t>
            </a:r>
            <a:r>
              <a:rPr dirty="0" sz="1800" spc="-10"/>
              <a:t>design</a:t>
            </a:r>
            <a:endParaRPr sz="1800"/>
          </a:p>
          <a:p>
            <a:pPr marL="390525" indent="-37719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90525" algn="l"/>
              </a:tabLst>
            </a:pPr>
            <a:r>
              <a:rPr dirty="0" sz="1800"/>
              <a:t>Object-oriented</a:t>
            </a:r>
            <a:r>
              <a:rPr dirty="0" sz="1800" spc="-15"/>
              <a:t> </a:t>
            </a:r>
            <a:r>
              <a:rPr dirty="0" sz="1800" spc="-10"/>
              <a:t>design</a:t>
            </a:r>
            <a:endParaRPr sz="1800"/>
          </a:p>
          <a:p>
            <a:pPr lvl="1" marL="200660" marR="5715" indent="-187960">
              <a:lnSpc>
                <a:spcPts val="1960"/>
              </a:lnSpc>
              <a:spcBef>
                <a:spcPts val="85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800">
                <a:latin typeface="Calibri"/>
                <a:cs typeface="Calibri"/>
              </a:rPr>
              <a:t>Though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two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approaches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radically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different,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complementary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rather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competing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techniques.</a:t>
            </a:r>
            <a:endParaRPr sz="1800">
              <a:latin typeface="Calibri"/>
              <a:cs typeface="Calibri"/>
            </a:endParaRPr>
          </a:p>
          <a:p>
            <a:pPr lvl="1" marL="201295" indent="-18796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object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oriented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approach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relatively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newer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technology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still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evolving.</a:t>
            </a:r>
            <a:endParaRPr sz="1800">
              <a:latin typeface="Calibri"/>
              <a:cs typeface="Calibri"/>
            </a:endParaRPr>
          </a:p>
          <a:p>
            <a:pPr lvl="1" marL="200660" marR="6350" indent="-187960">
              <a:lnSpc>
                <a:spcPts val="1960"/>
              </a:lnSpc>
              <a:spcBef>
                <a:spcPts val="860"/>
              </a:spcBef>
              <a:buFont typeface="Arial MT"/>
              <a:buChar char="•"/>
              <a:tabLst>
                <a:tab pos="201930" algn="l"/>
                <a:tab pos="655320" algn="l"/>
                <a:tab pos="2045335" algn="l"/>
                <a:tab pos="2383790" algn="l"/>
                <a:tab pos="2993390" algn="l"/>
                <a:tab pos="4086225" algn="l"/>
                <a:tab pos="4546600" algn="l"/>
                <a:tab pos="5352415" algn="l"/>
                <a:tab pos="6300470" algn="l"/>
                <a:tab pos="7326630" algn="l"/>
                <a:tab pos="7618730" algn="l"/>
              </a:tabLst>
            </a:pPr>
            <a:r>
              <a:rPr dirty="0" sz="1800" spc="-25">
                <a:latin typeface="Calibri"/>
                <a:cs typeface="Calibri"/>
              </a:rPr>
              <a:t>For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development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of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0">
                <a:latin typeface="Calibri"/>
                <a:cs typeface="Calibri"/>
              </a:rPr>
              <a:t>large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programs,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the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object-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oriented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approach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is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becoming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increasingly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popular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due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certain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advantages that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offers.</a:t>
            </a:r>
            <a:endParaRPr sz="1800">
              <a:latin typeface="Calibri"/>
              <a:cs typeface="Calibri"/>
            </a:endParaRPr>
          </a:p>
          <a:p>
            <a:pPr lvl="1" marL="200660" marR="5080" indent="-187960">
              <a:lnSpc>
                <a:spcPts val="1960"/>
              </a:lnSpc>
              <a:spcBef>
                <a:spcPts val="82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1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1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hand,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function-</a:t>
            </a:r>
            <a:r>
              <a:rPr dirty="0" sz="1800">
                <a:latin typeface="Calibri"/>
                <a:cs typeface="Calibri"/>
              </a:rPr>
              <a:t>oriented</a:t>
            </a:r>
            <a:r>
              <a:rPr dirty="0" sz="1800" spc="1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designing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mature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technology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1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large 	following.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</a:t>
            </a:r>
            <a:r>
              <a:rPr dirty="0" spc="-80"/>
              <a:t> </a:t>
            </a:r>
            <a:r>
              <a:rPr dirty="0"/>
              <a:t>Oriented</a:t>
            </a:r>
            <a:r>
              <a:rPr dirty="0" spc="-105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93" y="2549149"/>
            <a:ext cx="8482965" cy="29438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01295" marR="95250" indent="-189230">
              <a:lnSpc>
                <a:spcPts val="1789"/>
              </a:lnSpc>
              <a:spcBef>
                <a:spcPts val="3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system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viewed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something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performs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set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functions.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Starting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high-</a:t>
            </a:r>
            <a:r>
              <a:rPr dirty="0" sz="1650" spc="-10">
                <a:latin typeface="Calibri"/>
                <a:cs typeface="Calibri"/>
              </a:rPr>
              <a:t>level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view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system,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successively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refined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into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more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detailed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functions.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ct val="90000"/>
              </a:lnSpc>
              <a:spcBef>
                <a:spcPts val="79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example,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consider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create-</a:t>
            </a:r>
            <a:r>
              <a:rPr dirty="0" sz="1650">
                <a:latin typeface="Calibri"/>
                <a:cs typeface="Calibri"/>
              </a:rPr>
              <a:t>newlibrary-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member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which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essentially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creates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record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new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member,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assigns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unique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membership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number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 him,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prints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bill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towards</a:t>
            </a:r>
            <a:r>
              <a:rPr dirty="0" sz="1650" spc="-25">
                <a:latin typeface="Calibri"/>
                <a:cs typeface="Calibri"/>
              </a:rPr>
              <a:t> his </a:t>
            </a:r>
            <a:r>
              <a:rPr dirty="0" sz="1650">
                <a:latin typeface="Calibri"/>
                <a:cs typeface="Calibri"/>
              </a:rPr>
              <a:t>membership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charge.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consist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following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subfunctions: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 spc="-10">
                <a:latin typeface="Calibri"/>
                <a:cs typeface="Calibri"/>
              </a:rPr>
              <a:t>assign-membership-number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 spc="-20">
                <a:latin typeface="Calibri"/>
                <a:cs typeface="Calibri"/>
              </a:rPr>
              <a:t>create-</a:t>
            </a:r>
            <a:r>
              <a:rPr dirty="0" sz="1650" spc="-10">
                <a:latin typeface="Calibri"/>
                <a:cs typeface="Calibri"/>
              </a:rPr>
              <a:t>member-record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 spc="-10">
                <a:latin typeface="Calibri"/>
                <a:cs typeface="Calibri"/>
              </a:rPr>
              <a:t>print-</a:t>
            </a:r>
            <a:r>
              <a:rPr dirty="0" sz="1650" spc="-20">
                <a:latin typeface="Calibri"/>
                <a:cs typeface="Calibri"/>
              </a:rPr>
              <a:t>bill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650">
              <a:latin typeface="Calibri"/>
              <a:cs typeface="Calibri"/>
            </a:endParaRPr>
          </a:p>
          <a:p>
            <a:pPr marL="201295">
              <a:lnSpc>
                <a:spcPct val="100000"/>
              </a:lnSpc>
              <a:spcBef>
                <a:spcPts val="5"/>
              </a:spcBef>
            </a:pP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these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sub-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split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into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more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detailed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subfunctions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</a:t>
            </a:r>
            <a:r>
              <a:rPr dirty="0" sz="1650" spc="-25">
                <a:latin typeface="Calibri"/>
                <a:cs typeface="Calibri"/>
              </a:rPr>
              <a:t> on.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936" y="2533947"/>
            <a:ext cx="8444230" cy="22777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00660" indent="-187960">
              <a:lnSpc>
                <a:spcPts val="2630"/>
              </a:lnSpc>
              <a:spcBef>
                <a:spcPts val="114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system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state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is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centralized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and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shared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among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different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functions,</a:t>
            </a:r>
            <a:endParaRPr sz="2300">
              <a:latin typeface="Calibri"/>
              <a:cs typeface="Calibri"/>
            </a:endParaRPr>
          </a:p>
          <a:p>
            <a:pPr marL="201295" marR="720725">
              <a:lnSpc>
                <a:spcPts val="2500"/>
              </a:lnSpc>
              <a:spcBef>
                <a:spcPts val="165"/>
              </a:spcBef>
            </a:pPr>
            <a:r>
              <a:rPr dirty="0" sz="2300">
                <a:latin typeface="Calibri"/>
                <a:cs typeface="Calibri"/>
              </a:rPr>
              <a:t>e.g.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data</a:t>
            </a:r>
            <a:r>
              <a:rPr dirty="0" sz="2300" spc="-2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such</a:t>
            </a:r>
            <a:r>
              <a:rPr dirty="0" sz="2300" spc="-2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as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member-</a:t>
            </a:r>
            <a:r>
              <a:rPr dirty="0" sz="2300">
                <a:latin typeface="Calibri"/>
                <a:cs typeface="Calibri"/>
              </a:rPr>
              <a:t>records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is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available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for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reference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and </a:t>
            </a:r>
            <a:r>
              <a:rPr dirty="0" sz="2300">
                <a:latin typeface="Calibri"/>
                <a:cs typeface="Calibri"/>
              </a:rPr>
              <a:t>updation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to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several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functions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such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as:</a:t>
            </a:r>
            <a:endParaRPr sz="23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2300" spc="-20">
                <a:latin typeface="Calibri"/>
                <a:cs typeface="Calibri"/>
              </a:rPr>
              <a:t>create-</a:t>
            </a:r>
            <a:r>
              <a:rPr dirty="0" sz="2300" spc="-10">
                <a:latin typeface="Calibri"/>
                <a:cs typeface="Calibri"/>
              </a:rPr>
              <a:t>new-member</a:t>
            </a:r>
            <a:endParaRPr sz="23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2300" spc="-10">
                <a:latin typeface="Calibri"/>
                <a:cs typeface="Calibri"/>
              </a:rPr>
              <a:t>delete-member</a:t>
            </a:r>
            <a:endParaRPr sz="23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2300" spc="-10">
                <a:latin typeface="Calibri"/>
                <a:cs typeface="Calibri"/>
              </a:rPr>
              <a:t>update-member-record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Object-</a:t>
            </a:r>
            <a:r>
              <a:rPr dirty="0"/>
              <a:t>oriented</a:t>
            </a:r>
            <a:r>
              <a:rPr dirty="0" spc="-16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93" y="2549149"/>
            <a:ext cx="8498205" cy="22987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01295" marR="355600" indent="-189230">
              <a:lnSpc>
                <a:spcPct val="90000"/>
              </a:lnSpc>
              <a:spcBef>
                <a:spcPts val="30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object-</a:t>
            </a:r>
            <a:r>
              <a:rPr dirty="0" sz="1650">
                <a:latin typeface="Calibri"/>
                <a:cs typeface="Calibri"/>
              </a:rPr>
              <a:t>oriented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design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approach,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system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viewed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collection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(i.e. </a:t>
            </a:r>
            <a:r>
              <a:rPr dirty="0" sz="1650">
                <a:latin typeface="Calibri"/>
                <a:cs typeface="Calibri"/>
              </a:rPr>
              <a:t>entities).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state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decentralized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among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manages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own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state information.</a:t>
            </a:r>
            <a:endParaRPr sz="1650">
              <a:latin typeface="Calibri"/>
              <a:cs typeface="Calibri"/>
            </a:endParaRPr>
          </a:p>
          <a:p>
            <a:pPr algn="just" marL="201295" marR="240029" indent="-189230">
              <a:lnSpc>
                <a:spcPct val="9000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example,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Library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Automation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Software,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library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member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separate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object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own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operate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these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data.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fact,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defined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one </a:t>
            </a:r>
            <a:r>
              <a:rPr dirty="0" sz="1650">
                <a:latin typeface="Calibri"/>
                <a:cs typeface="Calibri"/>
              </a:rPr>
              <a:t>object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cannot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refer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change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other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objects.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ct val="90000"/>
              </a:lnSpc>
              <a:spcBef>
                <a:spcPts val="83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their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own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internal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which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define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their</a:t>
            </a:r>
            <a:r>
              <a:rPr dirty="0" sz="1650" spc="-10">
                <a:latin typeface="Calibri"/>
                <a:cs typeface="Calibri"/>
              </a:rPr>
              <a:t> state.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Similar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constitute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class.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In </a:t>
            </a:r>
            <a:r>
              <a:rPr dirty="0" sz="1650">
                <a:latin typeface="Calibri"/>
                <a:cs typeface="Calibri"/>
              </a:rPr>
              <a:t>other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words,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member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some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class.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Classes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inherit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features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super</a:t>
            </a:r>
            <a:r>
              <a:rPr dirty="0" sz="1650" spc="5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class.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Conceptually,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communicate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by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message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passing.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310157"/>
            <a:ext cx="8263255" cy="1078230"/>
          </a:xfrm>
          <a:prstGeom prst="rect"/>
        </p:spPr>
        <p:txBody>
          <a:bodyPr wrap="square" lIns="0" tIns="76200" rIns="0" bIns="0" rtlCol="0" vert="horz">
            <a:spAutoFit/>
          </a:bodyPr>
          <a:lstStyle/>
          <a:p>
            <a:pPr marL="12700" marR="5080">
              <a:lnSpc>
                <a:spcPts val="3920"/>
              </a:lnSpc>
              <a:spcBef>
                <a:spcPts val="600"/>
              </a:spcBef>
            </a:pPr>
            <a:r>
              <a:rPr dirty="0" spc="-10"/>
              <a:t>Function-</a:t>
            </a:r>
            <a:r>
              <a:rPr dirty="0"/>
              <a:t>oriented</a:t>
            </a:r>
            <a:r>
              <a:rPr dirty="0" spc="-95"/>
              <a:t> </a:t>
            </a:r>
            <a:r>
              <a:rPr dirty="0"/>
              <a:t>vs.</a:t>
            </a:r>
            <a:r>
              <a:rPr dirty="0" spc="-110"/>
              <a:t> </a:t>
            </a:r>
            <a:r>
              <a:rPr dirty="0" spc="-10"/>
              <a:t>object-</a:t>
            </a:r>
            <a:r>
              <a:rPr dirty="0"/>
              <a:t>oriented</a:t>
            </a:r>
            <a:r>
              <a:rPr dirty="0" spc="-125"/>
              <a:t> </a:t>
            </a:r>
            <a:r>
              <a:rPr dirty="0" spc="-10"/>
              <a:t>design 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93" y="2549149"/>
            <a:ext cx="8514080" cy="22987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01295" marR="75565" indent="-189230">
              <a:lnSpc>
                <a:spcPct val="90000"/>
              </a:lnSpc>
              <a:spcBef>
                <a:spcPts val="30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Unlike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function-</a:t>
            </a:r>
            <a:r>
              <a:rPr dirty="0" sz="1650" spc="-10">
                <a:latin typeface="Calibri"/>
                <a:cs typeface="Calibri"/>
              </a:rPr>
              <a:t>oriented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design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methods,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OOD,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basic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abstraction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real-world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sort,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display,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track,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etc,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but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real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world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entities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10">
                <a:latin typeface="Calibri"/>
                <a:cs typeface="Calibri"/>
              </a:rPr>
              <a:t> employee,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picture, </a:t>
            </a:r>
            <a:r>
              <a:rPr dirty="0" sz="1650">
                <a:latin typeface="Calibri"/>
                <a:cs typeface="Calibri"/>
              </a:rPr>
              <a:t>machine,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radar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system,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etc.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example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OOD,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</a:t>
            </a:r>
            <a:r>
              <a:rPr dirty="0" sz="1650" spc="-10">
                <a:latin typeface="Calibri"/>
                <a:cs typeface="Calibri"/>
              </a:rPr>
              <a:t> employee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pay-</a:t>
            </a:r>
            <a:r>
              <a:rPr dirty="0" sz="1650">
                <a:latin typeface="Calibri"/>
                <a:cs typeface="Calibri"/>
              </a:rPr>
              <a:t>roll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developed </a:t>
            </a:r>
            <a:r>
              <a:rPr dirty="0" sz="1650">
                <a:latin typeface="Calibri"/>
                <a:cs typeface="Calibri"/>
              </a:rPr>
              <a:t>by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designing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 </a:t>
            </a:r>
            <a:r>
              <a:rPr dirty="0" sz="1650" spc="-10">
                <a:latin typeface="Calibri"/>
                <a:cs typeface="Calibri"/>
              </a:rPr>
              <a:t>update-</a:t>
            </a:r>
            <a:r>
              <a:rPr dirty="0" sz="1650" spc="-20">
                <a:latin typeface="Calibri"/>
                <a:cs typeface="Calibri"/>
              </a:rPr>
              <a:t>employee-</a:t>
            </a:r>
            <a:r>
              <a:rPr dirty="0" sz="1650" spc="-10">
                <a:latin typeface="Calibri"/>
                <a:cs typeface="Calibri"/>
              </a:rPr>
              <a:t>record,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getemployee-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address,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etc.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but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by </a:t>
            </a:r>
            <a:r>
              <a:rPr dirty="0" sz="1650">
                <a:latin typeface="Calibri"/>
                <a:cs typeface="Calibri"/>
              </a:rPr>
              <a:t>designing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employees,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departments,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etc.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0"/>
              </a:spcBef>
              <a:buFont typeface="Arial MT"/>
              <a:buChar char="•"/>
            </a:pP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ct val="90000"/>
              </a:lnSpc>
              <a:buFont typeface="Arial MT"/>
              <a:buChar char="•"/>
              <a:tabLst>
                <a:tab pos="201295" algn="l"/>
              </a:tabLst>
            </a:pPr>
            <a:r>
              <a:rPr dirty="0" sz="1650" spc="-10">
                <a:latin typeface="Calibri"/>
                <a:cs typeface="Calibri"/>
              </a:rPr>
              <a:t>Function-</a:t>
            </a:r>
            <a:r>
              <a:rPr dirty="0" sz="1650">
                <a:latin typeface="Calibri"/>
                <a:cs typeface="Calibri"/>
              </a:rPr>
              <a:t>oriented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techniques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SA/SD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group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functions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together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if,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group,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they </a:t>
            </a:r>
            <a:r>
              <a:rPr dirty="0" sz="1650">
                <a:latin typeface="Calibri"/>
                <a:cs typeface="Calibri"/>
              </a:rPr>
              <a:t>constitute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higher-</a:t>
            </a:r>
            <a:r>
              <a:rPr dirty="0" sz="1650">
                <a:latin typeface="Calibri"/>
                <a:cs typeface="Calibri"/>
              </a:rPr>
              <a:t>level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function.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other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hand,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object-</a:t>
            </a:r>
            <a:r>
              <a:rPr dirty="0" sz="1650">
                <a:latin typeface="Calibri"/>
                <a:cs typeface="Calibri"/>
              </a:rPr>
              <a:t>oriented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techniques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group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functions together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basis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operate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on.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508254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5" b="1">
                <a:latin typeface="Calibri"/>
                <a:cs typeface="Calibri"/>
              </a:rPr>
              <a:t>Example:</a:t>
            </a:r>
            <a:r>
              <a:rPr dirty="0" spc="-30" b="1">
                <a:latin typeface="Calibri"/>
                <a:cs typeface="Calibri"/>
              </a:rPr>
              <a:t> </a:t>
            </a:r>
            <a:r>
              <a:rPr dirty="0" spc="-65" b="1">
                <a:latin typeface="Calibri"/>
                <a:cs typeface="Calibri"/>
              </a:rPr>
              <a:t>Fire-</a:t>
            </a:r>
            <a:r>
              <a:rPr dirty="0" spc="-105" b="1">
                <a:latin typeface="Calibri"/>
                <a:cs typeface="Calibri"/>
              </a:rPr>
              <a:t>Alarm</a:t>
            </a:r>
            <a:r>
              <a:rPr dirty="0" spc="-60" b="1">
                <a:latin typeface="Calibri"/>
                <a:cs typeface="Calibri"/>
              </a:rPr>
              <a:t> </a:t>
            </a:r>
            <a:r>
              <a:rPr dirty="0" spc="-70" b="1">
                <a:latin typeface="Calibri"/>
                <a:cs typeface="Calibri"/>
              </a:rPr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50" y="2524715"/>
            <a:ext cx="8449310" cy="336486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00025" marR="493395" indent="-187960">
              <a:lnSpc>
                <a:spcPts val="1739"/>
              </a:lnSpc>
              <a:spcBef>
                <a:spcPts val="52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owner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large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multi-stored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building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wants 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computerized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alarm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building.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latin typeface="Calibri"/>
                <a:cs typeface="Calibri"/>
              </a:rPr>
              <a:t>Smoke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detectors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would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placed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room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 the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building.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would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monitor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status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smoke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detectors.</a:t>
            </a:r>
            <a:endParaRPr sz="1800">
              <a:latin typeface="Calibri"/>
              <a:cs typeface="Calibri"/>
            </a:endParaRPr>
          </a:p>
          <a:p>
            <a:pPr marL="200025" marR="5080" indent="-187960">
              <a:lnSpc>
                <a:spcPct val="807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latin typeface="Calibri"/>
                <a:cs typeface="Calibri"/>
              </a:rPr>
              <a:t>Whenever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condition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reported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 any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smoke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detectors,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alarm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should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determine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condition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reported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25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smoke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detectors,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should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determine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25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fire condition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 occurred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sound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 in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 neighboring </a:t>
            </a:r>
            <a:r>
              <a:rPr dirty="0" sz="1800" spc="-10">
                <a:latin typeface="Calibri"/>
                <a:cs typeface="Calibri"/>
              </a:rPr>
              <a:t>locations.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should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also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flash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message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computer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console.</a:t>
            </a:r>
            <a:endParaRPr sz="180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fighting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personnel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console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round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clock.</a:t>
            </a:r>
            <a:endParaRPr sz="1800">
              <a:latin typeface="Calibri"/>
              <a:cs typeface="Calibri"/>
            </a:endParaRPr>
          </a:p>
          <a:p>
            <a:pPr marL="201295" marR="624205" indent="-189230">
              <a:lnSpc>
                <a:spcPts val="1750"/>
              </a:lnSpc>
              <a:spcBef>
                <a:spcPts val="810"/>
              </a:spcBef>
              <a:buChar char="•"/>
              <a:tabLst>
                <a:tab pos="201295" algn="l"/>
                <a:tab pos="253365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>
                <a:latin typeface="Calibri"/>
                <a:cs typeface="Calibri"/>
              </a:rPr>
              <a:t>After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condition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been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successfully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handled, 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should </a:t>
            </a:r>
            <a:r>
              <a:rPr dirty="0" sz="1800">
                <a:latin typeface="Calibri"/>
                <a:cs typeface="Calibri"/>
              </a:rPr>
              <a:t>support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resetting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alarms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fire fighting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personnel.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46900" y="1243999"/>
            <a:ext cx="6466840" cy="481711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 spc="-10" b="1">
                <a:latin typeface="Calibri"/>
                <a:cs typeface="Calibri"/>
              </a:rPr>
              <a:t>Function-Oriented</a:t>
            </a:r>
            <a:r>
              <a:rPr dirty="0" sz="1650" spc="45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Approach: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/*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Global</a:t>
            </a:r>
            <a:r>
              <a:rPr dirty="0" sz="1650" spc="-5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data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(system</a:t>
            </a:r>
            <a:r>
              <a:rPr dirty="0" sz="1650" spc="-30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state)</a:t>
            </a:r>
            <a:r>
              <a:rPr dirty="0" sz="1650" spc="-5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accessible</a:t>
            </a:r>
            <a:r>
              <a:rPr dirty="0" sz="1650" spc="-4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by</a:t>
            </a:r>
            <a:r>
              <a:rPr dirty="0" sz="1650" spc="-2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various</a:t>
            </a:r>
            <a:r>
              <a:rPr dirty="0" sz="1650" spc="-5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functions</a:t>
            </a:r>
            <a:r>
              <a:rPr dirty="0" sz="1650" spc="-50" b="1">
                <a:latin typeface="Calibri"/>
                <a:cs typeface="Calibri"/>
              </a:rPr>
              <a:t> </a:t>
            </a:r>
            <a:r>
              <a:rPr dirty="0" sz="1650" spc="-25" b="1">
                <a:latin typeface="Calibri"/>
                <a:cs typeface="Calibri"/>
              </a:rPr>
              <a:t>*/</a:t>
            </a:r>
            <a:endParaRPr sz="1650">
              <a:latin typeface="Calibri"/>
              <a:cs typeface="Calibri"/>
            </a:endParaRPr>
          </a:p>
          <a:p>
            <a:pPr marL="12700" marR="3209925">
              <a:lnSpc>
                <a:spcPct val="121200"/>
              </a:lnSpc>
              <a:spcBef>
                <a:spcPts val="15"/>
              </a:spcBef>
            </a:pPr>
            <a:r>
              <a:rPr dirty="0" sz="1650">
                <a:latin typeface="Calibri"/>
                <a:cs typeface="Calibri"/>
              </a:rPr>
              <a:t>BOOL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detector_status[MAX_ROOMS]; </a:t>
            </a:r>
            <a:r>
              <a:rPr dirty="0" sz="1650">
                <a:latin typeface="Calibri"/>
                <a:cs typeface="Calibri"/>
              </a:rPr>
              <a:t>int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detector_locs[MAX_ROOMS];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21800"/>
              </a:lnSpc>
              <a:tabLst>
                <a:tab pos="2719070" algn="l"/>
              </a:tabLst>
            </a:pPr>
            <a:r>
              <a:rPr dirty="0" sz="1650">
                <a:latin typeface="Calibri"/>
                <a:cs typeface="Calibri"/>
              </a:rPr>
              <a:t>BOOL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alarm_status[MAX_ROOMS];</a:t>
            </a:r>
            <a:r>
              <a:rPr dirty="0" sz="1650" spc="2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/*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alarm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activated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when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status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set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*/ </a:t>
            </a:r>
            <a:r>
              <a:rPr dirty="0" sz="1650">
                <a:latin typeface="Calibri"/>
                <a:cs typeface="Calibri"/>
              </a:rPr>
              <a:t>int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alarm_locs[MAX_ROOMS];</a:t>
            </a:r>
            <a:r>
              <a:rPr dirty="0" sz="1650">
                <a:latin typeface="Calibri"/>
                <a:cs typeface="Calibri"/>
              </a:rPr>
              <a:t>	/*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room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number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where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alarm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located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*/ </a:t>
            </a:r>
            <a:r>
              <a:rPr dirty="0" sz="1650">
                <a:latin typeface="Calibri"/>
                <a:cs typeface="Calibri"/>
              </a:rPr>
              <a:t>int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neighbor-</a:t>
            </a:r>
            <a:r>
              <a:rPr dirty="0" sz="1650">
                <a:latin typeface="Calibri"/>
                <a:cs typeface="Calibri"/>
              </a:rPr>
              <a:t>alarm[MAX_ROOMS][10];</a:t>
            </a:r>
            <a:r>
              <a:rPr dirty="0" sz="1650" spc="3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/*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detector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most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10</a:t>
            </a:r>
            <a:endParaRPr sz="1650">
              <a:latin typeface="Calibri"/>
              <a:cs typeface="Calibri"/>
            </a:endParaRPr>
          </a:p>
          <a:p>
            <a:pPr marL="201295">
              <a:lnSpc>
                <a:spcPts val="1585"/>
              </a:lnSpc>
            </a:pPr>
            <a:r>
              <a:rPr dirty="0" sz="1650">
                <a:latin typeface="Calibri"/>
                <a:cs typeface="Calibri"/>
              </a:rPr>
              <a:t>neighboring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locations*/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50" b="1">
                <a:latin typeface="Calibri"/>
                <a:cs typeface="Calibri"/>
              </a:rPr>
              <a:t>The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functions</a:t>
            </a:r>
            <a:r>
              <a:rPr dirty="0" sz="1650" spc="-4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which</a:t>
            </a:r>
            <a:r>
              <a:rPr dirty="0" sz="1650" spc="-40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operate</a:t>
            </a:r>
            <a:r>
              <a:rPr dirty="0" sz="1650" spc="-1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on</a:t>
            </a:r>
            <a:r>
              <a:rPr dirty="0" sz="1650" spc="-2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the</a:t>
            </a:r>
            <a:r>
              <a:rPr dirty="0" sz="1650" spc="-30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system</a:t>
            </a:r>
            <a:r>
              <a:rPr dirty="0" sz="1650" spc="-30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state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 spc="-20" b="1">
                <a:latin typeface="Calibri"/>
                <a:cs typeface="Calibri"/>
              </a:rPr>
              <a:t>are:</a:t>
            </a:r>
            <a:endParaRPr sz="1650">
              <a:latin typeface="Calibri"/>
              <a:cs typeface="Calibri"/>
            </a:endParaRPr>
          </a:p>
          <a:p>
            <a:pPr marL="12700" marR="4364355">
              <a:lnSpc>
                <a:spcPct val="121700"/>
              </a:lnSpc>
              <a:spcBef>
                <a:spcPts val="5"/>
              </a:spcBef>
            </a:pPr>
            <a:r>
              <a:rPr dirty="0" sz="1650" spc="-10">
                <a:latin typeface="Calibri"/>
                <a:cs typeface="Calibri"/>
              </a:rPr>
              <a:t>interrogate_detectors(); get_detector_location(); determine_neighbor(); ring_alarm(); reset_alarm(); report_fire_location();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909" y="2472652"/>
            <a:ext cx="5376545" cy="3418204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450" b="1">
                <a:latin typeface="Calibri"/>
                <a:cs typeface="Calibri"/>
              </a:rPr>
              <a:t>Object-Oriented</a:t>
            </a:r>
            <a:r>
              <a:rPr dirty="0" sz="1450" spc="195" b="1">
                <a:latin typeface="Calibri"/>
                <a:cs typeface="Calibri"/>
              </a:rPr>
              <a:t> </a:t>
            </a:r>
            <a:r>
              <a:rPr dirty="0" sz="1450" spc="-10" b="1">
                <a:latin typeface="Calibri"/>
                <a:cs typeface="Calibri"/>
              </a:rPr>
              <a:t>Approach: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450" b="1">
                <a:latin typeface="Calibri"/>
                <a:cs typeface="Calibri"/>
              </a:rPr>
              <a:t>class</a:t>
            </a:r>
            <a:r>
              <a:rPr dirty="0" sz="1450" spc="55" b="1">
                <a:latin typeface="Calibri"/>
                <a:cs typeface="Calibri"/>
              </a:rPr>
              <a:t> </a:t>
            </a:r>
            <a:r>
              <a:rPr dirty="0" sz="1450" spc="-10" b="1">
                <a:latin typeface="Calibri"/>
                <a:cs typeface="Calibri"/>
              </a:rPr>
              <a:t>detector</a:t>
            </a:r>
            <a:endParaRPr sz="1450">
              <a:latin typeface="Calibri"/>
              <a:cs typeface="Calibri"/>
            </a:endParaRPr>
          </a:p>
          <a:p>
            <a:pPr marL="55244">
              <a:lnSpc>
                <a:spcPct val="100000"/>
              </a:lnSpc>
              <a:spcBef>
                <a:spcPts val="695"/>
              </a:spcBef>
            </a:pPr>
            <a:r>
              <a:rPr dirty="0" sz="1450" spc="-10">
                <a:latin typeface="Calibri"/>
                <a:cs typeface="Calibri"/>
              </a:rPr>
              <a:t>attributes</a:t>
            </a:r>
            <a:r>
              <a:rPr dirty="0" sz="1450" spc="-10" b="1"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 marL="1521460">
              <a:lnSpc>
                <a:spcPct val="100000"/>
              </a:lnSpc>
              <a:spcBef>
                <a:spcPts val="685"/>
              </a:spcBef>
            </a:pPr>
            <a:r>
              <a:rPr dirty="0" sz="1450">
                <a:latin typeface="Calibri"/>
                <a:cs typeface="Calibri"/>
              </a:rPr>
              <a:t>status,</a:t>
            </a:r>
            <a:r>
              <a:rPr dirty="0" sz="1450" spc="1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location,</a:t>
            </a:r>
            <a:r>
              <a:rPr dirty="0" sz="1450" spc="5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neighbors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50" spc="-10">
                <a:latin typeface="Calibri"/>
                <a:cs typeface="Calibri"/>
              </a:rPr>
              <a:t>operations</a:t>
            </a:r>
            <a:r>
              <a:rPr dirty="0" sz="1450" spc="-10" b="1"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 marL="1521460">
              <a:lnSpc>
                <a:spcPct val="100000"/>
              </a:lnSpc>
              <a:spcBef>
                <a:spcPts val="685"/>
              </a:spcBef>
            </a:pPr>
            <a:r>
              <a:rPr dirty="0" sz="1450">
                <a:latin typeface="Calibri"/>
                <a:cs typeface="Calibri"/>
              </a:rPr>
              <a:t>create,</a:t>
            </a:r>
            <a:r>
              <a:rPr dirty="0" sz="1450" spc="5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sense_status,</a:t>
            </a:r>
            <a:r>
              <a:rPr dirty="0" sz="1450" spc="4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get_location,</a:t>
            </a:r>
            <a:r>
              <a:rPr dirty="0" sz="1450" spc="7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find_neighbors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450" b="1">
                <a:latin typeface="Calibri"/>
                <a:cs typeface="Calibri"/>
              </a:rPr>
              <a:t>class</a:t>
            </a:r>
            <a:r>
              <a:rPr dirty="0" sz="1450" spc="55" b="1">
                <a:latin typeface="Calibri"/>
                <a:cs typeface="Calibri"/>
              </a:rPr>
              <a:t> </a:t>
            </a:r>
            <a:r>
              <a:rPr dirty="0" sz="1450" spc="-10" b="1">
                <a:latin typeface="Calibri"/>
                <a:cs typeface="Calibri"/>
              </a:rPr>
              <a:t>alarm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50" spc="-10">
                <a:latin typeface="Calibri"/>
                <a:cs typeface="Calibri"/>
              </a:rPr>
              <a:t>attributes</a:t>
            </a:r>
            <a:r>
              <a:rPr dirty="0" sz="1450" spc="-10" b="1"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 marL="1521460">
              <a:lnSpc>
                <a:spcPct val="100000"/>
              </a:lnSpc>
              <a:spcBef>
                <a:spcPts val="685"/>
              </a:spcBef>
            </a:pPr>
            <a:r>
              <a:rPr dirty="0" sz="1450">
                <a:latin typeface="Calibri"/>
                <a:cs typeface="Calibri"/>
              </a:rPr>
              <a:t>location,</a:t>
            </a:r>
            <a:r>
              <a:rPr dirty="0" sz="1450" spc="4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status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450" spc="-10">
                <a:latin typeface="Calibri"/>
                <a:cs typeface="Calibri"/>
              </a:rPr>
              <a:t>operations</a:t>
            </a:r>
            <a:r>
              <a:rPr dirty="0" sz="1450" spc="-10" b="1">
                <a:latin typeface="Calibri"/>
                <a:cs typeface="Calibri"/>
              </a:rPr>
              <a:t>:</a:t>
            </a:r>
            <a:endParaRPr sz="1450">
              <a:latin typeface="Calibri"/>
              <a:cs typeface="Calibri"/>
            </a:endParaRPr>
          </a:p>
          <a:p>
            <a:pPr marL="1568450">
              <a:lnSpc>
                <a:spcPct val="100000"/>
              </a:lnSpc>
              <a:spcBef>
                <a:spcPts val="685"/>
              </a:spcBef>
            </a:pPr>
            <a:r>
              <a:rPr dirty="0" sz="1450">
                <a:latin typeface="Calibri"/>
                <a:cs typeface="Calibri"/>
              </a:rPr>
              <a:t>create,</a:t>
            </a:r>
            <a:r>
              <a:rPr dirty="0" sz="1450" spc="45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ring_alarm,</a:t>
            </a:r>
            <a:r>
              <a:rPr dirty="0" sz="1450" spc="80">
                <a:latin typeface="Calibri"/>
                <a:cs typeface="Calibri"/>
              </a:rPr>
              <a:t> </a:t>
            </a:r>
            <a:r>
              <a:rPr dirty="0" sz="1450">
                <a:latin typeface="Calibri"/>
                <a:cs typeface="Calibri"/>
              </a:rPr>
              <a:t>get_location,</a:t>
            </a:r>
            <a:r>
              <a:rPr dirty="0" sz="1450" spc="60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reset_alarm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9442" y="2533947"/>
            <a:ext cx="3080385" cy="3784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/>
              <a:t>Component</a:t>
            </a:r>
            <a:r>
              <a:rPr dirty="0" sz="2300" spc="-50"/>
              <a:t> </a:t>
            </a:r>
            <a:r>
              <a:rPr dirty="0" sz="2300"/>
              <a:t>Based</a:t>
            </a:r>
            <a:r>
              <a:rPr dirty="0" sz="2300" spc="-25"/>
              <a:t> </a:t>
            </a:r>
            <a:r>
              <a:rPr dirty="0" sz="2300" spc="-10"/>
              <a:t>Design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333629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14" b="1">
                <a:latin typeface="Calibri"/>
                <a:cs typeface="Calibri"/>
              </a:rPr>
              <a:t>SOFTWARE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 spc="-25" b="1">
                <a:latin typeface="Calibri"/>
                <a:cs typeface="Calibri"/>
              </a:rPr>
              <a:t>REUSE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93" y="2470857"/>
            <a:ext cx="8550910" cy="345757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possible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way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reduce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development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cost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parts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previously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developed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software.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9"/>
              </a:lnSpc>
              <a:spcBef>
                <a:spcPts val="84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2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addition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2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reduced</a:t>
            </a:r>
            <a:r>
              <a:rPr dirty="0" sz="1650" spc="2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development</a:t>
            </a:r>
            <a:r>
              <a:rPr dirty="0" sz="1650" spc="2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cost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2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time,</a:t>
            </a:r>
            <a:r>
              <a:rPr dirty="0" sz="1650" spc="2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</a:t>
            </a:r>
            <a:r>
              <a:rPr dirty="0" sz="1650" spc="2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also</a:t>
            </a:r>
            <a:r>
              <a:rPr dirty="0" sz="1650" spc="2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leads</a:t>
            </a:r>
            <a:r>
              <a:rPr dirty="0" sz="1650" spc="2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2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higher</a:t>
            </a:r>
            <a:r>
              <a:rPr dirty="0" sz="1650" spc="2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quality</a:t>
            </a:r>
            <a:r>
              <a:rPr dirty="0" sz="1650" spc="2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28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 spc="-10">
                <a:latin typeface="Calibri"/>
                <a:cs typeface="Calibri"/>
              </a:rPr>
              <a:t>developed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products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since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reusable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ensured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high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quality.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650" spc="-20" b="1">
                <a:latin typeface="Calibri"/>
                <a:cs typeface="Calibri"/>
              </a:rPr>
              <a:t>WHAT</a:t>
            </a:r>
            <a:r>
              <a:rPr dirty="0" sz="1650" spc="-3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CAN</a:t>
            </a:r>
            <a:r>
              <a:rPr dirty="0" sz="1650" spc="-5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BE</a:t>
            </a:r>
            <a:r>
              <a:rPr dirty="0" sz="1650" spc="-15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REUSED?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9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Almost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all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artifacts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associated</a:t>
            </a:r>
            <a:r>
              <a:rPr dirty="0" sz="1650" spc="1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development,</a:t>
            </a:r>
            <a:r>
              <a:rPr dirty="0" sz="1650" spc="1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including</a:t>
            </a:r>
            <a:r>
              <a:rPr dirty="0" sz="1650" spc="1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project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plan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1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test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plan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reused.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30">
                <a:latin typeface="Calibri"/>
                <a:cs typeface="Calibri"/>
              </a:rPr>
              <a:t>However,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prominent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items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effectively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are: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391160" algn="l"/>
              </a:tabLst>
            </a:pPr>
            <a:r>
              <a:rPr dirty="0" sz="1650" spc="-10">
                <a:latin typeface="Calibri"/>
                <a:cs typeface="Calibri"/>
              </a:rPr>
              <a:t>Requirements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specification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91160" algn="l"/>
              </a:tabLst>
            </a:pPr>
            <a:r>
              <a:rPr dirty="0" sz="1650" spc="-10">
                <a:latin typeface="Calibri"/>
                <a:cs typeface="Calibri"/>
              </a:rPr>
              <a:t>Design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391160" algn="l"/>
              </a:tabLst>
            </a:pPr>
            <a:r>
              <a:rPr dirty="0" sz="1650" spc="-20">
                <a:latin typeface="Calibri"/>
                <a:cs typeface="Calibri"/>
              </a:rPr>
              <a:t>Code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91160" algn="l"/>
              </a:tabLst>
            </a:pPr>
            <a:r>
              <a:rPr dirty="0" sz="1650" spc="-30">
                <a:latin typeface="Calibri"/>
                <a:cs typeface="Calibri"/>
              </a:rPr>
              <a:t>Test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cases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91160" algn="l"/>
              </a:tabLst>
            </a:pPr>
            <a:r>
              <a:rPr dirty="0" sz="1650" spc="-10">
                <a:latin typeface="Calibri"/>
                <a:cs typeface="Calibri"/>
              </a:rPr>
              <a:t>Knowledge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BASIC</a:t>
            </a:r>
            <a:r>
              <a:rPr dirty="0" spc="-135"/>
              <a:t> </a:t>
            </a:r>
            <a:r>
              <a:rPr dirty="0"/>
              <a:t>ISSUES</a:t>
            </a:r>
            <a:r>
              <a:rPr dirty="0" spc="-120"/>
              <a:t> </a:t>
            </a:r>
            <a:r>
              <a:rPr dirty="0"/>
              <a:t>IN</a:t>
            </a:r>
            <a:r>
              <a:rPr dirty="0" spc="-80"/>
              <a:t> </a:t>
            </a:r>
            <a:r>
              <a:rPr dirty="0"/>
              <a:t>ANY</a:t>
            </a:r>
            <a:r>
              <a:rPr dirty="0" spc="-114"/>
              <a:t> </a:t>
            </a:r>
            <a:r>
              <a:rPr dirty="0"/>
              <a:t>REUSE</a:t>
            </a:r>
            <a:r>
              <a:rPr dirty="0" spc="-110"/>
              <a:t> </a:t>
            </a:r>
            <a:r>
              <a:rPr dirty="0" spc="-10"/>
              <a:t>PROGRAM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31" y="2543019"/>
            <a:ext cx="8157845" cy="323215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00025" marR="5080" indent="-187960">
              <a:lnSpc>
                <a:spcPts val="2140"/>
              </a:lnSpc>
              <a:spcBef>
                <a:spcPts val="3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following</a:t>
            </a:r>
            <a:r>
              <a:rPr dirty="0" sz="1950" spc="-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are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some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basic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issues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that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must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be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clearly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understood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25">
                <a:latin typeface="Calibri"/>
                <a:cs typeface="Calibri"/>
              </a:rPr>
              <a:t>for </a:t>
            </a:r>
            <a:r>
              <a:rPr dirty="0" sz="1950" spc="-25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starting</a:t>
            </a:r>
            <a:r>
              <a:rPr dirty="0" sz="1950" spc="-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any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reuse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program: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Component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creation.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Component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indexing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3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storing.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Component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search.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Component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understanding.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Component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adaptation.</a:t>
            </a:r>
            <a:endParaRPr sz="1950">
              <a:latin typeface="Calibri"/>
              <a:cs typeface="Calibri"/>
            </a:endParaRPr>
          </a:p>
          <a:p>
            <a:pPr marL="389255" indent="-376555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389255" algn="l"/>
              </a:tabLst>
            </a:pPr>
            <a:r>
              <a:rPr dirty="0" sz="1950">
                <a:latin typeface="Calibri"/>
                <a:cs typeface="Calibri"/>
              </a:rPr>
              <a:t>Repository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maintenance.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893" y="2529329"/>
            <a:ext cx="8552180" cy="3522979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 marR="7620" indent="275590">
              <a:lnSpc>
                <a:spcPts val="1580"/>
              </a:lnSpc>
              <a:spcBef>
                <a:spcPts val="490"/>
              </a:spcBef>
              <a:buAutoNum type="arabicPeriod"/>
              <a:tabLst>
                <a:tab pos="288290" algn="l"/>
              </a:tabLst>
            </a:pPr>
            <a:r>
              <a:rPr dirty="0" sz="1650" b="1">
                <a:latin typeface="Calibri"/>
                <a:cs typeface="Calibri"/>
              </a:rPr>
              <a:t>Component</a:t>
            </a:r>
            <a:r>
              <a:rPr dirty="0" sz="1650" spc="45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creation:</a:t>
            </a:r>
            <a:r>
              <a:rPr dirty="0" sz="1650" spc="459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4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</a:t>
            </a:r>
            <a:r>
              <a:rPr dirty="0" sz="1650" spc="4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creation,</a:t>
            </a:r>
            <a:r>
              <a:rPr dirty="0" sz="1650" spc="4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reusable</a:t>
            </a:r>
            <a:r>
              <a:rPr dirty="0" sz="1650" spc="43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45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43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4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4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first identified.</a:t>
            </a:r>
            <a:endParaRPr sz="1650">
              <a:latin typeface="Calibri"/>
              <a:cs typeface="Calibri"/>
            </a:endParaRPr>
          </a:p>
          <a:p>
            <a:pPr lvl="1" marL="201930" indent="-189230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Selection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right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kind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having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potential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important.</a:t>
            </a:r>
            <a:endParaRPr sz="1650">
              <a:latin typeface="Calibri"/>
              <a:cs typeface="Calibri"/>
            </a:endParaRPr>
          </a:p>
          <a:p>
            <a:pPr marL="12700" marR="5715" indent="218440">
              <a:lnSpc>
                <a:spcPts val="1580"/>
              </a:lnSpc>
              <a:spcBef>
                <a:spcPts val="819"/>
              </a:spcBef>
              <a:buAutoNum type="arabicPeriod" startAt="2"/>
              <a:tabLst>
                <a:tab pos="231140" algn="l"/>
              </a:tabLst>
            </a:pPr>
            <a:r>
              <a:rPr dirty="0" sz="1650" b="1">
                <a:latin typeface="Calibri"/>
                <a:cs typeface="Calibri"/>
              </a:rPr>
              <a:t>Component indexing</a:t>
            </a:r>
            <a:r>
              <a:rPr dirty="0" sz="1650" spc="-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and storing. </a:t>
            </a:r>
            <a:r>
              <a:rPr dirty="0" sz="1650">
                <a:latin typeface="Calibri"/>
                <a:cs typeface="Calibri"/>
              </a:rPr>
              <a:t>Indexing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requires classification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 reusable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so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 be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easily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searched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when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look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reuse.</a:t>
            </a:r>
            <a:endParaRPr sz="1650">
              <a:latin typeface="Calibri"/>
              <a:cs typeface="Calibri"/>
            </a:endParaRPr>
          </a:p>
          <a:p>
            <a:pPr marL="12700" marR="5080" indent="239395">
              <a:lnSpc>
                <a:spcPts val="1580"/>
              </a:lnSpc>
              <a:spcBef>
                <a:spcPts val="825"/>
              </a:spcBef>
              <a:buAutoNum type="arabicPeriod" startAt="2"/>
              <a:tabLst>
                <a:tab pos="252095" algn="l"/>
              </a:tabLst>
            </a:pPr>
            <a:r>
              <a:rPr dirty="0" sz="1650" b="1">
                <a:latin typeface="Calibri"/>
                <a:cs typeface="Calibri"/>
              </a:rPr>
              <a:t>Component</a:t>
            </a:r>
            <a:r>
              <a:rPr dirty="0" sz="1650" spc="17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searching:</a:t>
            </a:r>
            <a:r>
              <a:rPr dirty="0" sz="1650" spc="18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programmers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need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search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right</a:t>
            </a:r>
            <a:r>
              <a:rPr dirty="0" sz="1650" spc="1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matching</a:t>
            </a:r>
            <a:r>
              <a:rPr dirty="0" sz="1650" spc="16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their requirements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database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components.</a:t>
            </a:r>
            <a:endParaRPr sz="1650">
              <a:latin typeface="Calibri"/>
              <a:cs typeface="Calibri"/>
            </a:endParaRPr>
          </a:p>
          <a:p>
            <a:pPr lvl="1" marL="201295" marR="5715" indent="-189230">
              <a:lnSpc>
                <a:spcPts val="1580"/>
              </a:lnSpc>
              <a:spcBef>
                <a:spcPts val="83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3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able</a:t>
            </a:r>
            <a:r>
              <a:rPr dirty="0" sz="1650" spc="3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3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search</a:t>
            </a:r>
            <a:r>
              <a:rPr dirty="0" sz="1650" spc="3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3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efficiently,</a:t>
            </a:r>
            <a:r>
              <a:rPr dirty="0" sz="1650" spc="3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programmers</a:t>
            </a:r>
            <a:r>
              <a:rPr dirty="0" sz="1650" spc="3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require</a:t>
            </a:r>
            <a:r>
              <a:rPr dirty="0" sz="1650" spc="3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proper</a:t>
            </a:r>
            <a:r>
              <a:rPr dirty="0" sz="1650" spc="3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method</a:t>
            </a:r>
            <a:r>
              <a:rPr dirty="0" sz="1650" spc="34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to </a:t>
            </a:r>
            <a:r>
              <a:rPr dirty="0" sz="1650">
                <a:latin typeface="Calibri"/>
                <a:cs typeface="Calibri"/>
              </a:rPr>
              <a:t>describe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looking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for.</a:t>
            </a:r>
            <a:endParaRPr sz="1650">
              <a:latin typeface="Calibri"/>
              <a:cs typeface="Calibri"/>
            </a:endParaRPr>
          </a:p>
          <a:p>
            <a:pPr algn="just" marL="12700" marR="5080" indent="299085">
              <a:lnSpc>
                <a:spcPts val="1580"/>
              </a:lnSpc>
              <a:spcBef>
                <a:spcPts val="835"/>
              </a:spcBef>
              <a:buAutoNum type="arabicPeriod" startAt="4"/>
              <a:tabLst>
                <a:tab pos="311785" algn="l"/>
              </a:tabLst>
            </a:pPr>
            <a:r>
              <a:rPr dirty="0" sz="1650" b="1">
                <a:latin typeface="Calibri"/>
                <a:cs typeface="Calibri"/>
              </a:rPr>
              <a:t>Component</a:t>
            </a:r>
            <a:r>
              <a:rPr dirty="0" sz="1650" spc="130" b="1">
                <a:latin typeface="Calibri"/>
                <a:cs typeface="Calibri"/>
              </a:rPr>
              <a:t>  </a:t>
            </a:r>
            <a:r>
              <a:rPr dirty="0" sz="1650" b="1">
                <a:latin typeface="Calibri"/>
                <a:cs typeface="Calibri"/>
              </a:rPr>
              <a:t>understanding:</a:t>
            </a:r>
            <a:r>
              <a:rPr dirty="0" sz="1650" spc="135" b="1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4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programmers</a:t>
            </a:r>
            <a:r>
              <a:rPr dirty="0" sz="1650" spc="13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need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precise</a:t>
            </a:r>
            <a:r>
              <a:rPr dirty="0" sz="1650" spc="14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13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sufficiently</a:t>
            </a:r>
            <a:r>
              <a:rPr dirty="0" sz="1650" spc="120">
                <a:latin typeface="Calibri"/>
                <a:cs typeface="Calibri"/>
              </a:rPr>
              <a:t>  </a:t>
            </a:r>
            <a:r>
              <a:rPr dirty="0" sz="1650" spc="-10">
                <a:latin typeface="Calibri"/>
                <a:cs typeface="Calibri"/>
              </a:rPr>
              <a:t>complete </a:t>
            </a:r>
            <a:r>
              <a:rPr dirty="0" sz="1650">
                <a:latin typeface="Calibri"/>
                <a:cs typeface="Calibri"/>
              </a:rPr>
              <a:t>understanding</a:t>
            </a:r>
            <a:r>
              <a:rPr dirty="0" sz="1650" spc="3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what</a:t>
            </a:r>
            <a:r>
              <a:rPr dirty="0" sz="1650" spc="3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3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</a:t>
            </a:r>
            <a:r>
              <a:rPr dirty="0" sz="1650" spc="3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does</a:t>
            </a:r>
            <a:r>
              <a:rPr dirty="0" sz="1650" spc="3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3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able</a:t>
            </a:r>
            <a:r>
              <a:rPr dirty="0" sz="1650" spc="3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decide</a:t>
            </a:r>
            <a:r>
              <a:rPr dirty="0" sz="1650" spc="2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whether</a:t>
            </a:r>
            <a:r>
              <a:rPr dirty="0" sz="1650" spc="2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3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3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</a:t>
            </a:r>
            <a:r>
              <a:rPr dirty="0" sz="1650" spc="29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 spc="-10">
                <a:latin typeface="Calibri"/>
                <a:cs typeface="Calibri"/>
              </a:rPr>
              <a:t>component.</a:t>
            </a:r>
            <a:endParaRPr sz="1650">
              <a:latin typeface="Calibri"/>
              <a:cs typeface="Calibri"/>
            </a:endParaRPr>
          </a:p>
          <a:p>
            <a:pPr lvl="1" marL="201295" marR="5715" indent="-189230">
              <a:lnSpc>
                <a:spcPts val="1580"/>
              </a:lnSpc>
              <a:spcBef>
                <a:spcPts val="840"/>
              </a:spcBef>
              <a:buFont typeface="Arial MT"/>
              <a:buChar char="•"/>
              <a:tabLst>
                <a:tab pos="201295" algn="l"/>
                <a:tab pos="527050" algn="l"/>
                <a:tab pos="1393825" algn="l"/>
                <a:tab pos="2811145" algn="l"/>
                <a:tab pos="3225800" algn="l"/>
                <a:tab pos="4420235" algn="l"/>
                <a:tab pos="5122545" algn="l"/>
                <a:tab pos="5467350" algn="l"/>
                <a:tab pos="5949315" algn="l"/>
                <a:tab pos="7162800" algn="l"/>
                <a:tab pos="7614920" algn="l"/>
                <a:tab pos="8317230" algn="l"/>
              </a:tabLst>
            </a:pPr>
            <a:r>
              <a:rPr dirty="0" sz="1650" spc="-25">
                <a:latin typeface="Calibri"/>
                <a:cs typeface="Calibri"/>
              </a:rPr>
              <a:t>To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facilitate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understanding,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25">
                <a:latin typeface="Calibri"/>
                <a:cs typeface="Calibri"/>
              </a:rPr>
              <a:t>the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components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should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25">
                <a:latin typeface="Calibri"/>
                <a:cs typeface="Calibri"/>
              </a:rPr>
              <a:t>be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20">
                <a:latin typeface="Calibri"/>
                <a:cs typeface="Calibri"/>
              </a:rPr>
              <a:t>well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documented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25">
                <a:latin typeface="Calibri"/>
                <a:cs typeface="Calibri"/>
              </a:rPr>
              <a:t>and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should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25">
                <a:latin typeface="Calibri"/>
                <a:cs typeface="Calibri"/>
              </a:rPr>
              <a:t>do </a:t>
            </a:r>
            <a:r>
              <a:rPr dirty="0" sz="1650">
                <a:latin typeface="Calibri"/>
                <a:cs typeface="Calibri"/>
              </a:rPr>
              <a:t>something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simple.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893" y="2549149"/>
            <a:ext cx="8550910" cy="294386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5080" indent="212090">
              <a:lnSpc>
                <a:spcPts val="1789"/>
              </a:lnSpc>
              <a:spcBef>
                <a:spcPts val="325"/>
              </a:spcBef>
              <a:buAutoNum type="arabicPeriod" startAt="5"/>
              <a:tabLst>
                <a:tab pos="224790" algn="l"/>
              </a:tabLst>
            </a:pPr>
            <a:r>
              <a:rPr dirty="0" sz="1650" b="1">
                <a:latin typeface="Calibri"/>
                <a:cs typeface="Calibri"/>
              </a:rPr>
              <a:t>Component</a:t>
            </a:r>
            <a:r>
              <a:rPr dirty="0" sz="1650" spc="-25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adaptation:</a:t>
            </a:r>
            <a:r>
              <a:rPr dirty="0" sz="1650" spc="-2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Often,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need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adaptation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before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reused, </a:t>
            </a:r>
            <a:r>
              <a:rPr dirty="0" sz="1650">
                <a:latin typeface="Calibri"/>
                <a:cs typeface="Calibri"/>
              </a:rPr>
              <a:t>since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selected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exactly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fit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problem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hand.</a:t>
            </a:r>
            <a:endParaRPr sz="1650">
              <a:latin typeface="Calibri"/>
              <a:cs typeface="Calibri"/>
            </a:endParaRPr>
          </a:p>
          <a:p>
            <a:pPr lvl="1" marL="201295" marR="5080" indent="-189230">
              <a:lnSpc>
                <a:spcPts val="1780"/>
              </a:lnSpc>
              <a:spcBef>
                <a:spcPts val="82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 spc="-25">
                <a:latin typeface="Calibri"/>
                <a:cs typeface="Calibri"/>
              </a:rPr>
              <a:t>However,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tinkering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code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also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satisfactory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solution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because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very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likely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be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source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bugs.</a:t>
            </a:r>
            <a:endParaRPr sz="1650">
              <a:latin typeface="Calibri"/>
              <a:cs typeface="Calibri"/>
            </a:endParaRPr>
          </a:p>
          <a:p>
            <a:pPr marL="222885" indent="-210185">
              <a:lnSpc>
                <a:spcPct val="100000"/>
              </a:lnSpc>
              <a:spcBef>
                <a:spcPts val="605"/>
              </a:spcBef>
              <a:buAutoNum type="arabicPeriod" startAt="6"/>
              <a:tabLst>
                <a:tab pos="222885" algn="l"/>
              </a:tabLst>
            </a:pPr>
            <a:r>
              <a:rPr dirty="0" sz="1650" spc="-10" b="1">
                <a:latin typeface="Calibri"/>
                <a:cs typeface="Calibri"/>
              </a:rPr>
              <a:t>Repository maintenance</a:t>
            </a:r>
            <a:endParaRPr sz="1650">
              <a:latin typeface="Calibri"/>
              <a:cs typeface="Calibri"/>
            </a:endParaRPr>
          </a:p>
          <a:p>
            <a:pPr lvl="1" marL="201930" indent="-18923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0">
                <a:latin typeface="Calibri"/>
                <a:cs typeface="Calibri"/>
              </a:rPr>
              <a:t> component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repository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once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created </a:t>
            </a:r>
            <a:r>
              <a:rPr dirty="0" sz="1650" spc="-10">
                <a:latin typeface="Calibri"/>
                <a:cs typeface="Calibri"/>
              </a:rPr>
              <a:t>requires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continuous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maintenance.</a:t>
            </a:r>
            <a:endParaRPr sz="1650">
              <a:latin typeface="Calibri"/>
              <a:cs typeface="Calibri"/>
            </a:endParaRPr>
          </a:p>
          <a:p>
            <a:pPr lvl="1" marL="201930" indent="-18923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New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components,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when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created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entered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into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repository.</a:t>
            </a:r>
            <a:endParaRPr sz="1650">
              <a:latin typeface="Calibri"/>
              <a:cs typeface="Calibri"/>
            </a:endParaRPr>
          </a:p>
          <a:p>
            <a:pPr lvl="1" marL="201930" indent="-18923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faulty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tracked.</a:t>
            </a:r>
            <a:endParaRPr sz="1650">
              <a:latin typeface="Calibri"/>
              <a:cs typeface="Calibri"/>
            </a:endParaRPr>
          </a:p>
          <a:p>
            <a:pPr lvl="1" marL="201295" marR="6985" indent="-189230">
              <a:lnSpc>
                <a:spcPts val="1780"/>
              </a:lnSpc>
              <a:spcBef>
                <a:spcPts val="8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 spc="-10">
                <a:latin typeface="Calibri"/>
                <a:cs typeface="Calibri"/>
              </a:rPr>
              <a:t>Further,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when new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applications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emerge,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older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applications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become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obsolete.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case,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 spc="-10">
                <a:latin typeface="Calibri"/>
                <a:cs typeface="Calibri"/>
              </a:rPr>
              <a:t>obsolete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might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removed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repository.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3387090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REUSE</a:t>
            </a:r>
            <a:r>
              <a:rPr dirty="0" spc="-75"/>
              <a:t> </a:t>
            </a:r>
            <a:r>
              <a:rPr dirty="0" spc="-10"/>
              <a:t>APPROACH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275" rIns="0" bIns="0" rtlCol="0" vert="horz">
            <a:spAutoFit/>
          </a:bodyPr>
          <a:lstStyle/>
          <a:p>
            <a:pPr marL="201930" marR="6350" indent="-189230">
              <a:lnSpc>
                <a:spcPts val="1789"/>
              </a:lnSpc>
              <a:spcBef>
                <a:spcPts val="32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A</a:t>
            </a:r>
            <a:r>
              <a:rPr dirty="0" spc="-25"/>
              <a:t> </a:t>
            </a:r>
            <a:r>
              <a:rPr dirty="0"/>
              <a:t>promising</a:t>
            </a:r>
            <a:r>
              <a:rPr dirty="0" spc="-10"/>
              <a:t> </a:t>
            </a:r>
            <a:r>
              <a:rPr dirty="0"/>
              <a:t>approach</a:t>
            </a:r>
            <a:r>
              <a:rPr dirty="0" spc="-20"/>
              <a:t> </a:t>
            </a:r>
            <a:r>
              <a:rPr dirty="0"/>
              <a:t>that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being</a:t>
            </a:r>
            <a:r>
              <a:rPr dirty="0" spc="-25"/>
              <a:t> </a:t>
            </a:r>
            <a:r>
              <a:rPr dirty="0"/>
              <a:t>adopted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10"/>
              <a:t> </a:t>
            </a:r>
            <a:r>
              <a:rPr dirty="0"/>
              <a:t>many</a:t>
            </a:r>
            <a:r>
              <a:rPr dirty="0" spc="-60"/>
              <a:t> </a:t>
            </a:r>
            <a:r>
              <a:rPr dirty="0" spc="-10"/>
              <a:t>organizations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introduce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building</a:t>
            </a:r>
            <a:r>
              <a:rPr dirty="0" spc="-30"/>
              <a:t> </a:t>
            </a:r>
            <a:r>
              <a:rPr dirty="0" spc="-10"/>
              <a:t>block </a:t>
            </a:r>
            <a:r>
              <a:rPr dirty="0"/>
              <a:t>approach</a:t>
            </a:r>
            <a:r>
              <a:rPr dirty="0" spc="-60"/>
              <a:t> </a:t>
            </a:r>
            <a:r>
              <a:rPr dirty="0"/>
              <a:t>into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/>
              <a:t>software</a:t>
            </a:r>
            <a:r>
              <a:rPr dirty="0" spc="-50"/>
              <a:t> </a:t>
            </a:r>
            <a:r>
              <a:rPr dirty="0" spc="-10"/>
              <a:t>development</a:t>
            </a:r>
            <a:r>
              <a:rPr dirty="0" spc="-45"/>
              <a:t> </a:t>
            </a:r>
            <a:r>
              <a:rPr dirty="0" spc="-10"/>
              <a:t>process.</a:t>
            </a:r>
          </a:p>
          <a:p>
            <a:pPr marL="201930" marR="6985" indent="-189230">
              <a:lnSpc>
                <a:spcPts val="1780"/>
              </a:lnSpc>
              <a:spcBef>
                <a:spcPts val="82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For</a:t>
            </a:r>
            <a:r>
              <a:rPr dirty="0" spc="325"/>
              <a:t> </a:t>
            </a:r>
            <a:r>
              <a:rPr dirty="0"/>
              <a:t>this,</a:t>
            </a:r>
            <a:r>
              <a:rPr dirty="0" spc="325"/>
              <a:t> </a:t>
            </a:r>
            <a:r>
              <a:rPr dirty="0"/>
              <a:t>the</a:t>
            </a:r>
            <a:r>
              <a:rPr dirty="0" spc="325"/>
              <a:t> </a:t>
            </a:r>
            <a:r>
              <a:rPr dirty="0"/>
              <a:t>reusable</a:t>
            </a:r>
            <a:r>
              <a:rPr dirty="0" spc="325"/>
              <a:t> </a:t>
            </a:r>
            <a:r>
              <a:rPr dirty="0"/>
              <a:t>components</a:t>
            </a:r>
            <a:r>
              <a:rPr dirty="0" spc="320"/>
              <a:t> </a:t>
            </a:r>
            <a:r>
              <a:rPr dirty="0"/>
              <a:t>need</a:t>
            </a:r>
            <a:r>
              <a:rPr dirty="0" spc="315"/>
              <a:t> </a:t>
            </a:r>
            <a:r>
              <a:rPr dirty="0"/>
              <a:t>to</a:t>
            </a:r>
            <a:r>
              <a:rPr dirty="0" spc="315"/>
              <a:t> </a:t>
            </a:r>
            <a:r>
              <a:rPr dirty="0"/>
              <a:t>be</a:t>
            </a:r>
            <a:r>
              <a:rPr dirty="0" spc="325"/>
              <a:t> </a:t>
            </a:r>
            <a:r>
              <a:rPr dirty="0"/>
              <a:t>identified</a:t>
            </a:r>
            <a:r>
              <a:rPr dirty="0" spc="330"/>
              <a:t> </a:t>
            </a:r>
            <a:r>
              <a:rPr dirty="0"/>
              <a:t>after</a:t>
            </a:r>
            <a:r>
              <a:rPr dirty="0" spc="325"/>
              <a:t> </a:t>
            </a:r>
            <a:r>
              <a:rPr dirty="0"/>
              <a:t>every</a:t>
            </a:r>
            <a:r>
              <a:rPr dirty="0" spc="300"/>
              <a:t> </a:t>
            </a:r>
            <a:r>
              <a:rPr dirty="0"/>
              <a:t>development</a:t>
            </a:r>
            <a:r>
              <a:rPr dirty="0" spc="315"/>
              <a:t> </a:t>
            </a:r>
            <a:r>
              <a:rPr dirty="0"/>
              <a:t>project</a:t>
            </a:r>
            <a:r>
              <a:rPr dirty="0" spc="330"/>
              <a:t> </a:t>
            </a:r>
            <a:r>
              <a:rPr dirty="0" spc="-25"/>
              <a:t>is </a:t>
            </a:r>
            <a:r>
              <a:rPr dirty="0" spc="-10"/>
              <a:t>completed.</a:t>
            </a:r>
          </a:p>
          <a:p>
            <a:pPr marL="201930" marR="5715" indent="-189230">
              <a:lnSpc>
                <a:spcPts val="1780"/>
              </a:lnSpc>
              <a:spcBef>
                <a:spcPts val="83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The</a:t>
            </a:r>
            <a:r>
              <a:rPr dirty="0" spc="40"/>
              <a:t> </a:t>
            </a:r>
            <a:r>
              <a:rPr dirty="0"/>
              <a:t>reusability</a:t>
            </a:r>
            <a:r>
              <a:rPr dirty="0" spc="30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the</a:t>
            </a:r>
            <a:r>
              <a:rPr dirty="0" spc="40"/>
              <a:t> </a:t>
            </a:r>
            <a:r>
              <a:rPr dirty="0"/>
              <a:t>identified</a:t>
            </a:r>
            <a:r>
              <a:rPr dirty="0" spc="45"/>
              <a:t> </a:t>
            </a:r>
            <a:r>
              <a:rPr dirty="0"/>
              <a:t>components</a:t>
            </a:r>
            <a:r>
              <a:rPr dirty="0" spc="40"/>
              <a:t> </a:t>
            </a:r>
            <a:r>
              <a:rPr dirty="0"/>
              <a:t>has</a:t>
            </a:r>
            <a:r>
              <a:rPr dirty="0" spc="3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40"/>
              <a:t> </a:t>
            </a:r>
            <a:r>
              <a:rPr dirty="0"/>
              <a:t>enhanced</a:t>
            </a:r>
            <a:r>
              <a:rPr dirty="0" spc="50"/>
              <a:t> </a:t>
            </a:r>
            <a:r>
              <a:rPr dirty="0"/>
              <a:t>and</a:t>
            </a:r>
            <a:r>
              <a:rPr dirty="0" spc="45"/>
              <a:t> </a:t>
            </a:r>
            <a:r>
              <a:rPr dirty="0"/>
              <a:t>these</a:t>
            </a:r>
            <a:r>
              <a:rPr dirty="0" spc="40"/>
              <a:t> </a:t>
            </a:r>
            <a:r>
              <a:rPr dirty="0"/>
              <a:t>have</a:t>
            </a:r>
            <a:r>
              <a:rPr dirty="0" spc="40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30"/>
              <a:t> </a:t>
            </a:r>
            <a:r>
              <a:rPr dirty="0" spc="-10"/>
              <a:t>cataloged </a:t>
            </a:r>
            <a:r>
              <a:rPr dirty="0"/>
              <a:t>into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10"/>
              <a:t> component</a:t>
            </a:r>
            <a:r>
              <a:rPr dirty="0" spc="-40"/>
              <a:t> </a:t>
            </a:r>
            <a:r>
              <a:rPr dirty="0" spc="-10"/>
              <a:t>library.</a:t>
            </a:r>
          </a:p>
          <a:p>
            <a:pPr marL="201930" marR="5715" indent="-189230">
              <a:lnSpc>
                <a:spcPts val="1789"/>
              </a:lnSpc>
              <a:spcBef>
                <a:spcPts val="81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It</a:t>
            </a:r>
            <a:r>
              <a:rPr dirty="0" spc="160"/>
              <a:t> </a:t>
            </a:r>
            <a:r>
              <a:rPr dirty="0"/>
              <a:t>must</a:t>
            </a:r>
            <a:r>
              <a:rPr dirty="0" spc="165"/>
              <a:t> </a:t>
            </a:r>
            <a:r>
              <a:rPr dirty="0"/>
              <a:t>be</a:t>
            </a:r>
            <a:r>
              <a:rPr dirty="0" spc="155"/>
              <a:t> </a:t>
            </a:r>
            <a:r>
              <a:rPr dirty="0"/>
              <a:t>clearly</a:t>
            </a:r>
            <a:r>
              <a:rPr dirty="0" spc="150"/>
              <a:t> </a:t>
            </a:r>
            <a:r>
              <a:rPr dirty="0"/>
              <a:t>understood</a:t>
            </a:r>
            <a:r>
              <a:rPr dirty="0" spc="160"/>
              <a:t> </a:t>
            </a:r>
            <a:r>
              <a:rPr dirty="0"/>
              <a:t>that</a:t>
            </a:r>
            <a:r>
              <a:rPr dirty="0" spc="145"/>
              <a:t> </a:t>
            </a:r>
            <a:r>
              <a:rPr dirty="0"/>
              <a:t>an</a:t>
            </a:r>
            <a:r>
              <a:rPr dirty="0" spc="175"/>
              <a:t> </a:t>
            </a:r>
            <a:r>
              <a:rPr dirty="0"/>
              <a:t>issue</a:t>
            </a:r>
            <a:r>
              <a:rPr dirty="0" spc="160"/>
              <a:t> </a:t>
            </a:r>
            <a:r>
              <a:rPr dirty="0"/>
              <a:t>crucial</a:t>
            </a:r>
            <a:r>
              <a:rPr dirty="0" spc="165"/>
              <a:t> </a:t>
            </a:r>
            <a:r>
              <a:rPr dirty="0"/>
              <a:t>to</a:t>
            </a:r>
            <a:r>
              <a:rPr dirty="0" spc="175"/>
              <a:t> </a:t>
            </a:r>
            <a:r>
              <a:rPr dirty="0"/>
              <a:t>every</a:t>
            </a:r>
            <a:r>
              <a:rPr dirty="0" spc="150"/>
              <a:t> </a:t>
            </a:r>
            <a:r>
              <a:rPr dirty="0"/>
              <a:t>reuse</a:t>
            </a:r>
            <a:r>
              <a:rPr dirty="0" spc="155"/>
              <a:t> </a:t>
            </a:r>
            <a:r>
              <a:rPr dirty="0"/>
              <a:t>effort</a:t>
            </a:r>
            <a:r>
              <a:rPr dirty="0" spc="165"/>
              <a:t> </a:t>
            </a:r>
            <a:r>
              <a:rPr dirty="0"/>
              <a:t>is</a:t>
            </a:r>
            <a:r>
              <a:rPr dirty="0" spc="165"/>
              <a:t> </a:t>
            </a:r>
            <a:r>
              <a:rPr dirty="0"/>
              <a:t>the</a:t>
            </a:r>
            <a:r>
              <a:rPr dirty="0" spc="160"/>
              <a:t> </a:t>
            </a:r>
            <a:r>
              <a:rPr dirty="0"/>
              <a:t>identification</a:t>
            </a:r>
            <a:r>
              <a:rPr dirty="0" spc="160"/>
              <a:t> </a:t>
            </a:r>
            <a:r>
              <a:rPr dirty="0" spc="-25"/>
              <a:t>of </a:t>
            </a:r>
            <a:r>
              <a:rPr dirty="0"/>
              <a:t>reusable</a:t>
            </a:r>
            <a:r>
              <a:rPr dirty="0" spc="-75"/>
              <a:t> </a:t>
            </a:r>
            <a:r>
              <a:rPr dirty="0" spc="-10"/>
              <a:t>components.</a:t>
            </a:r>
          </a:p>
          <a:p>
            <a:pPr marL="201930" marR="5080" indent="-189230">
              <a:lnSpc>
                <a:spcPts val="1789"/>
              </a:lnSpc>
              <a:spcBef>
                <a:spcPts val="81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/>
              <a:t>Domain</a:t>
            </a:r>
            <a:r>
              <a:rPr dirty="0" spc="370"/>
              <a:t> </a:t>
            </a:r>
            <a:r>
              <a:rPr dirty="0"/>
              <a:t>analysis</a:t>
            </a:r>
            <a:r>
              <a:rPr dirty="0" spc="385"/>
              <a:t> </a:t>
            </a:r>
            <a:r>
              <a:rPr dirty="0"/>
              <a:t>is</a:t>
            </a:r>
            <a:r>
              <a:rPr dirty="0" spc="400"/>
              <a:t> </a:t>
            </a:r>
            <a:r>
              <a:rPr dirty="0"/>
              <a:t>a</a:t>
            </a:r>
            <a:r>
              <a:rPr dirty="0" spc="390"/>
              <a:t> </a:t>
            </a:r>
            <a:r>
              <a:rPr dirty="0"/>
              <a:t>promising</a:t>
            </a:r>
            <a:r>
              <a:rPr dirty="0" spc="395"/>
              <a:t> </a:t>
            </a:r>
            <a:r>
              <a:rPr dirty="0"/>
              <a:t>approach</a:t>
            </a:r>
            <a:r>
              <a:rPr dirty="0" spc="409"/>
              <a:t> </a:t>
            </a:r>
            <a:r>
              <a:rPr dirty="0"/>
              <a:t>to</a:t>
            </a:r>
            <a:r>
              <a:rPr dirty="0" spc="385"/>
              <a:t> </a:t>
            </a:r>
            <a:r>
              <a:rPr dirty="0"/>
              <a:t>identify</a:t>
            </a:r>
            <a:r>
              <a:rPr dirty="0" spc="380"/>
              <a:t> </a:t>
            </a:r>
            <a:r>
              <a:rPr dirty="0"/>
              <a:t>reusable</a:t>
            </a:r>
            <a:r>
              <a:rPr dirty="0" spc="390"/>
              <a:t> </a:t>
            </a:r>
            <a:r>
              <a:rPr dirty="0"/>
              <a:t>components.</a:t>
            </a:r>
            <a:r>
              <a:rPr dirty="0" spc="380"/>
              <a:t> </a:t>
            </a:r>
            <a:r>
              <a:rPr dirty="0"/>
              <a:t>In</a:t>
            </a:r>
            <a:r>
              <a:rPr dirty="0" spc="375"/>
              <a:t> </a:t>
            </a:r>
            <a:r>
              <a:rPr dirty="0"/>
              <a:t>the</a:t>
            </a:r>
            <a:r>
              <a:rPr dirty="0" spc="385"/>
              <a:t> </a:t>
            </a:r>
            <a:r>
              <a:rPr dirty="0" spc="-10"/>
              <a:t>following </a:t>
            </a:r>
            <a:r>
              <a:rPr dirty="0"/>
              <a:t>subsections,</a:t>
            </a:r>
            <a:r>
              <a:rPr dirty="0" spc="-75"/>
              <a:t> </a:t>
            </a:r>
            <a:r>
              <a:rPr dirty="0"/>
              <a:t>we</a:t>
            </a:r>
            <a:r>
              <a:rPr dirty="0" spc="-40"/>
              <a:t> </a:t>
            </a:r>
            <a:r>
              <a:rPr dirty="0"/>
              <a:t>discuss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domain</a:t>
            </a:r>
            <a:r>
              <a:rPr dirty="0" spc="-65"/>
              <a:t> </a:t>
            </a:r>
            <a:r>
              <a:rPr dirty="0"/>
              <a:t>analysis</a:t>
            </a:r>
            <a:r>
              <a:rPr dirty="0" spc="-45"/>
              <a:t> </a:t>
            </a:r>
            <a:r>
              <a:rPr dirty="0"/>
              <a:t>approach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create</a:t>
            </a:r>
            <a:r>
              <a:rPr dirty="0" spc="-25"/>
              <a:t> </a:t>
            </a:r>
            <a:r>
              <a:rPr dirty="0"/>
              <a:t>reusable</a:t>
            </a:r>
            <a:r>
              <a:rPr dirty="0" spc="-55"/>
              <a:t> </a:t>
            </a:r>
            <a:r>
              <a:rPr dirty="0" spc="-10"/>
              <a:t>components.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912" y="1558630"/>
            <a:ext cx="3053715" cy="5797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Domain</a:t>
            </a:r>
            <a:r>
              <a:rPr dirty="0" spc="-8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97263" y="2027951"/>
            <a:ext cx="6663055" cy="370967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algn="just" marL="200025" marR="5080" indent="-187960">
              <a:lnSpc>
                <a:spcPts val="1970"/>
              </a:lnSpc>
              <a:spcBef>
                <a:spcPts val="33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aim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domain</a:t>
            </a:r>
            <a:r>
              <a:rPr dirty="0" sz="1800" spc="1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analysis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identify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reusable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components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problem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domain.</a:t>
            </a:r>
            <a:endParaRPr sz="1800">
              <a:latin typeface="Calibri"/>
              <a:cs typeface="Calibri"/>
            </a:endParaRPr>
          </a:p>
          <a:p>
            <a:pPr algn="just" marL="200025" marR="5715" indent="-187960">
              <a:lnSpc>
                <a:spcPts val="1960"/>
              </a:lnSpc>
              <a:spcBef>
                <a:spcPts val="819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 b="1">
                <a:latin typeface="Calibri"/>
                <a:cs typeface="Calibri"/>
              </a:rPr>
              <a:t>Reuse</a:t>
            </a:r>
            <a:r>
              <a:rPr dirty="0" sz="1800" spc="11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domain:</a:t>
            </a:r>
            <a:r>
              <a:rPr dirty="0" sz="1800" spc="114" b="1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14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reuse</a:t>
            </a:r>
            <a:r>
              <a:rPr dirty="0" sz="1800" spc="12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domain</a:t>
            </a:r>
            <a:r>
              <a:rPr dirty="0" sz="1800" spc="11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14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2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technically</a:t>
            </a:r>
            <a:r>
              <a:rPr dirty="0" sz="1800" spc="114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related</a:t>
            </a:r>
            <a:r>
              <a:rPr dirty="0" sz="1800" spc="11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120">
                <a:latin typeface="Calibri"/>
                <a:cs typeface="Calibri"/>
              </a:rPr>
              <a:t> 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25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application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areas.</a:t>
            </a:r>
            <a:endParaRPr sz="1800">
              <a:latin typeface="Calibri"/>
              <a:cs typeface="Calibri"/>
            </a:endParaRPr>
          </a:p>
          <a:p>
            <a:pPr algn="just" marL="200025" marR="5080" indent="-187960">
              <a:lnSpc>
                <a:spcPct val="90700"/>
              </a:lnSpc>
              <a:spcBef>
                <a:spcPts val="79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3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body</a:t>
            </a:r>
            <a:r>
              <a:rPr dirty="0" sz="1800" spc="3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3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information</a:t>
            </a:r>
            <a:r>
              <a:rPr dirty="0" sz="1800" spc="3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3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considered</a:t>
            </a:r>
            <a:r>
              <a:rPr dirty="0" sz="1800" spc="3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3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3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3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problem</a:t>
            </a:r>
            <a:r>
              <a:rPr dirty="0" sz="1800" spc="3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domain</a:t>
            </a:r>
            <a:r>
              <a:rPr dirty="0" sz="1800" spc="3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for </a:t>
            </a:r>
            <a:r>
              <a:rPr dirty="0" sz="1800" spc="-25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reuse,</a:t>
            </a:r>
            <a:r>
              <a:rPr dirty="0" sz="1800" spc="2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2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deep</a:t>
            </a:r>
            <a:r>
              <a:rPr dirty="0" sz="1800" spc="2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2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comprehensive</a:t>
            </a:r>
            <a:r>
              <a:rPr dirty="0" sz="1800" spc="2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relationship</a:t>
            </a:r>
            <a:r>
              <a:rPr dirty="0" sz="1800" spc="2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exists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among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25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information</a:t>
            </a:r>
            <a:r>
              <a:rPr dirty="0" sz="1800" spc="2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items</a:t>
            </a:r>
            <a:r>
              <a:rPr dirty="0" sz="1800" spc="229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characterized</a:t>
            </a:r>
            <a:r>
              <a:rPr dirty="0" sz="1800" spc="2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20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patterns</a:t>
            </a:r>
            <a:r>
              <a:rPr dirty="0" sz="1800" spc="229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similarity</a:t>
            </a:r>
            <a:r>
              <a:rPr dirty="0" sz="1800" spc="229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among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development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components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product.</a:t>
            </a:r>
            <a:endParaRPr sz="1800">
              <a:latin typeface="Calibri"/>
              <a:cs typeface="Calibri"/>
            </a:endParaRPr>
          </a:p>
          <a:p>
            <a:pPr algn="just" marL="200025" marR="5080" indent="-187960">
              <a:lnSpc>
                <a:spcPct val="90900"/>
              </a:lnSpc>
              <a:spcBef>
                <a:spcPts val="82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48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reuse</a:t>
            </a:r>
            <a:r>
              <a:rPr dirty="0" sz="1800" spc="4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domain</a:t>
            </a:r>
            <a:r>
              <a:rPr dirty="0" sz="1800" spc="4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4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4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shared</a:t>
            </a:r>
            <a:r>
              <a:rPr dirty="0" sz="1800" spc="5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understanding</a:t>
            </a:r>
            <a:r>
              <a:rPr dirty="0" sz="1800" spc="4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4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some</a:t>
            </a:r>
            <a:r>
              <a:rPr dirty="0" sz="1800" spc="49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community,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characterized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concepts,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techniques,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terminologies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show </a:t>
            </a:r>
            <a:r>
              <a:rPr dirty="0" sz="1800" spc="-2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some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coherence.</a:t>
            </a:r>
            <a:endParaRPr sz="1800">
              <a:latin typeface="Calibri"/>
              <a:cs typeface="Calibri"/>
            </a:endParaRPr>
          </a:p>
          <a:p>
            <a:pPr algn="just" marL="200025" marR="5080" indent="-187960">
              <a:lnSpc>
                <a:spcPts val="1970"/>
              </a:lnSpc>
              <a:spcBef>
                <a:spcPts val="844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800">
                <a:latin typeface="Calibri"/>
                <a:cs typeface="Calibri"/>
              </a:rPr>
              <a:t>Just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become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familiar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vocabulary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3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domain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requires </a:t>
            </a:r>
            <a:r>
              <a:rPr dirty="0" sz="1800" spc="-1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months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interaction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experts.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831" y="2543019"/>
            <a:ext cx="85502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00660" algn="l"/>
                <a:tab pos="1005840" algn="l"/>
                <a:tab pos="1556385" algn="l"/>
                <a:tab pos="2331085" algn="l"/>
                <a:tab pos="2703195" algn="l"/>
                <a:tab pos="3121025" algn="l"/>
                <a:tab pos="4056379" algn="l"/>
                <a:tab pos="4667250" algn="l"/>
                <a:tab pos="4946015" algn="l"/>
                <a:tab pos="5959475" algn="l"/>
                <a:tab pos="6327140" algn="l"/>
                <a:tab pos="7211695" algn="l"/>
                <a:tab pos="8245475" algn="l"/>
              </a:tabLst>
            </a:pPr>
            <a:r>
              <a:rPr dirty="0" sz="1950" spc="-10">
                <a:latin typeface="Calibri"/>
                <a:cs typeface="Calibri"/>
              </a:rPr>
              <a:t>Often,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one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0">
                <a:latin typeface="Calibri"/>
                <a:cs typeface="Calibri"/>
              </a:rPr>
              <a:t>needs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to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be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familiar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0">
                <a:latin typeface="Calibri"/>
                <a:cs typeface="Calibri"/>
              </a:rPr>
              <a:t>with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50">
                <a:latin typeface="Calibri"/>
                <a:cs typeface="Calibri"/>
              </a:rPr>
              <a:t>a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network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of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related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domains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for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3831" y="2739545"/>
            <a:ext cx="8550910" cy="104965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715"/>
              </a:spcBef>
            </a:pPr>
            <a:r>
              <a:rPr dirty="0" sz="1950">
                <a:latin typeface="Calibri"/>
                <a:cs typeface="Calibri"/>
              </a:rPr>
              <a:t>successfully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carrying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out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domain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analysis.</a:t>
            </a:r>
            <a:endParaRPr sz="1950">
              <a:latin typeface="Calibri"/>
              <a:cs typeface="Calibri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950">
                <a:latin typeface="Calibri"/>
                <a:cs typeface="Calibri"/>
              </a:rPr>
              <a:t>Domain</a:t>
            </a:r>
            <a:r>
              <a:rPr dirty="0" sz="1950" spc="2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analysis</a:t>
            </a:r>
            <a:r>
              <a:rPr dirty="0" sz="1950" spc="2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identifies</a:t>
            </a:r>
            <a:r>
              <a:rPr dirty="0" sz="1950" spc="2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objects,</a:t>
            </a:r>
            <a:r>
              <a:rPr dirty="0" sz="1950" spc="254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operations,</a:t>
            </a:r>
            <a:r>
              <a:rPr dirty="0" sz="1950" spc="2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2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relationships</a:t>
            </a:r>
            <a:r>
              <a:rPr dirty="0" sz="1950" spc="24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among 	them.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3831" y="3838375"/>
            <a:ext cx="8549005" cy="59880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200025" marR="5080" indent="-187960">
              <a:lnSpc>
                <a:spcPts val="2140"/>
              </a:lnSpc>
              <a:spcBef>
                <a:spcPts val="365"/>
              </a:spcBef>
              <a:buFont typeface="Arial MT"/>
              <a:buChar char="•"/>
              <a:tabLst>
                <a:tab pos="201295" algn="l"/>
                <a:tab pos="1043940" algn="l"/>
                <a:tab pos="1974214" algn="l"/>
                <a:tab pos="2992755" algn="l"/>
                <a:tab pos="3271520" algn="l"/>
                <a:tab pos="4189729" algn="l"/>
                <a:tab pos="5504815" algn="l"/>
                <a:tab pos="5871845" algn="l"/>
                <a:tab pos="6930390" algn="l"/>
                <a:tab pos="8210550" algn="l"/>
              </a:tabLst>
            </a:pPr>
            <a:r>
              <a:rPr dirty="0" sz="1950" spc="-10">
                <a:latin typeface="Calibri"/>
                <a:cs typeface="Calibri"/>
              </a:rPr>
              <a:t>During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domain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analysis,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50">
                <a:latin typeface="Calibri"/>
                <a:cs typeface="Calibri"/>
              </a:rPr>
              <a:t>a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specific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community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of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software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developers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get </a:t>
            </a:r>
            <a:r>
              <a:rPr dirty="0" sz="1950" spc="-25">
                <a:latin typeface="Calibri"/>
                <a:cs typeface="Calibri"/>
              </a:rPr>
              <a:t>	</a:t>
            </a:r>
            <a:r>
              <a:rPr dirty="0" sz="1950">
                <a:latin typeface="Calibri"/>
                <a:cs typeface="Calibri"/>
              </a:rPr>
              <a:t>together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to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discuss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community-wide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solutions.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3831" y="4486176"/>
            <a:ext cx="854964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00660" algn="l"/>
                <a:tab pos="1204595" algn="l"/>
                <a:tab pos="1597025" algn="l"/>
                <a:tab pos="2117090" algn="l"/>
                <a:tab pos="3430270" algn="l"/>
                <a:tab pos="4387850" algn="l"/>
                <a:tab pos="4722495" algn="l"/>
                <a:tab pos="5781040" algn="l"/>
                <a:tab pos="6176010" algn="l"/>
                <a:tab pos="7136765" algn="l"/>
                <a:tab pos="7659370" algn="l"/>
              </a:tabLst>
            </a:pPr>
            <a:r>
              <a:rPr dirty="0" sz="1950" spc="-10">
                <a:latin typeface="Calibri"/>
                <a:cs typeface="Calibri"/>
              </a:rPr>
              <a:t>Analysis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of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the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application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domain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is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required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to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identify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the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reusable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3831" y="4682702"/>
            <a:ext cx="8549640" cy="104965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715"/>
              </a:spcBef>
            </a:pPr>
            <a:r>
              <a:rPr dirty="0" sz="1950" spc="-10">
                <a:latin typeface="Calibri"/>
                <a:cs typeface="Calibri"/>
              </a:rPr>
              <a:t>components.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ts val="224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  <a:tab pos="709295" algn="l"/>
                <a:tab pos="1458595" algn="l"/>
                <a:tab pos="3676650" algn="l"/>
                <a:tab pos="4682490" algn="l"/>
                <a:tab pos="6082665" algn="l"/>
                <a:tab pos="6503034" algn="l"/>
                <a:tab pos="6751955" algn="l"/>
                <a:tab pos="7656830" algn="l"/>
                <a:tab pos="7941309" algn="l"/>
              </a:tabLst>
            </a:pPr>
            <a:r>
              <a:rPr dirty="0" sz="1950" spc="-25">
                <a:latin typeface="Calibri"/>
                <a:cs typeface="Calibri"/>
              </a:rPr>
              <a:t>The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actual</a:t>
            </a:r>
            <a:r>
              <a:rPr dirty="0" sz="1950">
                <a:latin typeface="Calibri"/>
                <a:cs typeface="Calibri"/>
              </a:rPr>
              <a:t>	construction</a:t>
            </a:r>
            <a:r>
              <a:rPr dirty="0" sz="1950" spc="75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80">
                <a:latin typeface="Calibri"/>
                <a:cs typeface="Calibri"/>
              </a:rPr>
              <a:t>  </a:t>
            </a:r>
            <a:r>
              <a:rPr dirty="0" sz="1950" spc="-25">
                <a:latin typeface="Calibri"/>
                <a:cs typeface="Calibri"/>
              </a:rPr>
              <a:t>the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reusable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components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for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50">
                <a:latin typeface="Calibri"/>
                <a:cs typeface="Calibri"/>
              </a:rPr>
              <a:t>a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domain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is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called</a:t>
            </a:r>
            <a:endParaRPr sz="1950">
              <a:latin typeface="Calibri"/>
              <a:cs typeface="Calibri"/>
            </a:endParaRPr>
          </a:p>
          <a:p>
            <a:pPr marL="201295">
              <a:lnSpc>
                <a:spcPts val="2240"/>
              </a:lnSpc>
            </a:pPr>
            <a:r>
              <a:rPr dirty="0" sz="1950" i="1">
                <a:latin typeface="Calibri"/>
                <a:cs typeface="Calibri"/>
              </a:rPr>
              <a:t>domain</a:t>
            </a:r>
            <a:r>
              <a:rPr dirty="0" sz="1950" spc="65" i="1">
                <a:latin typeface="Calibri"/>
                <a:cs typeface="Calibri"/>
              </a:rPr>
              <a:t> </a:t>
            </a:r>
            <a:r>
              <a:rPr dirty="0" sz="1950" spc="-10" i="1">
                <a:latin typeface="Calibri"/>
                <a:cs typeface="Calibri"/>
              </a:rPr>
              <a:t>engineering</a:t>
            </a:r>
            <a:r>
              <a:rPr dirty="0" sz="1950" spc="-10"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831" y="2543019"/>
            <a:ext cx="854837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00660" algn="l"/>
                <a:tab pos="1340485" algn="l"/>
                <a:tab pos="1712595" algn="l"/>
                <a:tab pos="1991360" algn="l"/>
                <a:tab pos="2720975" algn="l"/>
                <a:tab pos="3744595" algn="l"/>
                <a:tab pos="4280535" algn="l"/>
                <a:tab pos="5291455" algn="l"/>
                <a:tab pos="6128385" algn="l"/>
                <a:tab pos="6492875" algn="l"/>
                <a:tab pos="7426325" algn="l"/>
                <a:tab pos="8381365" algn="l"/>
              </a:tabLst>
            </a:pPr>
            <a:r>
              <a:rPr dirty="0" sz="1950" spc="-10" b="1">
                <a:latin typeface="Calibri"/>
                <a:cs typeface="Calibri"/>
              </a:rPr>
              <a:t>Evolution</a:t>
            </a:r>
            <a:r>
              <a:rPr dirty="0" sz="1950" b="1">
                <a:latin typeface="Calibri"/>
                <a:cs typeface="Calibri"/>
              </a:rPr>
              <a:t>	</a:t>
            </a:r>
            <a:r>
              <a:rPr dirty="0" sz="1950" spc="-25" b="1">
                <a:latin typeface="Calibri"/>
                <a:cs typeface="Calibri"/>
              </a:rPr>
              <a:t>of</a:t>
            </a:r>
            <a:r>
              <a:rPr dirty="0" sz="1950" b="1">
                <a:latin typeface="Calibri"/>
                <a:cs typeface="Calibri"/>
              </a:rPr>
              <a:t>	</a:t>
            </a:r>
            <a:r>
              <a:rPr dirty="0" sz="1950" spc="-50" b="1">
                <a:latin typeface="Calibri"/>
                <a:cs typeface="Calibri"/>
              </a:rPr>
              <a:t>a</a:t>
            </a:r>
            <a:r>
              <a:rPr dirty="0" sz="1950" b="1">
                <a:latin typeface="Calibri"/>
                <a:cs typeface="Calibri"/>
              </a:rPr>
              <a:t>	</a:t>
            </a:r>
            <a:r>
              <a:rPr dirty="0" sz="1950" spc="-20" b="1">
                <a:latin typeface="Calibri"/>
                <a:cs typeface="Calibri"/>
              </a:rPr>
              <a:t>reuse</a:t>
            </a:r>
            <a:r>
              <a:rPr dirty="0" sz="1950" b="1">
                <a:latin typeface="Calibri"/>
                <a:cs typeface="Calibri"/>
              </a:rPr>
              <a:t>	</a:t>
            </a:r>
            <a:r>
              <a:rPr dirty="0" sz="1950" spc="-10" b="1">
                <a:latin typeface="Calibri"/>
                <a:cs typeface="Calibri"/>
              </a:rPr>
              <a:t>domain:</a:t>
            </a:r>
            <a:r>
              <a:rPr dirty="0" sz="1950" b="1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The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ultimate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results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of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domain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analysis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5">
                <a:latin typeface="Calibri"/>
                <a:cs typeface="Calibri"/>
              </a:rPr>
              <a:t>is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53831" y="2739545"/>
            <a:ext cx="8549005" cy="217932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715"/>
              </a:spcBef>
            </a:pPr>
            <a:r>
              <a:rPr dirty="0" sz="1950">
                <a:latin typeface="Calibri"/>
                <a:cs typeface="Calibri"/>
              </a:rPr>
              <a:t>development</a:t>
            </a:r>
            <a:r>
              <a:rPr dirty="0" sz="1950" spc="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of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problem</a:t>
            </a:r>
            <a:r>
              <a:rPr dirty="0" sz="1950" spc="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oriented</a:t>
            </a:r>
            <a:r>
              <a:rPr dirty="0" sz="1950" spc="5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languages.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problem-oriented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languages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are</a:t>
            </a:r>
            <a:r>
              <a:rPr dirty="0" sz="1950" spc="3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also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known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 i="1">
                <a:latin typeface="Calibri"/>
                <a:cs typeface="Calibri"/>
              </a:rPr>
              <a:t>application</a:t>
            </a:r>
            <a:r>
              <a:rPr dirty="0" sz="1950" spc="45" i="1">
                <a:latin typeface="Calibri"/>
                <a:cs typeface="Calibri"/>
              </a:rPr>
              <a:t> </a:t>
            </a:r>
            <a:r>
              <a:rPr dirty="0" sz="1950" spc="-10" i="1">
                <a:latin typeface="Calibri"/>
                <a:cs typeface="Calibri"/>
              </a:rPr>
              <a:t>generators</a:t>
            </a:r>
            <a:r>
              <a:rPr dirty="0" sz="1950" spc="-10">
                <a:latin typeface="Calibri"/>
                <a:cs typeface="Calibri"/>
              </a:rPr>
              <a:t>.</a:t>
            </a:r>
            <a:endParaRPr sz="1950">
              <a:latin typeface="Calibri"/>
              <a:cs typeface="Calibri"/>
            </a:endParaRPr>
          </a:p>
          <a:p>
            <a:pPr marL="200025" marR="5080" indent="-187960">
              <a:lnSpc>
                <a:spcPts val="2140"/>
              </a:lnSpc>
              <a:spcBef>
                <a:spcPts val="865"/>
              </a:spcBef>
              <a:buFont typeface="Arial MT"/>
              <a:buChar char="•"/>
              <a:tabLst>
                <a:tab pos="201295" algn="l"/>
                <a:tab pos="932815" algn="l"/>
                <a:tab pos="4101465" algn="l"/>
                <a:tab pos="5303520" algn="l"/>
                <a:tab pos="5924550" algn="l"/>
              </a:tabLst>
            </a:pPr>
            <a:r>
              <a:rPr dirty="0" sz="1950" spc="-10">
                <a:latin typeface="Calibri"/>
                <a:cs typeface="Calibri"/>
              </a:rPr>
              <a:t>These</a:t>
            </a:r>
            <a:r>
              <a:rPr dirty="0" sz="1950">
                <a:latin typeface="Calibri"/>
                <a:cs typeface="Calibri"/>
              </a:rPr>
              <a:t>	application</a:t>
            </a:r>
            <a:r>
              <a:rPr dirty="0" sz="1950" spc="55">
                <a:latin typeface="Calibri"/>
                <a:cs typeface="Calibri"/>
              </a:rPr>
              <a:t>  </a:t>
            </a:r>
            <a:r>
              <a:rPr dirty="0" sz="1950">
                <a:latin typeface="Calibri"/>
                <a:cs typeface="Calibri"/>
              </a:rPr>
              <a:t>generators,</a:t>
            </a:r>
            <a:r>
              <a:rPr dirty="0" sz="1950" spc="55">
                <a:latin typeface="Calibri"/>
                <a:cs typeface="Calibri"/>
              </a:rPr>
              <a:t>  </a:t>
            </a:r>
            <a:r>
              <a:rPr dirty="0" sz="1950" spc="-20">
                <a:latin typeface="Calibri"/>
                <a:cs typeface="Calibri"/>
              </a:rPr>
              <a:t>once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10">
                <a:latin typeface="Calibri"/>
                <a:cs typeface="Calibri"/>
              </a:rPr>
              <a:t>developed</a:t>
            </a:r>
            <a:r>
              <a:rPr dirty="0" sz="1950">
                <a:latin typeface="Calibri"/>
                <a:cs typeface="Calibri"/>
              </a:rPr>
              <a:t>	</a:t>
            </a:r>
            <a:r>
              <a:rPr dirty="0" sz="1950" spc="-20">
                <a:latin typeface="Calibri"/>
                <a:cs typeface="Calibri"/>
              </a:rPr>
              <a:t>form</a:t>
            </a:r>
            <a:r>
              <a:rPr dirty="0" sz="1950">
                <a:latin typeface="Calibri"/>
                <a:cs typeface="Calibri"/>
              </a:rPr>
              <a:t>	application</a:t>
            </a:r>
            <a:r>
              <a:rPr dirty="0" sz="1950" spc="70">
                <a:latin typeface="Calibri"/>
                <a:cs typeface="Calibri"/>
              </a:rPr>
              <a:t>  </a:t>
            </a:r>
            <a:r>
              <a:rPr dirty="0" sz="1950" spc="-10">
                <a:latin typeface="Calibri"/>
                <a:cs typeface="Calibri"/>
              </a:rPr>
              <a:t>development 	standards.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domains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slowly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develop.</a:t>
            </a:r>
            <a:endParaRPr sz="1950">
              <a:latin typeface="Calibri"/>
              <a:cs typeface="Calibri"/>
            </a:endParaRPr>
          </a:p>
          <a:p>
            <a:pPr marL="200660" indent="-18796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660" algn="l"/>
              </a:tabLst>
            </a:pPr>
            <a:r>
              <a:rPr dirty="0" sz="1950">
                <a:latin typeface="Calibri"/>
                <a:cs typeface="Calibri"/>
              </a:rPr>
              <a:t>As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domain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develops,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may</a:t>
            </a:r>
            <a:r>
              <a:rPr dirty="0" sz="1950" spc="1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distinguish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the</a:t>
            </a:r>
            <a:r>
              <a:rPr dirty="0" sz="1950" spc="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various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stages</a:t>
            </a:r>
            <a:r>
              <a:rPr dirty="0" sz="1950" spc="1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it</a:t>
            </a:r>
            <a:r>
              <a:rPr dirty="0" sz="1950" spc="25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undergoes: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893" y="2549149"/>
            <a:ext cx="8550910" cy="29603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just" marL="12700" marR="8255">
              <a:lnSpc>
                <a:spcPts val="1789"/>
              </a:lnSpc>
              <a:spcBef>
                <a:spcPts val="325"/>
              </a:spcBef>
            </a:pPr>
            <a:r>
              <a:rPr dirty="0" sz="1650" b="1">
                <a:latin typeface="Calibri"/>
                <a:cs typeface="Calibri"/>
              </a:rPr>
              <a:t>Stage</a:t>
            </a:r>
            <a:r>
              <a:rPr dirty="0" sz="1650" spc="5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1</a:t>
            </a:r>
            <a:r>
              <a:rPr dirty="0" sz="1650" spc="5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:</a:t>
            </a:r>
            <a:r>
              <a:rPr dirty="0" sz="1650" spc="6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There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clear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consistent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set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notations.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Obviously,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reusable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6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are </a:t>
            </a:r>
            <a:r>
              <a:rPr dirty="0" sz="1650">
                <a:latin typeface="Calibri"/>
                <a:cs typeface="Calibri"/>
              </a:rPr>
              <a:t>available.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All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written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scratch.</a:t>
            </a:r>
            <a:endParaRPr sz="1650">
              <a:latin typeface="Calibri"/>
              <a:cs typeface="Calibri"/>
            </a:endParaRPr>
          </a:p>
          <a:p>
            <a:pPr algn="just" marL="12700" marR="6985">
              <a:lnSpc>
                <a:spcPts val="1780"/>
              </a:lnSpc>
              <a:spcBef>
                <a:spcPts val="820"/>
              </a:spcBef>
            </a:pPr>
            <a:r>
              <a:rPr dirty="0" sz="1650" b="1">
                <a:latin typeface="Calibri"/>
                <a:cs typeface="Calibri"/>
              </a:rPr>
              <a:t>Stage</a:t>
            </a:r>
            <a:r>
              <a:rPr dirty="0" sz="1650" spc="10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2</a:t>
            </a:r>
            <a:r>
              <a:rPr dirty="0" sz="1650" spc="2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:</a:t>
            </a:r>
            <a:r>
              <a:rPr dirty="0" sz="1650" spc="15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Here</a:t>
            </a:r>
            <a:r>
              <a:rPr dirty="0" sz="1650" spc="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,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only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experience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from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similar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projects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used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development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effort.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means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there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only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knowledge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reuse.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ct val="90000"/>
              </a:lnSpc>
              <a:spcBef>
                <a:spcPts val="800"/>
              </a:spcBef>
            </a:pPr>
            <a:r>
              <a:rPr dirty="0" sz="1650" b="1">
                <a:latin typeface="Calibri"/>
                <a:cs typeface="Calibri"/>
              </a:rPr>
              <a:t>Stage</a:t>
            </a:r>
            <a:r>
              <a:rPr dirty="0" sz="1650" spc="229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3:</a:t>
            </a:r>
            <a:r>
              <a:rPr dirty="0" sz="1650" spc="220" b="1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2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2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stage,</a:t>
            </a:r>
            <a:r>
              <a:rPr dirty="0" sz="1650" spc="2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domain</a:t>
            </a:r>
            <a:r>
              <a:rPr dirty="0" sz="1650" spc="22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2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ripe</a:t>
            </a:r>
            <a:r>
              <a:rPr dirty="0" sz="1650" spc="2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2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reuse.</a:t>
            </a:r>
            <a:r>
              <a:rPr dirty="0" sz="1650" spc="2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set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2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concepts</a:t>
            </a:r>
            <a:r>
              <a:rPr dirty="0" sz="1650" spc="2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2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stabilized.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24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>
                <a:latin typeface="Calibri"/>
                <a:cs typeface="Calibri"/>
              </a:rPr>
              <a:t>notations</a:t>
            </a:r>
            <a:r>
              <a:rPr dirty="0" sz="1650" spc="3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standardized.</a:t>
            </a:r>
            <a:r>
              <a:rPr dirty="0" sz="1650" spc="3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Standard</a:t>
            </a:r>
            <a:r>
              <a:rPr dirty="0" sz="1650" spc="3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solutions</a:t>
            </a:r>
            <a:r>
              <a:rPr dirty="0" sz="1650" spc="3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3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standard.</a:t>
            </a:r>
            <a:r>
              <a:rPr dirty="0" sz="1650" spc="3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problems</a:t>
            </a:r>
            <a:r>
              <a:rPr dirty="0" sz="1650" spc="3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3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available.</a:t>
            </a:r>
            <a:r>
              <a:rPr dirty="0" sz="1650" spc="3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There</a:t>
            </a:r>
            <a:r>
              <a:rPr dirty="0" sz="1650" spc="3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39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both </a:t>
            </a:r>
            <a:r>
              <a:rPr dirty="0" sz="1650">
                <a:latin typeface="Calibri"/>
                <a:cs typeface="Calibri"/>
              </a:rPr>
              <a:t>knowledge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reuse.</a:t>
            </a:r>
            <a:endParaRPr sz="1650">
              <a:latin typeface="Calibri"/>
              <a:cs typeface="Calibri"/>
            </a:endParaRPr>
          </a:p>
          <a:p>
            <a:pPr algn="just" marL="12700" marR="5715">
              <a:lnSpc>
                <a:spcPts val="1780"/>
              </a:lnSpc>
              <a:spcBef>
                <a:spcPts val="850"/>
              </a:spcBef>
            </a:pPr>
            <a:r>
              <a:rPr dirty="0" sz="1650" b="1">
                <a:latin typeface="Calibri"/>
                <a:cs typeface="Calibri"/>
              </a:rPr>
              <a:t>Stage</a:t>
            </a:r>
            <a:r>
              <a:rPr dirty="0" sz="1650" spc="-5" b="1">
                <a:latin typeface="Calibri"/>
                <a:cs typeface="Calibri"/>
              </a:rPr>
              <a:t> </a:t>
            </a:r>
            <a:r>
              <a:rPr dirty="0" sz="1650" b="1">
                <a:latin typeface="Calibri"/>
                <a:cs typeface="Calibri"/>
              </a:rPr>
              <a:t>4: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domain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has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been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fully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explored.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software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development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 the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domain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largely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10">
                <a:latin typeface="Calibri"/>
                <a:cs typeface="Calibri"/>
              </a:rPr>
              <a:t> automated.</a:t>
            </a:r>
            <a:endParaRPr sz="1650">
              <a:latin typeface="Calibri"/>
              <a:cs typeface="Calibri"/>
            </a:endParaRPr>
          </a:p>
          <a:p>
            <a:pPr algn="just" marL="12700" marR="5080">
              <a:lnSpc>
                <a:spcPts val="1780"/>
              </a:lnSpc>
              <a:spcBef>
                <a:spcPts val="835"/>
              </a:spcBef>
            </a:pPr>
            <a:r>
              <a:rPr dirty="0" sz="1650">
                <a:latin typeface="Calibri"/>
                <a:cs typeface="Calibri"/>
              </a:rPr>
              <a:t>Programs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11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written</a:t>
            </a:r>
            <a:r>
              <a:rPr dirty="0" sz="1650" spc="11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11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traditional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sense</a:t>
            </a:r>
            <a:r>
              <a:rPr dirty="0" sz="1650" spc="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any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more.</a:t>
            </a:r>
            <a:r>
              <a:rPr dirty="0" sz="1650" spc="10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Programs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11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written</a:t>
            </a:r>
            <a:r>
              <a:rPr dirty="0" sz="1650" spc="10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domain </a:t>
            </a:r>
            <a:r>
              <a:rPr dirty="0" sz="1650">
                <a:latin typeface="Calibri"/>
                <a:cs typeface="Calibri"/>
              </a:rPr>
              <a:t>specific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language,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which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also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known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 i="1">
                <a:latin typeface="Calibri"/>
                <a:cs typeface="Calibri"/>
              </a:rPr>
              <a:t>application</a:t>
            </a:r>
            <a:r>
              <a:rPr dirty="0" sz="1650" spc="-55" i="1">
                <a:latin typeface="Calibri"/>
                <a:cs typeface="Calibri"/>
              </a:rPr>
              <a:t> </a:t>
            </a:r>
            <a:r>
              <a:rPr dirty="0" sz="1650" spc="-10" i="1">
                <a:latin typeface="Calibri"/>
                <a:cs typeface="Calibri"/>
              </a:rPr>
              <a:t>generator</a:t>
            </a:r>
            <a:r>
              <a:rPr dirty="0" sz="1650" spc="-10">
                <a:latin typeface="Calibri"/>
                <a:cs typeface="Calibri"/>
              </a:rPr>
              <a:t>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5" b="1">
                <a:latin typeface="Calibri"/>
                <a:cs typeface="Calibri"/>
              </a:rPr>
              <a:t>Component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 spc="-65" b="1">
                <a:latin typeface="Calibri"/>
                <a:cs typeface="Calibri"/>
              </a:rPr>
              <a:t>Classification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97219" y="2387615"/>
            <a:ext cx="6664959" cy="29603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just" marL="12700" marR="6985">
              <a:lnSpc>
                <a:spcPts val="1789"/>
              </a:lnSpc>
              <a:spcBef>
                <a:spcPts val="325"/>
              </a:spcBef>
            </a:pP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1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need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properly</a:t>
            </a:r>
            <a:r>
              <a:rPr dirty="0" sz="1650" spc="1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classified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order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develop</a:t>
            </a:r>
            <a:r>
              <a:rPr dirty="0" sz="1650" spc="1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</a:t>
            </a:r>
            <a:r>
              <a:rPr dirty="0" sz="1650" spc="1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effective </a:t>
            </a:r>
            <a:r>
              <a:rPr dirty="0" sz="1650">
                <a:latin typeface="Calibri"/>
                <a:cs typeface="Calibri"/>
              </a:rPr>
              <a:t>indexing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storage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scheme.</a:t>
            </a:r>
            <a:endParaRPr sz="1650">
              <a:latin typeface="Calibri"/>
              <a:cs typeface="Calibri"/>
            </a:endParaRPr>
          </a:p>
          <a:p>
            <a:pPr algn="just" marL="201295" marR="5080" indent="-189230">
              <a:lnSpc>
                <a:spcPct val="89900"/>
              </a:lnSpc>
              <a:spcBef>
                <a:spcPts val="79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We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already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remarked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hardware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been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very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successful.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If </a:t>
            </a:r>
            <a:r>
              <a:rPr dirty="0" sz="1650">
                <a:latin typeface="Calibri"/>
                <a:cs typeface="Calibri"/>
              </a:rPr>
              <a:t>we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look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classification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hardware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clue,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then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we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can </a:t>
            </a:r>
            <a:r>
              <a:rPr dirty="0" sz="1650">
                <a:latin typeface="Calibri"/>
                <a:cs typeface="Calibri"/>
              </a:rPr>
              <a:t>observe</a:t>
            </a:r>
            <a:r>
              <a:rPr dirty="0" sz="1650" spc="14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13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hardware</a:t>
            </a:r>
            <a:r>
              <a:rPr dirty="0" sz="1650" spc="14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14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145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classified</a:t>
            </a:r>
            <a:r>
              <a:rPr dirty="0" sz="1650" spc="14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150">
                <a:latin typeface="Calibri"/>
                <a:cs typeface="Calibri"/>
              </a:rPr>
              <a:t> 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40">
                <a:latin typeface="Calibri"/>
                <a:cs typeface="Calibri"/>
              </a:rPr>
              <a:t>  </a:t>
            </a:r>
            <a:r>
              <a:rPr dirty="0" sz="1650" spc="-10">
                <a:latin typeface="Calibri"/>
                <a:cs typeface="Calibri"/>
              </a:rPr>
              <a:t>multilevel hierarchy.</a:t>
            </a:r>
            <a:endParaRPr sz="1650">
              <a:latin typeface="Calibri"/>
              <a:cs typeface="Calibri"/>
            </a:endParaRPr>
          </a:p>
          <a:p>
            <a:pPr marL="201295" marR="5715" indent="-189230">
              <a:lnSpc>
                <a:spcPts val="1780"/>
              </a:lnSpc>
              <a:spcBef>
                <a:spcPts val="86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40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lowest</a:t>
            </a:r>
            <a:r>
              <a:rPr dirty="0" sz="1650" spc="4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level,</a:t>
            </a:r>
            <a:r>
              <a:rPr dirty="0" sz="1650" spc="4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4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4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described</a:t>
            </a:r>
            <a:r>
              <a:rPr dirty="0" sz="1650" spc="4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4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several</a:t>
            </a:r>
            <a:r>
              <a:rPr dirty="0" sz="1650" spc="4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forms— </a:t>
            </a:r>
            <a:r>
              <a:rPr dirty="0" sz="1650">
                <a:latin typeface="Calibri"/>
                <a:cs typeface="Calibri"/>
              </a:rPr>
              <a:t>natural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language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description,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logic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schema,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timing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information,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etc.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9"/>
              </a:lnSpc>
              <a:spcBef>
                <a:spcPts val="81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higher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0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level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which</a:t>
            </a:r>
            <a:r>
              <a:rPr dirty="0" sz="1650" spc="20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19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described,</a:t>
            </a:r>
            <a:r>
              <a:rPr dirty="0" sz="1650" spc="1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20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more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18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the </a:t>
            </a:r>
            <a:r>
              <a:rPr dirty="0" sz="1650" spc="-10">
                <a:latin typeface="Calibri"/>
                <a:cs typeface="Calibri"/>
              </a:rPr>
              <a:t>ambiguity.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This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has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motivated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Prieto-Diaz’s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classification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scheme.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3893" y="2470857"/>
            <a:ext cx="7592695" cy="234378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50" spc="-10" b="1">
                <a:latin typeface="Calibri"/>
                <a:cs typeface="Calibri"/>
              </a:rPr>
              <a:t>Prieto-Diaz’s</a:t>
            </a:r>
            <a:r>
              <a:rPr dirty="0" sz="1650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classification</a:t>
            </a:r>
            <a:r>
              <a:rPr dirty="0" sz="1650" spc="5" b="1">
                <a:latin typeface="Calibri"/>
                <a:cs typeface="Calibri"/>
              </a:rPr>
              <a:t> </a:t>
            </a:r>
            <a:r>
              <a:rPr dirty="0" sz="1650" spc="-10" b="1">
                <a:latin typeface="Calibri"/>
                <a:cs typeface="Calibri"/>
              </a:rPr>
              <a:t>scheme: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Each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best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described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number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different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characteristics or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facets.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For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example,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classified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using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following: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91160" algn="l"/>
              </a:tabLst>
            </a:pPr>
            <a:r>
              <a:rPr dirty="0" sz="1650">
                <a:latin typeface="Calibri"/>
                <a:cs typeface="Calibri"/>
              </a:rPr>
              <a:t>Actions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embody.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91160" algn="l"/>
              </a:tabLst>
            </a:pPr>
            <a:r>
              <a:rPr dirty="0" sz="1650">
                <a:latin typeface="Calibri"/>
                <a:cs typeface="Calibri"/>
              </a:rPr>
              <a:t>Objects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manipulate.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91160" algn="l"/>
              </a:tabLst>
            </a:pP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structures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used.</a:t>
            </a:r>
            <a:endParaRPr sz="1650">
              <a:latin typeface="Calibri"/>
              <a:cs typeface="Calibri"/>
            </a:endParaRPr>
          </a:p>
          <a:p>
            <a:pPr marL="391160" indent="-378460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391160" algn="l"/>
              </a:tabLst>
            </a:pPr>
            <a:r>
              <a:rPr dirty="0" sz="1650" spc="-10">
                <a:latin typeface="Calibri"/>
                <a:cs typeface="Calibri"/>
              </a:rPr>
              <a:t>Systems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they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part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of,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etc.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Searching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903" y="2552166"/>
            <a:ext cx="8552180" cy="347345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just" marL="199390" marR="5715" indent="-187325">
              <a:lnSpc>
                <a:spcPts val="1689"/>
              </a:lnSpc>
              <a:spcBef>
                <a:spcPts val="32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popular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search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technique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that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has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proved</a:t>
            </a:r>
            <a:r>
              <a:rPr dirty="0" sz="1550" spc="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be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very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effective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one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that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provides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web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interface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to </a:t>
            </a:r>
            <a:r>
              <a:rPr dirty="0" sz="1550" spc="-25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repository.</a:t>
            </a:r>
            <a:endParaRPr sz="1550">
              <a:latin typeface="Calibri"/>
              <a:cs typeface="Calibri"/>
            </a:endParaRPr>
          </a:p>
          <a:p>
            <a:pPr algn="just" marL="199390" marR="5715" indent="-187325">
              <a:lnSpc>
                <a:spcPct val="91300"/>
              </a:lnSpc>
              <a:spcBef>
                <a:spcPts val="78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such</a:t>
            </a:r>
            <a:r>
              <a:rPr dirty="0" sz="1550" spc="1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web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interface,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one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would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search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item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1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</a:t>
            </a:r>
            <a:r>
              <a:rPr dirty="0" sz="1550" spc="1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approximate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automated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search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using </a:t>
            </a:r>
            <a:r>
              <a:rPr dirty="0" sz="1550" spc="-10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key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words,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then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from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these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results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would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do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browsing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links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provided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look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up</a:t>
            </a:r>
            <a:r>
              <a:rPr dirty="0" sz="1550" spc="4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related 	items.</a:t>
            </a:r>
            <a:endParaRPr sz="1550">
              <a:latin typeface="Calibri"/>
              <a:cs typeface="Calibri"/>
            </a:endParaRPr>
          </a:p>
          <a:p>
            <a:pPr algn="just" marL="199390" marR="5715" indent="-187325">
              <a:lnSpc>
                <a:spcPts val="1700"/>
              </a:lnSpc>
              <a:spcBef>
                <a:spcPts val="83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3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approximate</a:t>
            </a:r>
            <a:r>
              <a:rPr dirty="0" sz="1550" spc="3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automated</a:t>
            </a:r>
            <a:r>
              <a:rPr dirty="0" sz="1550" spc="4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search</a:t>
            </a:r>
            <a:r>
              <a:rPr dirty="0" sz="1550" spc="4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locates</a:t>
            </a:r>
            <a:r>
              <a:rPr dirty="0" sz="1550" spc="3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products</a:t>
            </a:r>
            <a:r>
              <a:rPr dirty="0" sz="1550" spc="3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that</a:t>
            </a:r>
            <a:r>
              <a:rPr dirty="0" sz="1550" spc="4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appear</a:t>
            </a:r>
            <a:r>
              <a:rPr dirty="0" sz="1550" spc="4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4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fulfill</a:t>
            </a:r>
            <a:r>
              <a:rPr dirty="0" sz="1550" spc="409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some</a:t>
            </a:r>
            <a:r>
              <a:rPr dirty="0" sz="1550" spc="4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of</a:t>
            </a:r>
            <a:r>
              <a:rPr dirty="0" sz="1550" spc="4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41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specified 	requirements.</a:t>
            </a:r>
            <a:endParaRPr sz="1550">
              <a:latin typeface="Calibri"/>
              <a:cs typeface="Calibri"/>
            </a:endParaRPr>
          </a:p>
          <a:p>
            <a:pPr algn="just" marL="200025" indent="-18732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0025" algn="l"/>
              </a:tabLst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items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located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through</a:t>
            </a:r>
            <a:r>
              <a:rPr dirty="0" sz="1550" spc="-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approximate</a:t>
            </a:r>
            <a:r>
              <a:rPr dirty="0" sz="1550" spc="-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search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serve</a:t>
            </a:r>
            <a:r>
              <a:rPr dirty="0" sz="1550" spc="1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as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 starting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point</a:t>
            </a:r>
            <a:r>
              <a:rPr dirty="0" sz="1550" spc="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for browsing</a:t>
            </a:r>
            <a:r>
              <a:rPr dirty="0" sz="1550" spc="-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 </a:t>
            </a:r>
            <a:r>
              <a:rPr dirty="0" sz="1550" spc="-10">
                <a:latin typeface="Calibri"/>
                <a:cs typeface="Calibri"/>
              </a:rPr>
              <a:t>repository.</a:t>
            </a:r>
            <a:endParaRPr sz="1550">
              <a:latin typeface="Calibri"/>
              <a:cs typeface="Calibri"/>
            </a:endParaRPr>
          </a:p>
          <a:p>
            <a:pPr algn="just" marL="200025" indent="-18732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00025" algn="l"/>
              </a:tabLst>
            </a:pPr>
            <a:r>
              <a:rPr dirty="0" sz="1550">
                <a:latin typeface="Calibri"/>
                <a:cs typeface="Calibri"/>
              </a:rPr>
              <a:t>These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serve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as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starting</a:t>
            </a:r>
            <a:r>
              <a:rPr dirty="0" sz="1550" spc="-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point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browsing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repository.</a:t>
            </a:r>
            <a:endParaRPr sz="1550">
              <a:latin typeface="Calibri"/>
              <a:cs typeface="Calibri"/>
            </a:endParaRPr>
          </a:p>
          <a:p>
            <a:pPr algn="just" marL="199390" marR="5080" indent="-187325">
              <a:lnSpc>
                <a:spcPts val="1689"/>
              </a:lnSpc>
              <a:spcBef>
                <a:spcPts val="85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developer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may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follow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links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other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products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until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sufficiently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good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match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is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found.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Browsing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 spc="-25">
                <a:latin typeface="Calibri"/>
                <a:cs typeface="Calibri"/>
              </a:rPr>
              <a:t>is </a:t>
            </a:r>
            <a:r>
              <a:rPr dirty="0" sz="1550" spc="-25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done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2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keywordto-</a:t>
            </a:r>
            <a:r>
              <a:rPr dirty="0" sz="1550">
                <a:latin typeface="Calibri"/>
                <a:cs typeface="Calibri"/>
              </a:rPr>
              <a:t>keyword,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keyword-</a:t>
            </a:r>
            <a:r>
              <a:rPr dirty="0" sz="1550">
                <a:latin typeface="Calibri"/>
                <a:cs typeface="Calibri"/>
              </a:rPr>
              <a:t>to-product,</a:t>
            </a:r>
            <a:r>
              <a:rPr dirty="0" sz="1550" spc="-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and</a:t>
            </a:r>
            <a:r>
              <a:rPr dirty="0" sz="1550" spc="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product-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to-product </a:t>
            </a:r>
            <a:r>
              <a:rPr dirty="0" sz="1550" spc="-10">
                <a:latin typeface="Calibri"/>
                <a:cs typeface="Calibri"/>
              </a:rPr>
              <a:t>links.</a:t>
            </a:r>
            <a:endParaRPr sz="1550">
              <a:latin typeface="Calibri"/>
              <a:cs typeface="Calibri"/>
            </a:endParaRPr>
          </a:p>
          <a:p>
            <a:pPr algn="just" marL="199390" marR="7620" indent="-187325">
              <a:lnSpc>
                <a:spcPts val="1689"/>
              </a:lnSpc>
              <a:spcBef>
                <a:spcPts val="83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550">
                <a:latin typeface="Calibri"/>
                <a:cs typeface="Calibri"/>
              </a:rPr>
              <a:t>Finding</a:t>
            </a:r>
            <a:r>
              <a:rPr dirty="0" sz="1550" spc="1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1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satisfactory</a:t>
            </a:r>
            <a:r>
              <a:rPr dirty="0" sz="1550" spc="1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item</a:t>
            </a:r>
            <a:r>
              <a:rPr dirty="0" sz="1550" spc="1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from</a:t>
            </a:r>
            <a:r>
              <a:rPr dirty="0" sz="1550" spc="1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the</a:t>
            </a:r>
            <a:r>
              <a:rPr dirty="0" sz="1550" spc="1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repository</a:t>
            </a:r>
            <a:r>
              <a:rPr dirty="0" sz="1550" spc="16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may</a:t>
            </a:r>
            <a:r>
              <a:rPr dirty="0" sz="1550" spc="1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require</a:t>
            </a:r>
            <a:r>
              <a:rPr dirty="0" sz="1550" spc="1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several</a:t>
            </a:r>
            <a:r>
              <a:rPr dirty="0" sz="1550" spc="1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iterations</a:t>
            </a:r>
            <a:r>
              <a:rPr dirty="0" sz="1550" spc="16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of</a:t>
            </a:r>
            <a:r>
              <a:rPr dirty="0" sz="1550" spc="1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approximate</a:t>
            </a:r>
            <a:r>
              <a:rPr dirty="0" sz="1550" spc="18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search </a:t>
            </a:r>
            <a:r>
              <a:rPr dirty="0" sz="1550" spc="-10">
                <a:latin typeface="Calibri"/>
                <a:cs typeface="Calibri"/>
              </a:rPr>
              <a:t>	</a:t>
            </a:r>
            <a:r>
              <a:rPr dirty="0" sz="1550">
                <a:latin typeface="Calibri"/>
                <a:cs typeface="Calibri"/>
              </a:rPr>
              <a:t>followed</a:t>
            </a:r>
            <a:r>
              <a:rPr dirty="0" sz="1550" spc="-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by</a:t>
            </a:r>
            <a:r>
              <a:rPr dirty="0" sz="1550" spc="-10">
                <a:latin typeface="Calibri"/>
                <a:cs typeface="Calibri"/>
              </a:rPr>
              <a:t> browsing.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Repository</a:t>
            </a:r>
            <a:r>
              <a:rPr dirty="0" spc="-155"/>
              <a:t> </a:t>
            </a:r>
            <a:r>
              <a:rPr dirty="0" spc="-10"/>
              <a:t>Maintenance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93" y="2549149"/>
            <a:ext cx="8552180" cy="240284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just" marL="201295" marR="5715" indent="-189230">
              <a:lnSpc>
                <a:spcPts val="1789"/>
              </a:lnSpc>
              <a:spcBef>
                <a:spcPts val="3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Repository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maintenance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involves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entering</a:t>
            </a:r>
            <a:r>
              <a:rPr dirty="0" sz="1650" spc="20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new</a:t>
            </a:r>
            <a:r>
              <a:rPr dirty="0" sz="1650" spc="22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items,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retiring</a:t>
            </a:r>
            <a:r>
              <a:rPr dirty="0" sz="1650" spc="2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those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items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which</a:t>
            </a:r>
            <a:r>
              <a:rPr dirty="0" sz="1650" spc="229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</a:t>
            </a:r>
            <a:r>
              <a:rPr dirty="0" sz="1650" spc="225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more </a:t>
            </a:r>
            <a:r>
              <a:rPr dirty="0" sz="1650" spc="-10">
                <a:latin typeface="Calibri"/>
                <a:cs typeface="Calibri"/>
              </a:rPr>
              <a:t>necessary,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modifying</a:t>
            </a:r>
            <a:r>
              <a:rPr dirty="0" sz="1650" spc="-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search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attributes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items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improve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effectiveness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search.</a:t>
            </a:r>
            <a:endParaRPr sz="1650">
              <a:latin typeface="Calibri"/>
              <a:cs typeface="Calibri"/>
            </a:endParaRPr>
          </a:p>
          <a:p>
            <a:pPr algn="just" marL="201295" marR="5080" indent="-189230">
              <a:lnSpc>
                <a:spcPts val="1780"/>
              </a:lnSpc>
              <a:spcBef>
                <a:spcPts val="82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Also,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links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relating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different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items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need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modified</a:t>
            </a:r>
            <a:r>
              <a:rPr dirty="0" sz="1650" spc="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improve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effectiveness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search.</a:t>
            </a:r>
            <a:endParaRPr sz="1650">
              <a:latin typeface="Calibri"/>
              <a:cs typeface="Calibri"/>
            </a:endParaRPr>
          </a:p>
          <a:p>
            <a:pPr algn="just" marL="201295" marR="5080" indent="-189230">
              <a:lnSpc>
                <a:spcPct val="90000"/>
              </a:lnSpc>
              <a:spcBef>
                <a:spcPts val="80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patterns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requirements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emerge,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new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reusable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identified,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which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ultimately </a:t>
            </a:r>
            <a:r>
              <a:rPr dirty="0" sz="1650">
                <a:latin typeface="Calibri"/>
                <a:cs typeface="Calibri"/>
              </a:rPr>
              <a:t>become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more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or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less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standards.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However,</a:t>
            </a:r>
            <a:r>
              <a:rPr dirty="0" sz="1650" spc="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technology</a:t>
            </a:r>
            <a:r>
              <a:rPr dirty="0" sz="1650" spc="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advances,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some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components</a:t>
            </a:r>
            <a:r>
              <a:rPr dirty="0" sz="1650" spc="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which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still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reusable,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do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fully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address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current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requirements.</a:t>
            </a:r>
            <a:endParaRPr sz="1650">
              <a:latin typeface="Calibri"/>
              <a:cs typeface="Calibri"/>
            </a:endParaRPr>
          </a:p>
          <a:p>
            <a:pPr algn="just" marL="201295" marR="239395" indent="-189230">
              <a:lnSpc>
                <a:spcPts val="1780"/>
              </a:lnSpc>
              <a:spcBef>
                <a:spcPts val="85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On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other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hand,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restricting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reuse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highly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mature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components,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sacrifice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potential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reuse opportunity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Reuse</a:t>
            </a:r>
            <a:r>
              <a:rPr dirty="0" spc="-125"/>
              <a:t> </a:t>
            </a:r>
            <a:r>
              <a:rPr dirty="0"/>
              <a:t>without</a:t>
            </a:r>
            <a:r>
              <a:rPr dirty="0" spc="-135"/>
              <a:t> </a:t>
            </a:r>
            <a:r>
              <a:rPr dirty="0" spc="-10"/>
              <a:t>Modifications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3893" y="2470857"/>
            <a:ext cx="8550910" cy="1802764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Once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standard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solutions</a:t>
            </a:r>
            <a:r>
              <a:rPr dirty="0" sz="1650" spc="-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emerge,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modifications</a:t>
            </a:r>
            <a:r>
              <a:rPr dirty="0" sz="1650" spc="-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program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parts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may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necessary.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One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directly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plug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parts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develop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his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application.</a:t>
            </a:r>
            <a:endParaRPr sz="1650">
              <a:latin typeface="Calibri"/>
              <a:cs typeface="Calibri"/>
            </a:endParaRPr>
          </a:p>
          <a:p>
            <a:pPr marL="201930" indent="-18923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01930" algn="l"/>
              </a:tabLst>
            </a:pPr>
            <a:r>
              <a:rPr dirty="0" sz="1650">
                <a:latin typeface="Calibri"/>
                <a:cs typeface="Calibri"/>
              </a:rPr>
              <a:t>Application</a:t>
            </a:r>
            <a:r>
              <a:rPr dirty="0" sz="1650" spc="-5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generators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significant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advantages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over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simple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parameterized</a:t>
            </a:r>
            <a:r>
              <a:rPr dirty="0" sz="1650" spc="-3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programs.</a:t>
            </a:r>
            <a:endParaRPr sz="1650">
              <a:latin typeface="Calibri"/>
              <a:cs typeface="Calibri"/>
            </a:endParaRPr>
          </a:p>
          <a:p>
            <a:pPr algn="just" marL="201295" marR="5080" indent="-189230">
              <a:lnSpc>
                <a:spcPct val="90000"/>
              </a:lnSpc>
              <a:spcBef>
                <a:spcPts val="82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biggest</a:t>
            </a:r>
            <a:r>
              <a:rPr dirty="0" sz="1650" spc="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these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is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application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generators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can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express</a:t>
            </a:r>
            <a:r>
              <a:rPr dirty="0" sz="1650" spc="6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variant</a:t>
            </a:r>
            <a:r>
              <a:rPr dirty="0" sz="1650" spc="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information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in</a:t>
            </a:r>
            <a:r>
              <a:rPr dirty="0" sz="1650" spc="8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an </a:t>
            </a:r>
            <a:r>
              <a:rPr dirty="0" sz="1650">
                <a:latin typeface="Calibri"/>
                <a:cs typeface="Calibri"/>
              </a:rPr>
              <a:t>appropriate</a:t>
            </a:r>
            <a:r>
              <a:rPr dirty="0" sz="1650" spc="1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language</a:t>
            </a:r>
            <a:r>
              <a:rPr dirty="0" sz="1650" spc="1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rather</a:t>
            </a:r>
            <a:r>
              <a:rPr dirty="0" sz="1650" spc="1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than</a:t>
            </a:r>
            <a:r>
              <a:rPr dirty="0" sz="1650" spc="11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being</a:t>
            </a:r>
            <a:r>
              <a:rPr dirty="0" sz="1650" spc="1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restricted</a:t>
            </a:r>
            <a:r>
              <a:rPr dirty="0" sz="1650" spc="1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1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function</a:t>
            </a:r>
            <a:r>
              <a:rPr dirty="0" sz="1650" spc="11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parameters,</a:t>
            </a:r>
            <a:r>
              <a:rPr dirty="0" sz="1650" spc="1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named</a:t>
            </a:r>
            <a:r>
              <a:rPr dirty="0" sz="1650" spc="1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constants,</a:t>
            </a:r>
            <a:r>
              <a:rPr dirty="0" sz="1650" spc="125">
                <a:latin typeface="Calibri"/>
                <a:cs typeface="Calibri"/>
              </a:rPr>
              <a:t> </a:t>
            </a:r>
            <a:r>
              <a:rPr dirty="0" sz="1650" spc="-25">
                <a:latin typeface="Calibri"/>
                <a:cs typeface="Calibri"/>
              </a:rPr>
              <a:t>or </a:t>
            </a:r>
            <a:r>
              <a:rPr dirty="0" sz="1650" spc="-10">
                <a:latin typeface="Calibri"/>
                <a:cs typeface="Calibri"/>
              </a:rPr>
              <a:t>tables.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3893" y="4326126"/>
            <a:ext cx="854837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1930" indent="-18923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1930" algn="l"/>
                <a:tab pos="682625" algn="l"/>
                <a:tab pos="1318260" algn="l"/>
                <a:tab pos="2445385" algn="l"/>
                <a:tab pos="3229610" algn="l"/>
                <a:tab pos="3883660" algn="l"/>
                <a:tab pos="4609465" algn="l"/>
                <a:tab pos="5288915" algn="l"/>
                <a:tab pos="5633720" algn="l"/>
                <a:tab pos="6600825" algn="l"/>
                <a:tab pos="7835900" algn="l"/>
              </a:tabLst>
            </a:pPr>
            <a:r>
              <a:rPr dirty="0" sz="1650" spc="-25">
                <a:latin typeface="Calibri"/>
                <a:cs typeface="Calibri"/>
              </a:rPr>
              <a:t>The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20">
                <a:latin typeface="Calibri"/>
                <a:cs typeface="Calibri"/>
              </a:rPr>
              <a:t>other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advantages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include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fewer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errors,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easier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25">
                <a:latin typeface="Calibri"/>
                <a:cs typeface="Calibri"/>
              </a:rPr>
              <a:t>to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maintain,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substantially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-10">
                <a:latin typeface="Calibri"/>
                <a:cs typeface="Calibri"/>
              </a:rPr>
              <a:t>reduced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3893" y="4474783"/>
            <a:ext cx="8550910" cy="14706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01295">
              <a:lnSpc>
                <a:spcPct val="100000"/>
              </a:lnSpc>
              <a:spcBef>
                <a:spcPts val="720"/>
              </a:spcBef>
            </a:pPr>
            <a:r>
              <a:rPr dirty="0" sz="1650" spc="-10">
                <a:latin typeface="Calibri"/>
                <a:cs typeface="Calibri"/>
              </a:rPr>
              <a:t>development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effort,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fact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that</a:t>
            </a:r>
            <a:r>
              <a:rPr dirty="0" sz="1650" spc="-1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one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need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not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bother</a:t>
            </a:r>
            <a:r>
              <a:rPr dirty="0" sz="1650" spc="-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about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-10">
                <a:latin typeface="Calibri"/>
                <a:cs typeface="Calibri"/>
              </a:rPr>
              <a:t> implementation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details.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0"/>
              </a:lnSpc>
              <a:spcBef>
                <a:spcPts val="850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Application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generators</a:t>
            </a:r>
            <a:r>
              <a:rPr dirty="0" sz="1650" spc="4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have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been</a:t>
            </a:r>
            <a:r>
              <a:rPr dirty="0" sz="1650" spc="48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applied</a:t>
            </a:r>
            <a:r>
              <a:rPr dirty="0" sz="1650" spc="49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successfully</a:t>
            </a:r>
            <a:r>
              <a:rPr dirty="0" sz="1650" spc="47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to</a:t>
            </a:r>
            <a:r>
              <a:rPr dirty="0" sz="1650" spc="47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data</a:t>
            </a:r>
            <a:r>
              <a:rPr dirty="0" sz="1650" spc="4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processing</a:t>
            </a:r>
            <a:r>
              <a:rPr dirty="0" sz="1650" spc="48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application,</a:t>
            </a:r>
            <a:r>
              <a:rPr dirty="0" sz="1650" spc="480">
                <a:latin typeface="Calibri"/>
                <a:cs typeface="Calibri"/>
              </a:rPr>
              <a:t> </a:t>
            </a:r>
            <a:r>
              <a:rPr dirty="0" sz="1650" spc="-20">
                <a:latin typeface="Calibri"/>
                <a:cs typeface="Calibri"/>
              </a:rPr>
              <a:t>user </a:t>
            </a:r>
            <a:r>
              <a:rPr dirty="0" sz="1650">
                <a:latin typeface="Calibri"/>
                <a:cs typeface="Calibri"/>
              </a:rPr>
              <a:t>interface,</a:t>
            </a:r>
            <a:r>
              <a:rPr dirty="0" sz="1650" spc="-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and</a:t>
            </a:r>
            <a:r>
              <a:rPr dirty="0" sz="1650" spc="-5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compiler</a:t>
            </a:r>
            <a:r>
              <a:rPr dirty="0" sz="1650" spc="-6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development.</a:t>
            </a:r>
            <a:endParaRPr sz="1650">
              <a:latin typeface="Calibri"/>
              <a:cs typeface="Calibri"/>
            </a:endParaRPr>
          </a:p>
          <a:p>
            <a:pPr marL="201295" marR="5080" indent="-189230">
              <a:lnSpc>
                <a:spcPts val="1780"/>
              </a:lnSpc>
              <a:spcBef>
                <a:spcPts val="835"/>
              </a:spcBef>
              <a:buFont typeface="Arial MT"/>
              <a:buChar char="•"/>
              <a:tabLst>
                <a:tab pos="201295" algn="l"/>
              </a:tabLst>
            </a:pPr>
            <a:r>
              <a:rPr dirty="0" sz="1650">
                <a:latin typeface="Calibri"/>
                <a:cs typeface="Calibri"/>
              </a:rPr>
              <a:t>Application</a:t>
            </a:r>
            <a:r>
              <a:rPr dirty="0" sz="1650" spc="41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generators</a:t>
            </a:r>
            <a:r>
              <a:rPr dirty="0" sz="1650" spc="4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are</a:t>
            </a:r>
            <a:r>
              <a:rPr dirty="0" sz="1650" spc="44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less</a:t>
            </a:r>
            <a:r>
              <a:rPr dirty="0" sz="1650" spc="44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successful</a:t>
            </a:r>
            <a:r>
              <a:rPr dirty="0" sz="1650" spc="43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434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the</a:t>
            </a:r>
            <a:r>
              <a:rPr dirty="0" sz="1650" spc="4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development</a:t>
            </a:r>
            <a:r>
              <a:rPr dirty="0" sz="1650" spc="4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of</a:t>
            </a:r>
            <a:r>
              <a:rPr dirty="0" sz="1650" spc="4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applications</a:t>
            </a:r>
            <a:r>
              <a:rPr dirty="0" sz="1650" spc="4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45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close interaction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with</a:t>
            </a:r>
            <a:r>
              <a:rPr dirty="0" sz="1650" spc="-2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hardware</a:t>
            </a:r>
            <a:r>
              <a:rPr dirty="0" sz="1650" spc="-2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such</a:t>
            </a:r>
            <a:r>
              <a:rPr dirty="0" sz="1650" spc="-5">
                <a:latin typeface="Calibri"/>
                <a:cs typeface="Calibri"/>
              </a:rPr>
              <a:t> </a:t>
            </a:r>
            <a:r>
              <a:rPr dirty="0" sz="1650">
                <a:latin typeface="Calibri"/>
                <a:cs typeface="Calibri"/>
              </a:rPr>
              <a:t>as</a:t>
            </a:r>
            <a:r>
              <a:rPr dirty="0" sz="1650" spc="5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real-</a:t>
            </a:r>
            <a:r>
              <a:rPr dirty="0" sz="1650">
                <a:latin typeface="Calibri"/>
                <a:cs typeface="Calibri"/>
              </a:rPr>
              <a:t>time</a:t>
            </a:r>
            <a:r>
              <a:rPr dirty="0" sz="1650" spc="10">
                <a:latin typeface="Calibri"/>
                <a:cs typeface="Calibri"/>
              </a:rPr>
              <a:t> </a:t>
            </a:r>
            <a:r>
              <a:rPr dirty="0" sz="1650" spc="-10">
                <a:latin typeface="Calibri"/>
                <a:cs typeface="Calibri"/>
              </a:rPr>
              <a:t>systems.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dc:title>Microsoft PowerPoint - Design3.4</dc:title>
  <dcterms:created xsi:type="dcterms:W3CDTF">2025-09-23T09:34:24Z</dcterms:created>
  <dcterms:modified xsi:type="dcterms:W3CDTF">2025-09-23T09:34:24Z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2020-09-18T00:00:00Z</vt:filetime>
  </property>
  <property fmtid="{D5CDD505-2E9C-101B-9397-08002B2CF9AE}" pid="3" name="LastSaved">
    <vt:filetime>2025-09-23T00:00:00Z</vt:filetime>
  </property>
  <property fmtid="{D5CDD505-2E9C-101B-9397-08002B2CF9AE}" pid="4" name="Producer">
    <vt:lpwstr>Microsoft: Print To PDF</vt:lpwstr>
  </property>
</Properties>
</file>