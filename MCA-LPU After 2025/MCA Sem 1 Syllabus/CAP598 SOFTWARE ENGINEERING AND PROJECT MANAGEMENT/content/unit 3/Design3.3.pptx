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Default Extension="jpg" ContentType="image/jpg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Default Extension="png" ContentType="image/png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</p:sldIdLst>
  <p:sldSz cx="10058400" cy="7772400"/>
  <p:notesSz cx="10058400" cy="77724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754380" y="2409444"/>
            <a:ext cx="8549640" cy="163220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95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508760" y="4352544"/>
            <a:ext cx="7040880" cy="19431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95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95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95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95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502920" y="1787652"/>
            <a:ext cx="4375404" cy="51297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5180076" y="1787652"/>
            <a:ext cx="4375404" cy="51297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95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538175" y="1073914"/>
            <a:ext cx="4982049" cy="4794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95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753831" y="2468318"/>
            <a:ext cx="8335009" cy="25552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95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3419856" y="7228332"/>
            <a:ext cx="3218688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502920" y="7228332"/>
            <a:ext cx="2313432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7242048" y="7228332"/>
            <a:ext cx="2313432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jpg"/><Relationship Id="rId3" Type="http://schemas.openxmlformats.org/officeDocument/2006/relationships/image" Target="../media/image2.jp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jp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4.jpg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jpg"/></Relationships>
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4.jpg"/></Relationships>
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4.jpg"/></Relationships>
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4.jpg"/></Relationships>
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jpg"/></Relationships>
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jpg"/><Relationship Id="rId3" Type="http://schemas.openxmlformats.org/officeDocument/2006/relationships/image" Target="../media/image6.png"/></Relationships>
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jpg"/><Relationship Id="rId3" Type="http://schemas.openxmlformats.org/officeDocument/2006/relationships/image" Target="../media/image5.jpg"/><Relationship Id="rId4" Type="http://schemas.openxmlformats.org/officeDocument/2006/relationships/image" Target="../media/image8.png"/><Relationship Id="rId5" Type="http://schemas.openxmlformats.org/officeDocument/2006/relationships/image" Target="../media/image9.png"/></Relationships>

</file>

<file path=ppt/slides/_rels/slide1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jpg"/><Relationship Id="rId3" Type="http://schemas.openxmlformats.org/officeDocument/2006/relationships/image" Target="../media/image5.jpg"/><Relationship Id="rId4" Type="http://schemas.openxmlformats.org/officeDocument/2006/relationships/image" Target="../media/image9.png"/><Relationship Id="rId5" Type="http://schemas.openxmlformats.org/officeDocument/2006/relationships/image" Target="../media/image8.png"/></Relationships>

</file>

<file path=ppt/slides/_rels/slide2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.jpg"/><Relationship Id="rId3" Type="http://schemas.openxmlformats.org/officeDocument/2006/relationships/image" Target="../media/image5.jpg"/><Relationship Id="rId4" Type="http://schemas.openxmlformats.org/officeDocument/2006/relationships/image" Target="../media/image9.png"/><Relationship Id="rId5" Type="http://schemas.openxmlformats.org/officeDocument/2006/relationships/image" Target="../media/image8.png"/></Relationships>

</file>

<file path=ppt/slides/_rels/slide2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.jpg"/><Relationship Id="rId3" Type="http://schemas.openxmlformats.org/officeDocument/2006/relationships/image" Target="../media/image5.jpg"/><Relationship Id="rId4" Type="http://schemas.openxmlformats.org/officeDocument/2006/relationships/image" Target="../media/image9.png"/><Relationship Id="rId5" Type="http://schemas.openxmlformats.org/officeDocument/2006/relationships/image" Target="../media/image8.png"/></Relationships>

</file>

<file path=ppt/slides/_rels/slide2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.jpg"/><Relationship Id="rId3" Type="http://schemas.openxmlformats.org/officeDocument/2006/relationships/image" Target="../media/image14.jpg"/><Relationship Id="rId4" Type="http://schemas.openxmlformats.org/officeDocument/2006/relationships/image" Target="../media/image15.jpg"/><Relationship Id="rId5" Type="http://schemas.openxmlformats.org/officeDocument/2006/relationships/image" Target="../media/image16.jpg"/><Relationship Id="rId6" Type="http://schemas.openxmlformats.org/officeDocument/2006/relationships/image" Target="../media/image17.jpg"/></Relationships>

</file>

<file path=ppt/slides/_rels/slide2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8.png"/></Relationships>

</file>

<file path=ppt/slides/_rels/slide2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9.jpg"/></Relationships>

</file>

<file path=ppt/slides/_rels/slide2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0.jp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953523" y="1521927"/>
            <a:ext cx="2080260" cy="115189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ts val="3010"/>
              </a:lnSpc>
              <a:spcBef>
                <a:spcPts val="90"/>
              </a:spcBef>
            </a:pPr>
            <a:r>
              <a:rPr dirty="0" sz="2650">
                <a:latin typeface="Calibri"/>
                <a:cs typeface="Calibri"/>
              </a:rPr>
              <a:t>Unit</a:t>
            </a:r>
            <a:r>
              <a:rPr dirty="0" sz="2650" spc="-80">
                <a:latin typeface="Calibri"/>
                <a:cs typeface="Calibri"/>
              </a:rPr>
              <a:t> </a:t>
            </a:r>
            <a:r>
              <a:rPr dirty="0" sz="2650">
                <a:latin typeface="Calibri"/>
                <a:cs typeface="Calibri"/>
              </a:rPr>
              <a:t>3-</a:t>
            </a:r>
            <a:r>
              <a:rPr dirty="0" sz="2650" spc="-70">
                <a:latin typeface="Calibri"/>
                <a:cs typeface="Calibri"/>
              </a:rPr>
              <a:t> </a:t>
            </a:r>
            <a:r>
              <a:rPr dirty="0" sz="2650" spc="-10">
                <a:latin typeface="Calibri"/>
                <a:cs typeface="Calibri"/>
              </a:rPr>
              <a:t>Design</a:t>
            </a:r>
            <a:endParaRPr sz="2650">
              <a:latin typeface="Calibri"/>
              <a:cs typeface="Calibri"/>
            </a:endParaRPr>
          </a:p>
          <a:p>
            <a:pPr marL="12700">
              <a:lnSpc>
                <a:spcPts val="2850"/>
              </a:lnSpc>
            </a:pPr>
            <a:r>
              <a:rPr dirty="0" sz="2650">
                <a:latin typeface="Calibri"/>
                <a:cs typeface="Calibri"/>
              </a:rPr>
              <a:t>3.4-</a:t>
            </a:r>
            <a:r>
              <a:rPr dirty="0" sz="2650" spc="-60">
                <a:latin typeface="Calibri"/>
                <a:cs typeface="Calibri"/>
              </a:rPr>
              <a:t> </a:t>
            </a:r>
            <a:r>
              <a:rPr dirty="0" sz="2650" spc="-25">
                <a:latin typeface="Calibri"/>
                <a:cs typeface="Calibri"/>
              </a:rPr>
              <a:t>DFD</a:t>
            </a:r>
            <a:endParaRPr sz="2650">
              <a:latin typeface="Calibri"/>
              <a:cs typeface="Calibri"/>
            </a:endParaRPr>
          </a:p>
          <a:p>
            <a:pPr marL="12700">
              <a:lnSpc>
                <a:spcPts val="3020"/>
              </a:lnSpc>
            </a:pPr>
            <a:r>
              <a:rPr dirty="0" sz="2650">
                <a:latin typeface="Calibri"/>
                <a:cs typeface="Calibri"/>
              </a:rPr>
              <a:t>3.5-</a:t>
            </a:r>
            <a:r>
              <a:rPr dirty="0" sz="2650" spc="-95">
                <a:latin typeface="Calibri"/>
                <a:cs typeface="Calibri"/>
              </a:rPr>
              <a:t> </a:t>
            </a:r>
            <a:r>
              <a:rPr dirty="0" sz="2650">
                <a:latin typeface="Calibri"/>
                <a:cs typeface="Calibri"/>
              </a:rPr>
              <a:t>Flow</a:t>
            </a:r>
            <a:r>
              <a:rPr dirty="0" sz="2650" spc="-80">
                <a:latin typeface="Calibri"/>
                <a:cs typeface="Calibri"/>
              </a:rPr>
              <a:t> </a:t>
            </a:r>
            <a:r>
              <a:rPr dirty="0" sz="2650" spc="-10">
                <a:latin typeface="Calibri"/>
                <a:cs typeface="Calibri"/>
              </a:rPr>
              <a:t>Chart</a:t>
            </a:r>
            <a:endParaRPr sz="2650">
              <a:latin typeface="Calibri"/>
              <a:cs typeface="Calibri"/>
            </a:endParaRP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27275" y="3599688"/>
            <a:ext cx="2260091" cy="2072640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501639" y="3444240"/>
            <a:ext cx="2026920" cy="234543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53912" y="1558630"/>
            <a:ext cx="5021580" cy="579755"/>
          </a:xfrm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3600">
                <a:latin typeface="Calibri"/>
                <a:cs typeface="Calibri"/>
              </a:rPr>
              <a:t>Data</a:t>
            </a:r>
            <a:r>
              <a:rPr dirty="0" sz="3600" spc="-150">
                <a:latin typeface="Calibri"/>
                <a:cs typeface="Calibri"/>
              </a:rPr>
              <a:t> </a:t>
            </a:r>
            <a:r>
              <a:rPr dirty="0" sz="3600">
                <a:latin typeface="Calibri"/>
                <a:cs typeface="Calibri"/>
              </a:rPr>
              <a:t>Flow</a:t>
            </a:r>
            <a:r>
              <a:rPr dirty="0" sz="3600" spc="-140">
                <a:latin typeface="Calibri"/>
                <a:cs typeface="Calibri"/>
              </a:rPr>
              <a:t> </a:t>
            </a:r>
            <a:r>
              <a:rPr dirty="0" sz="3600">
                <a:latin typeface="Calibri"/>
                <a:cs typeface="Calibri"/>
              </a:rPr>
              <a:t>Diagrams</a:t>
            </a:r>
            <a:r>
              <a:rPr dirty="0" sz="3600" spc="-135">
                <a:latin typeface="Calibri"/>
                <a:cs typeface="Calibri"/>
              </a:rPr>
              <a:t> </a:t>
            </a:r>
            <a:r>
              <a:rPr dirty="0" sz="3600" spc="-10">
                <a:latin typeface="Calibri"/>
                <a:cs typeface="Calibri"/>
              </a:rPr>
              <a:t>(DFDs)</a:t>
            </a:r>
            <a:endParaRPr sz="3600">
              <a:latin typeface="Calibri"/>
              <a:cs typeface="Calibri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753831" y="2543019"/>
            <a:ext cx="8549005" cy="1727835"/>
          </a:xfrm>
          <a:prstGeom prst="rect">
            <a:avLst/>
          </a:prstGeom>
        </p:spPr>
        <p:txBody>
          <a:bodyPr wrap="square" lIns="0" tIns="46355" rIns="0" bIns="0" rtlCol="0" vert="horz">
            <a:spAutoFit/>
          </a:bodyPr>
          <a:lstStyle/>
          <a:p>
            <a:pPr marL="12700" marR="5080">
              <a:lnSpc>
                <a:spcPts val="2140"/>
              </a:lnSpc>
              <a:spcBef>
                <a:spcPts val="365"/>
              </a:spcBef>
            </a:pPr>
            <a:r>
              <a:rPr dirty="0" sz="1950">
                <a:latin typeface="Calibri"/>
                <a:cs typeface="Calibri"/>
              </a:rPr>
              <a:t>The</a:t>
            </a:r>
            <a:r>
              <a:rPr dirty="0" sz="1950" spc="125">
                <a:latin typeface="Calibri"/>
                <a:cs typeface="Calibri"/>
              </a:rPr>
              <a:t> </a:t>
            </a:r>
            <a:r>
              <a:rPr dirty="0" sz="1950">
                <a:latin typeface="Calibri"/>
                <a:cs typeface="Calibri"/>
              </a:rPr>
              <a:t>DFD</a:t>
            </a:r>
            <a:r>
              <a:rPr dirty="0" sz="1950" spc="150">
                <a:latin typeface="Calibri"/>
                <a:cs typeface="Calibri"/>
              </a:rPr>
              <a:t> </a:t>
            </a:r>
            <a:r>
              <a:rPr dirty="0" sz="1950">
                <a:latin typeface="Calibri"/>
                <a:cs typeface="Calibri"/>
              </a:rPr>
              <a:t>is</a:t>
            </a:r>
            <a:r>
              <a:rPr dirty="0" sz="1950" spc="140">
                <a:latin typeface="Calibri"/>
                <a:cs typeface="Calibri"/>
              </a:rPr>
              <a:t> </a:t>
            </a:r>
            <a:r>
              <a:rPr dirty="0" sz="1950">
                <a:latin typeface="Calibri"/>
                <a:cs typeface="Calibri"/>
              </a:rPr>
              <a:t>a</a:t>
            </a:r>
            <a:r>
              <a:rPr dirty="0" sz="1950" spc="105">
                <a:latin typeface="Calibri"/>
                <a:cs typeface="Calibri"/>
              </a:rPr>
              <a:t> </a:t>
            </a:r>
            <a:r>
              <a:rPr dirty="0" sz="1950">
                <a:latin typeface="Calibri"/>
                <a:cs typeface="Calibri"/>
              </a:rPr>
              <a:t>simple</a:t>
            </a:r>
            <a:r>
              <a:rPr dirty="0" sz="1950" spc="125">
                <a:latin typeface="Calibri"/>
                <a:cs typeface="Calibri"/>
              </a:rPr>
              <a:t> </a:t>
            </a:r>
            <a:r>
              <a:rPr dirty="0" sz="1950">
                <a:latin typeface="Calibri"/>
                <a:cs typeface="Calibri"/>
              </a:rPr>
              <a:t>graphical</a:t>
            </a:r>
            <a:r>
              <a:rPr dirty="0" sz="1950" spc="120">
                <a:latin typeface="Calibri"/>
                <a:cs typeface="Calibri"/>
              </a:rPr>
              <a:t> </a:t>
            </a:r>
            <a:r>
              <a:rPr dirty="0" sz="1950">
                <a:latin typeface="Calibri"/>
                <a:cs typeface="Calibri"/>
              </a:rPr>
              <a:t>formalism</a:t>
            </a:r>
            <a:r>
              <a:rPr dirty="0" sz="1950" spc="145">
                <a:latin typeface="Calibri"/>
                <a:cs typeface="Calibri"/>
              </a:rPr>
              <a:t> </a:t>
            </a:r>
            <a:r>
              <a:rPr dirty="0" sz="1950">
                <a:latin typeface="Calibri"/>
                <a:cs typeface="Calibri"/>
              </a:rPr>
              <a:t>that</a:t>
            </a:r>
            <a:r>
              <a:rPr dirty="0" sz="1950" spc="130">
                <a:latin typeface="Calibri"/>
                <a:cs typeface="Calibri"/>
              </a:rPr>
              <a:t> </a:t>
            </a:r>
            <a:r>
              <a:rPr dirty="0" sz="1950">
                <a:latin typeface="Calibri"/>
                <a:cs typeface="Calibri"/>
              </a:rPr>
              <a:t>can</a:t>
            </a:r>
            <a:r>
              <a:rPr dirty="0" sz="1950" spc="135">
                <a:latin typeface="Calibri"/>
                <a:cs typeface="Calibri"/>
              </a:rPr>
              <a:t> </a:t>
            </a:r>
            <a:r>
              <a:rPr dirty="0" sz="1950">
                <a:latin typeface="Calibri"/>
                <a:cs typeface="Calibri"/>
              </a:rPr>
              <a:t>be</a:t>
            </a:r>
            <a:r>
              <a:rPr dirty="0" sz="1950" spc="125">
                <a:latin typeface="Calibri"/>
                <a:cs typeface="Calibri"/>
              </a:rPr>
              <a:t> </a:t>
            </a:r>
            <a:r>
              <a:rPr dirty="0" sz="1950">
                <a:latin typeface="Calibri"/>
                <a:cs typeface="Calibri"/>
              </a:rPr>
              <a:t>used</a:t>
            </a:r>
            <a:r>
              <a:rPr dirty="0" sz="1950" spc="130">
                <a:latin typeface="Calibri"/>
                <a:cs typeface="Calibri"/>
              </a:rPr>
              <a:t> </a:t>
            </a:r>
            <a:r>
              <a:rPr dirty="0" sz="1950">
                <a:latin typeface="Calibri"/>
                <a:cs typeface="Calibri"/>
              </a:rPr>
              <a:t>to</a:t>
            </a:r>
            <a:r>
              <a:rPr dirty="0" sz="1950" spc="125">
                <a:latin typeface="Calibri"/>
                <a:cs typeface="Calibri"/>
              </a:rPr>
              <a:t> </a:t>
            </a:r>
            <a:r>
              <a:rPr dirty="0" sz="1950">
                <a:latin typeface="Calibri"/>
                <a:cs typeface="Calibri"/>
              </a:rPr>
              <a:t>represent</a:t>
            </a:r>
            <a:r>
              <a:rPr dirty="0" sz="1950" spc="130">
                <a:latin typeface="Calibri"/>
                <a:cs typeface="Calibri"/>
              </a:rPr>
              <a:t> </a:t>
            </a:r>
            <a:r>
              <a:rPr dirty="0" sz="1950">
                <a:latin typeface="Calibri"/>
                <a:cs typeface="Calibri"/>
              </a:rPr>
              <a:t>a</a:t>
            </a:r>
            <a:r>
              <a:rPr dirty="0" sz="1950" spc="125">
                <a:latin typeface="Calibri"/>
                <a:cs typeface="Calibri"/>
              </a:rPr>
              <a:t> </a:t>
            </a:r>
            <a:r>
              <a:rPr dirty="0" sz="1950">
                <a:latin typeface="Calibri"/>
                <a:cs typeface="Calibri"/>
              </a:rPr>
              <a:t>system</a:t>
            </a:r>
            <a:r>
              <a:rPr dirty="0" sz="1950" spc="145">
                <a:latin typeface="Calibri"/>
                <a:cs typeface="Calibri"/>
              </a:rPr>
              <a:t> </a:t>
            </a:r>
            <a:r>
              <a:rPr dirty="0" sz="1950" spc="-25">
                <a:latin typeface="Calibri"/>
                <a:cs typeface="Calibri"/>
              </a:rPr>
              <a:t>in </a:t>
            </a:r>
            <a:r>
              <a:rPr dirty="0" sz="1950">
                <a:latin typeface="Calibri"/>
                <a:cs typeface="Calibri"/>
              </a:rPr>
              <a:t>terms</a:t>
            </a:r>
            <a:r>
              <a:rPr dirty="0" sz="1950" spc="15">
                <a:latin typeface="Calibri"/>
                <a:cs typeface="Calibri"/>
              </a:rPr>
              <a:t> </a:t>
            </a:r>
            <a:r>
              <a:rPr dirty="0" sz="1950" spc="-25">
                <a:latin typeface="Calibri"/>
                <a:cs typeface="Calibri"/>
              </a:rPr>
              <a:t>of</a:t>
            </a:r>
            <a:endParaRPr sz="1950">
              <a:latin typeface="Calibri"/>
              <a:cs typeface="Calibri"/>
            </a:endParaRPr>
          </a:p>
          <a:p>
            <a:pPr marL="389255" indent="-376555">
              <a:lnSpc>
                <a:spcPct val="100000"/>
              </a:lnSpc>
              <a:spcBef>
                <a:spcPts val="585"/>
              </a:spcBef>
              <a:buAutoNum type="arabicPeriod"/>
              <a:tabLst>
                <a:tab pos="389255" algn="l"/>
              </a:tabLst>
            </a:pPr>
            <a:r>
              <a:rPr dirty="0" sz="1950">
                <a:latin typeface="Calibri"/>
                <a:cs typeface="Calibri"/>
              </a:rPr>
              <a:t>the</a:t>
            </a:r>
            <a:r>
              <a:rPr dirty="0" sz="1950" spc="10">
                <a:latin typeface="Calibri"/>
                <a:cs typeface="Calibri"/>
              </a:rPr>
              <a:t> </a:t>
            </a:r>
            <a:r>
              <a:rPr dirty="0" sz="1950">
                <a:latin typeface="Calibri"/>
                <a:cs typeface="Calibri"/>
              </a:rPr>
              <a:t>input</a:t>
            </a:r>
            <a:r>
              <a:rPr dirty="0" sz="1950" spc="-5">
                <a:latin typeface="Calibri"/>
                <a:cs typeface="Calibri"/>
              </a:rPr>
              <a:t> </a:t>
            </a:r>
            <a:r>
              <a:rPr dirty="0" sz="1950">
                <a:latin typeface="Calibri"/>
                <a:cs typeface="Calibri"/>
              </a:rPr>
              <a:t>data</a:t>
            </a:r>
            <a:r>
              <a:rPr dirty="0" sz="1950" spc="35">
                <a:latin typeface="Calibri"/>
                <a:cs typeface="Calibri"/>
              </a:rPr>
              <a:t> </a:t>
            </a:r>
            <a:r>
              <a:rPr dirty="0" sz="1950">
                <a:latin typeface="Calibri"/>
                <a:cs typeface="Calibri"/>
              </a:rPr>
              <a:t>to</a:t>
            </a:r>
            <a:r>
              <a:rPr dirty="0" sz="1950" spc="30">
                <a:latin typeface="Calibri"/>
                <a:cs typeface="Calibri"/>
              </a:rPr>
              <a:t> </a:t>
            </a:r>
            <a:r>
              <a:rPr dirty="0" sz="1950">
                <a:latin typeface="Calibri"/>
                <a:cs typeface="Calibri"/>
              </a:rPr>
              <a:t>the</a:t>
            </a:r>
            <a:r>
              <a:rPr dirty="0" sz="1950" spc="15">
                <a:latin typeface="Calibri"/>
                <a:cs typeface="Calibri"/>
              </a:rPr>
              <a:t> </a:t>
            </a:r>
            <a:r>
              <a:rPr dirty="0" sz="1950" spc="-10">
                <a:latin typeface="Calibri"/>
                <a:cs typeface="Calibri"/>
              </a:rPr>
              <a:t>system,</a:t>
            </a:r>
            <a:endParaRPr sz="1950">
              <a:latin typeface="Calibri"/>
              <a:cs typeface="Calibri"/>
            </a:endParaRPr>
          </a:p>
          <a:p>
            <a:pPr marL="389255" indent="-376555">
              <a:lnSpc>
                <a:spcPct val="100000"/>
              </a:lnSpc>
              <a:spcBef>
                <a:spcPts val="625"/>
              </a:spcBef>
              <a:buAutoNum type="arabicPeriod"/>
              <a:tabLst>
                <a:tab pos="389255" algn="l"/>
              </a:tabLst>
            </a:pPr>
            <a:r>
              <a:rPr dirty="0" sz="1950">
                <a:latin typeface="Calibri"/>
                <a:cs typeface="Calibri"/>
              </a:rPr>
              <a:t>various</a:t>
            </a:r>
            <a:r>
              <a:rPr dirty="0" sz="1950" spc="25">
                <a:latin typeface="Calibri"/>
                <a:cs typeface="Calibri"/>
              </a:rPr>
              <a:t> </a:t>
            </a:r>
            <a:r>
              <a:rPr dirty="0" sz="1950">
                <a:latin typeface="Calibri"/>
                <a:cs typeface="Calibri"/>
              </a:rPr>
              <a:t>processing</a:t>
            </a:r>
            <a:r>
              <a:rPr dirty="0" sz="1950" spc="10">
                <a:latin typeface="Calibri"/>
                <a:cs typeface="Calibri"/>
              </a:rPr>
              <a:t> </a:t>
            </a:r>
            <a:r>
              <a:rPr dirty="0" sz="1950">
                <a:latin typeface="Calibri"/>
                <a:cs typeface="Calibri"/>
              </a:rPr>
              <a:t>carried</a:t>
            </a:r>
            <a:r>
              <a:rPr dirty="0" sz="1950" spc="20">
                <a:latin typeface="Calibri"/>
                <a:cs typeface="Calibri"/>
              </a:rPr>
              <a:t> </a:t>
            </a:r>
            <a:r>
              <a:rPr dirty="0" sz="1950">
                <a:latin typeface="Calibri"/>
                <a:cs typeface="Calibri"/>
              </a:rPr>
              <a:t>out</a:t>
            </a:r>
            <a:r>
              <a:rPr dirty="0" sz="1950" spc="15">
                <a:latin typeface="Calibri"/>
                <a:cs typeface="Calibri"/>
              </a:rPr>
              <a:t> </a:t>
            </a:r>
            <a:r>
              <a:rPr dirty="0" sz="1950">
                <a:latin typeface="Calibri"/>
                <a:cs typeface="Calibri"/>
              </a:rPr>
              <a:t>on</a:t>
            </a:r>
            <a:r>
              <a:rPr dirty="0" sz="1950" spc="45">
                <a:latin typeface="Calibri"/>
                <a:cs typeface="Calibri"/>
              </a:rPr>
              <a:t> </a:t>
            </a:r>
            <a:r>
              <a:rPr dirty="0" sz="1950">
                <a:latin typeface="Calibri"/>
                <a:cs typeface="Calibri"/>
              </a:rPr>
              <a:t>those</a:t>
            </a:r>
            <a:r>
              <a:rPr dirty="0" sz="1950" spc="10">
                <a:latin typeface="Calibri"/>
                <a:cs typeface="Calibri"/>
              </a:rPr>
              <a:t> </a:t>
            </a:r>
            <a:r>
              <a:rPr dirty="0" sz="1950">
                <a:latin typeface="Calibri"/>
                <a:cs typeface="Calibri"/>
              </a:rPr>
              <a:t>data,</a:t>
            </a:r>
            <a:r>
              <a:rPr dirty="0" sz="1950" spc="60">
                <a:latin typeface="Calibri"/>
                <a:cs typeface="Calibri"/>
              </a:rPr>
              <a:t> </a:t>
            </a:r>
            <a:r>
              <a:rPr dirty="0" sz="1950" spc="-25">
                <a:latin typeface="Calibri"/>
                <a:cs typeface="Calibri"/>
              </a:rPr>
              <a:t>and</a:t>
            </a:r>
            <a:endParaRPr sz="1950">
              <a:latin typeface="Calibri"/>
              <a:cs typeface="Calibri"/>
            </a:endParaRPr>
          </a:p>
          <a:p>
            <a:pPr marL="389255" indent="-376555">
              <a:lnSpc>
                <a:spcPct val="100000"/>
              </a:lnSpc>
              <a:spcBef>
                <a:spcPts val="620"/>
              </a:spcBef>
              <a:buAutoNum type="arabicPeriod"/>
              <a:tabLst>
                <a:tab pos="389255" algn="l"/>
              </a:tabLst>
            </a:pPr>
            <a:r>
              <a:rPr dirty="0" sz="1950">
                <a:latin typeface="Calibri"/>
                <a:cs typeface="Calibri"/>
              </a:rPr>
              <a:t>the</a:t>
            </a:r>
            <a:r>
              <a:rPr dirty="0" sz="1950" spc="10">
                <a:latin typeface="Calibri"/>
                <a:cs typeface="Calibri"/>
              </a:rPr>
              <a:t> </a:t>
            </a:r>
            <a:r>
              <a:rPr dirty="0" sz="1950">
                <a:latin typeface="Calibri"/>
                <a:cs typeface="Calibri"/>
              </a:rPr>
              <a:t>output data</a:t>
            </a:r>
            <a:r>
              <a:rPr dirty="0" sz="1950" spc="35">
                <a:latin typeface="Calibri"/>
                <a:cs typeface="Calibri"/>
              </a:rPr>
              <a:t> </a:t>
            </a:r>
            <a:r>
              <a:rPr dirty="0" sz="1950">
                <a:latin typeface="Calibri"/>
                <a:cs typeface="Calibri"/>
              </a:rPr>
              <a:t>generated</a:t>
            </a:r>
            <a:r>
              <a:rPr dirty="0" sz="1950" spc="20">
                <a:latin typeface="Calibri"/>
                <a:cs typeface="Calibri"/>
              </a:rPr>
              <a:t> </a:t>
            </a:r>
            <a:r>
              <a:rPr dirty="0" sz="1950">
                <a:latin typeface="Calibri"/>
                <a:cs typeface="Calibri"/>
              </a:rPr>
              <a:t>by</a:t>
            </a:r>
            <a:r>
              <a:rPr dirty="0" sz="1950" spc="5">
                <a:latin typeface="Calibri"/>
                <a:cs typeface="Calibri"/>
              </a:rPr>
              <a:t> </a:t>
            </a:r>
            <a:r>
              <a:rPr dirty="0" sz="1950">
                <a:latin typeface="Calibri"/>
                <a:cs typeface="Calibri"/>
              </a:rPr>
              <a:t>the</a:t>
            </a:r>
            <a:r>
              <a:rPr dirty="0" sz="1950" spc="15">
                <a:latin typeface="Calibri"/>
                <a:cs typeface="Calibri"/>
              </a:rPr>
              <a:t> </a:t>
            </a:r>
            <a:r>
              <a:rPr dirty="0" sz="1950" spc="-10">
                <a:latin typeface="Calibri"/>
                <a:cs typeface="Calibri"/>
              </a:rPr>
              <a:t>system.</a:t>
            </a:r>
            <a:endParaRPr sz="19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53912" y="1558630"/>
            <a:ext cx="5021580" cy="579755"/>
          </a:xfrm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3600">
                <a:latin typeface="Calibri"/>
                <a:cs typeface="Calibri"/>
              </a:rPr>
              <a:t>Data</a:t>
            </a:r>
            <a:r>
              <a:rPr dirty="0" sz="3600" spc="-150">
                <a:latin typeface="Calibri"/>
                <a:cs typeface="Calibri"/>
              </a:rPr>
              <a:t> </a:t>
            </a:r>
            <a:r>
              <a:rPr dirty="0" sz="3600">
                <a:latin typeface="Calibri"/>
                <a:cs typeface="Calibri"/>
              </a:rPr>
              <a:t>Flow</a:t>
            </a:r>
            <a:r>
              <a:rPr dirty="0" sz="3600" spc="-140">
                <a:latin typeface="Calibri"/>
                <a:cs typeface="Calibri"/>
              </a:rPr>
              <a:t> </a:t>
            </a:r>
            <a:r>
              <a:rPr dirty="0" sz="3600">
                <a:latin typeface="Calibri"/>
                <a:cs typeface="Calibri"/>
              </a:rPr>
              <a:t>Diagrams</a:t>
            </a:r>
            <a:r>
              <a:rPr dirty="0" sz="3600" spc="-135">
                <a:latin typeface="Calibri"/>
                <a:cs typeface="Calibri"/>
              </a:rPr>
              <a:t> </a:t>
            </a:r>
            <a:r>
              <a:rPr dirty="0" sz="3600" spc="-10">
                <a:latin typeface="Calibri"/>
                <a:cs typeface="Calibri"/>
              </a:rPr>
              <a:t>(DFDs)</a:t>
            </a:r>
            <a:endParaRPr sz="3600">
              <a:latin typeface="Calibri"/>
              <a:cs typeface="Calibri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753831" y="2543019"/>
            <a:ext cx="8551545" cy="2438400"/>
          </a:xfrm>
          <a:prstGeom prst="rect">
            <a:avLst/>
          </a:prstGeom>
        </p:spPr>
        <p:txBody>
          <a:bodyPr wrap="square" lIns="0" tIns="46355" rIns="0" bIns="0" rtlCol="0" vert="horz">
            <a:spAutoFit/>
          </a:bodyPr>
          <a:lstStyle/>
          <a:p>
            <a:pPr algn="just" marL="200025" marR="5080" indent="-187960">
              <a:lnSpc>
                <a:spcPts val="2140"/>
              </a:lnSpc>
              <a:spcBef>
                <a:spcPts val="365"/>
              </a:spcBef>
              <a:buFont typeface="Arial MT"/>
              <a:buChar char="•"/>
              <a:tabLst>
                <a:tab pos="201295" algn="l"/>
              </a:tabLst>
            </a:pPr>
            <a:r>
              <a:rPr dirty="0" sz="1950">
                <a:latin typeface="Calibri"/>
                <a:cs typeface="Calibri"/>
              </a:rPr>
              <a:t>Starting</a:t>
            </a:r>
            <a:r>
              <a:rPr dirty="0" sz="1950" spc="225">
                <a:latin typeface="Calibri"/>
                <a:cs typeface="Calibri"/>
              </a:rPr>
              <a:t> </a:t>
            </a:r>
            <a:r>
              <a:rPr dirty="0" sz="1950">
                <a:latin typeface="Calibri"/>
                <a:cs typeface="Calibri"/>
              </a:rPr>
              <a:t>with</a:t>
            </a:r>
            <a:r>
              <a:rPr dirty="0" sz="1950" spc="215">
                <a:latin typeface="Calibri"/>
                <a:cs typeface="Calibri"/>
              </a:rPr>
              <a:t> </a:t>
            </a:r>
            <a:r>
              <a:rPr dirty="0" sz="1950">
                <a:latin typeface="Calibri"/>
                <a:cs typeface="Calibri"/>
              </a:rPr>
              <a:t>a</a:t>
            </a:r>
            <a:r>
              <a:rPr dirty="0" sz="1950" spc="210">
                <a:latin typeface="Calibri"/>
                <a:cs typeface="Calibri"/>
              </a:rPr>
              <a:t> </a:t>
            </a:r>
            <a:r>
              <a:rPr dirty="0" sz="1950">
                <a:latin typeface="Calibri"/>
                <a:cs typeface="Calibri"/>
              </a:rPr>
              <a:t>set</a:t>
            </a:r>
            <a:r>
              <a:rPr dirty="0" sz="1950" spc="215">
                <a:latin typeface="Calibri"/>
                <a:cs typeface="Calibri"/>
              </a:rPr>
              <a:t> </a:t>
            </a:r>
            <a:r>
              <a:rPr dirty="0" sz="1950">
                <a:latin typeface="Calibri"/>
                <a:cs typeface="Calibri"/>
              </a:rPr>
              <a:t>of</a:t>
            </a:r>
            <a:r>
              <a:rPr dirty="0" sz="1950" spc="215">
                <a:latin typeface="Calibri"/>
                <a:cs typeface="Calibri"/>
              </a:rPr>
              <a:t> </a:t>
            </a:r>
            <a:r>
              <a:rPr dirty="0" sz="1950">
                <a:latin typeface="Calibri"/>
                <a:cs typeface="Calibri"/>
              </a:rPr>
              <a:t>high-level</a:t>
            </a:r>
            <a:r>
              <a:rPr dirty="0" sz="1950" spc="229">
                <a:latin typeface="Calibri"/>
                <a:cs typeface="Calibri"/>
              </a:rPr>
              <a:t> </a:t>
            </a:r>
            <a:r>
              <a:rPr dirty="0" sz="1950">
                <a:latin typeface="Calibri"/>
                <a:cs typeface="Calibri"/>
              </a:rPr>
              <a:t>functions</a:t>
            </a:r>
            <a:r>
              <a:rPr dirty="0" sz="1950" spc="225">
                <a:latin typeface="Calibri"/>
                <a:cs typeface="Calibri"/>
              </a:rPr>
              <a:t> </a:t>
            </a:r>
            <a:r>
              <a:rPr dirty="0" sz="1950">
                <a:latin typeface="Calibri"/>
                <a:cs typeface="Calibri"/>
              </a:rPr>
              <a:t>that</a:t>
            </a:r>
            <a:r>
              <a:rPr dirty="0" sz="1950" spc="220">
                <a:latin typeface="Calibri"/>
                <a:cs typeface="Calibri"/>
              </a:rPr>
              <a:t> </a:t>
            </a:r>
            <a:r>
              <a:rPr dirty="0" sz="1950">
                <a:latin typeface="Calibri"/>
                <a:cs typeface="Calibri"/>
              </a:rPr>
              <a:t>a</a:t>
            </a:r>
            <a:r>
              <a:rPr dirty="0" sz="1950" spc="225">
                <a:latin typeface="Calibri"/>
                <a:cs typeface="Calibri"/>
              </a:rPr>
              <a:t> </a:t>
            </a:r>
            <a:r>
              <a:rPr dirty="0" sz="1950">
                <a:latin typeface="Calibri"/>
                <a:cs typeface="Calibri"/>
              </a:rPr>
              <a:t>system</a:t>
            </a:r>
            <a:r>
              <a:rPr dirty="0" sz="1950" spc="229">
                <a:latin typeface="Calibri"/>
                <a:cs typeface="Calibri"/>
              </a:rPr>
              <a:t> </a:t>
            </a:r>
            <a:r>
              <a:rPr dirty="0" sz="1950">
                <a:latin typeface="Calibri"/>
                <a:cs typeface="Calibri"/>
              </a:rPr>
              <a:t>performs,</a:t>
            </a:r>
            <a:r>
              <a:rPr dirty="0" sz="1950" spc="204">
                <a:latin typeface="Calibri"/>
                <a:cs typeface="Calibri"/>
              </a:rPr>
              <a:t> </a:t>
            </a:r>
            <a:r>
              <a:rPr dirty="0" sz="1950">
                <a:latin typeface="Calibri"/>
                <a:cs typeface="Calibri"/>
              </a:rPr>
              <a:t>a</a:t>
            </a:r>
            <a:r>
              <a:rPr dirty="0" sz="1950" spc="204">
                <a:latin typeface="Calibri"/>
                <a:cs typeface="Calibri"/>
              </a:rPr>
              <a:t> </a:t>
            </a:r>
            <a:r>
              <a:rPr dirty="0" sz="1950">
                <a:latin typeface="Calibri"/>
                <a:cs typeface="Calibri"/>
              </a:rPr>
              <a:t>DFD</a:t>
            </a:r>
            <a:r>
              <a:rPr dirty="0" sz="1950" spc="235">
                <a:latin typeface="Calibri"/>
                <a:cs typeface="Calibri"/>
              </a:rPr>
              <a:t> </a:t>
            </a:r>
            <a:r>
              <a:rPr dirty="0" sz="1950" spc="-10">
                <a:latin typeface="Calibri"/>
                <a:cs typeface="Calibri"/>
              </a:rPr>
              <a:t>model </a:t>
            </a:r>
            <a:r>
              <a:rPr dirty="0" sz="1950" spc="-10">
                <a:latin typeface="Calibri"/>
                <a:cs typeface="Calibri"/>
              </a:rPr>
              <a:t>	</a:t>
            </a:r>
            <a:r>
              <a:rPr dirty="0" sz="1950">
                <a:latin typeface="Calibri"/>
                <a:cs typeface="Calibri"/>
              </a:rPr>
              <a:t>represents</a:t>
            </a:r>
            <a:r>
              <a:rPr dirty="0" sz="1950" spc="405">
                <a:latin typeface="Calibri"/>
                <a:cs typeface="Calibri"/>
              </a:rPr>
              <a:t> </a:t>
            </a:r>
            <a:r>
              <a:rPr dirty="0" sz="1950">
                <a:latin typeface="Calibri"/>
                <a:cs typeface="Calibri"/>
              </a:rPr>
              <a:t>the</a:t>
            </a:r>
            <a:r>
              <a:rPr dirty="0" sz="1950" spc="409">
                <a:latin typeface="Calibri"/>
                <a:cs typeface="Calibri"/>
              </a:rPr>
              <a:t> </a:t>
            </a:r>
            <a:r>
              <a:rPr dirty="0" sz="1950">
                <a:latin typeface="Calibri"/>
                <a:cs typeface="Calibri"/>
              </a:rPr>
              <a:t>sub-functions</a:t>
            </a:r>
            <a:r>
              <a:rPr dirty="0" sz="1950" spc="385">
                <a:latin typeface="Calibri"/>
                <a:cs typeface="Calibri"/>
              </a:rPr>
              <a:t> </a:t>
            </a:r>
            <a:r>
              <a:rPr dirty="0" sz="1950">
                <a:latin typeface="Calibri"/>
                <a:cs typeface="Calibri"/>
              </a:rPr>
              <a:t>performed</a:t>
            </a:r>
            <a:r>
              <a:rPr dirty="0" sz="1950" spc="415">
                <a:latin typeface="Calibri"/>
                <a:cs typeface="Calibri"/>
              </a:rPr>
              <a:t> </a:t>
            </a:r>
            <a:r>
              <a:rPr dirty="0" sz="1950">
                <a:latin typeface="Calibri"/>
                <a:cs typeface="Calibri"/>
              </a:rPr>
              <a:t>by</a:t>
            </a:r>
            <a:r>
              <a:rPr dirty="0" sz="1950" spc="400">
                <a:latin typeface="Calibri"/>
                <a:cs typeface="Calibri"/>
              </a:rPr>
              <a:t> </a:t>
            </a:r>
            <a:r>
              <a:rPr dirty="0" sz="1950">
                <a:latin typeface="Calibri"/>
                <a:cs typeface="Calibri"/>
              </a:rPr>
              <a:t>the</a:t>
            </a:r>
            <a:r>
              <a:rPr dirty="0" sz="1950" spc="409">
                <a:latin typeface="Calibri"/>
                <a:cs typeface="Calibri"/>
              </a:rPr>
              <a:t> </a:t>
            </a:r>
            <a:r>
              <a:rPr dirty="0" sz="1950">
                <a:latin typeface="Calibri"/>
                <a:cs typeface="Calibri"/>
              </a:rPr>
              <a:t>functions</a:t>
            </a:r>
            <a:r>
              <a:rPr dirty="0" sz="1950" spc="405">
                <a:latin typeface="Calibri"/>
                <a:cs typeface="Calibri"/>
              </a:rPr>
              <a:t> </a:t>
            </a:r>
            <a:r>
              <a:rPr dirty="0" sz="1950">
                <a:latin typeface="Calibri"/>
                <a:cs typeface="Calibri"/>
              </a:rPr>
              <a:t>using</a:t>
            </a:r>
            <a:r>
              <a:rPr dirty="0" sz="1950" spc="405">
                <a:latin typeface="Calibri"/>
                <a:cs typeface="Calibri"/>
              </a:rPr>
              <a:t> </a:t>
            </a:r>
            <a:r>
              <a:rPr dirty="0" sz="1950">
                <a:latin typeface="Calibri"/>
                <a:cs typeface="Calibri"/>
              </a:rPr>
              <a:t>a</a:t>
            </a:r>
            <a:r>
              <a:rPr dirty="0" sz="1950" spc="409">
                <a:latin typeface="Calibri"/>
                <a:cs typeface="Calibri"/>
              </a:rPr>
              <a:t> </a:t>
            </a:r>
            <a:r>
              <a:rPr dirty="0" sz="1950">
                <a:latin typeface="Calibri"/>
                <a:cs typeface="Calibri"/>
              </a:rPr>
              <a:t>hierarchy</a:t>
            </a:r>
            <a:r>
              <a:rPr dirty="0" sz="1950" spc="420">
                <a:latin typeface="Calibri"/>
                <a:cs typeface="Calibri"/>
              </a:rPr>
              <a:t> </a:t>
            </a:r>
            <a:r>
              <a:rPr dirty="0" sz="1950" spc="-25">
                <a:latin typeface="Calibri"/>
                <a:cs typeface="Calibri"/>
              </a:rPr>
              <a:t>of </a:t>
            </a:r>
            <a:r>
              <a:rPr dirty="0" sz="1950" spc="-25">
                <a:latin typeface="Calibri"/>
                <a:cs typeface="Calibri"/>
              </a:rPr>
              <a:t>	</a:t>
            </a:r>
            <a:r>
              <a:rPr dirty="0" sz="1950" spc="-10">
                <a:latin typeface="Calibri"/>
                <a:cs typeface="Calibri"/>
              </a:rPr>
              <a:t>diagrams</a:t>
            </a:r>
            <a:endParaRPr sz="1950">
              <a:latin typeface="Calibri"/>
              <a:cs typeface="Calibri"/>
            </a:endParaRPr>
          </a:p>
          <a:p>
            <a:pPr algn="just" marL="200025" marR="5715" indent="-187960">
              <a:lnSpc>
                <a:spcPts val="2140"/>
              </a:lnSpc>
              <a:spcBef>
                <a:spcPts val="820"/>
              </a:spcBef>
              <a:buFont typeface="Arial MT"/>
              <a:buChar char="•"/>
              <a:tabLst>
                <a:tab pos="201295" algn="l"/>
              </a:tabLst>
            </a:pPr>
            <a:r>
              <a:rPr dirty="0" sz="1950">
                <a:latin typeface="Calibri"/>
                <a:cs typeface="Calibri"/>
              </a:rPr>
              <a:t>In</a:t>
            </a:r>
            <a:r>
              <a:rPr dirty="0" sz="1950" spc="200">
                <a:latin typeface="Calibri"/>
                <a:cs typeface="Calibri"/>
              </a:rPr>
              <a:t> </a:t>
            </a:r>
            <a:r>
              <a:rPr dirty="0" sz="1950">
                <a:latin typeface="Calibri"/>
                <a:cs typeface="Calibri"/>
              </a:rPr>
              <a:t>a</a:t>
            </a:r>
            <a:r>
              <a:rPr dirty="0" sz="1950" spc="175">
                <a:latin typeface="Calibri"/>
                <a:cs typeface="Calibri"/>
              </a:rPr>
              <a:t> </a:t>
            </a:r>
            <a:r>
              <a:rPr dirty="0" sz="1950">
                <a:latin typeface="Calibri"/>
                <a:cs typeface="Calibri"/>
              </a:rPr>
              <a:t>hierarchical</a:t>
            </a:r>
            <a:r>
              <a:rPr dirty="0" sz="1950" spc="195">
                <a:latin typeface="Calibri"/>
                <a:cs typeface="Calibri"/>
              </a:rPr>
              <a:t> </a:t>
            </a:r>
            <a:r>
              <a:rPr dirty="0" sz="1950">
                <a:latin typeface="Calibri"/>
                <a:cs typeface="Calibri"/>
              </a:rPr>
              <a:t>model,</a:t>
            </a:r>
            <a:r>
              <a:rPr dirty="0" sz="1950" spc="175">
                <a:latin typeface="Calibri"/>
                <a:cs typeface="Calibri"/>
              </a:rPr>
              <a:t> </a:t>
            </a:r>
            <a:r>
              <a:rPr dirty="0" sz="1950">
                <a:latin typeface="Calibri"/>
                <a:cs typeface="Calibri"/>
              </a:rPr>
              <a:t>starting</a:t>
            </a:r>
            <a:r>
              <a:rPr dirty="0" sz="1950" spc="195">
                <a:latin typeface="Calibri"/>
                <a:cs typeface="Calibri"/>
              </a:rPr>
              <a:t> </a:t>
            </a:r>
            <a:r>
              <a:rPr dirty="0" sz="1950">
                <a:latin typeface="Calibri"/>
                <a:cs typeface="Calibri"/>
              </a:rPr>
              <a:t>with</a:t>
            </a:r>
            <a:r>
              <a:rPr dirty="0" sz="1950" spc="185">
                <a:latin typeface="Calibri"/>
                <a:cs typeface="Calibri"/>
              </a:rPr>
              <a:t> </a:t>
            </a:r>
            <a:r>
              <a:rPr dirty="0" sz="1950">
                <a:latin typeface="Calibri"/>
                <a:cs typeface="Calibri"/>
              </a:rPr>
              <a:t>a</a:t>
            </a:r>
            <a:r>
              <a:rPr dirty="0" sz="1950" spc="175">
                <a:latin typeface="Calibri"/>
                <a:cs typeface="Calibri"/>
              </a:rPr>
              <a:t> </a:t>
            </a:r>
            <a:r>
              <a:rPr dirty="0" sz="1950">
                <a:latin typeface="Calibri"/>
                <a:cs typeface="Calibri"/>
              </a:rPr>
              <a:t>very</a:t>
            </a:r>
            <a:r>
              <a:rPr dirty="0" sz="1950" spc="190">
                <a:latin typeface="Calibri"/>
                <a:cs typeface="Calibri"/>
              </a:rPr>
              <a:t> </a:t>
            </a:r>
            <a:r>
              <a:rPr dirty="0" sz="1950">
                <a:latin typeface="Calibri"/>
                <a:cs typeface="Calibri"/>
              </a:rPr>
              <a:t>abstract</a:t>
            </a:r>
            <a:r>
              <a:rPr dirty="0" sz="1950" spc="185">
                <a:latin typeface="Calibri"/>
                <a:cs typeface="Calibri"/>
              </a:rPr>
              <a:t> </a:t>
            </a:r>
            <a:r>
              <a:rPr dirty="0" sz="1950">
                <a:latin typeface="Calibri"/>
                <a:cs typeface="Calibri"/>
              </a:rPr>
              <a:t>model</a:t>
            </a:r>
            <a:r>
              <a:rPr dirty="0" sz="1950" spc="190">
                <a:latin typeface="Calibri"/>
                <a:cs typeface="Calibri"/>
              </a:rPr>
              <a:t> </a:t>
            </a:r>
            <a:r>
              <a:rPr dirty="0" sz="1950">
                <a:latin typeface="Calibri"/>
                <a:cs typeface="Calibri"/>
              </a:rPr>
              <a:t>of</a:t>
            </a:r>
            <a:r>
              <a:rPr dirty="0" sz="1950" spc="185">
                <a:latin typeface="Calibri"/>
                <a:cs typeface="Calibri"/>
              </a:rPr>
              <a:t> </a:t>
            </a:r>
            <a:r>
              <a:rPr dirty="0" sz="1950">
                <a:latin typeface="Calibri"/>
                <a:cs typeface="Calibri"/>
              </a:rPr>
              <a:t>a</a:t>
            </a:r>
            <a:r>
              <a:rPr dirty="0" sz="1950" spc="175">
                <a:latin typeface="Calibri"/>
                <a:cs typeface="Calibri"/>
              </a:rPr>
              <a:t> </a:t>
            </a:r>
            <a:r>
              <a:rPr dirty="0" sz="1950">
                <a:latin typeface="Calibri"/>
                <a:cs typeface="Calibri"/>
              </a:rPr>
              <a:t>system,</a:t>
            </a:r>
            <a:r>
              <a:rPr dirty="0" sz="1950" spc="195">
                <a:latin typeface="Calibri"/>
                <a:cs typeface="Calibri"/>
              </a:rPr>
              <a:t> </a:t>
            </a:r>
            <a:r>
              <a:rPr dirty="0" sz="1950" spc="-10">
                <a:latin typeface="Calibri"/>
                <a:cs typeface="Calibri"/>
              </a:rPr>
              <a:t>various </a:t>
            </a:r>
            <a:r>
              <a:rPr dirty="0" sz="1950" spc="-10">
                <a:latin typeface="Calibri"/>
                <a:cs typeface="Calibri"/>
              </a:rPr>
              <a:t>	</a:t>
            </a:r>
            <a:r>
              <a:rPr dirty="0" sz="1950">
                <a:latin typeface="Calibri"/>
                <a:cs typeface="Calibri"/>
              </a:rPr>
              <a:t>details</a:t>
            </a:r>
            <a:r>
              <a:rPr dirty="0" sz="1950" spc="90">
                <a:latin typeface="Calibri"/>
                <a:cs typeface="Calibri"/>
              </a:rPr>
              <a:t>  </a:t>
            </a:r>
            <a:r>
              <a:rPr dirty="0" sz="1950">
                <a:latin typeface="Calibri"/>
                <a:cs typeface="Calibri"/>
              </a:rPr>
              <a:t>of</a:t>
            </a:r>
            <a:r>
              <a:rPr dirty="0" sz="1950" spc="85">
                <a:latin typeface="Calibri"/>
                <a:cs typeface="Calibri"/>
              </a:rPr>
              <a:t>  </a:t>
            </a:r>
            <a:r>
              <a:rPr dirty="0" sz="1950">
                <a:latin typeface="Calibri"/>
                <a:cs typeface="Calibri"/>
              </a:rPr>
              <a:t>the</a:t>
            </a:r>
            <a:r>
              <a:rPr dirty="0" sz="1950" spc="95">
                <a:latin typeface="Calibri"/>
                <a:cs typeface="Calibri"/>
              </a:rPr>
              <a:t>  </a:t>
            </a:r>
            <a:r>
              <a:rPr dirty="0" sz="1950">
                <a:latin typeface="Calibri"/>
                <a:cs typeface="Calibri"/>
              </a:rPr>
              <a:t>system</a:t>
            </a:r>
            <a:r>
              <a:rPr dirty="0" sz="1950" spc="90">
                <a:latin typeface="Calibri"/>
                <a:cs typeface="Calibri"/>
              </a:rPr>
              <a:t>  </a:t>
            </a:r>
            <a:r>
              <a:rPr dirty="0" sz="1950">
                <a:latin typeface="Calibri"/>
                <a:cs typeface="Calibri"/>
              </a:rPr>
              <a:t>are</a:t>
            </a:r>
            <a:r>
              <a:rPr dirty="0" sz="1950" spc="95">
                <a:latin typeface="Calibri"/>
                <a:cs typeface="Calibri"/>
              </a:rPr>
              <a:t>  </a:t>
            </a:r>
            <a:r>
              <a:rPr dirty="0" sz="1950">
                <a:latin typeface="Calibri"/>
                <a:cs typeface="Calibri"/>
              </a:rPr>
              <a:t>slowly</a:t>
            </a:r>
            <a:r>
              <a:rPr dirty="0" sz="1950" spc="90">
                <a:latin typeface="Calibri"/>
                <a:cs typeface="Calibri"/>
              </a:rPr>
              <a:t>  </a:t>
            </a:r>
            <a:r>
              <a:rPr dirty="0" sz="1950">
                <a:latin typeface="Calibri"/>
                <a:cs typeface="Calibri"/>
              </a:rPr>
              <a:t>introduced</a:t>
            </a:r>
            <a:r>
              <a:rPr dirty="0" sz="1950" spc="95">
                <a:latin typeface="Calibri"/>
                <a:cs typeface="Calibri"/>
              </a:rPr>
              <a:t>  </a:t>
            </a:r>
            <a:r>
              <a:rPr dirty="0" sz="1950">
                <a:latin typeface="Calibri"/>
                <a:cs typeface="Calibri"/>
              </a:rPr>
              <a:t>through</a:t>
            </a:r>
            <a:r>
              <a:rPr dirty="0" sz="1950" spc="100">
                <a:latin typeface="Calibri"/>
                <a:cs typeface="Calibri"/>
              </a:rPr>
              <a:t>  </a:t>
            </a:r>
            <a:r>
              <a:rPr dirty="0" sz="1950">
                <a:latin typeface="Calibri"/>
                <a:cs typeface="Calibri"/>
              </a:rPr>
              <a:t>different</a:t>
            </a:r>
            <a:r>
              <a:rPr dirty="0" sz="1950" spc="95">
                <a:latin typeface="Calibri"/>
                <a:cs typeface="Calibri"/>
              </a:rPr>
              <a:t>  </a:t>
            </a:r>
            <a:r>
              <a:rPr dirty="0" sz="1950">
                <a:latin typeface="Calibri"/>
                <a:cs typeface="Calibri"/>
              </a:rPr>
              <a:t>levels</a:t>
            </a:r>
            <a:r>
              <a:rPr dirty="0" sz="1950" spc="90">
                <a:latin typeface="Calibri"/>
                <a:cs typeface="Calibri"/>
              </a:rPr>
              <a:t>  </a:t>
            </a:r>
            <a:r>
              <a:rPr dirty="0" sz="1950">
                <a:latin typeface="Calibri"/>
                <a:cs typeface="Calibri"/>
              </a:rPr>
              <a:t>of</a:t>
            </a:r>
            <a:r>
              <a:rPr dirty="0" sz="1950" spc="90">
                <a:latin typeface="Calibri"/>
                <a:cs typeface="Calibri"/>
              </a:rPr>
              <a:t>  </a:t>
            </a:r>
            <a:r>
              <a:rPr dirty="0" sz="1950" spc="-25">
                <a:latin typeface="Calibri"/>
                <a:cs typeface="Calibri"/>
              </a:rPr>
              <a:t>the </a:t>
            </a:r>
            <a:r>
              <a:rPr dirty="0" sz="1950" spc="-25">
                <a:latin typeface="Calibri"/>
                <a:cs typeface="Calibri"/>
              </a:rPr>
              <a:t>	</a:t>
            </a:r>
            <a:r>
              <a:rPr dirty="0" sz="1950" spc="-10">
                <a:latin typeface="Calibri"/>
                <a:cs typeface="Calibri"/>
              </a:rPr>
              <a:t>hierarchy.</a:t>
            </a:r>
            <a:endParaRPr sz="1950">
              <a:latin typeface="Calibri"/>
              <a:cs typeface="Calibri"/>
            </a:endParaRPr>
          </a:p>
          <a:p>
            <a:pPr algn="just" marL="200025" marR="5080" indent="-187960">
              <a:lnSpc>
                <a:spcPts val="2150"/>
              </a:lnSpc>
              <a:spcBef>
                <a:spcPts val="805"/>
              </a:spcBef>
              <a:buFont typeface="Arial MT"/>
              <a:buChar char="•"/>
              <a:tabLst>
                <a:tab pos="201295" algn="l"/>
              </a:tabLst>
            </a:pPr>
            <a:r>
              <a:rPr dirty="0" sz="1950">
                <a:latin typeface="Calibri"/>
                <a:cs typeface="Calibri"/>
              </a:rPr>
              <a:t>We</a:t>
            </a:r>
            <a:r>
              <a:rPr dirty="0" sz="1950" spc="20">
                <a:latin typeface="Calibri"/>
                <a:cs typeface="Calibri"/>
              </a:rPr>
              <a:t> </a:t>
            </a:r>
            <a:r>
              <a:rPr dirty="0" sz="1950">
                <a:latin typeface="Calibri"/>
                <a:cs typeface="Calibri"/>
              </a:rPr>
              <a:t>now</a:t>
            </a:r>
            <a:r>
              <a:rPr dirty="0" sz="1950" spc="30">
                <a:latin typeface="Calibri"/>
                <a:cs typeface="Calibri"/>
              </a:rPr>
              <a:t> </a:t>
            </a:r>
            <a:r>
              <a:rPr dirty="0" sz="1950">
                <a:latin typeface="Calibri"/>
                <a:cs typeface="Calibri"/>
              </a:rPr>
              <a:t>elaborate</a:t>
            </a:r>
            <a:r>
              <a:rPr dirty="0" sz="1950" spc="20">
                <a:latin typeface="Calibri"/>
                <a:cs typeface="Calibri"/>
              </a:rPr>
              <a:t> </a:t>
            </a:r>
            <a:r>
              <a:rPr dirty="0" sz="1950">
                <a:latin typeface="Calibri"/>
                <a:cs typeface="Calibri"/>
              </a:rPr>
              <a:t>the</a:t>
            </a:r>
            <a:r>
              <a:rPr dirty="0" sz="1950" spc="25">
                <a:latin typeface="Calibri"/>
                <a:cs typeface="Calibri"/>
              </a:rPr>
              <a:t> </a:t>
            </a:r>
            <a:r>
              <a:rPr dirty="0" sz="1950">
                <a:latin typeface="Calibri"/>
                <a:cs typeface="Calibri"/>
              </a:rPr>
              <a:t>different</a:t>
            </a:r>
            <a:r>
              <a:rPr dirty="0" sz="1950" spc="25">
                <a:latin typeface="Calibri"/>
                <a:cs typeface="Calibri"/>
              </a:rPr>
              <a:t> </a:t>
            </a:r>
            <a:r>
              <a:rPr dirty="0" sz="1950">
                <a:latin typeface="Calibri"/>
                <a:cs typeface="Calibri"/>
              </a:rPr>
              <a:t>concepts</a:t>
            </a:r>
            <a:r>
              <a:rPr dirty="0" sz="1950" spc="40">
                <a:latin typeface="Calibri"/>
                <a:cs typeface="Calibri"/>
              </a:rPr>
              <a:t> </a:t>
            </a:r>
            <a:r>
              <a:rPr dirty="0" sz="1950">
                <a:latin typeface="Calibri"/>
                <a:cs typeface="Calibri"/>
              </a:rPr>
              <a:t>associated</a:t>
            </a:r>
            <a:r>
              <a:rPr dirty="0" sz="1950" spc="10">
                <a:latin typeface="Calibri"/>
                <a:cs typeface="Calibri"/>
              </a:rPr>
              <a:t> </a:t>
            </a:r>
            <a:r>
              <a:rPr dirty="0" sz="1950">
                <a:latin typeface="Calibri"/>
                <a:cs typeface="Calibri"/>
              </a:rPr>
              <a:t>with</a:t>
            </a:r>
            <a:r>
              <a:rPr dirty="0" sz="1950" spc="25">
                <a:latin typeface="Calibri"/>
                <a:cs typeface="Calibri"/>
              </a:rPr>
              <a:t> </a:t>
            </a:r>
            <a:r>
              <a:rPr dirty="0" sz="1950">
                <a:latin typeface="Calibri"/>
                <a:cs typeface="Calibri"/>
              </a:rPr>
              <a:t>building</a:t>
            </a:r>
            <a:r>
              <a:rPr dirty="0" sz="1950" spc="20">
                <a:latin typeface="Calibri"/>
                <a:cs typeface="Calibri"/>
              </a:rPr>
              <a:t> </a:t>
            </a:r>
            <a:r>
              <a:rPr dirty="0" sz="1950">
                <a:latin typeface="Calibri"/>
                <a:cs typeface="Calibri"/>
              </a:rPr>
              <a:t>a DFD</a:t>
            </a:r>
            <a:r>
              <a:rPr dirty="0" sz="1950" spc="10">
                <a:latin typeface="Calibri"/>
                <a:cs typeface="Calibri"/>
              </a:rPr>
              <a:t> </a:t>
            </a:r>
            <a:r>
              <a:rPr dirty="0" sz="1950">
                <a:latin typeface="Calibri"/>
                <a:cs typeface="Calibri"/>
              </a:rPr>
              <a:t>model</a:t>
            </a:r>
            <a:r>
              <a:rPr dirty="0" sz="1950" spc="20">
                <a:latin typeface="Calibri"/>
                <a:cs typeface="Calibri"/>
              </a:rPr>
              <a:t> </a:t>
            </a:r>
            <a:r>
              <a:rPr dirty="0" sz="1950" spc="-25">
                <a:latin typeface="Calibri"/>
                <a:cs typeface="Calibri"/>
              </a:rPr>
              <a:t>of </a:t>
            </a:r>
            <a:r>
              <a:rPr dirty="0" sz="1950" spc="-25">
                <a:latin typeface="Calibri"/>
                <a:cs typeface="Calibri"/>
              </a:rPr>
              <a:t>	</a:t>
            </a:r>
            <a:r>
              <a:rPr dirty="0" sz="1950">
                <a:latin typeface="Calibri"/>
                <a:cs typeface="Calibri"/>
              </a:rPr>
              <a:t>a </a:t>
            </a:r>
            <a:r>
              <a:rPr dirty="0" sz="1950" spc="-10">
                <a:latin typeface="Calibri"/>
                <a:cs typeface="Calibri"/>
              </a:rPr>
              <a:t>system.</a:t>
            </a:r>
            <a:endParaRPr sz="19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55490" y="1559983"/>
            <a:ext cx="8345170" cy="579755"/>
          </a:xfrm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3600" spc="-10">
                <a:latin typeface="Calibri"/>
                <a:cs typeface="Calibri"/>
              </a:rPr>
              <a:t>Primitive</a:t>
            </a:r>
            <a:r>
              <a:rPr dirty="0" sz="3600" spc="-155">
                <a:latin typeface="Calibri"/>
                <a:cs typeface="Calibri"/>
              </a:rPr>
              <a:t> </a:t>
            </a:r>
            <a:r>
              <a:rPr dirty="0" sz="3600">
                <a:latin typeface="Calibri"/>
                <a:cs typeface="Calibri"/>
              </a:rPr>
              <a:t>symbols</a:t>
            </a:r>
            <a:r>
              <a:rPr dirty="0" sz="3600" spc="-135">
                <a:latin typeface="Calibri"/>
                <a:cs typeface="Calibri"/>
              </a:rPr>
              <a:t> </a:t>
            </a:r>
            <a:r>
              <a:rPr dirty="0" sz="3600">
                <a:latin typeface="Calibri"/>
                <a:cs typeface="Calibri"/>
              </a:rPr>
              <a:t>used</a:t>
            </a:r>
            <a:r>
              <a:rPr dirty="0" sz="3600" spc="-110">
                <a:latin typeface="Calibri"/>
                <a:cs typeface="Calibri"/>
              </a:rPr>
              <a:t> </a:t>
            </a:r>
            <a:r>
              <a:rPr dirty="0" sz="3600">
                <a:latin typeface="Calibri"/>
                <a:cs typeface="Calibri"/>
              </a:rPr>
              <a:t>for</a:t>
            </a:r>
            <a:r>
              <a:rPr dirty="0" sz="3600" spc="-125">
                <a:latin typeface="Calibri"/>
                <a:cs typeface="Calibri"/>
              </a:rPr>
              <a:t> </a:t>
            </a:r>
            <a:r>
              <a:rPr dirty="0" sz="3600">
                <a:latin typeface="Calibri"/>
                <a:cs typeface="Calibri"/>
              </a:rPr>
              <a:t>constructing</a:t>
            </a:r>
            <a:r>
              <a:rPr dirty="0" sz="3600" spc="-135">
                <a:latin typeface="Calibri"/>
                <a:cs typeface="Calibri"/>
              </a:rPr>
              <a:t> </a:t>
            </a:r>
            <a:r>
              <a:rPr dirty="0" sz="3600" spc="-20">
                <a:latin typeface="Calibri"/>
                <a:cs typeface="Calibri"/>
              </a:rPr>
              <a:t>DFDs</a:t>
            </a:r>
            <a:endParaRPr sz="3600">
              <a:latin typeface="Calibri"/>
              <a:cs typeface="Calibri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755433" y="2550690"/>
            <a:ext cx="8334375" cy="504825"/>
          </a:xfrm>
          <a:prstGeom prst="rect">
            <a:avLst/>
          </a:prstGeom>
        </p:spPr>
        <p:txBody>
          <a:bodyPr wrap="square" lIns="0" tIns="41275" rIns="0" bIns="0" rtlCol="0" vert="horz">
            <a:spAutoFit/>
          </a:bodyPr>
          <a:lstStyle/>
          <a:p>
            <a:pPr marL="201295" marR="5080" indent="-189230">
              <a:lnSpc>
                <a:spcPts val="1789"/>
              </a:lnSpc>
              <a:spcBef>
                <a:spcPts val="325"/>
              </a:spcBef>
              <a:buFont typeface="Arial MT"/>
              <a:buChar char="•"/>
              <a:tabLst>
                <a:tab pos="201295" algn="l"/>
              </a:tabLst>
            </a:pPr>
            <a:r>
              <a:rPr dirty="0" sz="1650">
                <a:latin typeface="Calibri"/>
                <a:cs typeface="Calibri"/>
              </a:rPr>
              <a:t>There</a:t>
            </a:r>
            <a:r>
              <a:rPr dirty="0" sz="1650" spc="-50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are</a:t>
            </a:r>
            <a:r>
              <a:rPr dirty="0" sz="1650" spc="-30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essentially</a:t>
            </a:r>
            <a:r>
              <a:rPr dirty="0" sz="1650" spc="-35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five</a:t>
            </a:r>
            <a:r>
              <a:rPr dirty="0" sz="1650" spc="-30">
                <a:latin typeface="Calibri"/>
                <a:cs typeface="Calibri"/>
              </a:rPr>
              <a:t> </a:t>
            </a:r>
            <a:r>
              <a:rPr dirty="0" sz="1650" spc="-10">
                <a:latin typeface="Calibri"/>
                <a:cs typeface="Calibri"/>
              </a:rPr>
              <a:t>different</a:t>
            </a:r>
            <a:r>
              <a:rPr dirty="0" sz="1650" spc="-55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types</a:t>
            </a:r>
            <a:r>
              <a:rPr dirty="0" sz="1650" spc="-40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of</a:t>
            </a:r>
            <a:r>
              <a:rPr dirty="0" sz="1650" spc="-30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symbols</a:t>
            </a:r>
            <a:r>
              <a:rPr dirty="0" sz="1650" spc="-50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used</a:t>
            </a:r>
            <a:r>
              <a:rPr dirty="0" sz="1650" spc="-40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for</a:t>
            </a:r>
            <a:r>
              <a:rPr dirty="0" sz="1650" spc="-35">
                <a:latin typeface="Calibri"/>
                <a:cs typeface="Calibri"/>
              </a:rPr>
              <a:t> </a:t>
            </a:r>
            <a:r>
              <a:rPr dirty="0" sz="1650" spc="-10">
                <a:latin typeface="Calibri"/>
                <a:cs typeface="Calibri"/>
              </a:rPr>
              <a:t>constructing</a:t>
            </a:r>
            <a:r>
              <a:rPr dirty="0" sz="1650" spc="-50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DFDs.</a:t>
            </a:r>
            <a:r>
              <a:rPr dirty="0" sz="1650" spc="-40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These</a:t>
            </a:r>
            <a:r>
              <a:rPr dirty="0" sz="1650" spc="-45">
                <a:latin typeface="Calibri"/>
                <a:cs typeface="Calibri"/>
              </a:rPr>
              <a:t> </a:t>
            </a:r>
            <a:r>
              <a:rPr dirty="0" sz="1650" spc="-10">
                <a:latin typeface="Calibri"/>
                <a:cs typeface="Calibri"/>
              </a:rPr>
              <a:t>primitive </a:t>
            </a:r>
            <a:r>
              <a:rPr dirty="0" sz="1650">
                <a:latin typeface="Calibri"/>
                <a:cs typeface="Calibri"/>
              </a:rPr>
              <a:t>symbols</a:t>
            </a:r>
            <a:r>
              <a:rPr dirty="0" sz="1650" spc="-45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are</a:t>
            </a:r>
            <a:r>
              <a:rPr dirty="0" sz="1650" spc="-15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depicted</a:t>
            </a:r>
            <a:r>
              <a:rPr dirty="0" sz="1650" spc="-50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in</a:t>
            </a:r>
            <a:r>
              <a:rPr dirty="0" sz="1650" spc="-15">
                <a:latin typeface="Calibri"/>
                <a:cs typeface="Calibri"/>
              </a:rPr>
              <a:t> </a:t>
            </a:r>
            <a:r>
              <a:rPr dirty="0" sz="1650" spc="-10">
                <a:latin typeface="Calibri"/>
                <a:cs typeface="Calibri"/>
              </a:rPr>
              <a:t>following</a:t>
            </a:r>
            <a:r>
              <a:rPr dirty="0" sz="1650" spc="-55">
                <a:latin typeface="Calibri"/>
                <a:cs typeface="Calibri"/>
              </a:rPr>
              <a:t> </a:t>
            </a:r>
            <a:r>
              <a:rPr dirty="0" sz="1650" spc="-10">
                <a:latin typeface="Calibri"/>
                <a:cs typeface="Calibri"/>
              </a:rPr>
              <a:t>Figure:</a:t>
            </a:r>
            <a:endParaRPr sz="1650">
              <a:latin typeface="Calibri"/>
              <a:cs typeface="Calibri"/>
            </a:endParaRP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85633" y="3347446"/>
            <a:ext cx="6352373" cy="316040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697219" y="1298939"/>
            <a:ext cx="6665595" cy="4379595"/>
          </a:xfrm>
          <a:prstGeom prst="rect">
            <a:avLst/>
          </a:prstGeom>
        </p:spPr>
        <p:txBody>
          <a:bodyPr wrap="square" lIns="0" tIns="91440" rIns="0" bIns="0" rtlCol="0" vert="horz">
            <a:spAutoFit/>
          </a:bodyPr>
          <a:lstStyle/>
          <a:p>
            <a:pPr algn="just" marL="12700">
              <a:lnSpc>
                <a:spcPct val="100000"/>
              </a:lnSpc>
              <a:spcBef>
                <a:spcPts val="720"/>
              </a:spcBef>
            </a:pPr>
            <a:r>
              <a:rPr dirty="0" sz="1650" b="1">
                <a:latin typeface="Calibri"/>
                <a:cs typeface="Calibri"/>
              </a:rPr>
              <a:t>Function</a:t>
            </a:r>
            <a:r>
              <a:rPr dirty="0" sz="1650" spc="-30" b="1">
                <a:latin typeface="Calibri"/>
                <a:cs typeface="Calibri"/>
              </a:rPr>
              <a:t> </a:t>
            </a:r>
            <a:r>
              <a:rPr dirty="0" sz="1650" b="1">
                <a:latin typeface="Calibri"/>
                <a:cs typeface="Calibri"/>
              </a:rPr>
              <a:t>symbol:</a:t>
            </a:r>
            <a:r>
              <a:rPr dirty="0" sz="1650" spc="-25" b="1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A</a:t>
            </a:r>
            <a:r>
              <a:rPr dirty="0" sz="1650" spc="-20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function</a:t>
            </a:r>
            <a:r>
              <a:rPr dirty="0" sz="1650" spc="-45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is</a:t>
            </a:r>
            <a:r>
              <a:rPr dirty="0" sz="1650" spc="-25">
                <a:latin typeface="Calibri"/>
                <a:cs typeface="Calibri"/>
              </a:rPr>
              <a:t> </a:t>
            </a:r>
            <a:r>
              <a:rPr dirty="0" sz="1650" spc="-10">
                <a:latin typeface="Calibri"/>
                <a:cs typeface="Calibri"/>
              </a:rPr>
              <a:t>represented</a:t>
            </a:r>
            <a:r>
              <a:rPr dirty="0" sz="1650" spc="-45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using</a:t>
            </a:r>
            <a:r>
              <a:rPr dirty="0" sz="1650" spc="-55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a</a:t>
            </a:r>
            <a:r>
              <a:rPr dirty="0" sz="1650" spc="-5">
                <a:latin typeface="Calibri"/>
                <a:cs typeface="Calibri"/>
              </a:rPr>
              <a:t> </a:t>
            </a:r>
            <a:r>
              <a:rPr dirty="0" sz="1650" spc="-10">
                <a:latin typeface="Calibri"/>
                <a:cs typeface="Calibri"/>
              </a:rPr>
              <a:t>circle.</a:t>
            </a:r>
            <a:endParaRPr sz="1650">
              <a:latin typeface="Calibri"/>
              <a:cs typeface="Calibri"/>
            </a:endParaRPr>
          </a:p>
          <a:p>
            <a:pPr algn="just" marL="201295" marR="6350" indent="-189230">
              <a:lnSpc>
                <a:spcPts val="1789"/>
              </a:lnSpc>
              <a:spcBef>
                <a:spcPts val="845"/>
              </a:spcBef>
              <a:buFont typeface="Arial MT"/>
              <a:buChar char="•"/>
              <a:tabLst>
                <a:tab pos="201295" algn="l"/>
              </a:tabLst>
            </a:pPr>
            <a:r>
              <a:rPr dirty="0" sz="1650">
                <a:latin typeface="Calibri"/>
                <a:cs typeface="Calibri"/>
              </a:rPr>
              <a:t>This</a:t>
            </a:r>
            <a:r>
              <a:rPr dirty="0" sz="1650" spc="-5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symbol</a:t>
            </a:r>
            <a:r>
              <a:rPr dirty="0" sz="1650" spc="25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is</a:t>
            </a:r>
            <a:r>
              <a:rPr dirty="0" sz="1650" spc="10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called</a:t>
            </a:r>
            <a:r>
              <a:rPr dirty="0" sz="1650" spc="20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a process</a:t>
            </a:r>
            <a:r>
              <a:rPr dirty="0" sz="1650" spc="10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or</a:t>
            </a:r>
            <a:r>
              <a:rPr dirty="0" sz="1650" spc="15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a bubble.</a:t>
            </a:r>
            <a:r>
              <a:rPr dirty="0" sz="1650" spc="5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Bubbles</a:t>
            </a:r>
            <a:r>
              <a:rPr dirty="0" sz="1650" spc="10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are</a:t>
            </a:r>
            <a:r>
              <a:rPr dirty="0" sz="1650" spc="20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annotated</a:t>
            </a:r>
            <a:r>
              <a:rPr dirty="0" sz="1650" spc="-10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with</a:t>
            </a:r>
            <a:r>
              <a:rPr dirty="0" sz="1650" spc="5">
                <a:latin typeface="Calibri"/>
                <a:cs typeface="Calibri"/>
              </a:rPr>
              <a:t> </a:t>
            </a:r>
            <a:r>
              <a:rPr dirty="0" sz="1650" spc="-25">
                <a:latin typeface="Calibri"/>
                <a:cs typeface="Calibri"/>
              </a:rPr>
              <a:t>the </a:t>
            </a:r>
            <a:r>
              <a:rPr dirty="0" sz="1650">
                <a:latin typeface="Calibri"/>
                <a:cs typeface="Calibri"/>
              </a:rPr>
              <a:t>names</a:t>
            </a:r>
            <a:r>
              <a:rPr dirty="0" sz="1650" spc="-15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of</a:t>
            </a:r>
            <a:r>
              <a:rPr dirty="0" sz="1650" spc="-15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the </a:t>
            </a:r>
            <a:r>
              <a:rPr dirty="0" sz="1650" spc="-10">
                <a:latin typeface="Calibri"/>
                <a:cs typeface="Calibri"/>
              </a:rPr>
              <a:t>corresponding</a:t>
            </a:r>
            <a:r>
              <a:rPr dirty="0" sz="1650" spc="-45">
                <a:latin typeface="Calibri"/>
                <a:cs typeface="Calibri"/>
              </a:rPr>
              <a:t> </a:t>
            </a:r>
            <a:r>
              <a:rPr dirty="0" sz="1650" spc="-10">
                <a:latin typeface="Calibri"/>
                <a:cs typeface="Calibri"/>
              </a:rPr>
              <a:t>functions.</a:t>
            </a:r>
            <a:endParaRPr sz="1650">
              <a:latin typeface="Calibri"/>
              <a:cs typeface="Calibri"/>
            </a:endParaRPr>
          </a:p>
          <a:p>
            <a:pPr algn="just" marL="12700" marR="5080">
              <a:lnSpc>
                <a:spcPct val="90100"/>
              </a:lnSpc>
              <a:spcBef>
                <a:spcPts val="790"/>
              </a:spcBef>
            </a:pPr>
            <a:r>
              <a:rPr dirty="0" sz="1650" b="1">
                <a:latin typeface="Calibri"/>
                <a:cs typeface="Calibri"/>
              </a:rPr>
              <a:t>External</a:t>
            </a:r>
            <a:r>
              <a:rPr dirty="0" sz="1650" spc="-20" b="1">
                <a:latin typeface="Calibri"/>
                <a:cs typeface="Calibri"/>
              </a:rPr>
              <a:t> </a:t>
            </a:r>
            <a:r>
              <a:rPr dirty="0" sz="1650" b="1">
                <a:latin typeface="Calibri"/>
                <a:cs typeface="Calibri"/>
              </a:rPr>
              <a:t>entity</a:t>
            </a:r>
            <a:r>
              <a:rPr dirty="0" sz="1650" spc="-30" b="1">
                <a:latin typeface="Calibri"/>
                <a:cs typeface="Calibri"/>
              </a:rPr>
              <a:t> </a:t>
            </a:r>
            <a:r>
              <a:rPr dirty="0" sz="1650" b="1">
                <a:latin typeface="Calibri"/>
                <a:cs typeface="Calibri"/>
              </a:rPr>
              <a:t>symbol:</a:t>
            </a:r>
            <a:r>
              <a:rPr dirty="0" sz="1650" spc="-45" b="1">
                <a:latin typeface="Calibri"/>
                <a:cs typeface="Calibri"/>
              </a:rPr>
              <a:t> </a:t>
            </a:r>
            <a:r>
              <a:rPr dirty="0" sz="1650" spc="-10">
                <a:latin typeface="Calibri"/>
                <a:cs typeface="Calibri"/>
              </a:rPr>
              <a:t>Represented</a:t>
            </a:r>
            <a:r>
              <a:rPr dirty="0" sz="1650" spc="-30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by</a:t>
            </a:r>
            <a:r>
              <a:rPr dirty="0" sz="1650" spc="-25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a</a:t>
            </a:r>
            <a:r>
              <a:rPr dirty="0" sz="1650" spc="-25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rectangle.</a:t>
            </a:r>
            <a:r>
              <a:rPr dirty="0" sz="1650" spc="-45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Essentially</a:t>
            </a:r>
            <a:r>
              <a:rPr dirty="0" sz="1650" spc="-25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those</a:t>
            </a:r>
            <a:r>
              <a:rPr dirty="0" sz="1650" spc="-25">
                <a:latin typeface="Calibri"/>
                <a:cs typeface="Calibri"/>
              </a:rPr>
              <a:t> </a:t>
            </a:r>
            <a:r>
              <a:rPr dirty="0" sz="1650" spc="-10">
                <a:latin typeface="Calibri"/>
                <a:cs typeface="Calibri"/>
              </a:rPr>
              <a:t>physical </a:t>
            </a:r>
            <a:r>
              <a:rPr dirty="0" sz="1650">
                <a:latin typeface="Calibri"/>
                <a:cs typeface="Calibri"/>
              </a:rPr>
              <a:t>entities</a:t>
            </a:r>
            <a:r>
              <a:rPr dirty="0" sz="1650" spc="185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external</a:t>
            </a:r>
            <a:r>
              <a:rPr dirty="0" sz="1650" spc="190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to</a:t>
            </a:r>
            <a:r>
              <a:rPr dirty="0" sz="1650" spc="195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the</a:t>
            </a:r>
            <a:r>
              <a:rPr dirty="0" sz="1650" spc="195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software</a:t>
            </a:r>
            <a:r>
              <a:rPr dirty="0" sz="1650" spc="190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system</a:t>
            </a:r>
            <a:r>
              <a:rPr dirty="0" sz="1650" spc="190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which</a:t>
            </a:r>
            <a:r>
              <a:rPr dirty="0" sz="1650" spc="195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interact</a:t>
            </a:r>
            <a:r>
              <a:rPr dirty="0" sz="1650" spc="200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with</a:t>
            </a:r>
            <a:r>
              <a:rPr dirty="0" sz="1650" spc="195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the</a:t>
            </a:r>
            <a:r>
              <a:rPr dirty="0" sz="1650" spc="195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system</a:t>
            </a:r>
            <a:r>
              <a:rPr dirty="0" sz="1650" spc="190">
                <a:latin typeface="Calibri"/>
                <a:cs typeface="Calibri"/>
              </a:rPr>
              <a:t> </a:t>
            </a:r>
            <a:r>
              <a:rPr dirty="0" sz="1650" spc="-25">
                <a:latin typeface="Calibri"/>
                <a:cs typeface="Calibri"/>
              </a:rPr>
              <a:t>by </a:t>
            </a:r>
            <a:r>
              <a:rPr dirty="0" sz="1650">
                <a:latin typeface="Calibri"/>
                <a:cs typeface="Calibri"/>
              </a:rPr>
              <a:t>inputting</a:t>
            </a:r>
            <a:r>
              <a:rPr dirty="0" sz="1650" spc="330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data</a:t>
            </a:r>
            <a:r>
              <a:rPr dirty="0" sz="1650" spc="335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to</a:t>
            </a:r>
            <a:r>
              <a:rPr dirty="0" sz="1650" spc="335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the</a:t>
            </a:r>
            <a:r>
              <a:rPr dirty="0" sz="1650" spc="335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system</a:t>
            </a:r>
            <a:r>
              <a:rPr dirty="0" sz="1650" spc="320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or</a:t>
            </a:r>
            <a:r>
              <a:rPr dirty="0" sz="1650" spc="350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by</a:t>
            </a:r>
            <a:r>
              <a:rPr dirty="0" sz="1650" spc="345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consuming</a:t>
            </a:r>
            <a:r>
              <a:rPr dirty="0" sz="1650" spc="345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the</a:t>
            </a:r>
            <a:r>
              <a:rPr dirty="0" sz="1650" spc="335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data</a:t>
            </a:r>
            <a:r>
              <a:rPr dirty="0" sz="1650" spc="350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produced</a:t>
            </a:r>
            <a:r>
              <a:rPr dirty="0" sz="1650" spc="345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by</a:t>
            </a:r>
            <a:r>
              <a:rPr dirty="0" sz="1650" spc="345">
                <a:latin typeface="Calibri"/>
                <a:cs typeface="Calibri"/>
              </a:rPr>
              <a:t> </a:t>
            </a:r>
            <a:r>
              <a:rPr dirty="0" sz="1650" spc="-25">
                <a:latin typeface="Calibri"/>
                <a:cs typeface="Calibri"/>
              </a:rPr>
              <a:t>the </a:t>
            </a:r>
            <a:r>
              <a:rPr dirty="0" sz="1650" spc="-10">
                <a:latin typeface="Calibri"/>
                <a:cs typeface="Calibri"/>
              </a:rPr>
              <a:t>system.</a:t>
            </a:r>
            <a:endParaRPr sz="1650">
              <a:latin typeface="Calibri"/>
              <a:cs typeface="Calibri"/>
            </a:endParaRPr>
          </a:p>
          <a:p>
            <a:pPr algn="just" marL="201295" marR="5715" indent="-189230">
              <a:lnSpc>
                <a:spcPct val="90000"/>
              </a:lnSpc>
              <a:spcBef>
                <a:spcPts val="819"/>
              </a:spcBef>
              <a:buFont typeface="Arial MT"/>
              <a:buChar char="•"/>
              <a:tabLst>
                <a:tab pos="201295" algn="l"/>
              </a:tabLst>
            </a:pPr>
            <a:r>
              <a:rPr dirty="0" sz="1650">
                <a:latin typeface="Calibri"/>
                <a:cs typeface="Calibri"/>
              </a:rPr>
              <a:t>In</a:t>
            </a:r>
            <a:r>
              <a:rPr dirty="0" sz="1650" spc="260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addition</a:t>
            </a:r>
            <a:r>
              <a:rPr dirty="0" sz="1650" spc="265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to</a:t>
            </a:r>
            <a:r>
              <a:rPr dirty="0" sz="1650" spc="265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the</a:t>
            </a:r>
            <a:r>
              <a:rPr dirty="0" sz="1650" spc="265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human</a:t>
            </a:r>
            <a:r>
              <a:rPr dirty="0" sz="1650" spc="250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users,</a:t>
            </a:r>
            <a:r>
              <a:rPr dirty="0" sz="1650" spc="260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they</a:t>
            </a:r>
            <a:r>
              <a:rPr dirty="0" sz="1650" spc="254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can</a:t>
            </a:r>
            <a:r>
              <a:rPr dirty="0" sz="1650" spc="250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be</a:t>
            </a:r>
            <a:r>
              <a:rPr dirty="0" sz="1650" spc="265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used</a:t>
            </a:r>
            <a:r>
              <a:rPr dirty="0" sz="1650" spc="250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to</a:t>
            </a:r>
            <a:r>
              <a:rPr dirty="0" sz="1650" spc="245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represent</a:t>
            </a:r>
            <a:r>
              <a:rPr dirty="0" sz="1650" spc="250">
                <a:latin typeface="Calibri"/>
                <a:cs typeface="Calibri"/>
              </a:rPr>
              <a:t> </a:t>
            </a:r>
            <a:r>
              <a:rPr dirty="0" sz="1650" spc="-10">
                <a:latin typeface="Calibri"/>
                <a:cs typeface="Calibri"/>
              </a:rPr>
              <a:t>external </a:t>
            </a:r>
            <a:r>
              <a:rPr dirty="0" sz="1650">
                <a:latin typeface="Calibri"/>
                <a:cs typeface="Calibri"/>
              </a:rPr>
              <a:t>hardware</a:t>
            </a:r>
            <a:r>
              <a:rPr dirty="0" sz="1650" spc="225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and</a:t>
            </a:r>
            <a:r>
              <a:rPr dirty="0" sz="1650" spc="229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software</a:t>
            </a:r>
            <a:r>
              <a:rPr dirty="0" sz="1650" spc="225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such</a:t>
            </a:r>
            <a:r>
              <a:rPr dirty="0" sz="1650" spc="229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as</a:t>
            </a:r>
            <a:r>
              <a:rPr dirty="0" sz="1650" spc="225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another</a:t>
            </a:r>
            <a:r>
              <a:rPr dirty="0" sz="1650" spc="225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application</a:t>
            </a:r>
            <a:r>
              <a:rPr dirty="0" sz="1650" spc="229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software</a:t>
            </a:r>
            <a:r>
              <a:rPr dirty="0" sz="1650" spc="229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that</a:t>
            </a:r>
            <a:r>
              <a:rPr dirty="0" sz="1650" spc="215">
                <a:latin typeface="Calibri"/>
                <a:cs typeface="Calibri"/>
              </a:rPr>
              <a:t> </a:t>
            </a:r>
            <a:r>
              <a:rPr dirty="0" sz="1650" spc="-10">
                <a:latin typeface="Calibri"/>
                <a:cs typeface="Calibri"/>
              </a:rPr>
              <a:t>would </a:t>
            </a:r>
            <a:r>
              <a:rPr dirty="0" sz="1650">
                <a:latin typeface="Calibri"/>
                <a:cs typeface="Calibri"/>
              </a:rPr>
              <a:t>interact</a:t>
            </a:r>
            <a:r>
              <a:rPr dirty="0" sz="1650" spc="-35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with</a:t>
            </a:r>
            <a:r>
              <a:rPr dirty="0" sz="1650" spc="-60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the</a:t>
            </a:r>
            <a:r>
              <a:rPr dirty="0" sz="1650" spc="-50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software</a:t>
            </a:r>
            <a:r>
              <a:rPr dirty="0" sz="1650" spc="-30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being</a:t>
            </a:r>
            <a:r>
              <a:rPr dirty="0" sz="1650" spc="-70">
                <a:latin typeface="Calibri"/>
                <a:cs typeface="Calibri"/>
              </a:rPr>
              <a:t> </a:t>
            </a:r>
            <a:r>
              <a:rPr dirty="0" sz="1650" spc="-10">
                <a:latin typeface="Calibri"/>
                <a:cs typeface="Calibri"/>
              </a:rPr>
              <a:t>modelled.</a:t>
            </a:r>
            <a:endParaRPr sz="1650">
              <a:latin typeface="Calibri"/>
              <a:cs typeface="Calibri"/>
            </a:endParaRPr>
          </a:p>
          <a:p>
            <a:pPr algn="just" marL="12700">
              <a:lnSpc>
                <a:spcPct val="100000"/>
              </a:lnSpc>
              <a:spcBef>
                <a:spcPts val="625"/>
              </a:spcBef>
            </a:pPr>
            <a:r>
              <a:rPr dirty="0" sz="1650" b="1">
                <a:latin typeface="Calibri"/>
                <a:cs typeface="Calibri"/>
              </a:rPr>
              <a:t>Data</a:t>
            </a:r>
            <a:r>
              <a:rPr dirty="0" sz="1650" spc="-55" b="1">
                <a:latin typeface="Calibri"/>
                <a:cs typeface="Calibri"/>
              </a:rPr>
              <a:t> </a:t>
            </a:r>
            <a:r>
              <a:rPr dirty="0" sz="1650" b="1">
                <a:latin typeface="Calibri"/>
                <a:cs typeface="Calibri"/>
              </a:rPr>
              <a:t>flow</a:t>
            </a:r>
            <a:r>
              <a:rPr dirty="0" sz="1650" spc="-40" b="1">
                <a:latin typeface="Calibri"/>
                <a:cs typeface="Calibri"/>
              </a:rPr>
              <a:t> </a:t>
            </a:r>
            <a:r>
              <a:rPr dirty="0" sz="1650" b="1">
                <a:latin typeface="Calibri"/>
                <a:cs typeface="Calibri"/>
              </a:rPr>
              <a:t>symbol:</a:t>
            </a:r>
            <a:r>
              <a:rPr dirty="0" sz="1650" spc="-35" b="1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A</a:t>
            </a:r>
            <a:r>
              <a:rPr dirty="0" sz="1650" spc="-30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directed</a:t>
            </a:r>
            <a:r>
              <a:rPr dirty="0" sz="1650" spc="-55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arc</a:t>
            </a:r>
            <a:r>
              <a:rPr dirty="0" sz="1650" spc="-20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(or</a:t>
            </a:r>
            <a:r>
              <a:rPr dirty="0" sz="1650" spc="-30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an</a:t>
            </a:r>
            <a:r>
              <a:rPr dirty="0" sz="1650" spc="-30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arrow)</a:t>
            </a:r>
            <a:r>
              <a:rPr dirty="0" sz="1650" spc="-35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is</a:t>
            </a:r>
            <a:r>
              <a:rPr dirty="0" sz="1650" spc="-15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used</a:t>
            </a:r>
            <a:r>
              <a:rPr dirty="0" sz="1650" spc="-40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as</a:t>
            </a:r>
            <a:r>
              <a:rPr dirty="0" sz="1650" spc="-15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a</a:t>
            </a:r>
            <a:r>
              <a:rPr dirty="0" sz="1650" spc="-35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data</a:t>
            </a:r>
            <a:r>
              <a:rPr dirty="0" sz="1650" spc="-30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flow</a:t>
            </a:r>
            <a:r>
              <a:rPr dirty="0" sz="1650" spc="-40">
                <a:latin typeface="Calibri"/>
                <a:cs typeface="Calibri"/>
              </a:rPr>
              <a:t> </a:t>
            </a:r>
            <a:r>
              <a:rPr dirty="0" sz="1650" spc="-10">
                <a:latin typeface="Calibri"/>
                <a:cs typeface="Calibri"/>
              </a:rPr>
              <a:t>symbol.</a:t>
            </a:r>
            <a:endParaRPr sz="1650">
              <a:latin typeface="Calibri"/>
              <a:cs typeface="Calibri"/>
            </a:endParaRPr>
          </a:p>
          <a:p>
            <a:pPr algn="just" marL="12700" marR="5715">
              <a:lnSpc>
                <a:spcPct val="90000"/>
              </a:lnSpc>
              <a:spcBef>
                <a:spcPts val="819"/>
              </a:spcBef>
            </a:pPr>
            <a:r>
              <a:rPr dirty="0" sz="1650">
                <a:latin typeface="Calibri"/>
                <a:cs typeface="Calibri"/>
              </a:rPr>
              <a:t>A</a:t>
            </a:r>
            <a:r>
              <a:rPr dirty="0" sz="1650" spc="135">
                <a:latin typeface="Calibri"/>
                <a:cs typeface="Calibri"/>
              </a:rPr>
              <a:t>  </a:t>
            </a:r>
            <a:r>
              <a:rPr dirty="0" sz="1650">
                <a:latin typeface="Calibri"/>
                <a:cs typeface="Calibri"/>
              </a:rPr>
              <a:t>data</a:t>
            </a:r>
            <a:r>
              <a:rPr dirty="0" sz="1650" spc="135">
                <a:latin typeface="Calibri"/>
                <a:cs typeface="Calibri"/>
              </a:rPr>
              <a:t>  </a:t>
            </a:r>
            <a:r>
              <a:rPr dirty="0" sz="1650">
                <a:latin typeface="Calibri"/>
                <a:cs typeface="Calibri"/>
              </a:rPr>
              <a:t>flow</a:t>
            </a:r>
            <a:r>
              <a:rPr dirty="0" sz="1650" spc="120">
                <a:latin typeface="Calibri"/>
                <a:cs typeface="Calibri"/>
              </a:rPr>
              <a:t>  </a:t>
            </a:r>
            <a:r>
              <a:rPr dirty="0" sz="1650">
                <a:latin typeface="Calibri"/>
                <a:cs typeface="Calibri"/>
              </a:rPr>
              <a:t>symbol</a:t>
            </a:r>
            <a:r>
              <a:rPr dirty="0" sz="1650" spc="135">
                <a:latin typeface="Calibri"/>
                <a:cs typeface="Calibri"/>
              </a:rPr>
              <a:t>  </a:t>
            </a:r>
            <a:r>
              <a:rPr dirty="0" sz="1650">
                <a:latin typeface="Calibri"/>
                <a:cs typeface="Calibri"/>
              </a:rPr>
              <a:t>represents</a:t>
            </a:r>
            <a:r>
              <a:rPr dirty="0" sz="1650" spc="125">
                <a:latin typeface="Calibri"/>
                <a:cs typeface="Calibri"/>
              </a:rPr>
              <a:t>  </a:t>
            </a:r>
            <a:r>
              <a:rPr dirty="0" sz="1650">
                <a:latin typeface="Calibri"/>
                <a:cs typeface="Calibri"/>
              </a:rPr>
              <a:t>the</a:t>
            </a:r>
            <a:r>
              <a:rPr dirty="0" sz="1650" spc="125">
                <a:latin typeface="Calibri"/>
                <a:cs typeface="Calibri"/>
              </a:rPr>
              <a:t>  </a:t>
            </a:r>
            <a:r>
              <a:rPr dirty="0" sz="1650">
                <a:latin typeface="Calibri"/>
                <a:cs typeface="Calibri"/>
              </a:rPr>
              <a:t>data</a:t>
            </a:r>
            <a:r>
              <a:rPr dirty="0" sz="1650" spc="135">
                <a:latin typeface="Calibri"/>
                <a:cs typeface="Calibri"/>
              </a:rPr>
              <a:t>  </a:t>
            </a:r>
            <a:r>
              <a:rPr dirty="0" sz="1650">
                <a:latin typeface="Calibri"/>
                <a:cs typeface="Calibri"/>
              </a:rPr>
              <a:t>flow</a:t>
            </a:r>
            <a:r>
              <a:rPr dirty="0" sz="1650" spc="120">
                <a:latin typeface="Calibri"/>
                <a:cs typeface="Calibri"/>
              </a:rPr>
              <a:t>  </a:t>
            </a:r>
            <a:r>
              <a:rPr dirty="0" sz="1650">
                <a:latin typeface="Calibri"/>
                <a:cs typeface="Calibri"/>
              </a:rPr>
              <a:t>occurring</a:t>
            </a:r>
            <a:r>
              <a:rPr dirty="0" sz="1650" spc="125">
                <a:latin typeface="Calibri"/>
                <a:cs typeface="Calibri"/>
              </a:rPr>
              <a:t>  </a:t>
            </a:r>
            <a:r>
              <a:rPr dirty="0" sz="1650">
                <a:latin typeface="Calibri"/>
                <a:cs typeface="Calibri"/>
              </a:rPr>
              <a:t>between</a:t>
            </a:r>
            <a:r>
              <a:rPr dirty="0" sz="1650" spc="135">
                <a:latin typeface="Calibri"/>
                <a:cs typeface="Calibri"/>
              </a:rPr>
              <a:t>  </a:t>
            </a:r>
            <a:r>
              <a:rPr dirty="0" sz="1650" spc="-25">
                <a:latin typeface="Calibri"/>
                <a:cs typeface="Calibri"/>
              </a:rPr>
              <a:t>two </a:t>
            </a:r>
            <a:r>
              <a:rPr dirty="0" sz="1650">
                <a:latin typeface="Calibri"/>
                <a:cs typeface="Calibri"/>
              </a:rPr>
              <a:t>processes</a:t>
            </a:r>
            <a:r>
              <a:rPr dirty="0" sz="1650" spc="20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or</a:t>
            </a:r>
            <a:r>
              <a:rPr dirty="0" sz="1650" spc="20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between</a:t>
            </a:r>
            <a:r>
              <a:rPr dirty="0" sz="1650" spc="30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an</a:t>
            </a:r>
            <a:r>
              <a:rPr dirty="0" sz="1650" spc="35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external</a:t>
            </a:r>
            <a:r>
              <a:rPr dirty="0" sz="1650" spc="20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entity</a:t>
            </a:r>
            <a:r>
              <a:rPr dirty="0" sz="1650" spc="30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and</a:t>
            </a:r>
            <a:r>
              <a:rPr dirty="0" sz="1650" spc="45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a</a:t>
            </a:r>
            <a:r>
              <a:rPr dirty="0" sz="1650" spc="20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process</a:t>
            </a:r>
            <a:r>
              <a:rPr dirty="0" sz="1650" spc="40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in</a:t>
            </a:r>
            <a:r>
              <a:rPr dirty="0" sz="1650" spc="30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the</a:t>
            </a:r>
            <a:r>
              <a:rPr dirty="0" sz="1650" spc="25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direction</a:t>
            </a:r>
            <a:r>
              <a:rPr dirty="0" sz="1650" spc="30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of</a:t>
            </a:r>
            <a:r>
              <a:rPr dirty="0" sz="1650" spc="30">
                <a:latin typeface="Calibri"/>
                <a:cs typeface="Calibri"/>
              </a:rPr>
              <a:t> </a:t>
            </a:r>
            <a:r>
              <a:rPr dirty="0" sz="1650" spc="-25">
                <a:latin typeface="Calibri"/>
                <a:cs typeface="Calibri"/>
              </a:rPr>
              <a:t>the </a:t>
            </a:r>
            <a:r>
              <a:rPr dirty="0" sz="1650">
                <a:latin typeface="Calibri"/>
                <a:cs typeface="Calibri"/>
              </a:rPr>
              <a:t>data</a:t>
            </a:r>
            <a:r>
              <a:rPr dirty="0" sz="1650" spc="-35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flow</a:t>
            </a:r>
            <a:r>
              <a:rPr dirty="0" sz="1650" spc="-40">
                <a:latin typeface="Calibri"/>
                <a:cs typeface="Calibri"/>
              </a:rPr>
              <a:t> </a:t>
            </a:r>
            <a:r>
              <a:rPr dirty="0" sz="1650" spc="-10">
                <a:latin typeface="Calibri"/>
                <a:cs typeface="Calibri"/>
              </a:rPr>
              <a:t>arrow.</a:t>
            </a:r>
            <a:endParaRPr sz="1650">
              <a:latin typeface="Calibri"/>
              <a:cs typeface="Calibri"/>
            </a:endParaRPr>
          </a:p>
          <a:p>
            <a:pPr algn="just" marL="201295" marR="8255" indent="-189230">
              <a:lnSpc>
                <a:spcPts val="1780"/>
              </a:lnSpc>
              <a:spcBef>
                <a:spcPts val="860"/>
              </a:spcBef>
              <a:buFont typeface="Arial MT"/>
              <a:buChar char="•"/>
              <a:tabLst>
                <a:tab pos="201295" algn="l"/>
              </a:tabLst>
            </a:pPr>
            <a:r>
              <a:rPr dirty="0" sz="1650">
                <a:latin typeface="Calibri"/>
                <a:cs typeface="Calibri"/>
              </a:rPr>
              <a:t>Data</a:t>
            </a:r>
            <a:r>
              <a:rPr dirty="0" sz="1650" spc="420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flow</a:t>
            </a:r>
            <a:r>
              <a:rPr dirty="0" sz="1650" spc="430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symbols</a:t>
            </a:r>
            <a:r>
              <a:rPr dirty="0" sz="1650" spc="430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are</a:t>
            </a:r>
            <a:r>
              <a:rPr dirty="0" sz="1650" spc="425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usually</a:t>
            </a:r>
            <a:r>
              <a:rPr dirty="0" sz="1650" spc="409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annotated</a:t>
            </a:r>
            <a:r>
              <a:rPr dirty="0" sz="1650" spc="430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with</a:t>
            </a:r>
            <a:r>
              <a:rPr dirty="0" sz="1650" spc="440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the</a:t>
            </a:r>
            <a:r>
              <a:rPr dirty="0" sz="1650" spc="425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corresponding</a:t>
            </a:r>
            <a:r>
              <a:rPr dirty="0" sz="1650" spc="415">
                <a:latin typeface="Calibri"/>
                <a:cs typeface="Calibri"/>
              </a:rPr>
              <a:t> </a:t>
            </a:r>
            <a:r>
              <a:rPr dirty="0" sz="1650" spc="-20">
                <a:latin typeface="Calibri"/>
                <a:cs typeface="Calibri"/>
              </a:rPr>
              <a:t>data </a:t>
            </a:r>
            <a:r>
              <a:rPr dirty="0" sz="1650" spc="-10">
                <a:latin typeface="Calibri"/>
                <a:cs typeface="Calibri"/>
              </a:rPr>
              <a:t>names.</a:t>
            </a:r>
            <a:endParaRPr sz="16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697219" y="1713301"/>
            <a:ext cx="6664959" cy="2133600"/>
          </a:xfrm>
          <a:prstGeom prst="rect">
            <a:avLst/>
          </a:prstGeom>
        </p:spPr>
        <p:txBody>
          <a:bodyPr wrap="square" lIns="0" tIns="914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20"/>
              </a:spcBef>
            </a:pPr>
            <a:r>
              <a:rPr dirty="0" sz="1650" b="1">
                <a:latin typeface="Calibri"/>
                <a:cs typeface="Calibri"/>
              </a:rPr>
              <a:t>Data</a:t>
            </a:r>
            <a:r>
              <a:rPr dirty="0" sz="1650" spc="-70" b="1">
                <a:latin typeface="Calibri"/>
                <a:cs typeface="Calibri"/>
              </a:rPr>
              <a:t> </a:t>
            </a:r>
            <a:r>
              <a:rPr dirty="0" sz="1650" b="1">
                <a:latin typeface="Calibri"/>
                <a:cs typeface="Calibri"/>
              </a:rPr>
              <a:t>store</a:t>
            </a:r>
            <a:r>
              <a:rPr dirty="0" sz="1650" spc="-35" b="1">
                <a:latin typeface="Calibri"/>
                <a:cs typeface="Calibri"/>
              </a:rPr>
              <a:t> </a:t>
            </a:r>
            <a:r>
              <a:rPr dirty="0" sz="1650" b="1">
                <a:latin typeface="Calibri"/>
                <a:cs typeface="Calibri"/>
              </a:rPr>
              <a:t>symbol:</a:t>
            </a:r>
            <a:r>
              <a:rPr dirty="0" sz="1650" spc="-50" b="1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A</a:t>
            </a:r>
            <a:r>
              <a:rPr dirty="0" sz="1650" spc="-45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data</a:t>
            </a:r>
            <a:r>
              <a:rPr dirty="0" sz="1650" spc="-30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store</a:t>
            </a:r>
            <a:r>
              <a:rPr dirty="0" sz="1650" spc="-30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is</a:t>
            </a:r>
            <a:r>
              <a:rPr dirty="0" sz="1650" spc="-50">
                <a:latin typeface="Calibri"/>
                <a:cs typeface="Calibri"/>
              </a:rPr>
              <a:t> </a:t>
            </a:r>
            <a:r>
              <a:rPr dirty="0" sz="1650" spc="-10">
                <a:latin typeface="Calibri"/>
                <a:cs typeface="Calibri"/>
              </a:rPr>
              <a:t>represented</a:t>
            </a:r>
            <a:r>
              <a:rPr dirty="0" sz="1650" spc="-65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using</a:t>
            </a:r>
            <a:r>
              <a:rPr dirty="0" sz="1650" spc="-65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two</a:t>
            </a:r>
            <a:r>
              <a:rPr dirty="0" sz="1650" spc="-60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parallel</a:t>
            </a:r>
            <a:r>
              <a:rPr dirty="0" sz="1650" spc="-45">
                <a:latin typeface="Calibri"/>
                <a:cs typeface="Calibri"/>
              </a:rPr>
              <a:t> </a:t>
            </a:r>
            <a:r>
              <a:rPr dirty="0" sz="1650" spc="-10">
                <a:latin typeface="Calibri"/>
                <a:cs typeface="Calibri"/>
              </a:rPr>
              <a:t>lines.</a:t>
            </a:r>
            <a:endParaRPr sz="1650">
              <a:latin typeface="Calibri"/>
              <a:cs typeface="Calibri"/>
            </a:endParaRPr>
          </a:p>
          <a:p>
            <a:pPr marL="201295" marR="5080" indent="-189230">
              <a:lnSpc>
                <a:spcPts val="1789"/>
              </a:lnSpc>
              <a:spcBef>
                <a:spcPts val="844"/>
              </a:spcBef>
              <a:buFont typeface="Arial MT"/>
              <a:buChar char="•"/>
              <a:tabLst>
                <a:tab pos="201295" algn="l"/>
              </a:tabLst>
            </a:pPr>
            <a:r>
              <a:rPr dirty="0" sz="1650">
                <a:latin typeface="Calibri"/>
                <a:cs typeface="Calibri"/>
              </a:rPr>
              <a:t>It</a:t>
            </a:r>
            <a:r>
              <a:rPr dirty="0" sz="1650" spc="35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represents</a:t>
            </a:r>
            <a:r>
              <a:rPr dirty="0" sz="1650" spc="25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a</a:t>
            </a:r>
            <a:r>
              <a:rPr dirty="0" sz="1650" spc="30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logical</a:t>
            </a:r>
            <a:r>
              <a:rPr dirty="0" sz="1650" spc="25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file.</a:t>
            </a:r>
            <a:r>
              <a:rPr dirty="0" sz="1650" spc="40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That</a:t>
            </a:r>
            <a:r>
              <a:rPr dirty="0" sz="1650" spc="35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is,</a:t>
            </a:r>
            <a:r>
              <a:rPr dirty="0" sz="1650" spc="10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a</a:t>
            </a:r>
            <a:r>
              <a:rPr dirty="0" sz="1650" spc="35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data</a:t>
            </a:r>
            <a:r>
              <a:rPr dirty="0" sz="1650" spc="30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store</a:t>
            </a:r>
            <a:r>
              <a:rPr dirty="0" sz="1650" spc="30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symbol</a:t>
            </a:r>
            <a:r>
              <a:rPr dirty="0" sz="1650" spc="10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can</a:t>
            </a:r>
            <a:r>
              <a:rPr dirty="0" sz="1650" spc="35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represent</a:t>
            </a:r>
            <a:r>
              <a:rPr dirty="0" sz="1650" spc="25">
                <a:latin typeface="Calibri"/>
                <a:cs typeface="Calibri"/>
              </a:rPr>
              <a:t> </a:t>
            </a:r>
            <a:r>
              <a:rPr dirty="0" sz="1650" spc="-10">
                <a:latin typeface="Calibri"/>
                <a:cs typeface="Calibri"/>
              </a:rPr>
              <a:t>either </a:t>
            </a:r>
            <a:r>
              <a:rPr dirty="0" sz="1650">
                <a:latin typeface="Calibri"/>
                <a:cs typeface="Calibri"/>
              </a:rPr>
              <a:t>a</a:t>
            </a:r>
            <a:r>
              <a:rPr dirty="0" sz="1650" spc="-25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data</a:t>
            </a:r>
            <a:r>
              <a:rPr dirty="0" sz="1650" spc="-25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structure</a:t>
            </a:r>
            <a:r>
              <a:rPr dirty="0" sz="1650" spc="-20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or</a:t>
            </a:r>
            <a:r>
              <a:rPr dirty="0" sz="1650" spc="-20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a</a:t>
            </a:r>
            <a:r>
              <a:rPr dirty="0" sz="1650" spc="-10">
                <a:latin typeface="Calibri"/>
                <a:cs typeface="Calibri"/>
              </a:rPr>
              <a:t> physical</a:t>
            </a:r>
            <a:r>
              <a:rPr dirty="0" sz="1650" spc="-40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file</a:t>
            </a:r>
            <a:r>
              <a:rPr dirty="0" sz="1650" spc="-20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on</a:t>
            </a:r>
            <a:r>
              <a:rPr dirty="0" sz="1650" spc="-30">
                <a:latin typeface="Calibri"/>
                <a:cs typeface="Calibri"/>
              </a:rPr>
              <a:t> </a:t>
            </a:r>
            <a:r>
              <a:rPr dirty="0" sz="1650" spc="-10">
                <a:latin typeface="Calibri"/>
                <a:cs typeface="Calibri"/>
              </a:rPr>
              <a:t>disk.</a:t>
            </a:r>
            <a:endParaRPr sz="1650">
              <a:latin typeface="Calibri"/>
              <a:cs typeface="Calibri"/>
            </a:endParaRPr>
          </a:p>
          <a:p>
            <a:pPr marL="201930" indent="-189230">
              <a:lnSpc>
                <a:spcPct val="100000"/>
              </a:lnSpc>
              <a:spcBef>
                <a:spcPts val="595"/>
              </a:spcBef>
              <a:buFont typeface="Arial MT"/>
              <a:buChar char="•"/>
              <a:tabLst>
                <a:tab pos="201930" algn="l"/>
              </a:tabLst>
            </a:pPr>
            <a:r>
              <a:rPr dirty="0" sz="1650">
                <a:latin typeface="Calibri"/>
                <a:cs typeface="Calibri"/>
              </a:rPr>
              <a:t>Each</a:t>
            </a:r>
            <a:r>
              <a:rPr dirty="0" sz="1650" spc="-30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data</a:t>
            </a:r>
            <a:r>
              <a:rPr dirty="0" sz="1650" spc="-35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store</a:t>
            </a:r>
            <a:r>
              <a:rPr dirty="0" sz="1650" spc="-15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is</a:t>
            </a:r>
            <a:r>
              <a:rPr dirty="0" sz="1650" spc="-20">
                <a:latin typeface="Calibri"/>
                <a:cs typeface="Calibri"/>
              </a:rPr>
              <a:t> </a:t>
            </a:r>
            <a:r>
              <a:rPr dirty="0" sz="1650" spc="-10">
                <a:latin typeface="Calibri"/>
                <a:cs typeface="Calibri"/>
              </a:rPr>
              <a:t>connected</a:t>
            </a:r>
            <a:r>
              <a:rPr dirty="0" sz="1650" spc="-55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to</a:t>
            </a:r>
            <a:r>
              <a:rPr dirty="0" sz="1650" spc="-30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a</a:t>
            </a:r>
            <a:r>
              <a:rPr dirty="0" sz="1650" spc="-35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process</a:t>
            </a:r>
            <a:r>
              <a:rPr dirty="0" sz="1650" spc="-40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by</a:t>
            </a:r>
            <a:r>
              <a:rPr dirty="0" sz="1650" spc="-35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means</a:t>
            </a:r>
            <a:r>
              <a:rPr dirty="0" sz="1650" spc="-40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of</a:t>
            </a:r>
            <a:r>
              <a:rPr dirty="0" sz="1650" spc="-30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a</a:t>
            </a:r>
            <a:r>
              <a:rPr dirty="0" sz="1650" spc="-35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data</a:t>
            </a:r>
            <a:r>
              <a:rPr dirty="0" sz="1650" spc="-35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flow</a:t>
            </a:r>
            <a:r>
              <a:rPr dirty="0" sz="1650" spc="-40">
                <a:latin typeface="Calibri"/>
                <a:cs typeface="Calibri"/>
              </a:rPr>
              <a:t> </a:t>
            </a:r>
            <a:r>
              <a:rPr dirty="0" sz="1650" spc="-10">
                <a:latin typeface="Calibri"/>
                <a:cs typeface="Calibri"/>
              </a:rPr>
              <a:t>symbol.</a:t>
            </a:r>
            <a:endParaRPr sz="1650">
              <a:latin typeface="Calibri"/>
              <a:cs typeface="Calibri"/>
            </a:endParaRPr>
          </a:p>
          <a:p>
            <a:pPr marL="201295" marR="5080" indent="-189230">
              <a:lnSpc>
                <a:spcPts val="1789"/>
              </a:lnSpc>
              <a:spcBef>
                <a:spcPts val="840"/>
              </a:spcBef>
              <a:buFont typeface="Arial MT"/>
              <a:buChar char="•"/>
              <a:tabLst>
                <a:tab pos="201295" algn="l"/>
              </a:tabLst>
            </a:pPr>
            <a:r>
              <a:rPr dirty="0" sz="1650">
                <a:latin typeface="Calibri"/>
                <a:cs typeface="Calibri"/>
              </a:rPr>
              <a:t>The</a:t>
            </a:r>
            <a:r>
              <a:rPr dirty="0" sz="1650" spc="-25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direction</a:t>
            </a:r>
            <a:r>
              <a:rPr dirty="0" sz="1650" spc="-40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of</a:t>
            </a:r>
            <a:r>
              <a:rPr dirty="0" sz="1650" spc="-35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the</a:t>
            </a:r>
            <a:r>
              <a:rPr dirty="0" sz="1650" spc="-25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data</a:t>
            </a:r>
            <a:r>
              <a:rPr dirty="0" sz="1650" spc="-30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flow</a:t>
            </a:r>
            <a:r>
              <a:rPr dirty="0" sz="1650" spc="-35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arrow</a:t>
            </a:r>
            <a:r>
              <a:rPr dirty="0" sz="1650" spc="-40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shows</a:t>
            </a:r>
            <a:r>
              <a:rPr dirty="0" sz="1650" spc="-25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whether</a:t>
            </a:r>
            <a:r>
              <a:rPr dirty="0" sz="1650" spc="-45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data</a:t>
            </a:r>
            <a:r>
              <a:rPr dirty="0" sz="1650" spc="-25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is</a:t>
            </a:r>
            <a:r>
              <a:rPr dirty="0" sz="1650" spc="-30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being</a:t>
            </a:r>
            <a:r>
              <a:rPr dirty="0" sz="1650" spc="-30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read</a:t>
            </a:r>
            <a:r>
              <a:rPr dirty="0" sz="1650" spc="-50">
                <a:latin typeface="Calibri"/>
                <a:cs typeface="Calibri"/>
              </a:rPr>
              <a:t> </a:t>
            </a:r>
            <a:r>
              <a:rPr dirty="0" sz="1650" spc="-20">
                <a:latin typeface="Calibri"/>
                <a:cs typeface="Calibri"/>
              </a:rPr>
              <a:t>from </a:t>
            </a:r>
            <a:r>
              <a:rPr dirty="0" sz="1650">
                <a:latin typeface="Calibri"/>
                <a:cs typeface="Calibri"/>
              </a:rPr>
              <a:t>or</a:t>
            </a:r>
            <a:r>
              <a:rPr dirty="0" sz="1650" spc="-50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written</a:t>
            </a:r>
            <a:r>
              <a:rPr dirty="0" sz="1650" spc="-40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into</a:t>
            </a:r>
            <a:r>
              <a:rPr dirty="0" sz="1650" spc="-60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a</a:t>
            </a:r>
            <a:r>
              <a:rPr dirty="0" sz="1650" spc="-15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data</a:t>
            </a:r>
            <a:r>
              <a:rPr dirty="0" sz="1650" spc="-30">
                <a:latin typeface="Calibri"/>
                <a:cs typeface="Calibri"/>
              </a:rPr>
              <a:t> </a:t>
            </a:r>
            <a:r>
              <a:rPr dirty="0" sz="1650" spc="-10">
                <a:latin typeface="Calibri"/>
                <a:cs typeface="Calibri"/>
              </a:rPr>
              <a:t>store.</a:t>
            </a:r>
            <a:endParaRPr sz="16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95"/>
              </a:spcBef>
            </a:pPr>
            <a:r>
              <a:rPr dirty="0" sz="1650" b="1">
                <a:latin typeface="Calibri"/>
                <a:cs typeface="Calibri"/>
              </a:rPr>
              <a:t>Output</a:t>
            </a:r>
            <a:r>
              <a:rPr dirty="0" sz="1650" spc="-45" b="1">
                <a:latin typeface="Calibri"/>
                <a:cs typeface="Calibri"/>
              </a:rPr>
              <a:t> </a:t>
            </a:r>
            <a:r>
              <a:rPr dirty="0" sz="1650" b="1">
                <a:latin typeface="Calibri"/>
                <a:cs typeface="Calibri"/>
              </a:rPr>
              <a:t>symbol:</a:t>
            </a:r>
            <a:r>
              <a:rPr dirty="0" sz="1650" spc="-35" b="1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The</a:t>
            </a:r>
            <a:r>
              <a:rPr dirty="0" sz="1650" spc="-30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output</a:t>
            </a:r>
            <a:r>
              <a:rPr dirty="0" sz="1650" spc="-55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symbol</a:t>
            </a:r>
            <a:r>
              <a:rPr dirty="0" sz="1650" spc="-50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is</a:t>
            </a:r>
            <a:r>
              <a:rPr dirty="0" sz="1650" spc="-20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used</a:t>
            </a:r>
            <a:r>
              <a:rPr dirty="0" sz="1650" spc="-40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when</a:t>
            </a:r>
            <a:r>
              <a:rPr dirty="0" sz="1650" spc="-45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a</a:t>
            </a:r>
            <a:r>
              <a:rPr dirty="0" sz="1650" spc="-35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hard</a:t>
            </a:r>
            <a:r>
              <a:rPr dirty="0" sz="1650" spc="-30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copy</a:t>
            </a:r>
            <a:r>
              <a:rPr dirty="0" sz="1650" spc="-35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is</a:t>
            </a:r>
            <a:r>
              <a:rPr dirty="0" sz="1650" spc="-40">
                <a:latin typeface="Calibri"/>
                <a:cs typeface="Calibri"/>
              </a:rPr>
              <a:t> </a:t>
            </a:r>
            <a:r>
              <a:rPr dirty="0" sz="1650" spc="-10">
                <a:latin typeface="Calibri"/>
                <a:cs typeface="Calibri"/>
              </a:rPr>
              <a:t>produced.</a:t>
            </a:r>
            <a:endParaRPr sz="16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53912" y="1558630"/>
            <a:ext cx="4101465" cy="579755"/>
          </a:xfrm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3600">
                <a:latin typeface="Calibri"/>
                <a:cs typeface="Calibri"/>
              </a:rPr>
              <a:t>Rules</a:t>
            </a:r>
            <a:r>
              <a:rPr dirty="0" sz="3600" spc="-70">
                <a:latin typeface="Calibri"/>
                <a:cs typeface="Calibri"/>
              </a:rPr>
              <a:t> </a:t>
            </a:r>
            <a:r>
              <a:rPr dirty="0" sz="3600">
                <a:latin typeface="Calibri"/>
                <a:cs typeface="Calibri"/>
              </a:rPr>
              <a:t>and</a:t>
            </a:r>
            <a:r>
              <a:rPr dirty="0" sz="3600" spc="-75">
                <a:latin typeface="Calibri"/>
                <a:cs typeface="Calibri"/>
              </a:rPr>
              <a:t> </a:t>
            </a:r>
            <a:r>
              <a:rPr dirty="0" sz="3600">
                <a:latin typeface="Calibri"/>
                <a:cs typeface="Calibri"/>
              </a:rPr>
              <a:t>tips</a:t>
            </a:r>
            <a:r>
              <a:rPr dirty="0" sz="3600" spc="-70">
                <a:latin typeface="Calibri"/>
                <a:cs typeface="Calibri"/>
              </a:rPr>
              <a:t> </a:t>
            </a:r>
            <a:r>
              <a:rPr dirty="0" sz="3600">
                <a:latin typeface="Calibri"/>
                <a:cs typeface="Calibri"/>
              </a:rPr>
              <a:t>for</a:t>
            </a:r>
            <a:r>
              <a:rPr dirty="0" sz="3600" spc="-95">
                <a:latin typeface="Calibri"/>
                <a:cs typeface="Calibri"/>
              </a:rPr>
              <a:t> </a:t>
            </a:r>
            <a:r>
              <a:rPr dirty="0" sz="3600" spc="-25">
                <a:latin typeface="Calibri"/>
                <a:cs typeface="Calibri"/>
              </a:rPr>
              <a:t>DFD</a:t>
            </a:r>
            <a:endParaRPr sz="3600">
              <a:latin typeface="Calibri"/>
              <a:cs typeface="Calibri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753831" y="2468318"/>
            <a:ext cx="7924800" cy="1529715"/>
          </a:xfrm>
          <a:prstGeom prst="rect">
            <a:avLst/>
          </a:prstGeom>
        </p:spPr>
        <p:txBody>
          <a:bodyPr wrap="square" lIns="0" tIns="90805" rIns="0" bIns="0" rtlCol="0" vert="horz">
            <a:spAutoFit/>
          </a:bodyPr>
          <a:lstStyle/>
          <a:p>
            <a:pPr marL="200660" indent="-187960">
              <a:lnSpc>
                <a:spcPct val="100000"/>
              </a:lnSpc>
              <a:spcBef>
                <a:spcPts val="715"/>
              </a:spcBef>
              <a:buFont typeface="Arial MT"/>
              <a:buChar char="•"/>
              <a:tabLst>
                <a:tab pos="200660" algn="l"/>
              </a:tabLst>
            </a:pPr>
            <a:r>
              <a:rPr dirty="0" sz="1950">
                <a:latin typeface="Calibri"/>
                <a:cs typeface="Calibri"/>
              </a:rPr>
              <a:t>Each</a:t>
            </a:r>
            <a:r>
              <a:rPr dirty="0" sz="1950" spc="-5">
                <a:latin typeface="Calibri"/>
                <a:cs typeface="Calibri"/>
              </a:rPr>
              <a:t> </a:t>
            </a:r>
            <a:r>
              <a:rPr dirty="0" sz="1950">
                <a:latin typeface="Calibri"/>
                <a:cs typeface="Calibri"/>
              </a:rPr>
              <a:t>process</a:t>
            </a:r>
            <a:r>
              <a:rPr dirty="0" sz="1950" spc="25">
                <a:latin typeface="Calibri"/>
                <a:cs typeface="Calibri"/>
              </a:rPr>
              <a:t> </a:t>
            </a:r>
            <a:r>
              <a:rPr dirty="0" sz="1950">
                <a:latin typeface="Calibri"/>
                <a:cs typeface="Calibri"/>
              </a:rPr>
              <a:t>should</a:t>
            </a:r>
            <a:r>
              <a:rPr dirty="0" sz="1950" spc="-5">
                <a:latin typeface="Calibri"/>
                <a:cs typeface="Calibri"/>
              </a:rPr>
              <a:t> </a:t>
            </a:r>
            <a:r>
              <a:rPr dirty="0" sz="1950">
                <a:latin typeface="Calibri"/>
                <a:cs typeface="Calibri"/>
              </a:rPr>
              <a:t>have</a:t>
            </a:r>
            <a:r>
              <a:rPr dirty="0" sz="1950" spc="35">
                <a:latin typeface="Calibri"/>
                <a:cs typeface="Calibri"/>
              </a:rPr>
              <a:t> </a:t>
            </a:r>
            <a:r>
              <a:rPr dirty="0" sz="1950">
                <a:latin typeface="Calibri"/>
                <a:cs typeface="Calibri"/>
              </a:rPr>
              <a:t>at</a:t>
            </a:r>
            <a:r>
              <a:rPr dirty="0" sz="1950" spc="15">
                <a:latin typeface="Calibri"/>
                <a:cs typeface="Calibri"/>
              </a:rPr>
              <a:t> </a:t>
            </a:r>
            <a:r>
              <a:rPr dirty="0" sz="1950">
                <a:latin typeface="Calibri"/>
                <a:cs typeface="Calibri"/>
              </a:rPr>
              <a:t>least</a:t>
            </a:r>
            <a:r>
              <a:rPr dirty="0" sz="1950" spc="-5">
                <a:latin typeface="Calibri"/>
                <a:cs typeface="Calibri"/>
              </a:rPr>
              <a:t> </a:t>
            </a:r>
            <a:r>
              <a:rPr dirty="0" sz="1950">
                <a:latin typeface="Calibri"/>
                <a:cs typeface="Calibri"/>
              </a:rPr>
              <a:t>one</a:t>
            </a:r>
            <a:r>
              <a:rPr dirty="0" sz="1950" spc="35">
                <a:latin typeface="Calibri"/>
                <a:cs typeface="Calibri"/>
              </a:rPr>
              <a:t> </a:t>
            </a:r>
            <a:r>
              <a:rPr dirty="0" sz="1950">
                <a:latin typeface="Calibri"/>
                <a:cs typeface="Calibri"/>
              </a:rPr>
              <a:t>input</a:t>
            </a:r>
            <a:r>
              <a:rPr dirty="0" sz="1950" spc="-5">
                <a:latin typeface="Calibri"/>
                <a:cs typeface="Calibri"/>
              </a:rPr>
              <a:t> </a:t>
            </a:r>
            <a:r>
              <a:rPr dirty="0" sz="1950">
                <a:latin typeface="Calibri"/>
                <a:cs typeface="Calibri"/>
              </a:rPr>
              <a:t>and</a:t>
            </a:r>
            <a:r>
              <a:rPr dirty="0" sz="1950" spc="15">
                <a:latin typeface="Calibri"/>
                <a:cs typeface="Calibri"/>
              </a:rPr>
              <a:t> </a:t>
            </a:r>
            <a:r>
              <a:rPr dirty="0" sz="1950">
                <a:latin typeface="Calibri"/>
                <a:cs typeface="Calibri"/>
              </a:rPr>
              <a:t>an</a:t>
            </a:r>
            <a:r>
              <a:rPr dirty="0" sz="1950" spc="40">
                <a:latin typeface="Calibri"/>
                <a:cs typeface="Calibri"/>
              </a:rPr>
              <a:t> </a:t>
            </a:r>
            <a:r>
              <a:rPr dirty="0" sz="1950" spc="-10">
                <a:latin typeface="Calibri"/>
                <a:cs typeface="Calibri"/>
              </a:rPr>
              <a:t>output.</a:t>
            </a:r>
            <a:endParaRPr sz="1950">
              <a:latin typeface="Calibri"/>
              <a:cs typeface="Calibri"/>
            </a:endParaRPr>
          </a:p>
          <a:p>
            <a:pPr marL="200660" indent="-187960">
              <a:lnSpc>
                <a:spcPct val="100000"/>
              </a:lnSpc>
              <a:spcBef>
                <a:spcPts val="625"/>
              </a:spcBef>
              <a:buFont typeface="Arial MT"/>
              <a:buChar char="•"/>
              <a:tabLst>
                <a:tab pos="200660" algn="l"/>
              </a:tabLst>
            </a:pPr>
            <a:r>
              <a:rPr dirty="0" sz="1950">
                <a:latin typeface="Calibri"/>
                <a:cs typeface="Calibri"/>
              </a:rPr>
              <a:t>Each</a:t>
            </a:r>
            <a:r>
              <a:rPr dirty="0" sz="1950" spc="-15">
                <a:latin typeface="Calibri"/>
                <a:cs typeface="Calibri"/>
              </a:rPr>
              <a:t> </a:t>
            </a:r>
            <a:r>
              <a:rPr dirty="0" sz="1950">
                <a:latin typeface="Calibri"/>
                <a:cs typeface="Calibri"/>
              </a:rPr>
              <a:t>data</a:t>
            </a:r>
            <a:r>
              <a:rPr dirty="0" sz="1950" spc="25">
                <a:latin typeface="Calibri"/>
                <a:cs typeface="Calibri"/>
              </a:rPr>
              <a:t> </a:t>
            </a:r>
            <a:r>
              <a:rPr dirty="0" sz="1950">
                <a:latin typeface="Calibri"/>
                <a:cs typeface="Calibri"/>
              </a:rPr>
              <a:t>store</a:t>
            </a:r>
            <a:r>
              <a:rPr dirty="0" sz="1950" spc="-20">
                <a:latin typeface="Calibri"/>
                <a:cs typeface="Calibri"/>
              </a:rPr>
              <a:t> </a:t>
            </a:r>
            <a:r>
              <a:rPr dirty="0" sz="1950">
                <a:latin typeface="Calibri"/>
                <a:cs typeface="Calibri"/>
              </a:rPr>
              <a:t>should</a:t>
            </a:r>
            <a:r>
              <a:rPr dirty="0" sz="1950" spc="-10">
                <a:latin typeface="Calibri"/>
                <a:cs typeface="Calibri"/>
              </a:rPr>
              <a:t> </a:t>
            </a:r>
            <a:r>
              <a:rPr dirty="0" sz="1950">
                <a:latin typeface="Calibri"/>
                <a:cs typeface="Calibri"/>
              </a:rPr>
              <a:t>have</a:t>
            </a:r>
            <a:r>
              <a:rPr dirty="0" sz="1950" spc="20">
                <a:latin typeface="Calibri"/>
                <a:cs typeface="Calibri"/>
              </a:rPr>
              <a:t> </a:t>
            </a:r>
            <a:r>
              <a:rPr dirty="0" sz="1950">
                <a:latin typeface="Calibri"/>
                <a:cs typeface="Calibri"/>
              </a:rPr>
              <a:t>at</a:t>
            </a:r>
            <a:r>
              <a:rPr dirty="0" sz="1950" spc="-10">
                <a:latin typeface="Calibri"/>
                <a:cs typeface="Calibri"/>
              </a:rPr>
              <a:t> </a:t>
            </a:r>
            <a:r>
              <a:rPr dirty="0" sz="1950">
                <a:latin typeface="Calibri"/>
                <a:cs typeface="Calibri"/>
              </a:rPr>
              <a:t>least</a:t>
            </a:r>
            <a:r>
              <a:rPr dirty="0" sz="1950" spc="10">
                <a:latin typeface="Calibri"/>
                <a:cs typeface="Calibri"/>
              </a:rPr>
              <a:t> </a:t>
            </a:r>
            <a:r>
              <a:rPr dirty="0" sz="1950">
                <a:latin typeface="Calibri"/>
                <a:cs typeface="Calibri"/>
              </a:rPr>
              <a:t>one data</a:t>
            </a:r>
            <a:r>
              <a:rPr dirty="0" sz="1950" spc="5">
                <a:latin typeface="Calibri"/>
                <a:cs typeface="Calibri"/>
              </a:rPr>
              <a:t> </a:t>
            </a:r>
            <a:r>
              <a:rPr dirty="0" sz="1950">
                <a:latin typeface="Calibri"/>
                <a:cs typeface="Calibri"/>
              </a:rPr>
              <a:t>flow</a:t>
            </a:r>
            <a:r>
              <a:rPr dirty="0" sz="1950" spc="10">
                <a:latin typeface="Calibri"/>
                <a:cs typeface="Calibri"/>
              </a:rPr>
              <a:t> </a:t>
            </a:r>
            <a:r>
              <a:rPr dirty="0" sz="1950">
                <a:latin typeface="Calibri"/>
                <a:cs typeface="Calibri"/>
              </a:rPr>
              <a:t>in</a:t>
            </a:r>
            <a:r>
              <a:rPr dirty="0" sz="1950" spc="10">
                <a:latin typeface="Calibri"/>
                <a:cs typeface="Calibri"/>
              </a:rPr>
              <a:t> </a:t>
            </a:r>
            <a:r>
              <a:rPr dirty="0" sz="1950">
                <a:latin typeface="Calibri"/>
                <a:cs typeface="Calibri"/>
              </a:rPr>
              <a:t>and</a:t>
            </a:r>
            <a:r>
              <a:rPr dirty="0" sz="1950" spc="30">
                <a:latin typeface="Calibri"/>
                <a:cs typeface="Calibri"/>
              </a:rPr>
              <a:t> </a:t>
            </a:r>
            <a:r>
              <a:rPr dirty="0" sz="1950">
                <a:latin typeface="Calibri"/>
                <a:cs typeface="Calibri"/>
              </a:rPr>
              <a:t>one data</a:t>
            </a:r>
            <a:r>
              <a:rPr dirty="0" sz="1950" spc="5">
                <a:latin typeface="Calibri"/>
                <a:cs typeface="Calibri"/>
              </a:rPr>
              <a:t> </a:t>
            </a:r>
            <a:r>
              <a:rPr dirty="0" sz="1950">
                <a:latin typeface="Calibri"/>
                <a:cs typeface="Calibri"/>
              </a:rPr>
              <a:t>flow</a:t>
            </a:r>
            <a:r>
              <a:rPr dirty="0" sz="1950" spc="10">
                <a:latin typeface="Calibri"/>
                <a:cs typeface="Calibri"/>
              </a:rPr>
              <a:t> </a:t>
            </a:r>
            <a:r>
              <a:rPr dirty="0" sz="1950" spc="-20">
                <a:latin typeface="Calibri"/>
                <a:cs typeface="Calibri"/>
              </a:rPr>
              <a:t>out.</a:t>
            </a:r>
            <a:endParaRPr sz="1950">
              <a:latin typeface="Calibri"/>
              <a:cs typeface="Calibri"/>
            </a:endParaRPr>
          </a:p>
          <a:p>
            <a:pPr marL="200660" indent="-187960">
              <a:lnSpc>
                <a:spcPct val="100000"/>
              </a:lnSpc>
              <a:spcBef>
                <a:spcPts val="625"/>
              </a:spcBef>
              <a:buFont typeface="Arial MT"/>
              <a:buChar char="•"/>
              <a:tabLst>
                <a:tab pos="200660" algn="l"/>
              </a:tabLst>
            </a:pPr>
            <a:r>
              <a:rPr dirty="0" sz="1950">
                <a:latin typeface="Calibri"/>
                <a:cs typeface="Calibri"/>
              </a:rPr>
              <a:t>Data stored</a:t>
            </a:r>
            <a:r>
              <a:rPr dirty="0" sz="1950" spc="-15">
                <a:latin typeface="Calibri"/>
                <a:cs typeface="Calibri"/>
              </a:rPr>
              <a:t> </a:t>
            </a:r>
            <a:r>
              <a:rPr dirty="0" sz="1950">
                <a:latin typeface="Calibri"/>
                <a:cs typeface="Calibri"/>
              </a:rPr>
              <a:t>in</a:t>
            </a:r>
            <a:r>
              <a:rPr dirty="0" sz="1950" spc="5">
                <a:latin typeface="Calibri"/>
                <a:cs typeface="Calibri"/>
              </a:rPr>
              <a:t> </a:t>
            </a:r>
            <a:r>
              <a:rPr dirty="0" sz="1950">
                <a:latin typeface="Calibri"/>
                <a:cs typeface="Calibri"/>
              </a:rPr>
              <a:t>a</a:t>
            </a:r>
            <a:r>
              <a:rPr dirty="0" sz="1950" spc="20">
                <a:latin typeface="Calibri"/>
                <a:cs typeface="Calibri"/>
              </a:rPr>
              <a:t> </a:t>
            </a:r>
            <a:r>
              <a:rPr dirty="0" sz="1950">
                <a:latin typeface="Calibri"/>
                <a:cs typeface="Calibri"/>
              </a:rPr>
              <a:t>system must</a:t>
            </a:r>
            <a:r>
              <a:rPr dirty="0" sz="1950" spc="-15">
                <a:latin typeface="Calibri"/>
                <a:cs typeface="Calibri"/>
              </a:rPr>
              <a:t> </a:t>
            </a:r>
            <a:r>
              <a:rPr dirty="0" sz="1950">
                <a:latin typeface="Calibri"/>
                <a:cs typeface="Calibri"/>
              </a:rPr>
              <a:t>go</a:t>
            </a:r>
            <a:r>
              <a:rPr dirty="0" sz="1950" spc="10">
                <a:latin typeface="Calibri"/>
                <a:cs typeface="Calibri"/>
              </a:rPr>
              <a:t> </a:t>
            </a:r>
            <a:r>
              <a:rPr dirty="0" sz="1950">
                <a:latin typeface="Calibri"/>
                <a:cs typeface="Calibri"/>
              </a:rPr>
              <a:t>through</a:t>
            </a:r>
            <a:r>
              <a:rPr dirty="0" sz="1950" spc="-15">
                <a:latin typeface="Calibri"/>
                <a:cs typeface="Calibri"/>
              </a:rPr>
              <a:t> </a:t>
            </a:r>
            <a:r>
              <a:rPr dirty="0" sz="1950">
                <a:latin typeface="Calibri"/>
                <a:cs typeface="Calibri"/>
              </a:rPr>
              <a:t>a</a:t>
            </a:r>
            <a:r>
              <a:rPr dirty="0" sz="1950" spc="20">
                <a:latin typeface="Calibri"/>
                <a:cs typeface="Calibri"/>
              </a:rPr>
              <a:t> </a:t>
            </a:r>
            <a:r>
              <a:rPr dirty="0" sz="1950" spc="-10">
                <a:latin typeface="Calibri"/>
                <a:cs typeface="Calibri"/>
              </a:rPr>
              <a:t>process.</a:t>
            </a:r>
            <a:endParaRPr sz="1950">
              <a:latin typeface="Calibri"/>
              <a:cs typeface="Calibri"/>
            </a:endParaRPr>
          </a:p>
          <a:p>
            <a:pPr marL="200660" indent="-187960">
              <a:lnSpc>
                <a:spcPct val="100000"/>
              </a:lnSpc>
              <a:spcBef>
                <a:spcPts val="610"/>
              </a:spcBef>
              <a:buFont typeface="Arial MT"/>
              <a:buChar char="•"/>
              <a:tabLst>
                <a:tab pos="200660" algn="l"/>
              </a:tabLst>
            </a:pPr>
            <a:r>
              <a:rPr dirty="0" sz="1950">
                <a:latin typeface="Calibri"/>
                <a:cs typeface="Calibri"/>
              </a:rPr>
              <a:t>All</a:t>
            </a:r>
            <a:r>
              <a:rPr dirty="0" sz="1950" spc="10">
                <a:latin typeface="Calibri"/>
                <a:cs typeface="Calibri"/>
              </a:rPr>
              <a:t> </a:t>
            </a:r>
            <a:r>
              <a:rPr dirty="0" sz="1950">
                <a:latin typeface="Calibri"/>
                <a:cs typeface="Calibri"/>
              </a:rPr>
              <a:t>processes</a:t>
            </a:r>
            <a:r>
              <a:rPr dirty="0" sz="1950" spc="5">
                <a:latin typeface="Calibri"/>
                <a:cs typeface="Calibri"/>
              </a:rPr>
              <a:t> </a:t>
            </a:r>
            <a:r>
              <a:rPr dirty="0" sz="1950">
                <a:latin typeface="Calibri"/>
                <a:cs typeface="Calibri"/>
              </a:rPr>
              <a:t>in</a:t>
            </a:r>
            <a:r>
              <a:rPr dirty="0" sz="1950" spc="20">
                <a:latin typeface="Calibri"/>
                <a:cs typeface="Calibri"/>
              </a:rPr>
              <a:t> </a:t>
            </a:r>
            <a:r>
              <a:rPr dirty="0" sz="1950">
                <a:latin typeface="Calibri"/>
                <a:cs typeface="Calibri"/>
              </a:rPr>
              <a:t>a</a:t>
            </a:r>
            <a:r>
              <a:rPr dirty="0" sz="1950" spc="30">
                <a:latin typeface="Calibri"/>
                <a:cs typeface="Calibri"/>
              </a:rPr>
              <a:t> </a:t>
            </a:r>
            <a:r>
              <a:rPr dirty="0" sz="1950">
                <a:latin typeface="Calibri"/>
                <a:cs typeface="Calibri"/>
              </a:rPr>
              <a:t>DFD</a:t>
            </a:r>
            <a:r>
              <a:rPr dirty="0" sz="1950" spc="-5">
                <a:latin typeface="Calibri"/>
                <a:cs typeface="Calibri"/>
              </a:rPr>
              <a:t> </a:t>
            </a:r>
            <a:r>
              <a:rPr dirty="0" sz="1950">
                <a:latin typeface="Calibri"/>
                <a:cs typeface="Calibri"/>
              </a:rPr>
              <a:t>go</a:t>
            </a:r>
            <a:r>
              <a:rPr dirty="0" sz="1950" spc="20">
                <a:latin typeface="Calibri"/>
                <a:cs typeface="Calibri"/>
              </a:rPr>
              <a:t> </a:t>
            </a:r>
            <a:r>
              <a:rPr dirty="0" sz="1950">
                <a:latin typeface="Calibri"/>
                <a:cs typeface="Calibri"/>
              </a:rPr>
              <a:t>to</a:t>
            </a:r>
            <a:r>
              <a:rPr dirty="0" sz="1950" spc="15">
                <a:latin typeface="Calibri"/>
                <a:cs typeface="Calibri"/>
              </a:rPr>
              <a:t> </a:t>
            </a:r>
            <a:r>
              <a:rPr dirty="0" sz="1950">
                <a:latin typeface="Calibri"/>
                <a:cs typeface="Calibri"/>
              </a:rPr>
              <a:t>another</a:t>
            </a:r>
            <a:r>
              <a:rPr dirty="0" sz="1950" spc="35">
                <a:latin typeface="Calibri"/>
                <a:cs typeface="Calibri"/>
              </a:rPr>
              <a:t> </a:t>
            </a:r>
            <a:r>
              <a:rPr dirty="0" sz="1950">
                <a:latin typeface="Calibri"/>
                <a:cs typeface="Calibri"/>
              </a:rPr>
              <a:t>process</a:t>
            </a:r>
            <a:r>
              <a:rPr dirty="0" sz="1950" spc="5">
                <a:latin typeface="Calibri"/>
                <a:cs typeface="Calibri"/>
              </a:rPr>
              <a:t> </a:t>
            </a:r>
            <a:r>
              <a:rPr dirty="0" sz="1950">
                <a:latin typeface="Calibri"/>
                <a:cs typeface="Calibri"/>
              </a:rPr>
              <a:t>or</a:t>
            </a:r>
            <a:r>
              <a:rPr dirty="0" sz="1950" spc="35">
                <a:latin typeface="Calibri"/>
                <a:cs typeface="Calibri"/>
              </a:rPr>
              <a:t> </a:t>
            </a:r>
            <a:r>
              <a:rPr dirty="0" sz="1950">
                <a:latin typeface="Calibri"/>
                <a:cs typeface="Calibri"/>
              </a:rPr>
              <a:t>a</a:t>
            </a:r>
            <a:r>
              <a:rPr dirty="0" sz="1950" spc="10">
                <a:latin typeface="Calibri"/>
                <a:cs typeface="Calibri"/>
              </a:rPr>
              <a:t> </a:t>
            </a:r>
            <a:r>
              <a:rPr dirty="0" sz="1950">
                <a:latin typeface="Calibri"/>
                <a:cs typeface="Calibri"/>
              </a:rPr>
              <a:t>data</a:t>
            </a:r>
            <a:r>
              <a:rPr dirty="0" sz="1950" spc="10">
                <a:latin typeface="Calibri"/>
                <a:cs typeface="Calibri"/>
              </a:rPr>
              <a:t> </a:t>
            </a:r>
            <a:r>
              <a:rPr dirty="0" sz="1950" spc="-10">
                <a:latin typeface="Calibri"/>
                <a:cs typeface="Calibri"/>
              </a:rPr>
              <a:t>store.</a:t>
            </a:r>
            <a:endParaRPr sz="19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353791" y="3108541"/>
            <a:ext cx="3351529" cy="78105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4950">
                <a:latin typeface="Calibri"/>
                <a:cs typeface="Calibri"/>
              </a:rPr>
              <a:t>DFD</a:t>
            </a:r>
            <a:r>
              <a:rPr dirty="0" sz="4950" spc="-125">
                <a:latin typeface="Calibri"/>
                <a:cs typeface="Calibri"/>
              </a:rPr>
              <a:t> </a:t>
            </a:r>
            <a:r>
              <a:rPr dirty="0" sz="4950" spc="-40">
                <a:latin typeface="Calibri"/>
                <a:cs typeface="Calibri"/>
              </a:rPr>
              <a:t>Example</a:t>
            </a:r>
            <a:endParaRPr sz="49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41618" y="1261414"/>
            <a:ext cx="4977130" cy="479425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/>
              <a:t>Creating</a:t>
            </a:r>
            <a:r>
              <a:rPr dirty="0" spc="20"/>
              <a:t> </a:t>
            </a:r>
            <a:r>
              <a:rPr dirty="0"/>
              <a:t>Data</a:t>
            </a:r>
            <a:r>
              <a:rPr dirty="0" spc="50"/>
              <a:t> </a:t>
            </a:r>
            <a:r>
              <a:rPr dirty="0"/>
              <a:t>Flow</a:t>
            </a:r>
            <a:r>
              <a:rPr dirty="0" spc="30"/>
              <a:t> </a:t>
            </a:r>
            <a:r>
              <a:rPr dirty="0" spc="-10"/>
              <a:t>Diagrams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1759698" y="1890822"/>
            <a:ext cx="6219825" cy="417639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39065">
              <a:lnSpc>
                <a:spcPct val="100000"/>
              </a:lnSpc>
              <a:spcBef>
                <a:spcPts val="114"/>
              </a:spcBef>
            </a:pPr>
            <a:r>
              <a:rPr dirty="0" sz="2300" spc="-10">
                <a:latin typeface="Arial MT"/>
                <a:cs typeface="Arial MT"/>
              </a:rPr>
              <a:t>Steps:</a:t>
            </a:r>
            <a:endParaRPr sz="2300">
              <a:latin typeface="Arial MT"/>
              <a:cs typeface="Arial MT"/>
            </a:endParaRPr>
          </a:p>
          <a:p>
            <a:pPr marL="391795" indent="-379095">
              <a:lnSpc>
                <a:spcPct val="100000"/>
              </a:lnSpc>
              <a:spcBef>
                <a:spcPts val="2195"/>
              </a:spcBef>
              <a:buAutoNum type="arabicPeriod"/>
              <a:tabLst>
                <a:tab pos="391795" algn="l"/>
              </a:tabLst>
            </a:pPr>
            <a:r>
              <a:rPr dirty="0" sz="2300">
                <a:latin typeface="Arial MT"/>
                <a:cs typeface="Arial MT"/>
              </a:rPr>
              <a:t>Create</a:t>
            </a:r>
            <a:r>
              <a:rPr dirty="0" sz="2300" spc="10">
                <a:latin typeface="Arial MT"/>
                <a:cs typeface="Arial MT"/>
              </a:rPr>
              <a:t> </a:t>
            </a:r>
            <a:r>
              <a:rPr dirty="0" sz="2300">
                <a:latin typeface="Arial MT"/>
                <a:cs typeface="Arial MT"/>
              </a:rPr>
              <a:t>a</a:t>
            </a:r>
            <a:r>
              <a:rPr dirty="0" sz="2300" spc="10">
                <a:latin typeface="Arial MT"/>
                <a:cs typeface="Arial MT"/>
              </a:rPr>
              <a:t> </a:t>
            </a:r>
            <a:r>
              <a:rPr dirty="0" sz="2300">
                <a:latin typeface="Arial MT"/>
                <a:cs typeface="Arial MT"/>
              </a:rPr>
              <a:t>list</a:t>
            </a:r>
            <a:r>
              <a:rPr dirty="0" sz="2300" spc="5">
                <a:latin typeface="Arial MT"/>
                <a:cs typeface="Arial MT"/>
              </a:rPr>
              <a:t> </a:t>
            </a:r>
            <a:r>
              <a:rPr dirty="0" sz="2300">
                <a:latin typeface="Arial MT"/>
                <a:cs typeface="Arial MT"/>
              </a:rPr>
              <a:t>of</a:t>
            </a:r>
            <a:r>
              <a:rPr dirty="0" sz="2300" spc="10">
                <a:latin typeface="Arial MT"/>
                <a:cs typeface="Arial MT"/>
              </a:rPr>
              <a:t> </a:t>
            </a:r>
            <a:r>
              <a:rPr dirty="0" sz="2300" spc="-10">
                <a:latin typeface="Arial MT"/>
                <a:cs typeface="Arial MT"/>
              </a:rPr>
              <a:t>activities</a:t>
            </a:r>
            <a:endParaRPr sz="2300">
              <a:latin typeface="Arial MT"/>
              <a:cs typeface="Arial MT"/>
            </a:endParaRPr>
          </a:p>
          <a:p>
            <a:pPr marL="391795" indent="-379095">
              <a:lnSpc>
                <a:spcPct val="100000"/>
              </a:lnSpc>
              <a:spcBef>
                <a:spcPts val="1405"/>
              </a:spcBef>
              <a:buAutoNum type="arabicPeriod"/>
              <a:tabLst>
                <a:tab pos="391795" algn="l"/>
              </a:tabLst>
            </a:pPr>
            <a:r>
              <a:rPr dirty="0" sz="2300">
                <a:latin typeface="Arial MT"/>
                <a:cs typeface="Arial MT"/>
              </a:rPr>
              <a:t>Construct</a:t>
            </a:r>
            <a:r>
              <a:rPr dirty="0" sz="2300" spc="-20">
                <a:latin typeface="Arial MT"/>
                <a:cs typeface="Arial MT"/>
              </a:rPr>
              <a:t> </a:t>
            </a:r>
            <a:r>
              <a:rPr dirty="0" sz="2300">
                <a:latin typeface="Arial MT"/>
                <a:cs typeface="Arial MT"/>
              </a:rPr>
              <a:t>Context</a:t>
            </a:r>
            <a:r>
              <a:rPr dirty="0" sz="2300" spc="25">
                <a:latin typeface="Arial MT"/>
                <a:cs typeface="Arial MT"/>
              </a:rPr>
              <a:t> </a:t>
            </a:r>
            <a:r>
              <a:rPr dirty="0" sz="2300">
                <a:latin typeface="Arial MT"/>
                <a:cs typeface="Arial MT"/>
              </a:rPr>
              <a:t>Level</a:t>
            </a:r>
            <a:r>
              <a:rPr dirty="0" sz="2300" spc="45">
                <a:latin typeface="Arial MT"/>
                <a:cs typeface="Arial MT"/>
              </a:rPr>
              <a:t> </a:t>
            </a:r>
            <a:r>
              <a:rPr dirty="0" sz="2300" spc="-25">
                <a:latin typeface="Arial MT"/>
                <a:cs typeface="Arial MT"/>
              </a:rPr>
              <a:t>DFD</a:t>
            </a:r>
            <a:endParaRPr sz="2300">
              <a:latin typeface="Arial MT"/>
              <a:cs typeface="Arial MT"/>
            </a:endParaRPr>
          </a:p>
          <a:p>
            <a:pPr marL="390525">
              <a:lnSpc>
                <a:spcPct val="100000"/>
              </a:lnSpc>
              <a:spcBef>
                <a:spcPts val="10"/>
              </a:spcBef>
            </a:pPr>
            <a:r>
              <a:rPr dirty="0" sz="2300">
                <a:latin typeface="Arial MT"/>
                <a:cs typeface="Arial MT"/>
              </a:rPr>
              <a:t>(identifies</a:t>
            </a:r>
            <a:r>
              <a:rPr dirty="0" sz="2300" spc="15">
                <a:latin typeface="Arial MT"/>
                <a:cs typeface="Arial MT"/>
              </a:rPr>
              <a:t> </a:t>
            </a:r>
            <a:r>
              <a:rPr dirty="0" sz="2300">
                <a:latin typeface="Arial MT"/>
                <a:cs typeface="Arial MT"/>
              </a:rPr>
              <a:t>external</a:t>
            </a:r>
            <a:r>
              <a:rPr dirty="0" sz="2300" spc="60">
                <a:latin typeface="Arial MT"/>
                <a:cs typeface="Arial MT"/>
              </a:rPr>
              <a:t> </a:t>
            </a:r>
            <a:r>
              <a:rPr dirty="0" sz="2300">
                <a:latin typeface="Arial MT"/>
                <a:cs typeface="Arial MT"/>
              </a:rPr>
              <a:t>entities</a:t>
            </a:r>
            <a:r>
              <a:rPr dirty="0" sz="2300" spc="15">
                <a:latin typeface="Arial MT"/>
                <a:cs typeface="Arial MT"/>
              </a:rPr>
              <a:t> </a:t>
            </a:r>
            <a:r>
              <a:rPr dirty="0" sz="2300">
                <a:latin typeface="Arial MT"/>
                <a:cs typeface="Arial MT"/>
              </a:rPr>
              <a:t>and</a:t>
            </a:r>
            <a:r>
              <a:rPr dirty="0" sz="2300" spc="50">
                <a:latin typeface="Arial MT"/>
                <a:cs typeface="Arial MT"/>
              </a:rPr>
              <a:t> </a:t>
            </a:r>
            <a:r>
              <a:rPr dirty="0" sz="2300" spc="-10">
                <a:latin typeface="Arial MT"/>
                <a:cs typeface="Arial MT"/>
              </a:rPr>
              <a:t>processes)</a:t>
            </a:r>
            <a:endParaRPr sz="2300">
              <a:latin typeface="Arial MT"/>
              <a:cs typeface="Arial MT"/>
            </a:endParaRPr>
          </a:p>
          <a:p>
            <a:pPr marL="391795" indent="-379095">
              <a:lnSpc>
                <a:spcPct val="100000"/>
              </a:lnSpc>
              <a:spcBef>
                <a:spcPts val="1395"/>
              </a:spcBef>
              <a:buAutoNum type="arabicPeriod" startAt="3"/>
              <a:tabLst>
                <a:tab pos="391795" algn="l"/>
              </a:tabLst>
            </a:pPr>
            <a:r>
              <a:rPr dirty="0" sz="2300">
                <a:latin typeface="Arial MT"/>
                <a:cs typeface="Arial MT"/>
              </a:rPr>
              <a:t>Construct</a:t>
            </a:r>
            <a:r>
              <a:rPr dirty="0" sz="2300" spc="-20">
                <a:latin typeface="Arial MT"/>
                <a:cs typeface="Arial MT"/>
              </a:rPr>
              <a:t> </a:t>
            </a:r>
            <a:r>
              <a:rPr dirty="0" sz="2300">
                <a:latin typeface="Arial MT"/>
                <a:cs typeface="Arial MT"/>
              </a:rPr>
              <a:t>Level</a:t>
            </a:r>
            <a:r>
              <a:rPr dirty="0" sz="2300" spc="45">
                <a:latin typeface="Arial MT"/>
                <a:cs typeface="Arial MT"/>
              </a:rPr>
              <a:t> </a:t>
            </a:r>
            <a:r>
              <a:rPr dirty="0" sz="2300">
                <a:latin typeface="Arial MT"/>
                <a:cs typeface="Arial MT"/>
              </a:rPr>
              <a:t>0</a:t>
            </a:r>
            <a:r>
              <a:rPr dirty="0" sz="2300" spc="35">
                <a:latin typeface="Arial MT"/>
                <a:cs typeface="Arial MT"/>
              </a:rPr>
              <a:t> </a:t>
            </a:r>
            <a:r>
              <a:rPr dirty="0" sz="2300" spc="-25">
                <a:latin typeface="Arial MT"/>
                <a:cs typeface="Arial MT"/>
              </a:rPr>
              <a:t>DFD</a:t>
            </a:r>
            <a:endParaRPr sz="2300">
              <a:latin typeface="Arial MT"/>
              <a:cs typeface="Arial MT"/>
            </a:endParaRPr>
          </a:p>
          <a:p>
            <a:pPr marL="390525">
              <a:lnSpc>
                <a:spcPct val="100000"/>
              </a:lnSpc>
              <a:spcBef>
                <a:spcPts val="10"/>
              </a:spcBef>
            </a:pPr>
            <a:r>
              <a:rPr dirty="0" sz="2300">
                <a:latin typeface="Arial MT"/>
                <a:cs typeface="Arial MT"/>
              </a:rPr>
              <a:t>(identifies</a:t>
            </a:r>
            <a:r>
              <a:rPr dirty="0" sz="2300" spc="20">
                <a:latin typeface="Arial MT"/>
                <a:cs typeface="Arial MT"/>
              </a:rPr>
              <a:t> </a:t>
            </a:r>
            <a:r>
              <a:rPr dirty="0" sz="2300">
                <a:latin typeface="Arial MT"/>
                <a:cs typeface="Arial MT"/>
              </a:rPr>
              <a:t>manageable</a:t>
            </a:r>
            <a:r>
              <a:rPr dirty="0" sz="2300" spc="80">
                <a:latin typeface="Arial MT"/>
                <a:cs typeface="Arial MT"/>
              </a:rPr>
              <a:t> </a:t>
            </a:r>
            <a:r>
              <a:rPr dirty="0" sz="2300">
                <a:latin typeface="Arial MT"/>
                <a:cs typeface="Arial MT"/>
              </a:rPr>
              <a:t>sub</a:t>
            </a:r>
            <a:r>
              <a:rPr dirty="0" sz="2300" spc="55">
                <a:latin typeface="Arial MT"/>
                <a:cs typeface="Arial MT"/>
              </a:rPr>
              <a:t> </a:t>
            </a:r>
            <a:r>
              <a:rPr dirty="0" sz="2300">
                <a:latin typeface="Arial MT"/>
                <a:cs typeface="Arial MT"/>
              </a:rPr>
              <a:t>process</a:t>
            </a:r>
            <a:r>
              <a:rPr dirty="0" sz="2300" spc="20">
                <a:latin typeface="Arial MT"/>
                <a:cs typeface="Arial MT"/>
              </a:rPr>
              <a:t> </a:t>
            </a:r>
            <a:r>
              <a:rPr dirty="0" sz="2300" spc="-50">
                <a:latin typeface="Arial MT"/>
                <a:cs typeface="Arial MT"/>
              </a:rPr>
              <a:t>)</a:t>
            </a:r>
            <a:endParaRPr sz="2300">
              <a:latin typeface="Arial MT"/>
              <a:cs typeface="Arial MT"/>
            </a:endParaRPr>
          </a:p>
          <a:p>
            <a:pPr marL="391795" indent="-379095">
              <a:lnSpc>
                <a:spcPct val="100000"/>
              </a:lnSpc>
              <a:spcBef>
                <a:spcPts val="1405"/>
              </a:spcBef>
              <a:buAutoNum type="arabicPeriod" startAt="4"/>
              <a:tabLst>
                <a:tab pos="391795" algn="l"/>
              </a:tabLst>
            </a:pPr>
            <a:r>
              <a:rPr dirty="0" sz="2300">
                <a:latin typeface="Arial MT"/>
                <a:cs typeface="Arial MT"/>
              </a:rPr>
              <a:t>Construct</a:t>
            </a:r>
            <a:r>
              <a:rPr dirty="0" sz="2300" spc="-20">
                <a:latin typeface="Arial MT"/>
                <a:cs typeface="Arial MT"/>
              </a:rPr>
              <a:t> </a:t>
            </a:r>
            <a:r>
              <a:rPr dirty="0" sz="2300">
                <a:latin typeface="Arial MT"/>
                <a:cs typeface="Arial MT"/>
              </a:rPr>
              <a:t>Level</a:t>
            </a:r>
            <a:r>
              <a:rPr dirty="0" sz="2300" spc="50">
                <a:latin typeface="Arial MT"/>
                <a:cs typeface="Arial MT"/>
              </a:rPr>
              <a:t> </a:t>
            </a:r>
            <a:r>
              <a:rPr dirty="0" sz="2300">
                <a:latin typeface="Arial MT"/>
                <a:cs typeface="Arial MT"/>
              </a:rPr>
              <a:t>1-</a:t>
            </a:r>
            <a:r>
              <a:rPr dirty="0" sz="2300" spc="20">
                <a:latin typeface="Arial MT"/>
                <a:cs typeface="Arial MT"/>
              </a:rPr>
              <a:t> </a:t>
            </a:r>
            <a:r>
              <a:rPr dirty="0" sz="2300">
                <a:latin typeface="Arial MT"/>
                <a:cs typeface="Arial MT"/>
              </a:rPr>
              <a:t>n</a:t>
            </a:r>
            <a:r>
              <a:rPr dirty="0" sz="2300" spc="15">
                <a:latin typeface="Arial MT"/>
                <a:cs typeface="Arial MT"/>
              </a:rPr>
              <a:t> </a:t>
            </a:r>
            <a:r>
              <a:rPr dirty="0" sz="2300" spc="-25">
                <a:latin typeface="Arial MT"/>
                <a:cs typeface="Arial MT"/>
              </a:rPr>
              <a:t>DFD</a:t>
            </a:r>
            <a:endParaRPr sz="2300">
              <a:latin typeface="Arial MT"/>
              <a:cs typeface="Arial MT"/>
            </a:endParaRPr>
          </a:p>
          <a:p>
            <a:pPr marL="390525">
              <a:lnSpc>
                <a:spcPct val="100000"/>
              </a:lnSpc>
              <a:spcBef>
                <a:spcPts val="10"/>
              </a:spcBef>
            </a:pPr>
            <a:r>
              <a:rPr dirty="0" sz="2300">
                <a:latin typeface="Arial MT"/>
                <a:cs typeface="Arial MT"/>
              </a:rPr>
              <a:t>(identifies</a:t>
            </a:r>
            <a:r>
              <a:rPr dirty="0" sz="2300" spc="10">
                <a:latin typeface="Arial MT"/>
                <a:cs typeface="Arial MT"/>
              </a:rPr>
              <a:t> </a:t>
            </a:r>
            <a:r>
              <a:rPr dirty="0" sz="2300">
                <a:latin typeface="Arial MT"/>
                <a:cs typeface="Arial MT"/>
              </a:rPr>
              <a:t>actual</a:t>
            </a:r>
            <a:r>
              <a:rPr dirty="0" sz="2300" spc="30">
                <a:latin typeface="Arial MT"/>
                <a:cs typeface="Arial MT"/>
              </a:rPr>
              <a:t> </a:t>
            </a:r>
            <a:r>
              <a:rPr dirty="0" sz="2300">
                <a:latin typeface="Arial MT"/>
                <a:cs typeface="Arial MT"/>
              </a:rPr>
              <a:t>data</a:t>
            </a:r>
            <a:r>
              <a:rPr dirty="0" sz="2300" spc="25">
                <a:latin typeface="Arial MT"/>
                <a:cs typeface="Arial MT"/>
              </a:rPr>
              <a:t> </a:t>
            </a:r>
            <a:r>
              <a:rPr dirty="0" sz="2300">
                <a:latin typeface="Arial MT"/>
                <a:cs typeface="Arial MT"/>
              </a:rPr>
              <a:t>flows</a:t>
            </a:r>
            <a:r>
              <a:rPr dirty="0" sz="2300" spc="15">
                <a:latin typeface="Arial MT"/>
                <a:cs typeface="Arial MT"/>
              </a:rPr>
              <a:t> </a:t>
            </a:r>
            <a:r>
              <a:rPr dirty="0" sz="2300">
                <a:latin typeface="Arial MT"/>
                <a:cs typeface="Arial MT"/>
              </a:rPr>
              <a:t>and</a:t>
            </a:r>
            <a:r>
              <a:rPr dirty="0" sz="2300" spc="45">
                <a:latin typeface="Arial MT"/>
                <a:cs typeface="Arial MT"/>
              </a:rPr>
              <a:t> </a:t>
            </a:r>
            <a:r>
              <a:rPr dirty="0" sz="2300">
                <a:latin typeface="Arial MT"/>
                <a:cs typeface="Arial MT"/>
              </a:rPr>
              <a:t>data</a:t>
            </a:r>
            <a:r>
              <a:rPr dirty="0" sz="2300" spc="25">
                <a:latin typeface="Arial MT"/>
                <a:cs typeface="Arial MT"/>
              </a:rPr>
              <a:t> </a:t>
            </a:r>
            <a:r>
              <a:rPr dirty="0" sz="2300">
                <a:latin typeface="Arial MT"/>
                <a:cs typeface="Arial MT"/>
              </a:rPr>
              <a:t>stores</a:t>
            </a:r>
            <a:r>
              <a:rPr dirty="0" sz="2300" spc="35">
                <a:latin typeface="Arial MT"/>
                <a:cs typeface="Arial MT"/>
              </a:rPr>
              <a:t> </a:t>
            </a:r>
            <a:r>
              <a:rPr dirty="0" sz="2300" spc="-50">
                <a:latin typeface="Arial MT"/>
                <a:cs typeface="Arial MT"/>
              </a:rPr>
              <a:t>)</a:t>
            </a:r>
            <a:endParaRPr sz="2300">
              <a:latin typeface="Arial MT"/>
              <a:cs typeface="Arial MT"/>
            </a:endParaRPr>
          </a:p>
          <a:p>
            <a:pPr marL="391795" indent="-379095">
              <a:lnSpc>
                <a:spcPct val="100000"/>
              </a:lnSpc>
              <a:spcBef>
                <a:spcPts val="1395"/>
              </a:spcBef>
              <a:buAutoNum type="arabicPeriod" startAt="5"/>
              <a:tabLst>
                <a:tab pos="391795" algn="l"/>
              </a:tabLst>
            </a:pPr>
            <a:r>
              <a:rPr dirty="0" sz="2300">
                <a:latin typeface="Arial MT"/>
                <a:cs typeface="Arial MT"/>
              </a:rPr>
              <a:t>Check against</a:t>
            </a:r>
            <a:r>
              <a:rPr dirty="0" sz="2300" spc="5">
                <a:latin typeface="Arial MT"/>
                <a:cs typeface="Arial MT"/>
              </a:rPr>
              <a:t> </a:t>
            </a:r>
            <a:r>
              <a:rPr dirty="0" sz="2300">
                <a:latin typeface="Arial MT"/>
                <a:cs typeface="Arial MT"/>
              </a:rPr>
              <a:t>rules</a:t>
            </a:r>
            <a:r>
              <a:rPr dirty="0" sz="2300" spc="45">
                <a:latin typeface="Arial MT"/>
                <a:cs typeface="Arial MT"/>
              </a:rPr>
              <a:t> </a:t>
            </a:r>
            <a:r>
              <a:rPr dirty="0" sz="2300">
                <a:latin typeface="Arial MT"/>
                <a:cs typeface="Arial MT"/>
              </a:rPr>
              <a:t>of</a:t>
            </a:r>
            <a:r>
              <a:rPr dirty="0" sz="2300" spc="25">
                <a:latin typeface="Arial MT"/>
                <a:cs typeface="Arial MT"/>
              </a:rPr>
              <a:t> </a:t>
            </a:r>
            <a:r>
              <a:rPr dirty="0" sz="2300" spc="-25">
                <a:latin typeface="Arial MT"/>
                <a:cs typeface="Arial MT"/>
              </a:rPr>
              <a:t>DFD</a:t>
            </a:r>
            <a:endParaRPr sz="23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63985" y="1468660"/>
            <a:ext cx="3603625" cy="479425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>
                <a:latin typeface="Calibri"/>
                <a:cs typeface="Calibri"/>
              </a:rPr>
              <a:t>DFD</a:t>
            </a:r>
            <a:r>
              <a:rPr dirty="0" spc="-7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Naming</a:t>
            </a:r>
            <a:r>
              <a:rPr dirty="0" spc="-70">
                <a:latin typeface="Calibri"/>
                <a:cs typeface="Calibri"/>
              </a:rPr>
              <a:t> </a:t>
            </a:r>
            <a:r>
              <a:rPr dirty="0" spc="-10">
                <a:latin typeface="Calibri"/>
                <a:cs typeface="Calibri"/>
              </a:rPr>
              <a:t>Guidelines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2085856" y="2377776"/>
            <a:ext cx="3615690" cy="2964180"/>
          </a:xfrm>
          <a:prstGeom prst="rect">
            <a:avLst/>
          </a:prstGeom>
        </p:spPr>
        <p:txBody>
          <a:bodyPr wrap="square" lIns="0" tIns="189230" rIns="0" bIns="0" rtlCol="0" vert="horz">
            <a:spAutoFit/>
          </a:bodyPr>
          <a:lstStyle/>
          <a:p>
            <a:pPr marL="200660" indent="-187960">
              <a:lnSpc>
                <a:spcPct val="100000"/>
              </a:lnSpc>
              <a:spcBef>
                <a:spcPts val="1490"/>
              </a:spcBef>
              <a:buFont typeface="Arial MT"/>
              <a:buChar char="•"/>
              <a:tabLst>
                <a:tab pos="200660" algn="l"/>
                <a:tab pos="2066925" algn="l"/>
              </a:tabLst>
            </a:pPr>
            <a:r>
              <a:rPr dirty="0" sz="2300">
                <a:latin typeface="Calibri"/>
                <a:cs typeface="Calibri"/>
              </a:rPr>
              <a:t>External</a:t>
            </a:r>
            <a:r>
              <a:rPr dirty="0" sz="2300" spc="-60">
                <a:latin typeface="Calibri"/>
                <a:cs typeface="Calibri"/>
              </a:rPr>
              <a:t> </a:t>
            </a:r>
            <a:r>
              <a:rPr dirty="0" sz="2300" spc="-10">
                <a:latin typeface="Calibri"/>
                <a:cs typeface="Calibri"/>
              </a:rPr>
              <a:t>Entity</a:t>
            </a:r>
            <a:r>
              <a:rPr dirty="0" sz="2300">
                <a:latin typeface="Calibri"/>
                <a:cs typeface="Calibri"/>
              </a:rPr>
              <a:t>	</a:t>
            </a:r>
            <a:r>
              <a:rPr dirty="0" sz="2300">
                <a:latin typeface="Wingdings"/>
                <a:cs typeface="Wingdings"/>
              </a:rPr>
              <a:t></a:t>
            </a:r>
            <a:r>
              <a:rPr dirty="0" sz="2300" spc="-60">
                <a:latin typeface="Times New Roman"/>
                <a:cs typeface="Times New Roman"/>
              </a:rPr>
              <a:t> </a:t>
            </a:r>
            <a:r>
              <a:rPr dirty="0" sz="2300" spc="-20">
                <a:latin typeface="Calibri"/>
                <a:cs typeface="Calibri"/>
              </a:rPr>
              <a:t>Noun</a:t>
            </a:r>
            <a:endParaRPr sz="2300">
              <a:latin typeface="Calibri"/>
              <a:cs typeface="Calibri"/>
            </a:endParaRPr>
          </a:p>
          <a:p>
            <a:pPr marL="200660" indent="-187960">
              <a:lnSpc>
                <a:spcPct val="100000"/>
              </a:lnSpc>
              <a:spcBef>
                <a:spcPts val="1390"/>
              </a:spcBef>
              <a:buFont typeface="Arial MT"/>
              <a:buChar char="•"/>
              <a:tabLst>
                <a:tab pos="200660" algn="l"/>
                <a:tab pos="1519555" algn="l"/>
              </a:tabLst>
            </a:pPr>
            <a:r>
              <a:rPr dirty="0" sz="2300">
                <a:latin typeface="Calibri"/>
                <a:cs typeface="Calibri"/>
              </a:rPr>
              <a:t>Data</a:t>
            </a:r>
            <a:r>
              <a:rPr dirty="0" sz="2300" spc="-60">
                <a:latin typeface="Calibri"/>
                <a:cs typeface="Calibri"/>
              </a:rPr>
              <a:t> </a:t>
            </a:r>
            <a:r>
              <a:rPr dirty="0" sz="2300" spc="-20">
                <a:latin typeface="Calibri"/>
                <a:cs typeface="Calibri"/>
              </a:rPr>
              <a:t>Flow</a:t>
            </a:r>
            <a:r>
              <a:rPr dirty="0" sz="2300">
                <a:latin typeface="Calibri"/>
                <a:cs typeface="Calibri"/>
              </a:rPr>
              <a:t>	</a:t>
            </a:r>
            <a:r>
              <a:rPr dirty="0" sz="2300">
                <a:latin typeface="Wingdings"/>
                <a:cs typeface="Wingdings"/>
              </a:rPr>
              <a:t></a:t>
            </a:r>
            <a:r>
              <a:rPr dirty="0" sz="2300" spc="-70">
                <a:latin typeface="Times New Roman"/>
                <a:cs typeface="Times New Roman"/>
              </a:rPr>
              <a:t> </a:t>
            </a:r>
            <a:r>
              <a:rPr dirty="0" sz="2300">
                <a:latin typeface="Calibri"/>
                <a:cs typeface="Calibri"/>
              </a:rPr>
              <a:t>Names</a:t>
            </a:r>
            <a:r>
              <a:rPr dirty="0" sz="2300" spc="-15">
                <a:latin typeface="Calibri"/>
                <a:cs typeface="Calibri"/>
              </a:rPr>
              <a:t> </a:t>
            </a:r>
            <a:r>
              <a:rPr dirty="0" sz="2300">
                <a:latin typeface="Calibri"/>
                <a:cs typeface="Calibri"/>
              </a:rPr>
              <a:t>of </a:t>
            </a:r>
            <a:r>
              <a:rPr dirty="0" sz="2300" spc="-20">
                <a:latin typeface="Calibri"/>
                <a:cs typeface="Calibri"/>
              </a:rPr>
              <a:t>data</a:t>
            </a:r>
            <a:endParaRPr sz="2300">
              <a:latin typeface="Calibri"/>
              <a:cs typeface="Calibri"/>
            </a:endParaRPr>
          </a:p>
          <a:p>
            <a:pPr marL="200660" indent="-187960">
              <a:lnSpc>
                <a:spcPct val="100000"/>
              </a:lnSpc>
              <a:spcBef>
                <a:spcPts val="1390"/>
              </a:spcBef>
              <a:buFont typeface="Arial MT"/>
              <a:buChar char="•"/>
              <a:tabLst>
                <a:tab pos="200660" algn="l"/>
              </a:tabLst>
            </a:pPr>
            <a:r>
              <a:rPr dirty="0" sz="2300">
                <a:latin typeface="Calibri"/>
                <a:cs typeface="Calibri"/>
              </a:rPr>
              <a:t>Process</a:t>
            </a:r>
            <a:r>
              <a:rPr dirty="0" sz="2300" spc="-40">
                <a:latin typeface="Calibri"/>
                <a:cs typeface="Calibri"/>
              </a:rPr>
              <a:t> </a:t>
            </a:r>
            <a:r>
              <a:rPr dirty="0" sz="2300">
                <a:latin typeface="Wingdings"/>
                <a:cs typeface="Wingdings"/>
              </a:rPr>
              <a:t></a:t>
            </a:r>
            <a:r>
              <a:rPr dirty="0" sz="2300" spc="-85">
                <a:latin typeface="Times New Roman"/>
                <a:cs typeface="Times New Roman"/>
              </a:rPr>
              <a:t> </a:t>
            </a:r>
            <a:r>
              <a:rPr dirty="0" sz="2300">
                <a:latin typeface="Calibri"/>
                <a:cs typeface="Calibri"/>
              </a:rPr>
              <a:t>verb</a:t>
            </a:r>
            <a:r>
              <a:rPr dirty="0" sz="2300" spc="-20">
                <a:latin typeface="Calibri"/>
                <a:cs typeface="Calibri"/>
              </a:rPr>
              <a:t> </a:t>
            </a:r>
            <a:r>
              <a:rPr dirty="0" sz="2300" spc="-10">
                <a:latin typeface="Calibri"/>
                <a:cs typeface="Calibri"/>
              </a:rPr>
              <a:t>phrase</a:t>
            </a:r>
            <a:endParaRPr sz="2300">
              <a:latin typeface="Calibri"/>
              <a:cs typeface="Calibri"/>
            </a:endParaRPr>
          </a:p>
          <a:p>
            <a:pPr lvl="1" marL="577215" indent="-186690">
              <a:lnSpc>
                <a:spcPct val="100000"/>
              </a:lnSpc>
              <a:spcBef>
                <a:spcPts val="975"/>
              </a:spcBef>
              <a:buFont typeface="Arial MT"/>
              <a:buChar char="•"/>
              <a:tabLst>
                <a:tab pos="577215" algn="l"/>
              </a:tabLst>
            </a:pPr>
            <a:r>
              <a:rPr dirty="0" sz="1950">
                <a:latin typeface="Calibri"/>
                <a:cs typeface="Calibri"/>
              </a:rPr>
              <a:t>a</a:t>
            </a:r>
            <a:r>
              <a:rPr dirty="0" sz="1950" spc="-30">
                <a:latin typeface="Calibri"/>
                <a:cs typeface="Calibri"/>
              </a:rPr>
              <a:t> </a:t>
            </a:r>
            <a:r>
              <a:rPr dirty="0" sz="1950">
                <a:latin typeface="Calibri"/>
                <a:cs typeface="Calibri"/>
              </a:rPr>
              <a:t>system</a:t>
            </a:r>
            <a:r>
              <a:rPr dirty="0" sz="1950" spc="-25">
                <a:latin typeface="Calibri"/>
                <a:cs typeface="Calibri"/>
              </a:rPr>
              <a:t> </a:t>
            </a:r>
            <a:r>
              <a:rPr dirty="0" sz="1950" spc="-20">
                <a:latin typeface="Calibri"/>
                <a:cs typeface="Calibri"/>
              </a:rPr>
              <a:t>name</a:t>
            </a:r>
            <a:endParaRPr sz="1950">
              <a:latin typeface="Calibri"/>
              <a:cs typeface="Calibri"/>
            </a:endParaRPr>
          </a:p>
          <a:p>
            <a:pPr lvl="1" marL="577215" indent="-186690">
              <a:lnSpc>
                <a:spcPct val="100000"/>
              </a:lnSpc>
              <a:spcBef>
                <a:spcPts val="925"/>
              </a:spcBef>
              <a:buFont typeface="Arial MT"/>
              <a:buChar char="•"/>
              <a:tabLst>
                <a:tab pos="577215" algn="l"/>
              </a:tabLst>
            </a:pPr>
            <a:r>
              <a:rPr dirty="0" sz="1950">
                <a:latin typeface="Calibri"/>
                <a:cs typeface="Calibri"/>
              </a:rPr>
              <a:t>a</a:t>
            </a:r>
            <a:r>
              <a:rPr dirty="0" sz="1950" spc="-20">
                <a:latin typeface="Calibri"/>
                <a:cs typeface="Calibri"/>
              </a:rPr>
              <a:t> </a:t>
            </a:r>
            <a:r>
              <a:rPr dirty="0" sz="1950">
                <a:latin typeface="Calibri"/>
                <a:cs typeface="Calibri"/>
              </a:rPr>
              <a:t>subsystem</a:t>
            </a:r>
            <a:r>
              <a:rPr dirty="0" sz="1950" spc="-15">
                <a:latin typeface="Calibri"/>
                <a:cs typeface="Calibri"/>
              </a:rPr>
              <a:t> </a:t>
            </a:r>
            <a:r>
              <a:rPr dirty="0" sz="1950" spc="-20">
                <a:latin typeface="Calibri"/>
                <a:cs typeface="Calibri"/>
              </a:rPr>
              <a:t>name</a:t>
            </a:r>
            <a:endParaRPr sz="1950">
              <a:latin typeface="Calibri"/>
              <a:cs typeface="Calibri"/>
            </a:endParaRPr>
          </a:p>
          <a:p>
            <a:pPr marL="200660" indent="-187960">
              <a:lnSpc>
                <a:spcPct val="100000"/>
              </a:lnSpc>
              <a:spcBef>
                <a:spcPts val="1340"/>
              </a:spcBef>
              <a:buFont typeface="Arial MT"/>
              <a:buChar char="•"/>
              <a:tabLst>
                <a:tab pos="200660" algn="l"/>
                <a:tab pos="1583690" algn="l"/>
              </a:tabLst>
            </a:pPr>
            <a:r>
              <a:rPr dirty="0" sz="2300">
                <a:latin typeface="Calibri"/>
                <a:cs typeface="Calibri"/>
              </a:rPr>
              <a:t>Data</a:t>
            </a:r>
            <a:r>
              <a:rPr dirty="0" sz="2300" spc="-60">
                <a:latin typeface="Calibri"/>
                <a:cs typeface="Calibri"/>
              </a:rPr>
              <a:t> </a:t>
            </a:r>
            <a:r>
              <a:rPr dirty="0" sz="2300" spc="-10">
                <a:latin typeface="Calibri"/>
                <a:cs typeface="Calibri"/>
              </a:rPr>
              <a:t>Store</a:t>
            </a:r>
            <a:r>
              <a:rPr dirty="0" sz="2300">
                <a:latin typeface="Calibri"/>
                <a:cs typeface="Calibri"/>
              </a:rPr>
              <a:t>	</a:t>
            </a:r>
            <a:r>
              <a:rPr dirty="0" sz="2300">
                <a:latin typeface="Wingdings"/>
                <a:cs typeface="Wingdings"/>
              </a:rPr>
              <a:t></a:t>
            </a:r>
            <a:r>
              <a:rPr dirty="0" sz="2300" spc="-60">
                <a:latin typeface="Times New Roman"/>
                <a:cs typeface="Times New Roman"/>
              </a:rPr>
              <a:t> </a:t>
            </a:r>
            <a:r>
              <a:rPr dirty="0" sz="2300" spc="-20">
                <a:latin typeface="Calibri"/>
                <a:cs typeface="Calibri"/>
              </a:rPr>
              <a:t>Noun</a:t>
            </a:r>
            <a:endParaRPr sz="23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29512" y="3430523"/>
            <a:ext cx="2083307" cy="3218688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543094" y="1979967"/>
            <a:ext cx="4977130" cy="1382395"/>
          </a:xfrm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263525" marR="5080" indent="-251460">
              <a:lnSpc>
                <a:spcPct val="150900"/>
              </a:lnSpc>
              <a:spcBef>
                <a:spcPts val="90"/>
              </a:spcBef>
            </a:pPr>
            <a:r>
              <a:rPr dirty="0"/>
              <a:t>Creating</a:t>
            </a:r>
            <a:r>
              <a:rPr dirty="0" spc="20"/>
              <a:t> </a:t>
            </a:r>
            <a:r>
              <a:rPr dirty="0"/>
              <a:t>Data</a:t>
            </a:r>
            <a:r>
              <a:rPr dirty="0" spc="50"/>
              <a:t> </a:t>
            </a:r>
            <a:r>
              <a:rPr dirty="0"/>
              <a:t>Flow</a:t>
            </a:r>
            <a:r>
              <a:rPr dirty="0" spc="30"/>
              <a:t> </a:t>
            </a:r>
            <a:r>
              <a:rPr dirty="0" spc="-10"/>
              <a:t>Diagrams </a:t>
            </a:r>
            <a:r>
              <a:rPr dirty="0"/>
              <a:t>Lemonade</a:t>
            </a:r>
            <a:r>
              <a:rPr dirty="0" spc="40"/>
              <a:t> </a:t>
            </a:r>
            <a:r>
              <a:rPr dirty="0"/>
              <a:t>Stand</a:t>
            </a:r>
            <a:r>
              <a:rPr dirty="0" spc="85"/>
              <a:t> </a:t>
            </a:r>
            <a:r>
              <a:rPr dirty="0" spc="-10"/>
              <a:t>Example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7145">
              <a:lnSpc>
                <a:spcPct val="100000"/>
              </a:lnSpc>
              <a:spcBef>
                <a:spcPts val="125"/>
              </a:spcBef>
            </a:pPr>
            <a:r>
              <a:rPr dirty="0"/>
              <a:t>Creating</a:t>
            </a:r>
            <a:r>
              <a:rPr dirty="0" spc="20"/>
              <a:t> </a:t>
            </a:r>
            <a:r>
              <a:rPr dirty="0"/>
              <a:t>Data</a:t>
            </a:r>
            <a:r>
              <a:rPr dirty="0" spc="50"/>
              <a:t> </a:t>
            </a:r>
            <a:r>
              <a:rPr dirty="0"/>
              <a:t>Flow</a:t>
            </a:r>
            <a:r>
              <a:rPr dirty="0" spc="30"/>
              <a:t> </a:t>
            </a:r>
            <a:r>
              <a:rPr dirty="0" spc="-10"/>
              <a:t>Diagrams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4086887" y="1831371"/>
            <a:ext cx="739140" cy="3276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950" spc="-10">
                <a:latin typeface="Arial MT"/>
                <a:cs typeface="Arial MT"/>
              </a:rPr>
              <a:t>Steps:</a:t>
            </a:r>
            <a:endParaRPr sz="1950">
              <a:latin typeface="Arial MT"/>
              <a:cs typeface="Arial MT"/>
            </a:endParaRPr>
          </a:p>
        </p:txBody>
      </p:sp>
      <p:grpSp>
        <p:nvGrpSpPr>
          <p:cNvPr id="4" name="object 4" descr=""/>
          <p:cNvGrpSpPr/>
          <p:nvPr/>
        </p:nvGrpSpPr>
        <p:grpSpPr>
          <a:xfrm>
            <a:off x="4020311" y="2063495"/>
            <a:ext cx="7620" cy="4464050"/>
            <a:chOff x="4020311" y="2063495"/>
            <a:chExt cx="7620" cy="4464050"/>
          </a:xfrm>
        </p:grpSpPr>
        <p:sp>
          <p:nvSpPr>
            <p:cNvPr id="5" name="object 5" descr=""/>
            <p:cNvSpPr/>
            <p:nvPr/>
          </p:nvSpPr>
          <p:spPr>
            <a:xfrm>
              <a:off x="4024121" y="4901184"/>
              <a:ext cx="0" cy="1626235"/>
            </a:xfrm>
            <a:custGeom>
              <a:avLst/>
              <a:gdLst/>
              <a:ahLst/>
              <a:cxnLst/>
              <a:rect l="l" t="t" r="r" b="b"/>
              <a:pathLst>
                <a:path w="0" h="1626234">
                  <a:moveTo>
                    <a:pt x="0" y="0"/>
                  </a:moveTo>
                  <a:lnTo>
                    <a:pt x="0" y="1626108"/>
                  </a:lnTo>
                </a:path>
              </a:pathLst>
            </a:custGeom>
            <a:ln w="7620">
              <a:solidFill>
                <a:srgbClr val="954F72"/>
              </a:solidFill>
              <a:prstDash val="sys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4020311" y="4351020"/>
              <a:ext cx="7620" cy="525780"/>
            </a:xfrm>
            <a:custGeom>
              <a:avLst/>
              <a:gdLst/>
              <a:ahLst/>
              <a:cxnLst/>
              <a:rect l="l" t="t" r="r" b="b"/>
              <a:pathLst>
                <a:path w="7620" h="525779">
                  <a:moveTo>
                    <a:pt x="7620" y="525780"/>
                  </a:moveTo>
                  <a:lnTo>
                    <a:pt x="0" y="525780"/>
                  </a:lnTo>
                  <a:lnTo>
                    <a:pt x="0" y="495300"/>
                  </a:lnTo>
                  <a:lnTo>
                    <a:pt x="7620" y="495300"/>
                  </a:lnTo>
                  <a:lnTo>
                    <a:pt x="7620" y="525780"/>
                  </a:lnTo>
                  <a:close/>
                </a:path>
                <a:path w="7620" h="525779">
                  <a:moveTo>
                    <a:pt x="7620" y="470916"/>
                  </a:moveTo>
                  <a:lnTo>
                    <a:pt x="0" y="470916"/>
                  </a:lnTo>
                  <a:lnTo>
                    <a:pt x="0" y="440436"/>
                  </a:lnTo>
                  <a:lnTo>
                    <a:pt x="7620" y="440436"/>
                  </a:lnTo>
                  <a:lnTo>
                    <a:pt x="7620" y="470916"/>
                  </a:lnTo>
                  <a:close/>
                </a:path>
                <a:path w="7620" h="525779">
                  <a:moveTo>
                    <a:pt x="7620" y="416052"/>
                  </a:moveTo>
                  <a:lnTo>
                    <a:pt x="0" y="416052"/>
                  </a:lnTo>
                  <a:lnTo>
                    <a:pt x="0" y="385572"/>
                  </a:lnTo>
                  <a:lnTo>
                    <a:pt x="7620" y="385572"/>
                  </a:lnTo>
                  <a:lnTo>
                    <a:pt x="7620" y="416052"/>
                  </a:lnTo>
                  <a:close/>
                </a:path>
                <a:path w="7620" h="525779">
                  <a:moveTo>
                    <a:pt x="7620" y="361188"/>
                  </a:moveTo>
                  <a:lnTo>
                    <a:pt x="0" y="361188"/>
                  </a:lnTo>
                  <a:lnTo>
                    <a:pt x="0" y="329184"/>
                  </a:lnTo>
                  <a:lnTo>
                    <a:pt x="7620" y="330708"/>
                  </a:lnTo>
                  <a:lnTo>
                    <a:pt x="7620" y="361188"/>
                  </a:lnTo>
                  <a:close/>
                </a:path>
                <a:path w="7620" h="525779">
                  <a:moveTo>
                    <a:pt x="7620" y="306324"/>
                  </a:moveTo>
                  <a:lnTo>
                    <a:pt x="0" y="306324"/>
                  </a:lnTo>
                  <a:lnTo>
                    <a:pt x="0" y="274320"/>
                  </a:lnTo>
                  <a:lnTo>
                    <a:pt x="7620" y="274320"/>
                  </a:lnTo>
                  <a:lnTo>
                    <a:pt x="7620" y="306324"/>
                  </a:lnTo>
                  <a:close/>
                </a:path>
                <a:path w="7620" h="525779">
                  <a:moveTo>
                    <a:pt x="7620" y="251460"/>
                  </a:moveTo>
                  <a:lnTo>
                    <a:pt x="0" y="251460"/>
                  </a:lnTo>
                  <a:lnTo>
                    <a:pt x="0" y="219456"/>
                  </a:lnTo>
                  <a:lnTo>
                    <a:pt x="7620" y="219456"/>
                  </a:lnTo>
                  <a:lnTo>
                    <a:pt x="7620" y="251460"/>
                  </a:lnTo>
                  <a:close/>
                </a:path>
                <a:path w="7620" h="525779">
                  <a:moveTo>
                    <a:pt x="7620" y="196596"/>
                  </a:moveTo>
                  <a:lnTo>
                    <a:pt x="0" y="196596"/>
                  </a:lnTo>
                  <a:lnTo>
                    <a:pt x="0" y="164592"/>
                  </a:lnTo>
                  <a:lnTo>
                    <a:pt x="7620" y="164592"/>
                  </a:lnTo>
                  <a:lnTo>
                    <a:pt x="7620" y="196596"/>
                  </a:lnTo>
                  <a:close/>
                </a:path>
                <a:path w="7620" h="525779">
                  <a:moveTo>
                    <a:pt x="7620" y="141732"/>
                  </a:moveTo>
                  <a:lnTo>
                    <a:pt x="0" y="141732"/>
                  </a:lnTo>
                  <a:lnTo>
                    <a:pt x="0" y="109728"/>
                  </a:lnTo>
                  <a:lnTo>
                    <a:pt x="7620" y="109728"/>
                  </a:lnTo>
                  <a:lnTo>
                    <a:pt x="7620" y="141732"/>
                  </a:lnTo>
                  <a:close/>
                </a:path>
                <a:path w="7620" h="525779">
                  <a:moveTo>
                    <a:pt x="7620" y="86867"/>
                  </a:moveTo>
                  <a:lnTo>
                    <a:pt x="0" y="86867"/>
                  </a:lnTo>
                  <a:lnTo>
                    <a:pt x="0" y="54864"/>
                  </a:lnTo>
                  <a:lnTo>
                    <a:pt x="7620" y="54864"/>
                  </a:lnTo>
                  <a:lnTo>
                    <a:pt x="7620" y="86867"/>
                  </a:lnTo>
                  <a:close/>
                </a:path>
                <a:path w="7620" h="525779">
                  <a:moveTo>
                    <a:pt x="7620" y="32004"/>
                  </a:moveTo>
                  <a:lnTo>
                    <a:pt x="0" y="32004"/>
                  </a:lnTo>
                  <a:lnTo>
                    <a:pt x="0" y="0"/>
                  </a:lnTo>
                  <a:lnTo>
                    <a:pt x="7620" y="0"/>
                  </a:lnTo>
                  <a:lnTo>
                    <a:pt x="7620" y="32004"/>
                  </a:lnTo>
                  <a:close/>
                </a:path>
              </a:pathLst>
            </a:custGeom>
            <a:solidFill>
              <a:srgbClr val="954F7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4024121" y="2095499"/>
              <a:ext cx="0" cy="2231390"/>
            </a:xfrm>
            <a:custGeom>
              <a:avLst/>
              <a:gdLst/>
              <a:ahLst/>
              <a:cxnLst/>
              <a:rect l="l" t="t" r="r" b="b"/>
              <a:pathLst>
                <a:path w="0" h="2231390">
                  <a:moveTo>
                    <a:pt x="0" y="0"/>
                  </a:moveTo>
                  <a:lnTo>
                    <a:pt x="0" y="2231135"/>
                  </a:lnTo>
                </a:path>
              </a:pathLst>
            </a:custGeom>
            <a:ln w="7620">
              <a:solidFill>
                <a:srgbClr val="954F72"/>
              </a:solidFill>
              <a:prstDash val="sys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4020311" y="2063495"/>
              <a:ext cx="7620" cy="9525"/>
            </a:xfrm>
            <a:custGeom>
              <a:avLst/>
              <a:gdLst/>
              <a:ahLst/>
              <a:cxnLst/>
              <a:rect l="l" t="t" r="r" b="b"/>
              <a:pathLst>
                <a:path w="7620" h="9525">
                  <a:moveTo>
                    <a:pt x="7620" y="9144"/>
                  </a:moveTo>
                  <a:lnTo>
                    <a:pt x="0" y="9144"/>
                  </a:lnTo>
                  <a:lnTo>
                    <a:pt x="0" y="0"/>
                  </a:lnTo>
                  <a:lnTo>
                    <a:pt x="7620" y="0"/>
                  </a:lnTo>
                  <a:lnTo>
                    <a:pt x="7620" y="9144"/>
                  </a:lnTo>
                  <a:close/>
                </a:path>
              </a:pathLst>
            </a:custGeom>
            <a:solidFill>
              <a:srgbClr val="954F7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 descr=""/>
          <p:cNvSpPr txBox="1"/>
          <p:nvPr/>
        </p:nvSpPr>
        <p:spPr>
          <a:xfrm>
            <a:off x="4150831" y="2271779"/>
            <a:ext cx="2618740" cy="27813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391160" algn="l"/>
              </a:tabLst>
            </a:pPr>
            <a:r>
              <a:rPr dirty="0" sz="1650" spc="-25">
                <a:latin typeface="Arial MT"/>
                <a:cs typeface="Arial MT"/>
              </a:rPr>
              <a:t>1.</a:t>
            </a:r>
            <a:r>
              <a:rPr dirty="0" sz="1650">
                <a:latin typeface="Arial MT"/>
                <a:cs typeface="Arial MT"/>
              </a:rPr>
              <a:t>	Create</a:t>
            </a:r>
            <a:r>
              <a:rPr dirty="0" sz="1650" spc="-45">
                <a:latin typeface="Arial MT"/>
                <a:cs typeface="Arial MT"/>
              </a:rPr>
              <a:t> </a:t>
            </a:r>
            <a:r>
              <a:rPr dirty="0" sz="1650">
                <a:latin typeface="Arial MT"/>
                <a:cs typeface="Arial MT"/>
              </a:rPr>
              <a:t>a</a:t>
            </a:r>
            <a:r>
              <a:rPr dirty="0" sz="1650" spc="-5">
                <a:latin typeface="Arial MT"/>
                <a:cs typeface="Arial MT"/>
              </a:rPr>
              <a:t> </a:t>
            </a:r>
            <a:r>
              <a:rPr dirty="0" sz="1650">
                <a:latin typeface="Arial MT"/>
                <a:cs typeface="Arial MT"/>
              </a:rPr>
              <a:t>list</a:t>
            </a:r>
            <a:r>
              <a:rPr dirty="0" sz="1650" spc="-25">
                <a:latin typeface="Arial MT"/>
                <a:cs typeface="Arial MT"/>
              </a:rPr>
              <a:t> </a:t>
            </a:r>
            <a:r>
              <a:rPr dirty="0" sz="1650">
                <a:latin typeface="Arial MT"/>
                <a:cs typeface="Arial MT"/>
              </a:rPr>
              <a:t>of</a:t>
            </a:r>
            <a:r>
              <a:rPr dirty="0" sz="1650" spc="-10">
                <a:latin typeface="Arial MT"/>
                <a:cs typeface="Arial MT"/>
              </a:rPr>
              <a:t> activities</a:t>
            </a:r>
            <a:endParaRPr sz="1650">
              <a:latin typeface="Arial MT"/>
              <a:cs typeface="Arial MT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4528840" y="2522716"/>
            <a:ext cx="3550920" cy="781685"/>
          </a:xfrm>
          <a:prstGeom prst="rect">
            <a:avLst/>
          </a:prstGeom>
        </p:spPr>
        <p:txBody>
          <a:bodyPr wrap="square" lIns="0" tIns="139065" rIns="0" bIns="0" rtlCol="0" vert="horz">
            <a:spAutoFit/>
          </a:bodyPr>
          <a:lstStyle/>
          <a:p>
            <a:pPr marL="388620" indent="-375920">
              <a:lnSpc>
                <a:spcPct val="100000"/>
              </a:lnSpc>
              <a:spcBef>
                <a:spcPts val="1095"/>
              </a:spcBef>
              <a:buChar char="•"/>
              <a:tabLst>
                <a:tab pos="388620" algn="l"/>
              </a:tabLst>
            </a:pPr>
            <a:r>
              <a:rPr dirty="0" sz="1650">
                <a:latin typeface="Arial MT"/>
                <a:cs typeface="Arial MT"/>
              </a:rPr>
              <a:t>Old</a:t>
            </a:r>
            <a:r>
              <a:rPr dirty="0" sz="1650" spc="-5">
                <a:latin typeface="Arial MT"/>
                <a:cs typeface="Arial MT"/>
              </a:rPr>
              <a:t> </a:t>
            </a:r>
            <a:r>
              <a:rPr dirty="0" sz="1650">
                <a:latin typeface="Arial MT"/>
                <a:cs typeface="Arial MT"/>
              </a:rPr>
              <a:t>way:</a:t>
            </a:r>
            <a:r>
              <a:rPr dirty="0" sz="1650" spc="-10">
                <a:latin typeface="Arial MT"/>
                <a:cs typeface="Arial MT"/>
              </a:rPr>
              <a:t> </a:t>
            </a:r>
            <a:r>
              <a:rPr dirty="0" sz="1650">
                <a:latin typeface="Arial MT"/>
                <a:cs typeface="Arial MT"/>
              </a:rPr>
              <a:t>no </a:t>
            </a:r>
            <a:r>
              <a:rPr dirty="0" sz="1650" spc="-10">
                <a:latin typeface="Arial MT"/>
                <a:cs typeface="Arial MT"/>
              </a:rPr>
              <a:t>Use-</a:t>
            </a:r>
            <a:r>
              <a:rPr dirty="0" sz="1650">
                <a:latin typeface="Arial MT"/>
                <a:cs typeface="Arial MT"/>
              </a:rPr>
              <a:t>Case</a:t>
            </a:r>
            <a:r>
              <a:rPr dirty="0" sz="1650" spc="-40">
                <a:latin typeface="Arial MT"/>
                <a:cs typeface="Arial MT"/>
              </a:rPr>
              <a:t> </a:t>
            </a:r>
            <a:r>
              <a:rPr dirty="0" sz="1650" spc="-10">
                <a:latin typeface="Arial MT"/>
                <a:cs typeface="Arial MT"/>
              </a:rPr>
              <a:t>Diagram</a:t>
            </a:r>
            <a:endParaRPr sz="1650">
              <a:latin typeface="Arial MT"/>
              <a:cs typeface="Arial MT"/>
            </a:endParaRPr>
          </a:p>
          <a:p>
            <a:pPr marL="388620" indent="-375920">
              <a:lnSpc>
                <a:spcPct val="100000"/>
              </a:lnSpc>
              <a:spcBef>
                <a:spcPts val="994"/>
              </a:spcBef>
              <a:buChar char="•"/>
              <a:tabLst>
                <a:tab pos="388620" algn="l"/>
              </a:tabLst>
            </a:pPr>
            <a:r>
              <a:rPr dirty="0" sz="1650">
                <a:latin typeface="Arial MT"/>
                <a:cs typeface="Arial MT"/>
              </a:rPr>
              <a:t>New</a:t>
            </a:r>
            <a:r>
              <a:rPr dirty="0" sz="1650" spc="-10">
                <a:latin typeface="Arial MT"/>
                <a:cs typeface="Arial MT"/>
              </a:rPr>
              <a:t> </a:t>
            </a:r>
            <a:r>
              <a:rPr dirty="0" sz="1650">
                <a:latin typeface="Arial MT"/>
                <a:cs typeface="Arial MT"/>
              </a:rPr>
              <a:t>way: use </a:t>
            </a:r>
            <a:r>
              <a:rPr dirty="0" sz="1650" spc="-10">
                <a:latin typeface="Arial MT"/>
                <a:cs typeface="Arial MT"/>
              </a:rPr>
              <a:t>Use-</a:t>
            </a:r>
            <a:r>
              <a:rPr dirty="0" sz="1650">
                <a:latin typeface="Arial MT"/>
                <a:cs typeface="Arial MT"/>
              </a:rPr>
              <a:t>Case</a:t>
            </a:r>
            <a:r>
              <a:rPr dirty="0" sz="1650" spc="-45">
                <a:latin typeface="Arial MT"/>
                <a:cs typeface="Arial MT"/>
              </a:rPr>
              <a:t> </a:t>
            </a:r>
            <a:r>
              <a:rPr dirty="0" sz="1650" spc="-10">
                <a:latin typeface="Arial MT"/>
                <a:cs typeface="Arial MT"/>
              </a:rPr>
              <a:t>Diagram</a:t>
            </a:r>
            <a:endParaRPr sz="1650">
              <a:latin typeface="Arial MT"/>
              <a:cs typeface="Arial MT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4150831" y="3402620"/>
            <a:ext cx="4545330" cy="1786889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90525" marR="1421765" indent="-378460">
              <a:lnSpc>
                <a:spcPct val="100000"/>
              </a:lnSpc>
              <a:spcBef>
                <a:spcPts val="105"/>
              </a:spcBef>
              <a:buAutoNum type="arabicPeriod" startAt="2"/>
              <a:tabLst>
                <a:tab pos="390525" algn="l"/>
              </a:tabLst>
            </a:pPr>
            <a:r>
              <a:rPr dirty="0" sz="1650">
                <a:latin typeface="Arial MT"/>
                <a:cs typeface="Arial MT"/>
              </a:rPr>
              <a:t>Construct</a:t>
            </a:r>
            <a:r>
              <a:rPr dirty="0" sz="1650" spc="-65">
                <a:latin typeface="Arial MT"/>
                <a:cs typeface="Arial MT"/>
              </a:rPr>
              <a:t> </a:t>
            </a:r>
            <a:r>
              <a:rPr dirty="0" sz="1650">
                <a:latin typeface="Arial MT"/>
                <a:cs typeface="Arial MT"/>
              </a:rPr>
              <a:t>Context</a:t>
            </a:r>
            <a:r>
              <a:rPr dirty="0" sz="1650" spc="-40">
                <a:latin typeface="Arial MT"/>
                <a:cs typeface="Arial MT"/>
              </a:rPr>
              <a:t> </a:t>
            </a:r>
            <a:r>
              <a:rPr dirty="0" sz="1650">
                <a:latin typeface="Arial MT"/>
                <a:cs typeface="Arial MT"/>
              </a:rPr>
              <a:t>Level</a:t>
            </a:r>
            <a:r>
              <a:rPr dirty="0" sz="1650" spc="-30">
                <a:latin typeface="Arial MT"/>
                <a:cs typeface="Arial MT"/>
              </a:rPr>
              <a:t> </a:t>
            </a:r>
            <a:r>
              <a:rPr dirty="0" sz="1650" spc="-25">
                <a:latin typeface="Arial MT"/>
                <a:cs typeface="Arial MT"/>
              </a:rPr>
              <a:t>DFD </a:t>
            </a:r>
            <a:r>
              <a:rPr dirty="0" sz="1650">
                <a:latin typeface="Arial MT"/>
                <a:cs typeface="Arial MT"/>
              </a:rPr>
              <a:t>(identifies</a:t>
            </a:r>
            <a:r>
              <a:rPr dirty="0" sz="1650" spc="-50">
                <a:latin typeface="Arial MT"/>
                <a:cs typeface="Arial MT"/>
              </a:rPr>
              <a:t> </a:t>
            </a:r>
            <a:r>
              <a:rPr dirty="0" sz="1650">
                <a:latin typeface="Arial MT"/>
                <a:cs typeface="Arial MT"/>
              </a:rPr>
              <a:t>sources</a:t>
            </a:r>
            <a:r>
              <a:rPr dirty="0" sz="1650" spc="-35">
                <a:latin typeface="Arial MT"/>
                <a:cs typeface="Arial MT"/>
              </a:rPr>
              <a:t> </a:t>
            </a:r>
            <a:r>
              <a:rPr dirty="0" sz="1650">
                <a:latin typeface="Arial MT"/>
                <a:cs typeface="Arial MT"/>
              </a:rPr>
              <a:t>and</a:t>
            </a:r>
            <a:r>
              <a:rPr dirty="0" sz="1650" spc="-25">
                <a:latin typeface="Arial MT"/>
                <a:cs typeface="Arial MT"/>
              </a:rPr>
              <a:t> </a:t>
            </a:r>
            <a:r>
              <a:rPr dirty="0" sz="1650" spc="-20">
                <a:latin typeface="Arial MT"/>
                <a:cs typeface="Arial MT"/>
              </a:rPr>
              <a:t>sink)</a:t>
            </a:r>
            <a:endParaRPr sz="1650">
              <a:latin typeface="Arial MT"/>
              <a:cs typeface="Arial MT"/>
            </a:endParaRPr>
          </a:p>
          <a:p>
            <a:pPr marL="391160" indent="-378460">
              <a:lnSpc>
                <a:spcPct val="100000"/>
              </a:lnSpc>
              <a:spcBef>
                <a:spcPts val="994"/>
              </a:spcBef>
              <a:buAutoNum type="arabicPeriod" startAt="2"/>
              <a:tabLst>
                <a:tab pos="391160" algn="l"/>
              </a:tabLst>
            </a:pPr>
            <a:r>
              <a:rPr dirty="0" sz="1650">
                <a:latin typeface="Arial MT"/>
                <a:cs typeface="Arial MT"/>
              </a:rPr>
              <a:t>Construct</a:t>
            </a:r>
            <a:r>
              <a:rPr dirty="0" sz="1650" spc="-50">
                <a:latin typeface="Arial MT"/>
                <a:cs typeface="Arial MT"/>
              </a:rPr>
              <a:t> </a:t>
            </a:r>
            <a:r>
              <a:rPr dirty="0" sz="1650">
                <a:latin typeface="Arial MT"/>
                <a:cs typeface="Arial MT"/>
              </a:rPr>
              <a:t>Level</a:t>
            </a:r>
            <a:r>
              <a:rPr dirty="0" sz="1650" spc="-35">
                <a:latin typeface="Arial MT"/>
                <a:cs typeface="Arial MT"/>
              </a:rPr>
              <a:t> </a:t>
            </a:r>
            <a:r>
              <a:rPr dirty="0" sz="1650">
                <a:latin typeface="Arial MT"/>
                <a:cs typeface="Arial MT"/>
              </a:rPr>
              <a:t>0</a:t>
            </a:r>
            <a:r>
              <a:rPr dirty="0" sz="1650" spc="-10">
                <a:latin typeface="Arial MT"/>
                <a:cs typeface="Arial MT"/>
              </a:rPr>
              <a:t> </a:t>
            </a:r>
            <a:r>
              <a:rPr dirty="0" sz="1650" spc="-25">
                <a:latin typeface="Arial MT"/>
                <a:cs typeface="Arial MT"/>
              </a:rPr>
              <a:t>DFD</a:t>
            </a:r>
            <a:endParaRPr sz="1650">
              <a:latin typeface="Arial MT"/>
              <a:cs typeface="Arial MT"/>
            </a:endParaRPr>
          </a:p>
          <a:p>
            <a:pPr marL="390525">
              <a:lnSpc>
                <a:spcPct val="100000"/>
              </a:lnSpc>
            </a:pPr>
            <a:r>
              <a:rPr dirty="0" sz="1650">
                <a:latin typeface="Arial MT"/>
                <a:cs typeface="Arial MT"/>
              </a:rPr>
              <a:t>(identifies</a:t>
            </a:r>
            <a:r>
              <a:rPr dirty="0" sz="1650" spc="-50">
                <a:latin typeface="Arial MT"/>
                <a:cs typeface="Arial MT"/>
              </a:rPr>
              <a:t> </a:t>
            </a:r>
            <a:r>
              <a:rPr dirty="0" sz="1650">
                <a:latin typeface="Arial MT"/>
                <a:cs typeface="Arial MT"/>
              </a:rPr>
              <a:t>manageable</a:t>
            </a:r>
            <a:r>
              <a:rPr dirty="0" sz="1650" spc="-45">
                <a:latin typeface="Arial MT"/>
                <a:cs typeface="Arial MT"/>
              </a:rPr>
              <a:t> </a:t>
            </a:r>
            <a:r>
              <a:rPr dirty="0" sz="1650">
                <a:latin typeface="Arial MT"/>
                <a:cs typeface="Arial MT"/>
              </a:rPr>
              <a:t>sub</a:t>
            </a:r>
            <a:r>
              <a:rPr dirty="0" sz="1650" spc="-10">
                <a:latin typeface="Arial MT"/>
                <a:cs typeface="Arial MT"/>
              </a:rPr>
              <a:t> </a:t>
            </a:r>
            <a:r>
              <a:rPr dirty="0" sz="1650">
                <a:latin typeface="Arial MT"/>
                <a:cs typeface="Arial MT"/>
              </a:rPr>
              <a:t>processes</a:t>
            </a:r>
            <a:r>
              <a:rPr dirty="0" sz="1650" spc="-65">
                <a:latin typeface="Arial MT"/>
                <a:cs typeface="Arial MT"/>
              </a:rPr>
              <a:t> </a:t>
            </a:r>
            <a:r>
              <a:rPr dirty="0" sz="1650" spc="-50">
                <a:latin typeface="Arial MT"/>
                <a:cs typeface="Arial MT"/>
              </a:rPr>
              <a:t>)</a:t>
            </a:r>
            <a:endParaRPr sz="1650">
              <a:latin typeface="Arial MT"/>
              <a:cs typeface="Arial MT"/>
            </a:endParaRPr>
          </a:p>
          <a:p>
            <a:pPr marL="391160" indent="-378460">
              <a:lnSpc>
                <a:spcPct val="100000"/>
              </a:lnSpc>
              <a:spcBef>
                <a:spcPts val="985"/>
              </a:spcBef>
              <a:buAutoNum type="arabicPeriod" startAt="4"/>
              <a:tabLst>
                <a:tab pos="391160" algn="l"/>
              </a:tabLst>
            </a:pPr>
            <a:r>
              <a:rPr dirty="0" sz="1650">
                <a:latin typeface="Arial MT"/>
                <a:cs typeface="Arial MT"/>
              </a:rPr>
              <a:t>Construct</a:t>
            </a:r>
            <a:r>
              <a:rPr dirty="0" sz="1650" spc="-50">
                <a:latin typeface="Arial MT"/>
                <a:cs typeface="Arial MT"/>
              </a:rPr>
              <a:t> </a:t>
            </a:r>
            <a:r>
              <a:rPr dirty="0" sz="1650">
                <a:latin typeface="Arial MT"/>
                <a:cs typeface="Arial MT"/>
              </a:rPr>
              <a:t>Level</a:t>
            </a:r>
            <a:r>
              <a:rPr dirty="0" sz="1650" spc="-35">
                <a:latin typeface="Arial MT"/>
                <a:cs typeface="Arial MT"/>
              </a:rPr>
              <a:t> </a:t>
            </a:r>
            <a:r>
              <a:rPr dirty="0" sz="1650">
                <a:latin typeface="Arial MT"/>
                <a:cs typeface="Arial MT"/>
              </a:rPr>
              <a:t>1-</a:t>
            </a:r>
            <a:r>
              <a:rPr dirty="0" sz="1650" spc="-20">
                <a:latin typeface="Arial MT"/>
                <a:cs typeface="Arial MT"/>
              </a:rPr>
              <a:t> </a:t>
            </a:r>
            <a:r>
              <a:rPr dirty="0" sz="1650">
                <a:latin typeface="Arial MT"/>
                <a:cs typeface="Arial MT"/>
              </a:rPr>
              <a:t>n</a:t>
            </a:r>
            <a:r>
              <a:rPr dirty="0" sz="1650" spc="-5">
                <a:latin typeface="Arial MT"/>
                <a:cs typeface="Arial MT"/>
              </a:rPr>
              <a:t> </a:t>
            </a:r>
            <a:r>
              <a:rPr dirty="0" sz="1650" spc="-25">
                <a:latin typeface="Arial MT"/>
                <a:cs typeface="Arial MT"/>
              </a:rPr>
              <a:t>DFD</a:t>
            </a:r>
            <a:endParaRPr sz="1650">
              <a:latin typeface="Arial MT"/>
              <a:cs typeface="Arial MT"/>
            </a:endParaRPr>
          </a:p>
          <a:p>
            <a:pPr marL="390525">
              <a:lnSpc>
                <a:spcPct val="100000"/>
              </a:lnSpc>
            </a:pPr>
            <a:r>
              <a:rPr dirty="0" sz="1650">
                <a:latin typeface="Arial MT"/>
                <a:cs typeface="Arial MT"/>
              </a:rPr>
              <a:t>(identifies</a:t>
            </a:r>
            <a:r>
              <a:rPr dirty="0" sz="1650" spc="-55">
                <a:latin typeface="Arial MT"/>
                <a:cs typeface="Arial MT"/>
              </a:rPr>
              <a:t> </a:t>
            </a:r>
            <a:r>
              <a:rPr dirty="0" sz="1650">
                <a:latin typeface="Arial MT"/>
                <a:cs typeface="Arial MT"/>
              </a:rPr>
              <a:t>actual</a:t>
            </a:r>
            <a:r>
              <a:rPr dirty="0" sz="1650" spc="-40">
                <a:latin typeface="Arial MT"/>
                <a:cs typeface="Arial MT"/>
              </a:rPr>
              <a:t> </a:t>
            </a:r>
            <a:r>
              <a:rPr dirty="0" sz="1650">
                <a:latin typeface="Arial MT"/>
                <a:cs typeface="Arial MT"/>
              </a:rPr>
              <a:t>data</a:t>
            </a:r>
            <a:r>
              <a:rPr dirty="0" sz="1650" spc="-30">
                <a:latin typeface="Arial MT"/>
                <a:cs typeface="Arial MT"/>
              </a:rPr>
              <a:t> </a:t>
            </a:r>
            <a:r>
              <a:rPr dirty="0" sz="1650">
                <a:latin typeface="Arial MT"/>
                <a:cs typeface="Arial MT"/>
              </a:rPr>
              <a:t>flows</a:t>
            </a:r>
            <a:r>
              <a:rPr dirty="0" sz="1650" spc="-25">
                <a:latin typeface="Arial MT"/>
                <a:cs typeface="Arial MT"/>
              </a:rPr>
              <a:t> </a:t>
            </a:r>
            <a:r>
              <a:rPr dirty="0" sz="1650">
                <a:latin typeface="Arial MT"/>
                <a:cs typeface="Arial MT"/>
              </a:rPr>
              <a:t>and</a:t>
            </a:r>
            <a:r>
              <a:rPr dirty="0" sz="1650" spc="-30">
                <a:latin typeface="Arial MT"/>
                <a:cs typeface="Arial MT"/>
              </a:rPr>
              <a:t> </a:t>
            </a:r>
            <a:r>
              <a:rPr dirty="0" sz="1650">
                <a:latin typeface="Arial MT"/>
                <a:cs typeface="Arial MT"/>
              </a:rPr>
              <a:t>data</a:t>
            </a:r>
            <a:r>
              <a:rPr dirty="0" sz="1650" spc="-30">
                <a:latin typeface="Arial MT"/>
                <a:cs typeface="Arial MT"/>
              </a:rPr>
              <a:t> </a:t>
            </a:r>
            <a:r>
              <a:rPr dirty="0" sz="1650">
                <a:latin typeface="Arial MT"/>
                <a:cs typeface="Arial MT"/>
              </a:rPr>
              <a:t>stores</a:t>
            </a:r>
            <a:r>
              <a:rPr dirty="0" sz="1650" spc="-35">
                <a:latin typeface="Arial MT"/>
                <a:cs typeface="Arial MT"/>
              </a:rPr>
              <a:t> </a:t>
            </a:r>
            <a:r>
              <a:rPr dirty="0" sz="1650" spc="-50">
                <a:latin typeface="Arial MT"/>
                <a:cs typeface="Arial MT"/>
              </a:rPr>
              <a:t>)</a:t>
            </a:r>
            <a:endParaRPr sz="1650">
              <a:latin typeface="Arial MT"/>
              <a:cs typeface="Arial MT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1509806" y="1667428"/>
            <a:ext cx="2397760" cy="1635125"/>
          </a:xfrm>
          <a:prstGeom prst="rect">
            <a:avLst/>
          </a:prstGeom>
        </p:spPr>
        <p:txBody>
          <a:bodyPr wrap="square" lIns="0" tIns="180340" rIns="0" bIns="0" rtlCol="0" vert="horz">
            <a:spAutoFit/>
          </a:bodyPr>
          <a:lstStyle/>
          <a:p>
            <a:pPr marL="641985">
              <a:lnSpc>
                <a:spcPct val="100000"/>
              </a:lnSpc>
              <a:spcBef>
                <a:spcPts val="1420"/>
              </a:spcBef>
            </a:pPr>
            <a:r>
              <a:rPr dirty="0" sz="1950" spc="-10">
                <a:solidFill>
                  <a:srgbClr val="00CC00"/>
                </a:solidFill>
                <a:latin typeface="Arial MT"/>
                <a:cs typeface="Arial MT"/>
              </a:rPr>
              <a:t>Example</a:t>
            </a:r>
            <a:endParaRPr sz="1950">
              <a:latin typeface="Arial MT"/>
              <a:cs typeface="Arial MT"/>
            </a:endParaRPr>
          </a:p>
          <a:p>
            <a:pPr marL="12700" marR="5080">
              <a:lnSpc>
                <a:spcPct val="100000"/>
              </a:lnSpc>
              <a:spcBef>
                <a:spcPts val="1090"/>
              </a:spcBef>
            </a:pPr>
            <a:r>
              <a:rPr dirty="0" sz="1650">
                <a:latin typeface="Times New Roman"/>
                <a:cs typeface="Times New Roman"/>
              </a:rPr>
              <a:t>The</a:t>
            </a:r>
            <a:r>
              <a:rPr dirty="0" sz="1650" spc="-30">
                <a:latin typeface="Times New Roman"/>
                <a:cs typeface="Times New Roman"/>
              </a:rPr>
              <a:t> </a:t>
            </a:r>
            <a:r>
              <a:rPr dirty="0" sz="1650">
                <a:latin typeface="Times New Roman"/>
                <a:cs typeface="Times New Roman"/>
              </a:rPr>
              <a:t>operations</a:t>
            </a:r>
            <a:r>
              <a:rPr dirty="0" sz="1650" spc="-35">
                <a:latin typeface="Times New Roman"/>
                <a:cs typeface="Times New Roman"/>
              </a:rPr>
              <a:t> </a:t>
            </a:r>
            <a:r>
              <a:rPr dirty="0" sz="1650">
                <a:latin typeface="Times New Roman"/>
                <a:cs typeface="Times New Roman"/>
              </a:rPr>
              <a:t>of</a:t>
            </a:r>
            <a:r>
              <a:rPr dirty="0" sz="1650" spc="-30">
                <a:latin typeface="Times New Roman"/>
                <a:cs typeface="Times New Roman"/>
              </a:rPr>
              <a:t> </a:t>
            </a:r>
            <a:r>
              <a:rPr dirty="0" sz="1650">
                <a:latin typeface="Times New Roman"/>
                <a:cs typeface="Times New Roman"/>
              </a:rPr>
              <a:t>a</a:t>
            </a:r>
            <a:r>
              <a:rPr dirty="0" sz="1650" spc="-25">
                <a:latin typeface="Times New Roman"/>
                <a:cs typeface="Times New Roman"/>
              </a:rPr>
              <a:t> </a:t>
            </a:r>
            <a:r>
              <a:rPr dirty="0" sz="1650" spc="-10">
                <a:latin typeface="Times New Roman"/>
                <a:cs typeface="Times New Roman"/>
              </a:rPr>
              <a:t>simple </a:t>
            </a:r>
            <a:r>
              <a:rPr dirty="0" sz="1650">
                <a:latin typeface="Times New Roman"/>
                <a:cs typeface="Times New Roman"/>
              </a:rPr>
              <a:t>lemonade</a:t>
            </a:r>
            <a:r>
              <a:rPr dirty="0" sz="1650" spc="-40">
                <a:latin typeface="Times New Roman"/>
                <a:cs typeface="Times New Roman"/>
              </a:rPr>
              <a:t> </a:t>
            </a:r>
            <a:r>
              <a:rPr dirty="0" sz="1650">
                <a:latin typeface="Times New Roman"/>
                <a:cs typeface="Times New Roman"/>
              </a:rPr>
              <a:t>stand</a:t>
            </a:r>
            <a:r>
              <a:rPr dirty="0" sz="1650" spc="-45">
                <a:latin typeface="Times New Roman"/>
                <a:cs typeface="Times New Roman"/>
              </a:rPr>
              <a:t> </a:t>
            </a:r>
            <a:r>
              <a:rPr dirty="0" sz="1650">
                <a:latin typeface="Times New Roman"/>
                <a:cs typeface="Times New Roman"/>
              </a:rPr>
              <a:t>will</a:t>
            </a:r>
            <a:r>
              <a:rPr dirty="0" sz="1650" spc="-45">
                <a:latin typeface="Times New Roman"/>
                <a:cs typeface="Times New Roman"/>
              </a:rPr>
              <a:t> </a:t>
            </a:r>
            <a:r>
              <a:rPr dirty="0" sz="1650">
                <a:latin typeface="Times New Roman"/>
                <a:cs typeface="Times New Roman"/>
              </a:rPr>
              <a:t>be</a:t>
            </a:r>
            <a:r>
              <a:rPr dirty="0" sz="1650" spc="-35">
                <a:latin typeface="Times New Roman"/>
                <a:cs typeface="Times New Roman"/>
              </a:rPr>
              <a:t> </a:t>
            </a:r>
            <a:r>
              <a:rPr dirty="0" sz="1650" spc="-20">
                <a:latin typeface="Times New Roman"/>
                <a:cs typeface="Times New Roman"/>
              </a:rPr>
              <a:t>used </a:t>
            </a:r>
            <a:r>
              <a:rPr dirty="0" sz="1650">
                <a:latin typeface="Times New Roman"/>
                <a:cs typeface="Times New Roman"/>
              </a:rPr>
              <a:t>to</a:t>
            </a:r>
            <a:r>
              <a:rPr dirty="0" sz="1650" spc="-50">
                <a:latin typeface="Times New Roman"/>
                <a:cs typeface="Times New Roman"/>
              </a:rPr>
              <a:t> </a:t>
            </a:r>
            <a:r>
              <a:rPr dirty="0" sz="1650">
                <a:latin typeface="Times New Roman"/>
                <a:cs typeface="Times New Roman"/>
              </a:rPr>
              <a:t>demonstrate</a:t>
            </a:r>
            <a:r>
              <a:rPr dirty="0" sz="1650" spc="-50">
                <a:latin typeface="Times New Roman"/>
                <a:cs typeface="Times New Roman"/>
              </a:rPr>
              <a:t> </a:t>
            </a:r>
            <a:r>
              <a:rPr dirty="0" sz="1650">
                <a:latin typeface="Times New Roman"/>
                <a:cs typeface="Times New Roman"/>
              </a:rPr>
              <a:t>the</a:t>
            </a:r>
            <a:r>
              <a:rPr dirty="0" sz="1650" spc="-55">
                <a:latin typeface="Times New Roman"/>
                <a:cs typeface="Times New Roman"/>
              </a:rPr>
              <a:t> </a:t>
            </a:r>
            <a:r>
              <a:rPr dirty="0" sz="1650" spc="-10">
                <a:latin typeface="Times New Roman"/>
                <a:cs typeface="Times New Roman"/>
              </a:rPr>
              <a:t>creation </a:t>
            </a:r>
            <a:r>
              <a:rPr dirty="0" sz="1650">
                <a:latin typeface="Times New Roman"/>
                <a:cs typeface="Times New Roman"/>
              </a:rPr>
              <a:t>of</a:t>
            </a:r>
            <a:r>
              <a:rPr dirty="0" sz="1650" spc="-45">
                <a:latin typeface="Times New Roman"/>
                <a:cs typeface="Times New Roman"/>
              </a:rPr>
              <a:t> </a:t>
            </a:r>
            <a:r>
              <a:rPr dirty="0" sz="1650">
                <a:latin typeface="Times New Roman"/>
                <a:cs typeface="Times New Roman"/>
              </a:rPr>
              <a:t>dataflow</a:t>
            </a:r>
            <a:r>
              <a:rPr dirty="0" sz="1650" spc="-50">
                <a:latin typeface="Times New Roman"/>
                <a:cs typeface="Times New Roman"/>
              </a:rPr>
              <a:t> </a:t>
            </a:r>
            <a:r>
              <a:rPr dirty="0" sz="1650" spc="-10">
                <a:latin typeface="Times New Roman"/>
                <a:cs typeface="Times New Roman"/>
              </a:rPr>
              <a:t>diagrams.</a:t>
            </a:r>
            <a:endParaRPr sz="1650">
              <a:latin typeface="Times New Roman"/>
              <a:cs typeface="Times New Roman"/>
            </a:endParaRPr>
          </a:p>
        </p:txBody>
      </p:sp>
      <p:pic>
        <p:nvPicPr>
          <p:cNvPr id="13" name="object 1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29512" y="3430523"/>
            <a:ext cx="2083307" cy="3218688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7145">
              <a:lnSpc>
                <a:spcPct val="100000"/>
              </a:lnSpc>
              <a:spcBef>
                <a:spcPts val="125"/>
              </a:spcBef>
            </a:pPr>
            <a:r>
              <a:rPr dirty="0"/>
              <a:t>Creating</a:t>
            </a:r>
            <a:r>
              <a:rPr dirty="0" spc="20"/>
              <a:t> </a:t>
            </a:r>
            <a:r>
              <a:rPr dirty="0"/>
              <a:t>Data</a:t>
            </a:r>
            <a:r>
              <a:rPr dirty="0" spc="50"/>
              <a:t> </a:t>
            </a:r>
            <a:r>
              <a:rPr dirty="0"/>
              <a:t>Flow</a:t>
            </a:r>
            <a:r>
              <a:rPr dirty="0" spc="30"/>
              <a:t> </a:t>
            </a:r>
            <a:r>
              <a:rPr dirty="0" spc="-10"/>
              <a:t>Diagrams</a:t>
            </a:r>
          </a:p>
        </p:txBody>
      </p:sp>
      <p:grpSp>
        <p:nvGrpSpPr>
          <p:cNvPr id="3" name="object 3" descr=""/>
          <p:cNvGrpSpPr/>
          <p:nvPr/>
        </p:nvGrpSpPr>
        <p:grpSpPr>
          <a:xfrm>
            <a:off x="4020311" y="2063495"/>
            <a:ext cx="7620" cy="4464050"/>
            <a:chOff x="4020311" y="2063495"/>
            <a:chExt cx="7620" cy="4464050"/>
          </a:xfrm>
        </p:grpSpPr>
        <p:sp>
          <p:nvSpPr>
            <p:cNvPr id="4" name="object 4" descr=""/>
            <p:cNvSpPr/>
            <p:nvPr/>
          </p:nvSpPr>
          <p:spPr>
            <a:xfrm>
              <a:off x="4024121" y="4901184"/>
              <a:ext cx="0" cy="1626235"/>
            </a:xfrm>
            <a:custGeom>
              <a:avLst/>
              <a:gdLst/>
              <a:ahLst/>
              <a:cxnLst/>
              <a:rect l="l" t="t" r="r" b="b"/>
              <a:pathLst>
                <a:path w="0" h="1626234">
                  <a:moveTo>
                    <a:pt x="0" y="0"/>
                  </a:moveTo>
                  <a:lnTo>
                    <a:pt x="0" y="1626108"/>
                  </a:lnTo>
                </a:path>
              </a:pathLst>
            </a:custGeom>
            <a:ln w="7620">
              <a:solidFill>
                <a:srgbClr val="954F72"/>
              </a:solidFill>
              <a:prstDash val="sys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4020311" y="4351020"/>
              <a:ext cx="7620" cy="525780"/>
            </a:xfrm>
            <a:custGeom>
              <a:avLst/>
              <a:gdLst/>
              <a:ahLst/>
              <a:cxnLst/>
              <a:rect l="l" t="t" r="r" b="b"/>
              <a:pathLst>
                <a:path w="7620" h="525779">
                  <a:moveTo>
                    <a:pt x="7620" y="525780"/>
                  </a:moveTo>
                  <a:lnTo>
                    <a:pt x="0" y="525780"/>
                  </a:lnTo>
                  <a:lnTo>
                    <a:pt x="0" y="495300"/>
                  </a:lnTo>
                  <a:lnTo>
                    <a:pt x="7620" y="495300"/>
                  </a:lnTo>
                  <a:lnTo>
                    <a:pt x="7620" y="525780"/>
                  </a:lnTo>
                  <a:close/>
                </a:path>
                <a:path w="7620" h="525779">
                  <a:moveTo>
                    <a:pt x="7620" y="470916"/>
                  </a:moveTo>
                  <a:lnTo>
                    <a:pt x="0" y="470916"/>
                  </a:lnTo>
                  <a:lnTo>
                    <a:pt x="0" y="440436"/>
                  </a:lnTo>
                  <a:lnTo>
                    <a:pt x="7620" y="440436"/>
                  </a:lnTo>
                  <a:lnTo>
                    <a:pt x="7620" y="470916"/>
                  </a:lnTo>
                  <a:close/>
                </a:path>
                <a:path w="7620" h="525779">
                  <a:moveTo>
                    <a:pt x="7620" y="416052"/>
                  </a:moveTo>
                  <a:lnTo>
                    <a:pt x="0" y="416052"/>
                  </a:lnTo>
                  <a:lnTo>
                    <a:pt x="0" y="385572"/>
                  </a:lnTo>
                  <a:lnTo>
                    <a:pt x="7620" y="385572"/>
                  </a:lnTo>
                  <a:lnTo>
                    <a:pt x="7620" y="416052"/>
                  </a:lnTo>
                  <a:close/>
                </a:path>
                <a:path w="7620" h="525779">
                  <a:moveTo>
                    <a:pt x="7620" y="361188"/>
                  </a:moveTo>
                  <a:lnTo>
                    <a:pt x="0" y="361188"/>
                  </a:lnTo>
                  <a:lnTo>
                    <a:pt x="0" y="329184"/>
                  </a:lnTo>
                  <a:lnTo>
                    <a:pt x="7620" y="330708"/>
                  </a:lnTo>
                  <a:lnTo>
                    <a:pt x="7620" y="361188"/>
                  </a:lnTo>
                  <a:close/>
                </a:path>
                <a:path w="7620" h="525779">
                  <a:moveTo>
                    <a:pt x="7620" y="306324"/>
                  </a:moveTo>
                  <a:lnTo>
                    <a:pt x="0" y="306324"/>
                  </a:lnTo>
                  <a:lnTo>
                    <a:pt x="0" y="274320"/>
                  </a:lnTo>
                  <a:lnTo>
                    <a:pt x="7620" y="274320"/>
                  </a:lnTo>
                  <a:lnTo>
                    <a:pt x="7620" y="306324"/>
                  </a:lnTo>
                  <a:close/>
                </a:path>
                <a:path w="7620" h="525779">
                  <a:moveTo>
                    <a:pt x="7620" y="251460"/>
                  </a:moveTo>
                  <a:lnTo>
                    <a:pt x="0" y="251460"/>
                  </a:lnTo>
                  <a:lnTo>
                    <a:pt x="0" y="219456"/>
                  </a:lnTo>
                  <a:lnTo>
                    <a:pt x="7620" y="219456"/>
                  </a:lnTo>
                  <a:lnTo>
                    <a:pt x="7620" y="251460"/>
                  </a:lnTo>
                  <a:close/>
                </a:path>
                <a:path w="7620" h="525779">
                  <a:moveTo>
                    <a:pt x="7620" y="196596"/>
                  </a:moveTo>
                  <a:lnTo>
                    <a:pt x="0" y="196596"/>
                  </a:lnTo>
                  <a:lnTo>
                    <a:pt x="0" y="164592"/>
                  </a:lnTo>
                  <a:lnTo>
                    <a:pt x="7620" y="164592"/>
                  </a:lnTo>
                  <a:lnTo>
                    <a:pt x="7620" y="196596"/>
                  </a:lnTo>
                  <a:close/>
                </a:path>
                <a:path w="7620" h="525779">
                  <a:moveTo>
                    <a:pt x="7620" y="141732"/>
                  </a:moveTo>
                  <a:lnTo>
                    <a:pt x="0" y="141732"/>
                  </a:lnTo>
                  <a:lnTo>
                    <a:pt x="0" y="109728"/>
                  </a:lnTo>
                  <a:lnTo>
                    <a:pt x="7620" y="109728"/>
                  </a:lnTo>
                  <a:lnTo>
                    <a:pt x="7620" y="141732"/>
                  </a:lnTo>
                  <a:close/>
                </a:path>
                <a:path w="7620" h="525779">
                  <a:moveTo>
                    <a:pt x="7620" y="86867"/>
                  </a:moveTo>
                  <a:lnTo>
                    <a:pt x="0" y="86867"/>
                  </a:lnTo>
                  <a:lnTo>
                    <a:pt x="0" y="54864"/>
                  </a:lnTo>
                  <a:lnTo>
                    <a:pt x="7620" y="54864"/>
                  </a:lnTo>
                  <a:lnTo>
                    <a:pt x="7620" y="86867"/>
                  </a:lnTo>
                  <a:close/>
                </a:path>
                <a:path w="7620" h="525779">
                  <a:moveTo>
                    <a:pt x="7620" y="32004"/>
                  </a:moveTo>
                  <a:lnTo>
                    <a:pt x="0" y="32004"/>
                  </a:lnTo>
                  <a:lnTo>
                    <a:pt x="0" y="0"/>
                  </a:lnTo>
                  <a:lnTo>
                    <a:pt x="7620" y="0"/>
                  </a:lnTo>
                  <a:lnTo>
                    <a:pt x="7620" y="32004"/>
                  </a:lnTo>
                  <a:close/>
                </a:path>
              </a:pathLst>
            </a:custGeom>
            <a:solidFill>
              <a:srgbClr val="954F7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4024121" y="2095499"/>
              <a:ext cx="0" cy="2231390"/>
            </a:xfrm>
            <a:custGeom>
              <a:avLst/>
              <a:gdLst/>
              <a:ahLst/>
              <a:cxnLst/>
              <a:rect l="l" t="t" r="r" b="b"/>
              <a:pathLst>
                <a:path w="0" h="2231390">
                  <a:moveTo>
                    <a:pt x="0" y="0"/>
                  </a:moveTo>
                  <a:lnTo>
                    <a:pt x="0" y="2231135"/>
                  </a:lnTo>
                </a:path>
              </a:pathLst>
            </a:custGeom>
            <a:ln w="7620">
              <a:solidFill>
                <a:srgbClr val="954F72"/>
              </a:solidFill>
              <a:prstDash val="sys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4020311" y="2063495"/>
              <a:ext cx="7620" cy="9525"/>
            </a:xfrm>
            <a:custGeom>
              <a:avLst/>
              <a:gdLst/>
              <a:ahLst/>
              <a:cxnLst/>
              <a:rect l="l" t="t" r="r" b="b"/>
              <a:pathLst>
                <a:path w="7620" h="9525">
                  <a:moveTo>
                    <a:pt x="7620" y="9144"/>
                  </a:moveTo>
                  <a:lnTo>
                    <a:pt x="0" y="9144"/>
                  </a:lnTo>
                  <a:lnTo>
                    <a:pt x="0" y="0"/>
                  </a:lnTo>
                  <a:lnTo>
                    <a:pt x="7620" y="0"/>
                  </a:lnTo>
                  <a:lnTo>
                    <a:pt x="7620" y="9144"/>
                  </a:lnTo>
                  <a:close/>
                </a:path>
              </a:pathLst>
            </a:custGeom>
            <a:solidFill>
              <a:srgbClr val="954F7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 descr=""/>
          <p:cNvSpPr txBox="1"/>
          <p:nvPr/>
        </p:nvSpPr>
        <p:spPr>
          <a:xfrm>
            <a:off x="4150831" y="1832875"/>
            <a:ext cx="2618740" cy="27813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391160" algn="l"/>
              </a:tabLst>
            </a:pPr>
            <a:r>
              <a:rPr dirty="0" sz="1650" spc="-25">
                <a:latin typeface="Arial MT"/>
                <a:cs typeface="Arial MT"/>
              </a:rPr>
              <a:t>1.</a:t>
            </a:r>
            <a:r>
              <a:rPr dirty="0" sz="1650">
                <a:latin typeface="Arial MT"/>
                <a:cs typeface="Arial MT"/>
              </a:rPr>
              <a:t>	Create</a:t>
            </a:r>
            <a:r>
              <a:rPr dirty="0" sz="1650" spc="-45">
                <a:latin typeface="Arial MT"/>
                <a:cs typeface="Arial MT"/>
              </a:rPr>
              <a:t> </a:t>
            </a:r>
            <a:r>
              <a:rPr dirty="0" sz="1650">
                <a:latin typeface="Arial MT"/>
                <a:cs typeface="Arial MT"/>
              </a:rPr>
              <a:t>a</a:t>
            </a:r>
            <a:r>
              <a:rPr dirty="0" sz="1650" spc="-5">
                <a:latin typeface="Arial MT"/>
                <a:cs typeface="Arial MT"/>
              </a:rPr>
              <a:t> </a:t>
            </a:r>
            <a:r>
              <a:rPr dirty="0" sz="1650">
                <a:latin typeface="Arial MT"/>
                <a:cs typeface="Arial MT"/>
              </a:rPr>
              <a:t>list</a:t>
            </a:r>
            <a:r>
              <a:rPr dirty="0" sz="1650" spc="-25">
                <a:latin typeface="Arial MT"/>
                <a:cs typeface="Arial MT"/>
              </a:rPr>
              <a:t> </a:t>
            </a:r>
            <a:r>
              <a:rPr dirty="0" sz="1650">
                <a:latin typeface="Arial MT"/>
                <a:cs typeface="Arial MT"/>
              </a:rPr>
              <a:t>of</a:t>
            </a:r>
            <a:r>
              <a:rPr dirty="0" sz="1650" spc="-10">
                <a:latin typeface="Arial MT"/>
                <a:cs typeface="Arial MT"/>
              </a:rPr>
              <a:t> activities</a:t>
            </a:r>
            <a:endParaRPr sz="1650">
              <a:latin typeface="Arial MT"/>
              <a:cs typeface="Arial MT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1509806" y="1667428"/>
            <a:ext cx="2447290" cy="1383665"/>
          </a:xfrm>
          <a:prstGeom prst="rect">
            <a:avLst/>
          </a:prstGeom>
        </p:spPr>
        <p:txBody>
          <a:bodyPr wrap="square" lIns="0" tIns="180340" rIns="0" bIns="0" rtlCol="0" vert="horz">
            <a:spAutoFit/>
          </a:bodyPr>
          <a:lstStyle/>
          <a:p>
            <a:pPr marL="641985">
              <a:lnSpc>
                <a:spcPct val="100000"/>
              </a:lnSpc>
              <a:spcBef>
                <a:spcPts val="1420"/>
              </a:spcBef>
            </a:pPr>
            <a:r>
              <a:rPr dirty="0" sz="1950" spc="-10">
                <a:solidFill>
                  <a:srgbClr val="00CC00"/>
                </a:solidFill>
                <a:latin typeface="Arial MT"/>
                <a:cs typeface="Arial MT"/>
              </a:rPr>
              <a:t>Example</a:t>
            </a:r>
            <a:endParaRPr sz="1950">
              <a:latin typeface="Arial MT"/>
              <a:cs typeface="Arial MT"/>
            </a:endParaRPr>
          </a:p>
          <a:p>
            <a:pPr marL="12700" marR="5080">
              <a:lnSpc>
                <a:spcPct val="100000"/>
              </a:lnSpc>
              <a:spcBef>
                <a:spcPts val="1090"/>
              </a:spcBef>
            </a:pPr>
            <a:r>
              <a:rPr dirty="0" sz="1650">
                <a:latin typeface="Times New Roman"/>
                <a:cs typeface="Times New Roman"/>
              </a:rPr>
              <a:t>Think</a:t>
            </a:r>
            <a:r>
              <a:rPr dirty="0" sz="1650" spc="-20">
                <a:latin typeface="Times New Roman"/>
                <a:cs typeface="Times New Roman"/>
              </a:rPr>
              <a:t> </a:t>
            </a:r>
            <a:r>
              <a:rPr dirty="0" sz="1650">
                <a:latin typeface="Times New Roman"/>
                <a:cs typeface="Times New Roman"/>
              </a:rPr>
              <a:t>through</a:t>
            </a:r>
            <a:r>
              <a:rPr dirty="0" sz="1650" spc="-55">
                <a:latin typeface="Times New Roman"/>
                <a:cs typeface="Times New Roman"/>
              </a:rPr>
              <a:t> </a:t>
            </a:r>
            <a:r>
              <a:rPr dirty="0" sz="1650">
                <a:latin typeface="Times New Roman"/>
                <a:cs typeface="Times New Roman"/>
              </a:rPr>
              <a:t>the</a:t>
            </a:r>
            <a:r>
              <a:rPr dirty="0" sz="1650" spc="-45">
                <a:latin typeface="Times New Roman"/>
                <a:cs typeface="Times New Roman"/>
              </a:rPr>
              <a:t> </a:t>
            </a:r>
            <a:r>
              <a:rPr dirty="0" sz="1650" spc="-10">
                <a:latin typeface="Times New Roman"/>
                <a:cs typeface="Times New Roman"/>
              </a:rPr>
              <a:t>activities </a:t>
            </a:r>
            <a:r>
              <a:rPr dirty="0" sz="1650">
                <a:latin typeface="Times New Roman"/>
                <a:cs typeface="Times New Roman"/>
              </a:rPr>
              <a:t>that</a:t>
            </a:r>
            <a:r>
              <a:rPr dirty="0" sz="1650" spc="-45">
                <a:latin typeface="Times New Roman"/>
                <a:cs typeface="Times New Roman"/>
              </a:rPr>
              <a:t> </a:t>
            </a:r>
            <a:r>
              <a:rPr dirty="0" sz="1650">
                <a:latin typeface="Times New Roman"/>
                <a:cs typeface="Times New Roman"/>
              </a:rPr>
              <a:t>take</a:t>
            </a:r>
            <a:r>
              <a:rPr dirty="0" sz="1650" spc="-35">
                <a:latin typeface="Times New Roman"/>
                <a:cs typeface="Times New Roman"/>
              </a:rPr>
              <a:t> </a:t>
            </a:r>
            <a:r>
              <a:rPr dirty="0" sz="1650">
                <a:latin typeface="Times New Roman"/>
                <a:cs typeface="Times New Roman"/>
              </a:rPr>
              <a:t>place</a:t>
            </a:r>
            <a:r>
              <a:rPr dirty="0" sz="1650" spc="-30">
                <a:latin typeface="Times New Roman"/>
                <a:cs typeface="Times New Roman"/>
              </a:rPr>
              <a:t> </a:t>
            </a:r>
            <a:r>
              <a:rPr dirty="0" sz="1650">
                <a:latin typeface="Times New Roman"/>
                <a:cs typeface="Times New Roman"/>
              </a:rPr>
              <a:t>at</a:t>
            </a:r>
            <a:r>
              <a:rPr dirty="0" sz="1650" spc="-25">
                <a:latin typeface="Times New Roman"/>
                <a:cs typeface="Times New Roman"/>
              </a:rPr>
              <a:t> </a:t>
            </a:r>
            <a:r>
              <a:rPr dirty="0" sz="1650">
                <a:latin typeface="Times New Roman"/>
                <a:cs typeface="Times New Roman"/>
              </a:rPr>
              <a:t>a</a:t>
            </a:r>
            <a:r>
              <a:rPr dirty="0" sz="1650" spc="-35">
                <a:latin typeface="Times New Roman"/>
                <a:cs typeface="Times New Roman"/>
              </a:rPr>
              <a:t> </a:t>
            </a:r>
            <a:r>
              <a:rPr dirty="0" sz="1650" spc="-10">
                <a:latin typeface="Times New Roman"/>
                <a:cs typeface="Times New Roman"/>
              </a:rPr>
              <a:t>lemonade stand.</a:t>
            </a:r>
            <a:endParaRPr sz="1650">
              <a:latin typeface="Times New Roman"/>
              <a:cs typeface="Times New Roman"/>
            </a:endParaRPr>
          </a:p>
        </p:txBody>
      </p:sp>
      <p:pic>
        <p:nvPicPr>
          <p:cNvPr id="10" name="object 10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29512" y="3430523"/>
            <a:ext cx="2083307" cy="3218688"/>
          </a:xfrm>
          <a:prstGeom prst="rect">
            <a:avLst/>
          </a:prstGeom>
        </p:spPr>
      </p:pic>
      <p:sp>
        <p:nvSpPr>
          <p:cNvPr id="11" name="object 11" descr=""/>
          <p:cNvSpPr txBox="1"/>
          <p:nvPr/>
        </p:nvSpPr>
        <p:spPr>
          <a:xfrm>
            <a:off x="4589838" y="3152668"/>
            <a:ext cx="1590040" cy="12839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dirty="0" sz="1650">
                <a:latin typeface="Arial MT"/>
                <a:cs typeface="Arial MT"/>
              </a:rPr>
              <a:t>Customer</a:t>
            </a:r>
            <a:r>
              <a:rPr dirty="0" sz="1650" spc="-50">
                <a:latin typeface="Arial MT"/>
                <a:cs typeface="Arial MT"/>
              </a:rPr>
              <a:t> </a:t>
            </a:r>
            <a:r>
              <a:rPr dirty="0" sz="1650" spc="-20">
                <a:latin typeface="Arial MT"/>
                <a:cs typeface="Arial MT"/>
              </a:rPr>
              <a:t>Order </a:t>
            </a:r>
            <a:r>
              <a:rPr dirty="0" sz="1650">
                <a:latin typeface="Arial MT"/>
                <a:cs typeface="Arial MT"/>
              </a:rPr>
              <a:t>Serve</a:t>
            </a:r>
            <a:r>
              <a:rPr dirty="0" sz="1650" spc="-25">
                <a:latin typeface="Arial MT"/>
                <a:cs typeface="Arial MT"/>
              </a:rPr>
              <a:t> </a:t>
            </a:r>
            <a:r>
              <a:rPr dirty="0" sz="1650" spc="-10">
                <a:latin typeface="Arial MT"/>
                <a:cs typeface="Arial MT"/>
              </a:rPr>
              <a:t>Product </a:t>
            </a:r>
            <a:r>
              <a:rPr dirty="0" sz="1650">
                <a:latin typeface="Arial MT"/>
                <a:cs typeface="Arial MT"/>
              </a:rPr>
              <a:t>Collect</a:t>
            </a:r>
            <a:r>
              <a:rPr dirty="0" sz="1650" spc="-15">
                <a:latin typeface="Arial MT"/>
                <a:cs typeface="Arial MT"/>
              </a:rPr>
              <a:t> </a:t>
            </a:r>
            <a:r>
              <a:rPr dirty="0" sz="1650" spc="-10">
                <a:latin typeface="Arial MT"/>
                <a:cs typeface="Arial MT"/>
              </a:rPr>
              <a:t>Payment </a:t>
            </a:r>
            <a:r>
              <a:rPr dirty="0" sz="1650">
                <a:latin typeface="Arial MT"/>
                <a:cs typeface="Arial MT"/>
              </a:rPr>
              <a:t>Produce</a:t>
            </a:r>
            <a:r>
              <a:rPr dirty="0" sz="1650" spc="-30">
                <a:latin typeface="Arial MT"/>
                <a:cs typeface="Arial MT"/>
              </a:rPr>
              <a:t> </a:t>
            </a:r>
            <a:r>
              <a:rPr dirty="0" sz="1650" spc="-10">
                <a:latin typeface="Arial MT"/>
                <a:cs typeface="Arial MT"/>
              </a:rPr>
              <a:t>Product </a:t>
            </a:r>
            <a:r>
              <a:rPr dirty="0" sz="1650">
                <a:latin typeface="Arial MT"/>
                <a:cs typeface="Arial MT"/>
              </a:rPr>
              <a:t>Store</a:t>
            </a:r>
            <a:r>
              <a:rPr dirty="0" sz="1650" spc="-40">
                <a:latin typeface="Arial MT"/>
                <a:cs typeface="Arial MT"/>
              </a:rPr>
              <a:t> </a:t>
            </a:r>
            <a:r>
              <a:rPr dirty="0" sz="1650" spc="-10">
                <a:latin typeface="Arial MT"/>
                <a:cs typeface="Arial MT"/>
              </a:rPr>
              <a:t>Product</a:t>
            </a:r>
            <a:endParaRPr sz="165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7145">
              <a:lnSpc>
                <a:spcPct val="100000"/>
              </a:lnSpc>
              <a:spcBef>
                <a:spcPts val="125"/>
              </a:spcBef>
            </a:pPr>
            <a:r>
              <a:rPr dirty="0"/>
              <a:t>Creating</a:t>
            </a:r>
            <a:r>
              <a:rPr dirty="0" spc="20"/>
              <a:t> </a:t>
            </a:r>
            <a:r>
              <a:rPr dirty="0"/>
              <a:t>Data</a:t>
            </a:r>
            <a:r>
              <a:rPr dirty="0" spc="50"/>
              <a:t> </a:t>
            </a:r>
            <a:r>
              <a:rPr dirty="0"/>
              <a:t>Flow</a:t>
            </a:r>
            <a:r>
              <a:rPr dirty="0" spc="30"/>
              <a:t> </a:t>
            </a:r>
            <a:r>
              <a:rPr dirty="0" spc="-10"/>
              <a:t>Diagrams</a:t>
            </a:r>
          </a:p>
        </p:txBody>
      </p:sp>
      <p:grpSp>
        <p:nvGrpSpPr>
          <p:cNvPr id="3" name="object 3" descr=""/>
          <p:cNvGrpSpPr/>
          <p:nvPr/>
        </p:nvGrpSpPr>
        <p:grpSpPr>
          <a:xfrm>
            <a:off x="4020311" y="2063495"/>
            <a:ext cx="7620" cy="4464050"/>
            <a:chOff x="4020311" y="2063495"/>
            <a:chExt cx="7620" cy="4464050"/>
          </a:xfrm>
        </p:grpSpPr>
        <p:sp>
          <p:nvSpPr>
            <p:cNvPr id="4" name="object 4" descr=""/>
            <p:cNvSpPr/>
            <p:nvPr/>
          </p:nvSpPr>
          <p:spPr>
            <a:xfrm>
              <a:off x="4024121" y="4901184"/>
              <a:ext cx="0" cy="1626235"/>
            </a:xfrm>
            <a:custGeom>
              <a:avLst/>
              <a:gdLst/>
              <a:ahLst/>
              <a:cxnLst/>
              <a:rect l="l" t="t" r="r" b="b"/>
              <a:pathLst>
                <a:path w="0" h="1626234">
                  <a:moveTo>
                    <a:pt x="0" y="0"/>
                  </a:moveTo>
                  <a:lnTo>
                    <a:pt x="0" y="1626108"/>
                  </a:lnTo>
                </a:path>
              </a:pathLst>
            </a:custGeom>
            <a:ln w="7620">
              <a:solidFill>
                <a:srgbClr val="954F72"/>
              </a:solidFill>
              <a:prstDash val="sys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4020311" y="4351020"/>
              <a:ext cx="7620" cy="525780"/>
            </a:xfrm>
            <a:custGeom>
              <a:avLst/>
              <a:gdLst/>
              <a:ahLst/>
              <a:cxnLst/>
              <a:rect l="l" t="t" r="r" b="b"/>
              <a:pathLst>
                <a:path w="7620" h="525779">
                  <a:moveTo>
                    <a:pt x="7620" y="525780"/>
                  </a:moveTo>
                  <a:lnTo>
                    <a:pt x="0" y="525780"/>
                  </a:lnTo>
                  <a:lnTo>
                    <a:pt x="0" y="495300"/>
                  </a:lnTo>
                  <a:lnTo>
                    <a:pt x="7620" y="495300"/>
                  </a:lnTo>
                  <a:lnTo>
                    <a:pt x="7620" y="525780"/>
                  </a:lnTo>
                  <a:close/>
                </a:path>
                <a:path w="7620" h="525779">
                  <a:moveTo>
                    <a:pt x="7620" y="470916"/>
                  </a:moveTo>
                  <a:lnTo>
                    <a:pt x="0" y="470916"/>
                  </a:lnTo>
                  <a:lnTo>
                    <a:pt x="0" y="440436"/>
                  </a:lnTo>
                  <a:lnTo>
                    <a:pt x="7620" y="440436"/>
                  </a:lnTo>
                  <a:lnTo>
                    <a:pt x="7620" y="470916"/>
                  </a:lnTo>
                  <a:close/>
                </a:path>
                <a:path w="7620" h="525779">
                  <a:moveTo>
                    <a:pt x="7620" y="416052"/>
                  </a:moveTo>
                  <a:lnTo>
                    <a:pt x="0" y="416052"/>
                  </a:lnTo>
                  <a:lnTo>
                    <a:pt x="0" y="385572"/>
                  </a:lnTo>
                  <a:lnTo>
                    <a:pt x="7620" y="385572"/>
                  </a:lnTo>
                  <a:lnTo>
                    <a:pt x="7620" y="416052"/>
                  </a:lnTo>
                  <a:close/>
                </a:path>
                <a:path w="7620" h="525779">
                  <a:moveTo>
                    <a:pt x="7620" y="361188"/>
                  </a:moveTo>
                  <a:lnTo>
                    <a:pt x="0" y="361188"/>
                  </a:lnTo>
                  <a:lnTo>
                    <a:pt x="0" y="329184"/>
                  </a:lnTo>
                  <a:lnTo>
                    <a:pt x="7620" y="330708"/>
                  </a:lnTo>
                  <a:lnTo>
                    <a:pt x="7620" y="361188"/>
                  </a:lnTo>
                  <a:close/>
                </a:path>
                <a:path w="7620" h="525779">
                  <a:moveTo>
                    <a:pt x="7620" y="306324"/>
                  </a:moveTo>
                  <a:lnTo>
                    <a:pt x="0" y="306324"/>
                  </a:lnTo>
                  <a:lnTo>
                    <a:pt x="0" y="274320"/>
                  </a:lnTo>
                  <a:lnTo>
                    <a:pt x="7620" y="274320"/>
                  </a:lnTo>
                  <a:lnTo>
                    <a:pt x="7620" y="306324"/>
                  </a:lnTo>
                  <a:close/>
                </a:path>
                <a:path w="7620" h="525779">
                  <a:moveTo>
                    <a:pt x="7620" y="251460"/>
                  </a:moveTo>
                  <a:lnTo>
                    <a:pt x="0" y="251460"/>
                  </a:lnTo>
                  <a:lnTo>
                    <a:pt x="0" y="219456"/>
                  </a:lnTo>
                  <a:lnTo>
                    <a:pt x="7620" y="219456"/>
                  </a:lnTo>
                  <a:lnTo>
                    <a:pt x="7620" y="251460"/>
                  </a:lnTo>
                  <a:close/>
                </a:path>
                <a:path w="7620" h="525779">
                  <a:moveTo>
                    <a:pt x="7620" y="196596"/>
                  </a:moveTo>
                  <a:lnTo>
                    <a:pt x="0" y="196596"/>
                  </a:lnTo>
                  <a:lnTo>
                    <a:pt x="0" y="164592"/>
                  </a:lnTo>
                  <a:lnTo>
                    <a:pt x="7620" y="164592"/>
                  </a:lnTo>
                  <a:lnTo>
                    <a:pt x="7620" y="196596"/>
                  </a:lnTo>
                  <a:close/>
                </a:path>
                <a:path w="7620" h="525779">
                  <a:moveTo>
                    <a:pt x="7620" y="141732"/>
                  </a:moveTo>
                  <a:lnTo>
                    <a:pt x="0" y="141732"/>
                  </a:lnTo>
                  <a:lnTo>
                    <a:pt x="0" y="109728"/>
                  </a:lnTo>
                  <a:lnTo>
                    <a:pt x="7620" y="109728"/>
                  </a:lnTo>
                  <a:lnTo>
                    <a:pt x="7620" y="141732"/>
                  </a:lnTo>
                  <a:close/>
                </a:path>
                <a:path w="7620" h="525779">
                  <a:moveTo>
                    <a:pt x="7620" y="86867"/>
                  </a:moveTo>
                  <a:lnTo>
                    <a:pt x="0" y="86867"/>
                  </a:lnTo>
                  <a:lnTo>
                    <a:pt x="0" y="54864"/>
                  </a:lnTo>
                  <a:lnTo>
                    <a:pt x="7620" y="54864"/>
                  </a:lnTo>
                  <a:lnTo>
                    <a:pt x="7620" y="86867"/>
                  </a:lnTo>
                  <a:close/>
                </a:path>
                <a:path w="7620" h="525779">
                  <a:moveTo>
                    <a:pt x="7620" y="32004"/>
                  </a:moveTo>
                  <a:lnTo>
                    <a:pt x="0" y="32004"/>
                  </a:lnTo>
                  <a:lnTo>
                    <a:pt x="0" y="0"/>
                  </a:lnTo>
                  <a:lnTo>
                    <a:pt x="7620" y="0"/>
                  </a:lnTo>
                  <a:lnTo>
                    <a:pt x="7620" y="32004"/>
                  </a:lnTo>
                  <a:close/>
                </a:path>
              </a:pathLst>
            </a:custGeom>
            <a:solidFill>
              <a:srgbClr val="954F7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4024121" y="2095499"/>
              <a:ext cx="0" cy="2231390"/>
            </a:xfrm>
            <a:custGeom>
              <a:avLst/>
              <a:gdLst/>
              <a:ahLst/>
              <a:cxnLst/>
              <a:rect l="l" t="t" r="r" b="b"/>
              <a:pathLst>
                <a:path w="0" h="2231390">
                  <a:moveTo>
                    <a:pt x="0" y="0"/>
                  </a:moveTo>
                  <a:lnTo>
                    <a:pt x="0" y="2231135"/>
                  </a:lnTo>
                </a:path>
              </a:pathLst>
            </a:custGeom>
            <a:ln w="7620">
              <a:solidFill>
                <a:srgbClr val="954F72"/>
              </a:solidFill>
              <a:prstDash val="sys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4020311" y="2063495"/>
              <a:ext cx="7620" cy="9525"/>
            </a:xfrm>
            <a:custGeom>
              <a:avLst/>
              <a:gdLst/>
              <a:ahLst/>
              <a:cxnLst/>
              <a:rect l="l" t="t" r="r" b="b"/>
              <a:pathLst>
                <a:path w="7620" h="9525">
                  <a:moveTo>
                    <a:pt x="7620" y="9144"/>
                  </a:moveTo>
                  <a:lnTo>
                    <a:pt x="0" y="9144"/>
                  </a:lnTo>
                  <a:lnTo>
                    <a:pt x="0" y="0"/>
                  </a:lnTo>
                  <a:lnTo>
                    <a:pt x="7620" y="0"/>
                  </a:lnTo>
                  <a:lnTo>
                    <a:pt x="7620" y="9144"/>
                  </a:lnTo>
                  <a:close/>
                </a:path>
              </a:pathLst>
            </a:custGeom>
            <a:solidFill>
              <a:srgbClr val="954F7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 descr=""/>
          <p:cNvSpPr txBox="1"/>
          <p:nvPr/>
        </p:nvSpPr>
        <p:spPr>
          <a:xfrm>
            <a:off x="1509806" y="1667428"/>
            <a:ext cx="2327910" cy="1383665"/>
          </a:xfrm>
          <a:prstGeom prst="rect">
            <a:avLst/>
          </a:prstGeom>
        </p:spPr>
        <p:txBody>
          <a:bodyPr wrap="square" lIns="0" tIns="180340" rIns="0" bIns="0" rtlCol="0" vert="horz">
            <a:spAutoFit/>
          </a:bodyPr>
          <a:lstStyle/>
          <a:p>
            <a:pPr marL="641985">
              <a:lnSpc>
                <a:spcPct val="100000"/>
              </a:lnSpc>
              <a:spcBef>
                <a:spcPts val="1420"/>
              </a:spcBef>
            </a:pPr>
            <a:r>
              <a:rPr dirty="0" sz="1950" spc="-10">
                <a:solidFill>
                  <a:srgbClr val="00CC00"/>
                </a:solidFill>
                <a:latin typeface="Arial MT"/>
                <a:cs typeface="Arial MT"/>
              </a:rPr>
              <a:t>Example</a:t>
            </a:r>
            <a:endParaRPr sz="1950">
              <a:latin typeface="Arial MT"/>
              <a:cs typeface="Arial MT"/>
            </a:endParaRPr>
          </a:p>
          <a:p>
            <a:pPr algn="just" marL="12700" marR="5080">
              <a:lnSpc>
                <a:spcPct val="100000"/>
              </a:lnSpc>
              <a:spcBef>
                <a:spcPts val="1090"/>
              </a:spcBef>
            </a:pPr>
            <a:r>
              <a:rPr dirty="0" sz="1650">
                <a:latin typeface="Times New Roman"/>
                <a:cs typeface="Times New Roman"/>
              </a:rPr>
              <a:t>Also</a:t>
            </a:r>
            <a:r>
              <a:rPr dirty="0" sz="1650" spc="-30">
                <a:latin typeface="Times New Roman"/>
                <a:cs typeface="Times New Roman"/>
              </a:rPr>
              <a:t> </a:t>
            </a:r>
            <a:r>
              <a:rPr dirty="0" sz="1650">
                <a:latin typeface="Times New Roman"/>
                <a:cs typeface="Times New Roman"/>
              </a:rPr>
              <a:t>think</a:t>
            </a:r>
            <a:r>
              <a:rPr dirty="0" sz="1650" spc="-30">
                <a:latin typeface="Times New Roman"/>
                <a:cs typeface="Times New Roman"/>
              </a:rPr>
              <a:t> </a:t>
            </a:r>
            <a:r>
              <a:rPr dirty="0" sz="1650">
                <a:latin typeface="Times New Roman"/>
                <a:cs typeface="Times New Roman"/>
              </a:rPr>
              <a:t>of</a:t>
            </a:r>
            <a:r>
              <a:rPr dirty="0" sz="1650" spc="-15">
                <a:latin typeface="Times New Roman"/>
                <a:cs typeface="Times New Roman"/>
              </a:rPr>
              <a:t> </a:t>
            </a:r>
            <a:r>
              <a:rPr dirty="0" sz="1650">
                <a:latin typeface="Times New Roman"/>
                <a:cs typeface="Times New Roman"/>
              </a:rPr>
              <a:t>the</a:t>
            </a:r>
            <a:r>
              <a:rPr dirty="0" sz="1650" spc="-35">
                <a:latin typeface="Times New Roman"/>
                <a:cs typeface="Times New Roman"/>
              </a:rPr>
              <a:t> </a:t>
            </a:r>
            <a:r>
              <a:rPr dirty="0" sz="1650" spc="-10">
                <a:latin typeface="Times New Roman"/>
                <a:cs typeface="Times New Roman"/>
              </a:rPr>
              <a:t>additional activities</a:t>
            </a:r>
            <a:r>
              <a:rPr dirty="0" sz="1650" spc="-35">
                <a:latin typeface="Times New Roman"/>
                <a:cs typeface="Times New Roman"/>
              </a:rPr>
              <a:t> </a:t>
            </a:r>
            <a:r>
              <a:rPr dirty="0" sz="1650">
                <a:latin typeface="Times New Roman"/>
                <a:cs typeface="Times New Roman"/>
              </a:rPr>
              <a:t>needed</a:t>
            </a:r>
            <a:r>
              <a:rPr dirty="0" sz="1650" spc="-35">
                <a:latin typeface="Times New Roman"/>
                <a:cs typeface="Times New Roman"/>
              </a:rPr>
              <a:t> </a:t>
            </a:r>
            <a:r>
              <a:rPr dirty="0" sz="1650">
                <a:latin typeface="Times New Roman"/>
                <a:cs typeface="Times New Roman"/>
              </a:rPr>
              <a:t>to</a:t>
            </a:r>
            <a:r>
              <a:rPr dirty="0" sz="1650" spc="-20">
                <a:latin typeface="Times New Roman"/>
                <a:cs typeface="Times New Roman"/>
              </a:rPr>
              <a:t> </a:t>
            </a:r>
            <a:r>
              <a:rPr dirty="0" sz="1650" spc="-10">
                <a:latin typeface="Times New Roman"/>
                <a:cs typeface="Times New Roman"/>
              </a:rPr>
              <a:t>support </a:t>
            </a:r>
            <a:r>
              <a:rPr dirty="0" sz="1650">
                <a:latin typeface="Times New Roman"/>
                <a:cs typeface="Times New Roman"/>
              </a:rPr>
              <a:t>the</a:t>
            </a:r>
            <a:r>
              <a:rPr dirty="0" sz="1650" spc="-40">
                <a:latin typeface="Times New Roman"/>
                <a:cs typeface="Times New Roman"/>
              </a:rPr>
              <a:t> </a:t>
            </a:r>
            <a:r>
              <a:rPr dirty="0" sz="1650">
                <a:latin typeface="Times New Roman"/>
                <a:cs typeface="Times New Roman"/>
              </a:rPr>
              <a:t>basic</a:t>
            </a:r>
            <a:r>
              <a:rPr dirty="0" sz="1650" spc="-40">
                <a:latin typeface="Times New Roman"/>
                <a:cs typeface="Times New Roman"/>
              </a:rPr>
              <a:t> </a:t>
            </a:r>
            <a:r>
              <a:rPr dirty="0" sz="1650" spc="-10">
                <a:latin typeface="Times New Roman"/>
                <a:cs typeface="Times New Roman"/>
              </a:rPr>
              <a:t>activities.</a:t>
            </a:r>
            <a:endParaRPr sz="1650">
              <a:latin typeface="Times New Roman"/>
              <a:cs typeface="Times New Roman"/>
            </a:endParaRPr>
          </a:p>
        </p:txBody>
      </p:sp>
      <p:pic>
        <p:nvPicPr>
          <p:cNvPr id="9" name="object 9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29512" y="3430523"/>
            <a:ext cx="2083307" cy="3218688"/>
          </a:xfrm>
          <a:prstGeom prst="rect">
            <a:avLst/>
          </a:prstGeom>
        </p:spPr>
      </p:pic>
      <p:sp>
        <p:nvSpPr>
          <p:cNvPr id="10" name="object 10" descr=""/>
          <p:cNvSpPr txBox="1"/>
          <p:nvPr/>
        </p:nvSpPr>
        <p:spPr>
          <a:xfrm>
            <a:off x="4589838" y="3152668"/>
            <a:ext cx="2078355" cy="20383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 marR="493395">
              <a:lnSpc>
                <a:spcPct val="100000"/>
              </a:lnSpc>
              <a:spcBef>
                <a:spcPts val="105"/>
              </a:spcBef>
            </a:pPr>
            <a:r>
              <a:rPr dirty="0" sz="1650">
                <a:latin typeface="Arial MT"/>
                <a:cs typeface="Arial MT"/>
              </a:rPr>
              <a:t>Customer</a:t>
            </a:r>
            <a:r>
              <a:rPr dirty="0" sz="1650" spc="-50">
                <a:latin typeface="Arial MT"/>
                <a:cs typeface="Arial MT"/>
              </a:rPr>
              <a:t> </a:t>
            </a:r>
            <a:r>
              <a:rPr dirty="0" sz="1650" spc="-20">
                <a:latin typeface="Arial MT"/>
                <a:cs typeface="Arial MT"/>
              </a:rPr>
              <a:t>Order </a:t>
            </a:r>
            <a:r>
              <a:rPr dirty="0" sz="1650">
                <a:latin typeface="Arial MT"/>
                <a:cs typeface="Arial MT"/>
              </a:rPr>
              <a:t>Serve</a:t>
            </a:r>
            <a:r>
              <a:rPr dirty="0" sz="1650" spc="-25">
                <a:latin typeface="Arial MT"/>
                <a:cs typeface="Arial MT"/>
              </a:rPr>
              <a:t> </a:t>
            </a:r>
            <a:r>
              <a:rPr dirty="0" sz="1650" spc="-10">
                <a:latin typeface="Arial MT"/>
                <a:cs typeface="Arial MT"/>
              </a:rPr>
              <a:t>Product </a:t>
            </a:r>
            <a:r>
              <a:rPr dirty="0" sz="1650">
                <a:latin typeface="Arial MT"/>
                <a:cs typeface="Arial MT"/>
              </a:rPr>
              <a:t>Collect</a:t>
            </a:r>
            <a:r>
              <a:rPr dirty="0" sz="1650" spc="-15">
                <a:latin typeface="Arial MT"/>
                <a:cs typeface="Arial MT"/>
              </a:rPr>
              <a:t> </a:t>
            </a:r>
            <a:r>
              <a:rPr dirty="0" sz="1650" spc="-10">
                <a:latin typeface="Arial MT"/>
                <a:cs typeface="Arial MT"/>
              </a:rPr>
              <a:t>Payment </a:t>
            </a:r>
            <a:r>
              <a:rPr dirty="0" sz="1650">
                <a:latin typeface="Arial MT"/>
                <a:cs typeface="Arial MT"/>
              </a:rPr>
              <a:t>Produce</a:t>
            </a:r>
            <a:r>
              <a:rPr dirty="0" sz="1650" spc="-30">
                <a:latin typeface="Arial MT"/>
                <a:cs typeface="Arial MT"/>
              </a:rPr>
              <a:t> </a:t>
            </a:r>
            <a:r>
              <a:rPr dirty="0" sz="1650" spc="-10">
                <a:latin typeface="Arial MT"/>
                <a:cs typeface="Arial MT"/>
              </a:rPr>
              <a:t>Product </a:t>
            </a:r>
            <a:r>
              <a:rPr dirty="0" sz="1650">
                <a:latin typeface="Arial MT"/>
                <a:cs typeface="Arial MT"/>
              </a:rPr>
              <a:t>Store</a:t>
            </a:r>
            <a:r>
              <a:rPr dirty="0" sz="1650" spc="-40">
                <a:latin typeface="Arial MT"/>
                <a:cs typeface="Arial MT"/>
              </a:rPr>
              <a:t> </a:t>
            </a:r>
            <a:r>
              <a:rPr dirty="0" sz="1650" spc="-10">
                <a:latin typeface="Arial MT"/>
                <a:cs typeface="Arial MT"/>
              </a:rPr>
              <a:t>Product</a:t>
            </a:r>
            <a:endParaRPr sz="1650">
              <a:latin typeface="Arial MT"/>
              <a:cs typeface="Arial MT"/>
            </a:endParaRPr>
          </a:p>
          <a:p>
            <a:pPr marL="12700" marR="5080">
              <a:lnSpc>
                <a:spcPct val="100000"/>
              </a:lnSpc>
            </a:pPr>
            <a:r>
              <a:rPr dirty="0" sz="1650">
                <a:latin typeface="Arial MT"/>
                <a:cs typeface="Arial MT"/>
              </a:rPr>
              <a:t>Order</a:t>
            </a:r>
            <a:r>
              <a:rPr dirty="0" sz="1650" spc="-45">
                <a:latin typeface="Arial MT"/>
                <a:cs typeface="Arial MT"/>
              </a:rPr>
              <a:t> </a:t>
            </a:r>
            <a:r>
              <a:rPr dirty="0" sz="1650">
                <a:latin typeface="Arial MT"/>
                <a:cs typeface="Arial MT"/>
              </a:rPr>
              <a:t>Raw</a:t>
            </a:r>
            <a:r>
              <a:rPr dirty="0" sz="1650" spc="-10">
                <a:latin typeface="Arial MT"/>
                <a:cs typeface="Arial MT"/>
              </a:rPr>
              <a:t> Materials </a:t>
            </a:r>
            <a:r>
              <a:rPr dirty="0" sz="1650">
                <a:latin typeface="Arial MT"/>
                <a:cs typeface="Arial MT"/>
              </a:rPr>
              <a:t>Pay</a:t>
            </a:r>
            <a:r>
              <a:rPr dirty="0" sz="1650" spc="-20">
                <a:latin typeface="Arial MT"/>
                <a:cs typeface="Arial MT"/>
              </a:rPr>
              <a:t> </a:t>
            </a:r>
            <a:r>
              <a:rPr dirty="0" sz="1650">
                <a:latin typeface="Arial MT"/>
                <a:cs typeface="Arial MT"/>
              </a:rPr>
              <a:t>for</a:t>
            </a:r>
            <a:r>
              <a:rPr dirty="0" sz="1650" spc="-25">
                <a:latin typeface="Arial MT"/>
                <a:cs typeface="Arial MT"/>
              </a:rPr>
              <a:t> </a:t>
            </a:r>
            <a:r>
              <a:rPr dirty="0" sz="1650">
                <a:latin typeface="Arial MT"/>
                <a:cs typeface="Arial MT"/>
              </a:rPr>
              <a:t>Raw</a:t>
            </a:r>
            <a:r>
              <a:rPr dirty="0" sz="1650" spc="-15">
                <a:latin typeface="Arial MT"/>
                <a:cs typeface="Arial MT"/>
              </a:rPr>
              <a:t> </a:t>
            </a:r>
            <a:r>
              <a:rPr dirty="0" sz="1650" spc="-10">
                <a:latin typeface="Arial MT"/>
                <a:cs typeface="Arial MT"/>
              </a:rPr>
              <a:t>Materials </a:t>
            </a:r>
            <a:r>
              <a:rPr dirty="0" sz="1650">
                <a:latin typeface="Arial MT"/>
                <a:cs typeface="Arial MT"/>
              </a:rPr>
              <a:t>Pay</a:t>
            </a:r>
            <a:r>
              <a:rPr dirty="0" sz="1650" spc="-20">
                <a:latin typeface="Arial MT"/>
                <a:cs typeface="Arial MT"/>
              </a:rPr>
              <a:t> </a:t>
            </a:r>
            <a:r>
              <a:rPr dirty="0" sz="1650">
                <a:latin typeface="Arial MT"/>
                <a:cs typeface="Arial MT"/>
              </a:rPr>
              <a:t>for</a:t>
            </a:r>
            <a:r>
              <a:rPr dirty="0" sz="1650" spc="-25">
                <a:latin typeface="Arial MT"/>
                <a:cs typeface="Arial MT"/>
              </a:rPr>
              <a:t> </a:t>
            </a:r>
            <a:r>
              <a:rPr dirty="0" sz="1650" spc="-20">
                <a:latin typeface="Arial MT"/>
                <a:cs typeface="Arial MT"/>
              </a:rPr>
              <a:t>Labor</a:t>
            </a:r>
            <a:endParaRPr sz="1650">
              <a:latin typeface="Arial MT"/>
              <a:cs typeface="Arial MT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4150831" y="1832875"/>
            <a:ext cx="2618740" cy="27813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391160" algn="l"/>
              </a:tabLst>
            </a:pPr>
            <a:r>
              <a:rPr dirty="0" sz="1650" spc="-25">
                <a:latin typeface="Arial MT"/>
                <a:cs typeface="Arial MT"/>
              </a:rPr>
              <a:t>1.</a:t>
            </a:r>
            <a:r>
              <a:rPr dirty="0" sz="1650">
                <a:latin typeface="Arial MT"/>
                <a:cs typeface="Arial MT"/>
              </a:rPr>
              <a:t>	Create</a:t>
            </a:r>
            <a:r>
              <a:rPr dirty="0" sz="1650" spc="-45">
                <a:latin typeface="Arial MT"/>
                <a:cs typeface="Arial MT"/>
              </a:rPr>
              <a:t> </a:t>
            </a:r>
            <a:r>
              <a:rPr dirty="0" sz="1650">
                <a:latin typeface="Arial MT"/>
                <a:cs typeface="Arial MT"/>
              </a:rPr>
              <a:t>a</a:t>
            </a:r>
            <a:r>
              <a:rPr dirty="0" sz="1650" spc="-5">
                <a:latin typeface="Arial MT"/>
                <a:cs typeface="Arial MT"/>
              </a:rPr>
              <a:t> </a:t>
            </a:r>
            <a:r>
              <a:rPr dirty="0" sz="1650">
                <a:latin typeface="Arial MT"/>
                <a:cs typeface="Arial MT"/>
              </a:rPr>
              <a:t>list</a:t>
            </a:r>
            <a:r>
              <a:rPr dirty="0" sz="1650" spc="-25">
                <a:latin typeface="Arial MT"/>
                <a:cs typeface="Arial MT"/>
              </a:rPr>
              <a:t> </a:t>
            </a:r>
            <a:r>
              <a:rPr dirty="0" sz="1650">
                <a:latin typeface="Arial MT"/>
                <a:cs typeface="Arial MT"/>
              </a:rPr>
              <a:t>of</a:t>
            </a:r>
            <a:r>
              <a:rPr dirty="0" sz="1650" spc="-10">
                <a:latin typeface="Arial MT"/>
                <a:cs typeface="Arial MT"/>
              </a:rPr>
              <a:t> activities</a:t>
            </a:r>
            <a:endParaRPr sz="165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7145">
              <a:lnSpc>
                <a:spcPct val="100000"/>
              </a:lnSpc>
              <a:spcBef>
                <a:spcPts val="125"/>
              </a:spcBef>
            </a:pPr>
            <a:r>
              <a:rPr dirty="0"/>
              <a:t>Creating</a:t>
            </a:r>
            <a:r>
              <a:rPr dirty="0" spc="20"/>
              <a:t> </a:t>
            </a:r>
            <a:r>
              <a:rPr dirty="0"/>
              <a:t>Data</a:t>
            </a:r>
            <a:r>
              <a:rPr dirty="0" spc="50"/>
              <a:t> </a:t>
            </a:r>
            <a:r>
              <a:rPr dirty="0"/>
              <a:t>Flow</a:t>
            </a:r>
            <a:r>
              <a:rPr dirty="0" spc="30"/>
              <a:t> </a:t>
            </a:r>
            <a:r>
              <a:rPr dirty="0" spc="-10"/>
              <a:t>Diagrams</a:t>
            </a:r>
          </a:p>
        </p:txBody>
      </p:sp>
      <p:grpSp>
        <p:nvGrpSpPr>
          <p:cNvPr id="3" name="object 3" descr=""/>
          <p:cNvGrpSpPr/>
          <p:nvPr/>
        </p:nvGrpSpPr>
        <p:grpSpPr>
          <a:xfrm>
            <a:off x="4020311" y="2063495"/>
            <a:ext cx="7620" cy="4464050"/>
            <a:chOff x="4020311" y="2063495"/>
            <a:chExt cx="7620" cy="4464050"/>
          </a:xfrm>
        </p:grpSpPr>
        <p:sp>
          <p:nvSpPr>
            <p:cNvPr id="4" name="object 4" descr=""/>
            <p:cNvSpPr/>
            <p:nvPr/>
          </p:nvSpPr>
          <p:spPr>
            <a:xfrm>
              <a:off x="4024121" y="4901184"/>
              <a:ext cx="0" cy="1626235"/>
            </a:xfrm>
            <a:custGeom>
              <a:avLst/>
              <a:gdLst/>
              <a:ahLst/>
              <a:cxnLst/>
              <a:rect l="l" t="t" r="r" b="b"/>
              <a:pathLst>
                <a:path w="0" h="1626234">
                  <a:moveTo>
                    <a:pt x="0" y="0"/>
                  </a:moveTo>
                  <a:lnTo>
                    <a:pt x="0" y="1626108"/>
                  </a:lnTo>
                </a:path>
              </a:pathLst>
            </a:custGeom>
            <a:ln w="7620">
              <a:solidFill>
                <a:srgbClr val="954F72"/>
              </a:solidFill>
              <a:prstDash val="sys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4020311" y="4351020"/>
              <a:ext cx="7620" cy="525780"/>
            </a:xfrm>
            <a:custGeom>
              <a:avLst/>
              <a:gdLst/>
              <a:ahLst/>
              <a:cxnLst/>
              <a:rect l="l" t="t" r="r" b="b"/>
              <a:pathLst>
                <a:path w="7620" h="525779">
                  <a:moveTo>
                    <a:pt x="7620" y="525780"/>
                  </a:moveTo>
                  <a:lnTo>
                    <a:pt x="0" y="525780"/>
                  </a:lnTo>
                  <a:lnTo>
                    <a:pt x="0" y="495300"/>
                  </a:lnTo>
                  <a:lnTo>
                    <a:pt x="7620" y="495300"/>
                  </a:lnTo>
                  <a:lnTo>
                    <a:pt x="7620" y="525780"/>
                  </a:lnTo>
                  <a:close/>
                </a:path>
                <a:path w="7620" h="525779">
                  <a:moveTo>
                    <a:pt x="7620" y="470916"/>
                  </a:moveTo>
                  <a:lnTo>
                    <a:pt x="0" y="470916"/>
                  </a:lnTo>
                  <a:lnTo>
                    <a:pt x="0" y="440436"/>
                  </a:lnTo>
                  <a:lnTo>
                    <a:pt x="7620" y="440436"/>
                  </a:lnTo>
                  <a:lnTo>
                    <a:pt x="7620" y="470916"/>
                  </a:lnTo>
                  <a:close/>
                </a:path>
                <a:path w="7620" h="525779">
                  <a:moveTo>
                    <a:pt x="7620" y="416052"/>
                  </a:moveTo>
                  <a:lnTo>
                    <a:pt x="0" y="416052"/>
                  </a:lnTo>
                  <a:lnTo>
                    <a:pt x="0" y="385572"/>
                  </a:lnTo>
                  <a:lnTo>
                    <a:pt x="7620" y="385572"/>
                  </a:lnTo>
                  <a:lnTo>
                    <a:pt x="7620" y="416052"/>
                  </a:lnTo>
                  <a:close/>
                </a:path>
                <a:path w="7620" h="525779">
                  <a:moveTo>
                    <a:pt x="7620" y="361188"/>
                  </a:moveTo>
                  <a:lnTo>
                    <a:pt x="0" y="361188"/>
                  </a:lnTo>
                  <a:lnTo>
                    <a:pt x="0" y="329184"/>
                  </a:lnTo>
                  <a:lnTo>
                    <a:pt x="7620" y="330708"/>
                  </a:lnTo>
                  <a:lnTo>
                    <a:pt x="7620" y="361188"/>
                  </a:lnTo>
                  <a:close/>
                </a:path>
                <a:path w="7620" h="525779">
                  <a:moveTo>
                    <a:pt x="7620" y="306324"/>
                  </a:moveTo>
                  <a:lnTo>
                    <a:pt x="0" y="306324"/>
                  </a:lnTo>
                  <a:lnTo>
                    <a:pt x="0" y="274320"/>
                  </a:lnTo>
                  <a:lnTo>
                    <a:pt x="7620" y="274320"/>
                  </a:lnTo>
                  <a:lnTo>
                    <a:pt x="7620" y="306324"/>
                  </a:lnTo>
                  <a:close/>
                </a:path>
                <a:path w="7620" h="525779">
                  <a:moveTo>
                    <a:pt x="7620" y="251460"/>
                  </a:moveTo>
                  <a:lnTo>
                    <a:pt x="0" y="251460"/>
                  </a:lnTo>
                  <a:lnTo>
                    <a:pt x="0" y="219456"/>
                  </a:lnTo>
                  <a:lnTo>
                    <a:pt x="7620" y="219456"/>
                  </a:lnTo>
                  <a:lnTo>
                    <a:pt x="7620" y="251460"/>
                  </a:lnTo>
                  <a:close/>
                </a:path>
                <a:path w="7620" h="525779">
                  <a:moveTo>
                    <a:pt x="7620" y="196596"/>
                  </a:moveTo>
                  <a:lnTo>
                    <a:pt x="0" y="196596"/>
                  </a:lnTo>
                  <a:lnTo>
                    <a:pt x="0" y="164592"/>
                  </a:lnTo>
                  <a:lnTo>
                    <a:pt x="7620" y="164592"/>
                  </a:lnTo>
                  <a:lnTo>
                    <a:pt x="7620" y="196596"/>
                  </a:lnTo>
                  <a:close/>
                </a:path>
                <a:path w="7620" h="525779">
                  <a:moveTo>
                    <a:pt x="7620" y="141732"/>
                  </a:moveTo>
                  <a:lnTo>
                    <a:pt x="0" y="141732"/>
                  </a:lnTo>
                  <a:lnTo>
                    <a:pt x="0" y="109728"/>
                  </a:lnTo>
                  <a:lnTo>
                    <a:pt x="7620" y="109728"/>
                  </a:lnTo>
                  <a:lnTo>
                    <a:pt x="7620" y="141732"/>
                  </a:lnTo>
                  <a:close/>
                </a:path>
                <a:path w="7620" h="525779">
                  <a:moveTo>
                    <a:pt x="7620" y="86867"/>
                  </a:moveTo>
                  <a:lnTo>
                    <a:pt x="0" y="86867"/>
                  </a:lnTo>
                  <a:lnTo>
                    <a:pt x="0" y="54864"/>
                  </a:lnTo>
                  <a:lnTo>
                    <a:pt x="7620" y="54864"/>
                  </a:lnTo>
                  <a:lnTo>
                    <a:pt x="7620" y="86867"/>
                  </a:lnTo>
                  <a:close/>
                </a:path>
                <a:path w="7620" h="525779">
                  <a:moveTo>
                    <a:pt x="7620" y="32004"/>
                  </a:moveTo>
                  <a:lnTo>
                    <a:pt x="0" y="32004"/>
                  </a:lnTo>
                  <a:lnTo>
                    <a:pt x="0" y="0"/>
                  </a:lnTo>
                  <a:lnTo>
                    <a:pt x="7620" y="0"/>
                  </a:lnTo>
                  <a:lnTo>
                    <a:pt x="7620" y="32004"/>
                  </a:lnTo>
                  <a:close/>
                </a:path>
              </a:pathLst>
            </a:custGeom>
            <a:solidFill>
              <a:srgbClr val="954F7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4024121" y="2095499"/>
              <a:ext cx="0" cy="2231390"/>
            </a:xfrm>
            <a:custGeom>
              <a:avLst/>
              <a:gdLst/>
              <a:ahLst/>
              <a:cxnLst/>
              <a:rect l="l" t="t" r="r" b="b"/>
              <a:pathLst>
                <a:path w="0" h="2231390">
                  <a:moveTo>
                    <a:pt x="0" y="0"/>
                  </a:moveTo>
                  <a:lnTo>
                    <a:pt x="0" y="2231135"/>
                  </a:lnTo>
                </a:path>
              </a:pathLst>
            </a:custGeom>
            <a:ln w="7620">
              <a:solidFill>
                <a:srgbClr val="954F72"/>
              </a:solidFill>
              <a:prstDash val="sys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4020311" y="2063495"/>
              <a:ext cx="7620" cy="9525"/>
            </a:xfrm>
            <a:custGeom>
              <a:avLst/>
              <a:gdLst/>
              <a:ahLst/>
              <a:cxnLst/>
              <a:rect l="l" t="t" r="r" b="b"/>
              <a:pathLst>
                <a:path w="7620" h="9525">
                  <a:moveTo>
                    <a:pt x="7620" y="9144"/>
                  </a:moveTo>
                  <a:lnTo>
                    <a:pt x="0" y="9144"/>
                  </a:lnTo>
                  <a:lnTo>
                    <a:pt x="0" y="0"/>
                  </a:lnTo>
                  <a:lnTo>
                    <a:pt x="7620" y="0"/>
                  </a:lnTo>
                  <a:lnTo>
                    <a:pt x="7620" y="9144"/>
                  </a:lnTo>
                  <a:close/>
                </a:path>
              </a:pathLst>
            </a:custGeom>
            <a:solidFill>
              <a:srgbClr val="954F7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 descr=""/>
          <p:cNvSpPr txBox="1"/>
          <p:nvPr/>
        </p:nvSpPr>
        <p:spPr>
          <a:xfrm>
            <a:off x="1509806" y="1667428"/>
            <a:ext cx="2158365" cy="1383665"/>
          </a:xfrm>
          <a:prstGeom prst="rect">
            <a:avLst/>
          </a:prstGeom>
        </p:spPr>
        <p:txBody>
          <a:bodyPr wrap="square" lIns="0" tIns="180340" rIns="0" bIns="0" rtlCol="0" vert="horz">
            <a:spAutoFit/>
          </a:bodyPr>
          <a:lstStyle/>
          <a:p>
            <a:pPr marL="641985">
              <a:lnSpc>
                <a:spcPct val="100000"/>
              </a:lnSpc>
              <a:spcBef>
                <a:spcPts val="1420"/>
              </a:spcBef>
            </a:pPr>
            <a:r>
              <a:rPr dirty="0" sz="1950" spc="-10">
                <a:solidFill>
                  <a:srgbClr val="00CC00"/>
                </a:solidFill>
                <a:latin typeface="Arial MT"/>
                <a:cs typeface="Arial MT"/>
              </a:rPr>
              <a:t>Example</a:t>
            </a:r>
            <a:endParaRPr sz="1950">
              <a:latin typeface="Arial MT"/>
              <a:cs typeface="Arial MT"/>
            </a:endParaRPr>
          </a:p>
          <a:p>
            <a:pPr marL="12700" marR="5080">
              <a:lnSpc>
                <a:spcPct val="100000"/>
              </a:lnSpc>
              <a:spcBef>
                <a:spcPts val="1090"/>
              </a:spcBef>
            </a:pPr>
            <a:r>
              <a:rPr dirty="0" sz="1650">
                <a:latin typeface="Times New Roman"/>
                <a:cs typeface="Times New Roman"/>
              </a:rPr>
              <a:t>Group</a:t>
            </a:r>
            <a:r>
              <a:rPr dirty="0" sz="1650" spc="-30">
                <a:latin typeface="Times New Roman"/>
                <a:cs typeface="Times New Roman"/>
              </a:rPr>
              <a:t> </a:t>
            </a:r>
            <a:r>
              <a:rPr dirty="0" sz="1650">
                <a:latin typeface="Times New Roman"/>
                <a:cs typeface="Times New Roman"/>
              </a:rPr>
              <a:t>these</a:t>
            </a:r>
            <a:r>
              <a:rPr dirty="0" sz="1650" spc="-30">
                <a:latin typeface="Times New Roman"/>
                <a:cs typeface="Times New Roman"/>
              </a:rPr>
              <a:t> </a:t>
            </a:r>
            <a:r>
              <a:rPr dirty="0" sz="1650" spc="-10">
                <a:latin typeface="Times New Roman"/>
                <a:cs typeface="Times New Roman"/>
              </a:rPr>
              <a:t>activities</a:t>
            </a:r>
            <a:r>
              <a:rPr dirty="0" sz="1650" spc="-20">
                <a:latin typeface="Times New Roman"/>
                <a:cs typeface="Times New Roman"/>
              </a:rPr>
              <a:t> </a:t>
            </a:r>
            <a:r>
              <a:rPr dirty="0" sz="1650" spc="-25">
                <a:latin typeface="Times New Roman"/>
                <a:cs typeface="Times New Roman"/>
              </a:rPr>
              <a:t>in </a:t>
            </a:r>
            <a:r>
              <a:rPr dirty="0" sz="1650">
                <a:latin typeface="Times New Roman"/>
                <a:cs typeface="Times New Roman"/>
              </a:rPr>
              <a:t>some</a:t>
            </a:r>
            <a:r>
              <a:rPr dirty="0" sz="1650" spc="-50">
                <a:latin typeface="Times New Roman"/>
                <a:cs typeface="Times New Roman"/>
              </a:rPr>
              <a:t> </a:t>
            </a:r>
            <a:r>
              <a:rPr dirty="0" sz="1650">
                <a:latin typeface="Times New Roman"/>
                <a:cs typeface="Times New Roman"/>
              </a:rPr>
              <a:t>logical</a:t>
            </a:r>
            <a:r>
              <a:rPr dirty="0" sz="1650" spc="-50">
                <a:latin typeface="Times New Roman"/>
                <a:cs typeface="Times New Roman"/>
              </a:rPr>
              <a:t> </a:t>
            </a:r>
            <a:r>
              <a:rPr dirty="0" sz="1650" spc="-10">
                <a:latin typeface="Times New Roman"/>
                <a:cs typeface="Times New Roman"/>
              </a:rPr>
              <a:t>fashion, </a:t>
            </a:r>
            <a:r>
              <a:rPr dirty="0" sz="1650">
                <a:latin typeface="Times New Roman"/>
                <a:cs typeface="Times New Roman"/>
              </a:rPr>
              <a:t>possibly</a:t>
            </a:r>
            <a:r>
              <a:rPr dirty="0" sz="1650" spc="-65">
                <a:latin typeface="Times New Roman"/>
                <a:cs typeface="Times New Roman"/>
              </a:rPr>
              <a:t> </a:t>
            </a:r>
            <a:r>
              <a:rPr dirty="0" sz="1650">
                <a:latin typeface="Times New Roman"/>
                <a:cs typeface="Times New Roman"/>
              </a:rPr>
              <a:t>functional</a:t>
            </a:r>
            <a:r>
              <a:rPr dirty="0" sz="1650" spc="-65">
                <a:latin typeface="Times New Roman"/>
                <a:cs typeface="Times New Roman"/>
              </a:rPr>
              <a:t> </a:t>
            </a:r>
            <a:r>
              <a:rPr dirty="0" sz="1650" spc="-10">
                <a:latin typeface="Times New Roman"/>
                <a:cs typeface="Times New Roman"/>
              </a:rPr>
              <a:t>areas.</a:t>
            </a:r>
            <a:endParaRPr sz="1650">
              <a:latin typeface="Times New Roman"/>
              <a:cs typeface="Times New Roman"/>
            </a:endParaRPr>
          </a:p>
        </p:txBody>
      </p:sp>
      <p:pic>
        <p:nvPicPr>
          <p:cNvPr id="9" name="object 9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29512" y="3430523"/>
            <a:ext cx="2083307" cy="3218688"/>
          </a:xfrm>
          <a:prstGeom prst="rect">
            <a:avLst/>
          </a:prstGeom>
        </p:spPr>
      </p:pic>
      <p:sp>
        <p:nvSpPr>
          <p:cNvPr id="10" name="object 10" descr=""/>
          <p:cNvSpPr txBox="1"/>
          <p:nvPr/>
        </p:nvSpPr>
        <p:spPr>
          <a:xfrm>
            <a:off x="4589838" y="3152668"/>
            <a:ext cx="1554480" cy="7810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dirty="0" sz="1650">
                <a:latin typeface="Arial MT"/>
                <a:cs typeface="Arial MT"/>
              </a:rPr>
              <a:t>Customer</a:t>
            </a:r>
            <a:r>
              <a:rPr dirty="0" sz="1650" spc="-50">
                <a:latin typeface="Arial MT"/>
                <a:cs typeface="Arial MT"/>
              </a:rPr>
              <a:t> </a:t>
            </a:r>
            <a:r>
              <a:rPr dirty="0" sz="1650" spc="-20">
                <a:latin typeface="Arial MT"/>
                <a:cs typeface="Arial MT"/>
              </a:rPr>
              <a:t>Order </a:t>
            </a:r>
            <a:r>
              <a:rPr dirty="0" sz="1650">
                <a:latin typeface="Arial MT"/>
                <a:cs typeface="Arial MT"/>
              </a:rPr>
              <a:t>Serve</a:t>
            </a:r>
            <a:r>
              <a:rPr dirty="0" sz="1650" spc="-25">
                <a:latin typeface="Arial MT"/>
                <a:cs typeface="Arial MT"/>
              </a:rPr>
              <a:t> </a:t>
            </a:r>
            <a:r>
              <a:rPr dirty="0" sz="1650" spc="-10">
                <a:latin typeface="Arial MT"/>
                <a:cs typeface="Arial MT"/>
              </a:rPr>
              <a:t>Product </a:t>
            </a:r>
            <a:r>
              <a:rPr dirty="0" sz="1650">
                <a:latin typeface="Arial MT"/>
                <a:cs typeface="Arial MT"/>
              </a:rPr>
              <a:t>Collect</a:t>
            </a:r>
            <a:r>
              <a:rPr dirty="0" sz="1650" spc="-15">
                <a:latin typeface="Arial MT"/>
                <a:cs typeface="Arial MT"/>
              </a:rPr>
              <a:t> </a:t>
            </a:r>
            <a:r>
              <a:rPr dirty="0" sz="1650" spc="-10">
                <a:latin typeface="Arial MT"/>
                <a:cs typeface="Arial MT"/>
              </a:rPr>
              <a:t>Payment</a:t>
            </a:r>
            <a:endParaRPr sz="1650">
              <a:latin typeface="Arial MT"/>
              <a:cs typeface="Arial MT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4589838" y="4158533"/>
            <a:ext cx="1590040" cy="5295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dirty="0" sz="1650">
                <a:latin typeface="Arial MT"/>
                <a:cs typeface="Arial MT"/>
              </a:rPr>
              <a:t>Produce</a:t>
            </a:r>
            <a:r>
              <a:rPr dirty="0" sz="1650" spc="-30">
                <a:latin typeface="Arial MT"/>
                <a:cs typeface="Arial MT"/>
              </a:rPr>
              <a:t> </a:t>
            </a:r>
            <a:r>
              <a:rPr dirty="0" sz="1650" spc="-10">
                <a:latin typeface="Arial MT"/>
                <a:cs typeface="Arial MT"/>
              </a:rPr>
              <a:t>Product </a:t>
            </a:r>
            <a:r>
              <a:rPr dirty="0" sz="1650">
                <a:latin typeface="Arial MT"/>
                <a:cs typeface="Arial MT"/>
              </a:rPr>
              <a:t>Store</a:t>
            </a:r>
            <a:r>
              <a:rPr dirty="0" sz="1650" spc="-40">
                <a:latin typeface="Arial MT"/>
                <a:cs typeface="Arial MT"/>
              </a:rPr>
              <a:t> </a:t>
            </a:r>
            <a:r>
              <a:rPr dirty="0" sz="1650" spc="-10">
                <a:latin typeface="Arial MT"/>
                <a:cs typeface="Arial MT"/>
              </a:rPr>
              <a:t>Product</a:t>
            </a:r>
            <a:endParaRPr sz="1650">
              <a:latin typeface="Arial MT"/>
              <a:cs typeface="Arial MT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4589838" y="4912907"/>
            <a:ext cx="2078355" cy="5295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dirty="0" sz="1650">
                <a:latin typeface="Arial MT"/>
                <a:cs typeface="Arial MT"/>
              </a:rPr>
              <a:t>Order</a:t>
            </a:r>
            <a:r>
              <a:rPr dirty="0" sz="1650" spc="-45">
                <a:latin typeface="Arial MT"/>
                <a:cs typeface="Arial MT"/>
              </a:rPr>
              <a:t> </a:t>
            </a:r>
            <a:r>
              <a:rPr dirty="0" sz="1650">
                <a:latin typeface="Arial MT"/>
                <a:cs typeface="Arial MT"/>
              </a:rPr>
              <a:t>Raw</a:t>
            </a:r>
            <a:r>
              <a:rPr dirty="0" sz="1650" spc="-10">
                <a:latin typeface="Arial MT"/>
                <a:cs typeface="Arial MT"/>
              </a:rPr>
              <a:t> Materials </a:t>
            </a:r>
            <a:r>
              <a:rPr dirty="0" sz="1650">
                <a:latin typeface="Arial MT"/>
                <a:cs typeface="Arial MT"/>
              </a:rPr>
              <a:t>Pay</a:t>
            </a:r>
            <a:r>
              <a:rPr dirty="0" sz="1650" spc="-20">
                <a:latin typeface="Arial MT"/>
                <a:cs typeface="Arial MT"/>
              </a:rPr>
              <a:t> </a:t>
            </a:r>
            <a:r>
              <a:rPr dirty="0" sz="1650">
                <a:latin typeface="Arial MT"/>
                <a:cs typeface="Arial MT"/>
              </a:rPr>
              <a:t>for</a:t>
            </a:r>
            <a:r>
              <a:rPr dirty="0" sz="1650" spc="-25">
                <a:latin typeface="Arial MT"/>
                <a:cs typeface="Arial MT"/>
              </a:rPr>
              <a:t> </a:t>
            </a:r>
            <a:r>
              <a:rPr dirty="0" sz="1650">
                <a:latin typeface="Arial MT"/>
                <a:cs typeface="Arial MT"/>
              </a:rPr>
              <a:t>Raw</a:t>
            </a:r>
            <a:r>
              <a:rPr dirty="0" sz="1650" spc="-15">
                <a:latin typeface="Arial MT"/>
                <a:cs typeface="Arial MT"/>
              </a:rPr>
              <a:t> </a:t>
            </a:r>
            <a:r>
              <a:rPr dirty="0" sz="1650" spc="-10">
                <a:latin typeface="Arial MT"/>
                <a:cs typeface="Arial MT"/>
              </a:rPr>
              <a:t>Materials</a:t>
            </a:r>
            <a:endParaRPr sz="1650">
              <a:latin typeface="Arial MT"/>
              <a:cs typeface="Arial MT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4589838" y="5667280"/>
            <a:ext cx="1285875" cy="27813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650">
                <a:latin typeface="Arial MT"/>
                <a:cs typeface="Arial MT"/>
              </a:rPr>
              <a:t>Pay</a:t>
            </a:r>
            <a:r>
              <a:rPr dirty="0" sz="1650" spc="-20">
                <a:latin typeface="Arial MT"/>
                <a:cs typeface="Arial MT"/>
              </a:rPr>
              <a:t> </a:t>
            </a:r>
            <a:r>
              <a:rPr dirty="0" sz="1650">
                <a:latin typeface="Arial MT"/>
                <a:cs typeface="Arial MT"/>
              </a:rPr>
              <a:t>for</a:t>
            </a:r>
            <a:r>
              <a:rPr dirty="0" sz="1650" spc="-25">
                <a:latin typeface="Arial MT"/>
                <a:cs typeface="Arial MT"/>
              </a:rPr>
              <a:t> </a:t>
            </a:r>
            <a:r>
              <a:rPr dirty="0" sz="1650" spc="-20">
                <a:latin typeface="Arial MT"/>
                <a:cs typeface="Arial MT"/>
              </a:rPr>
              <a:t>Labor</a:t>
            </a:r>
            <a:endParaRPr sz="1650">
              <a:latin typeface="Arial MT"/>
              <a:cs typeface="Arial MT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4150831" y="1832875"/>
            <a:ext cx="2618740" cy="27813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391160" algn="l"/>
              </a:tabLst>
            </a:pPr>
            <a:r>
              <a:rPr dirty="0" sz="1650" spc="-25">
                <a:latin typeface="Arial MT"/>
                <a:cs typeface="Arial MT"/>
              </a:rPr>
              <a:t>1.</a:t>
            </a:r>
            <a:r>
              <a:rPr dirty="0" sz="1650">
                <a:latin typeface="Arial MT"/>
                <a:cs typeface="Arial MT"/>
              </a:rPr>
              <a:t>	Create</a:t>
            </a:r>
            <a:r>
              <a:rPr dirty="0" sz="1650" spc="-45">
                <a:latin typeface="Arial MT"/>
                <a:cs typeface="Arial MT"/>
              </a:rPr>
              <a:t> </a:t>
            </a:r>
            <a:r>
              <a:rPr dirty="0" sz="1650">
                <a:latin typeface="Arial MT"/>
                <a:cs typeface="Arial MT"/>
              </a:rPr>
              <a:t>a</a:t>
            </a:r>
            <a:r>
              <a:rPr dirty="0" sz="1650" spc="-5">
                <a:latin typeface="Arial MT"/>
                <a:cs typeface="Arial MT"/>
              </a:rPr>
              <a:t> </a:t>
            </a:r>
            <a:r>
              <a:rPr dirty="0" sz="1650">
                <a:latin typeface="Arial MT"/>
                <a:cs typeface="Arial MT"/>
              </a:rPr>
              <a:t>list</a:t>
            </a:r>
            <a:r>
              <a:rPr dirty="0" sz="1650" spc="-25">
                <a:latin typeface="Arial MT"/>
                <a:cs typeface="Arial MT"/>
              </a:rPr>
              <a:t> </a:t>
            </a:r>
            <a:r>
              <a:rPr dirty="0" sz="1650">
                <a:latin typeface="Arial MT"/>
                <a:cs typeface="Arial MT"/>
              </a:rPr>
              <a:t>of</a:t>
            </a:r>
            <a:r>
              <a:rPr dirty="0" sz="1650" spc="-10">
                <a:latin typeface="Arial MT"/>
                <a:cs typeface="Arial MT"/>
              </a:rPr>
              <a:t> activities</a:t>
            </a:r>
            <a:endParaRPr sz="165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7145">
              <a:lnSpc>
                <a:spcPct val="100000"/>
              </a:lnSpc>
              <a:spcBef>
                <a:spcPts val="125"/>
              </a:spcBef>
            </a:pPr>
            <a:r>
              <a:rPr dirty="0"/>
              <a:t>Creating</a:t>
            </a:r>
            <a:r>
              <a:rPr dirty="0" spc="20"/>
              <a:t> </a:t>
            </a:r>
            <a:r>
              <a:rPr dirty="0"/>
              <a:t>Data</a:t>
            </a:r>
            <a:r>
              <a:rPr dirty="0" spc="50"/>
              <a:t> </a:t>
            </a:r>
            <a:r>
              <a:rPr dirty="0"/>
              <a:t>Flow</a:t>
            </a:r>
            <a:r>
              <a:rPr dirty="0" spc="30"/>
              <a:t> </a:t>
            </a:r>
            <a:r>
              <a:rPr dirty="0" spc="-10"/>
              <a:t>Diagrams</a:t>
            </a:r>
          </a:p>
        </p:txBody>
      </p:sp>
      <p:grpSp>
        <p:nvGrpSpPr>
          <p:cNvPr id="3" name="object 3" descr=""/>
          <p:cNvGrpSpPr/>
          <p:nvPr/>
        </p:nvGrpSpPr>
        <p:grpSpPr>
          <a:xfrm>
            <a:off x="4020311" y="2063495"/>
            <a:ext cx="7620" cy="4464050"/>
            <a:chOff x="4020311" y="2063495"/>
            <a:chExt cx="7620" cy="4464050"/>
          </a:xfrm>
        </p:grpSpPr>
        <p:sp>
          <p:nvSpPr>
            <p:cNvPr id="4" name="object 4" descr=""/>
            <p:cNvSpPr/>
            <p:nvPr/>
          </p:nvSpPr>
          <p:spPr>
            <a:xfrm>
              <a:off x="4024121" y="4901184"/>
              <a:ext cx="0" cy="1626235"/>
            </a:xfrm>
            <a:custGeom>
              <a:avLst/>
              <a:gdLst/>
              <a:ahLst/>
              <a:cxnLst/>
              <a:rect l="l" t="t" r="r" b="b"/>
              <a:pathLst>
                <a:path w="0" h="1626234">
                  <a:moveTo>
                    <a:pt x="0" y="0"/>
                  </a:moveTo>
                  <a:lnTo>
                    <a:pt x="0" y="1626108"/>
                  </a:lnTo>
                </a:path>
              </a:pathLst>
            </a:custGeom>
            <a:ln w="7620">
              <a:solidFill>
                <a:srgbClr val="954F72"/>
              </a:solidFill>
              <a:prstDash val="sys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4020311" y="4351020"/>
              <a:ext cx="7620" cy="525780"/>
            </a:xfrm>
            <a:custGeom>
              <a:avLst/>
              <a:gdLst/>
              <a:ahLst/>
              <a:cxnLst/>
              <a:rect l="l" t="t" r="r" b="b"/>
              <a:pathLst>
                <a:path w="7620" h="525779">
                  <a:moveTo>
                    <a:pt x="7620" y="525780"/>
                  </a:moveTo>
                  <a:lnTo>
                    <a:pt x="0" y="525780"/>
                  </a:lnTo>
                  <a:lnTo>
                    <a:pt x="0" y="495300"/>
                  </a:lnTo>
                  <a:lnTo>
                    <a:pt x="7620" y="495300"/>
                  </a:lnTo>
                  <a:lnTo>
                    <a:pt x="7620" y="525780"/>
                  </a:lnTo>
                  <a:close/>
                </a:path>
                <a:path w="7620" h="525779">
                  <a:moveTo>
                    <a:pt x="7620" y="470916"/>
                  </a:moveTo>
                  <a:lnTo>
                    <a:pt x="0" y="470916"/>
                  </a:lnTo>
                  <a:lnTo>
                    <a:pt x="0" y="440436"/>
                  </a:lnTo>
                  <a:lnTo>
                    <a:pt x="7620" y="440436"/>
                  </a:lnTo>
                  <a:lnTo>
                    <a:pt x="7620" y="470916"/>
                  </a:lnTo>
                  <a:close/>
                </a:path>
                <a:path w="7620" h="525779">
                  <a:moveTo>
                    <a:pt x="7620" y="416052"/>
                  </a:moveTo>
                  <a:lnTo>
                    <a:pt x="0" y="416052"/>
                  </a:lnTo>
                  <a:lnTo>
                    <a:pt x="0" y="385572"/>
                  </a:lnTo>
                  <a:lnTo>
                    <a:pt x="7620" y="385572"/>
                  </a:lnTo>
                  <a:lnTo>
                    <a:pt x="7620" y="416052"/>
                  </a:lnTo>
                  <a:close/>
                </a:path>
                <a:path w="7620" h="525779">
                  <a:moveTo>
                    <a:pt x="7620" y="361188"/>
                  </a:moveTo>
                  <a:lnTo>
                    <a:pt x="0" y="361188"/>
                  </a:lnTo>
                  <a:lnTo>
                    <a:pt x="0" y="329184"/>
                  </a:lnTo>
                  <a:lnTo>
                    <a:pt x="7620" y="330708"/>
                  </a:lnTo>
                  <a:lnTo>
                    <a:pt x="7620" y="361188"/>
                  </a:lnTo>
                  <a:close/>
                </a:path>
                <a:path w="7620" h="525779">
                  <a:moveTo>
                    <a:pt x="7620" y="306324"/>
                  </a:moveTo>
                  <a:lnTo>
                    <a:pt x="0" y="306324"/>
                  </a:lnTo>
                  <a:lnTo>
                    <a:pt x="0" y="274320"/>
                  </a:lnTo>
                  <a:lnTo>
                    <a:pt x="7620" y="274320"/>
                  </a:lnTo>
                  <a:lnTo>
                    <a:pt x="7620" y="306324"/>
                  </a:lnTo>
                  <a:close/>
                </a:path>
                <a:path w="7620" h="525779">
                  <a:moveTo>
                    <a:pt x="7620" y="251460"/>
                  </a:moveTo>
                  <a:lnTo>
                    <a:pt x="0" y="251460"/>
                  </a:lnTo>
                  <a:lnTo>
                    <a:pt x="0" y="219456"/>
                  </a:lnTo>
                  <a:lnTo>
                    <a:pt x="7620" y="219456"/>
                  </a:lnTo>
                  <a:lnTo>
                    <a:pt x="7620" y="251460"/>
                  </a:lnTo>
                  <a:close/>
                </a:path>
                <a:path w="7620" h="525779">
                  <a:moveTo>
                    <a:pt x="7620" y="196596"/>
                  </a:moveTo>
                  <a:lnTo>
                    <a:pt x="0" y="196596"/>
                  </a:lnTo>
                  <a:lnTo>
                    <a:pt x="0" y="164592"/>
                  </a:lnTo>
                  <a:lnTo>
                    <a:pt x="7620" y="164592"/>
                  </a:lnTo>
                  <a:lnTo>
                    <a:pt x="7620" y="196596"/>
                  </a:lnTo>
                  <a:close/>
                </a:path>
                <a:path w="7620" h="525779">
                  <a:moveTo>
                    <a:pt x="7620" y="141732"/>
                  </a:moveTo>
                  <a:lnTo>
                    <a:pt x="0" y="141732"/>
                  </a:lnTo>
                  <a:lnTo>
                    <a:pt x="0" y="109728"/>
                  </a:lnTo>
                  <a:lnTo>
                    <a:pt x="7620" y="109728"/>
                  </a:lnTo>
                  <a:lnTo>
                    <a:pt x="7620" y="141732"/>
                  </a:lnTo>
                  <a:close/>
                </a:path>
                <a:path w="7620" h="525779">
                  <a:moveTo>
                    <a:pt x="7620" y="86867"/>
                  </a:moveTo>
                  <a:lnTo>
                    <a:pt x="0" y="86867"/>
                  </a:lnTo>
                  <a:lnTo>
                    <a:pt x="0" y="54864"/>
                  </a:lnTo>
                  <a:lnTo>
                    <a:pt x="7620" y="54864"/>
                  </a:lnTo>
                  <a:lnTo>
                    <a:pt x="7620" y="86867"/>
                  </a:lnTo>
                  <a:close/>
                </a:path>
                <a:path w="7620" h="525779">
                  <a:moveTo>
                    <a:pt x="7620" y="32004"/>
                  </a:moveTo>
                  <a:lnTo>
                    <a:pt x="0" y="32004"/>
                  </a:lnTo>
                  <a:lnTo>
                    <a:pt x="0" y="0"/>
                  </a:lnTo>
                  <a:lnTo>
                    <a:pt x="7620" y="0"/>
                  </a:lnTo>
                  <a:lnTo>
                    <a:pt x="7620" y="32004"/>
                  </a:lnTo>
                  <a:close/>
                </a:path>
              </a:pathLst>
            </a:custGeom>
            <a:solidFill>
              <a:srgbClr val="954F7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4024121" y="2095499"/>
              <a:ext cx="0" cy="2231390"/>
            </a:xfrm>
            <a:custGeom>
              <a:avLst/>
              <a:gdLst/>
              <a:ahLst/>
              <a:cxnLst/>
              <a:rect l="l" t="t" r="r" b="b"/>
              <a:pathLst>
                <a:path w="0" h="2231390">
                  <a:moveTo>
                    <a:pt x="0" y="0"/>
                  </a:moveTo>
                  <a:lnTo>
                    <a:pt x="0" y="2231135"/>
                  </a:lnTo>
                </a:path>
              </a:pathLst>
            </a:custGeom>
            <a:ln w="7620">
              <a:solidFill>
                <a:srgbClr val="954F72"/>
              </a:solidFill>
              <a:prstDash val="sys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4020311" y="2063495"/>
              <a:ext cx="7620" cy="9525"/>
            </a:xfrm>
            <a:custGeom>
              <a:avLst/>
              <a:gdLst/>
              <a:ahLst/>
              <a:cxnLst/>
              <a:rect l="l" t="t" r="r" b="b"/>
              <a:pathLst>
                <a:path w="7620" h="9525">
                  <a:moveTo>
                    <a:pt x="7620" y="9144"/>
                  </a:moveTo>
                  <a:lnTo>
                    <a:pt x="0" y="9144"/>
                  </a:lnTo>
                  <a:lnTo>
                    <a:pt x="0" y="0"/>
                  </a:lnTo>
                  <a:lnTo>
                    <a:pt x="7620" y="0"/>
                  </a:lnTo>
                  <a:lnTo>
                    <a:pt x="7620" y="9144"/>
                  </a:lnTo>
                  <a:close/>
                </a:path>
              </a:pathLst>
            </a:custGeom>
            <a:solidFill>
              <a:srgbClr val="954F7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 descr=""/>
          <p:cNvSpPr/>
          <p:nvPr/>
        </p:nvSpPr>
        <p:spPr>
          <a:xfrm>
            <a:off x="6035039" y="3133344"/>
            <a:ext cx="754380" cy="754380"/>
          </a:xfrm>
          <a:custGeom>
            <a:avLst/>
            <a:gdLst/>
            <a:ahLst/>
            <a:cxnLst/>
            <a:rect l="l" t="t" r="r" b="b"/>
            <a:pathLst>
              <a:path w="754379" h="754379">
                <a:moveTo>
                  <a:pt x="0" y="376427"/>
                </a:moveTo>
                <a:lnTo>
                  <a:pt x="2943" y="329333"/>
                </a:lnTo>
                <a:lnTo>
                  <a:pt x="11539" y="283950"/>
                </a:lnTo>
                <a:lnTo>
                  <a:pt x="25434" y="240635"/>
                </a:lnTo>
                <a:lnTo>
                  <a:pt x="44272" y="199746"/>
                </a:lnTo>
                <a:lnTo>
                  <a:pt x="67702" y="161642"/>
                </a:lnTo>
                <a:lnTo>
                  <a:pt x="95368" y="126680"/>
                </a:lnTo>
                <a:lnTo>
                  <a:pt x="126918" y="95219"/>
                </a:lnTo>
                <a:lnTo>
                  <a:pt x="161997" y="67615"/>
                </a:lnTo>
                <a:lnTo>
                  <a:pt x="200252" y="44228"/>
                </a:lnTo>
                <a:lnTo>
                  <a:pt x="241328" y="25415"/>
                </a:lnTo>
                <a:lnTo>
                  <a:pt x="284873" y="11534"/>
                </a:lnTo>
                <a:lnTo>
                  <a:pt x="330532" y="2943"/>
                </a:lnTo>
                <a:lnTo>
                  <a:pt x="377952" y="0"/>
                </a:lnTo>
                <a:lnTo>
                  <a:pt x="425345" y="2943"/>
                </a:lnTo>
                <a:lnTo>
                  <a:pt x="470933" y="11534"/>
                </a:lnTo>
                <a:lnTo>
                  <a:pt x="514369" y="25415"/>
                </a:lnTo>
                <a:lnTo>
                  <a:pt x="555307" y="44228"/>
                </a:lnTo>
                <a:lnTo>
                  <a:pt x="593403" y="67615"/>
                </a:lnTo>
                <a:lnTo>
                  <a:pt x="628311" y="95219"/>
                </a:lnTo>
                <a:lnTo>
                  <a:pt x="659685" y="126680"/>
                </a:lnTo>
                <a:lnTo>
                  <a:pt x="687180" y="161642"/>
                </a:lnTo>
                <a:lnTo>
                  <a:pt x="710451" y="199746"/>
                </a:lnTo>
                <a:lnTo>
                  <a:pt x="729151" y="240635"/>
                </a:lnTo>
                <a:lnTo>
                  <a:pt x="742937" y="283950"/>
                </a:lnTo>
                <a:lnTo>
                  <a:pt x="751461" y="329333"/>
                </a:lnTo>
                <a:lnTo>
                  <a:pt x="754379" y="376427"/>
                </a:lnTo>
                <a:lnTo>
                  <a:pt x="751461" y="423847"/>
                </a:lnTo>
                <a:lnTo>
                  <a:pt x="742937" y="469506"/>
                </a:lnTo>
                <a:lnTo>
                  <a:pt x="729151" y="513051"/>
                </a:lnTo>
                <a:lnTo>
                  <a:pt x="710451" y="554127"/>
                </a:lnTo>
                <a:lnTo>
                  <a:pt x="687180" y="592382"/>
                </a:lnTo>
                <a:lnTo>
                  <a:pt x="659685" y="627461"/>
                </a:lnTo>
                <a:lnTo>
                  <a:pt x="628311" y="659011"/>
                </a:lnTo>
                <a:lnTo>
                  <a:pt x="593403" y="686677"/>
                </a:lnTo>
                <a:lnTo>
                  <a:pt x="555307" y="710107"/>
                </a:lnTo>
                <a:lnTo>
                  <a:pt x="514369" y="728945"/>
                </a:lnTo>
                <a:lnTo>
                  <a:pt x="470933" y="742840"/>
                </a:lnTo>
                <a:lnTo>
                  <a:pt x="425345" y="751436"/>
                </a:lnTo>
                <a:lnTo>
                  <a:pt x="377952" y="754379"/>
                </a:lnTo>
                <a:lnTo>
                  <a:pt x="330532" y="751436"/>
                </a:lnTo>
                <a:lnTo>
                  <a:pt x="284873" y="742840"/>
                </a:lnTo>
                <a:lnTo>
                  <a:pt x="241328" y="728945"/>
                </a:lnTo>
                <a:lnTo>
                  <a:pt x="200252" y="710107"/>
                </a:lnTo>
                <a:lnTo>
                  <a:pt x="161997" y="686677"/>
                </a:lnTo>
                <a:lnTo>
                  <a:pt x="126918" y="659011"/>
                </a:lnTo>
                <a:lnTo>
                  <a:pt x="95368" y="627461"/>
                </a:lnTo>
                <a:lnTo>
                  <a:pt x="67702" y="592382"/>
                </a:lnTo>
                <a:lnTo>
                  <a:pt x="44272" y="554127"/>
                </a:lnTo>
                <a:lnTo>
                  <a:pt x="25434" y="513051"/>
                </a:lnTo>
                <a:lnTo>
                  <a:pt x="11539" y="469506"/>
                </a:lnTo>
                <a:lnTo>
                  <a:pt x="2943" y="423847"/>
                </a:lnTo>
                <a:lnTo>
                  <a:pt x="0" y="376427"/>
                </a:lnTo>
              </a:path>
            </a:pathLst>
          </a:custGeom>
          <a:ln w="1524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 descr=""/>
          <p:cNvSpPr txBox="1"/>
          <p:nvPr/>
        </p:nvSpPr>
        <p:spPr>
          <a:xfrm>
            <a:off x="6153346" y="3268466"/>
            <a:ext cx="517525" cy="47942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ctr" marL="635">
              <a:lnSpc>
                <a:spcPts val="1195"/>
              </a:lnSpc>
              <a:spcBef>
                <a:spcPts val="95"/>
              </a:spcBef>
            </a:pPr>
            <a:r>
              <a:rPr dirty="0" u="sng" sz="1000" spc="-25">
                <a:uFill>
                  <a:solidFill>
                    <a:srgbClr val="000000"/>
                  </a:solidFill>
                </a:uFill>
                <a:latin typeface="Microsoft Sans Serif"/>
                <a:cs typeface="Microsoft Sans Serif"/>
              </a:rPr>
              <a:t>0.0</a:t>
            </a:r>
            <a:endParaRPr sz="1000">
              <a:latin typeface="Microsoft Sans Serif"/>
              <a:cs typeface="Microsoft Sans Serif"/>
            </a:endParaRPr>
          </a:p>
          <a:p>
            <a:pPr algn="ctr" marL="12700" marR="5080">
              <a:lnSpc>
                <a:spcPts val="1190"/>
              </a:lnSpc>
              <a:spcBef>
                <a:spcPts val="40"/>
              </a:spcBef>
            </a:pPr>
            <a:r>
              <a:rPr dirty="0" sz="1000" spc="-114">
                <a:latin typeface="Microsoft Sans Serif"/>
                <a:cs typeface="Microsoft Sans Serif"/>
              </a:rPr>
              <a:t>Lemonade</a:t>
            </a:r>
            <a:r>
              <a:rPr dirty="0" sz="1000" spc="-10">
                <a:latin typeface="Microsoft Sans Serif"/>
                <a:cs typeface="Microsoft Sans Serif"/>
              </a:rPr>
              <a:t> System</a:t>
            </a:r>
            <a:endParaRPr sz="1000">
              <a:latin typeface="Microsoft Sans Serif"/>
              <a:cs typeface="Microsoft Sans Serif"/>
            </a:endParaRPr>
          </a:p>
        </p:txBody>
      </p:sp>
      <p:grpSp>
        <p:nvGrpSpPr>
          <p:cNvPr id="10" name="object 10" descr=""/>
          <p:cNvGrpSpPr/>
          <p:nvPr/>
        </p:nvGrpSpPr>
        <p:grpSpPr>
          <a:xfrm>
            <a:off x="4974335" y="3125723"/>
            <a:ext cx="3583304" cy="769620"/>
            <a:chOff x="4974335" y="3125723"/>
            <a:chExt cx="3583304" cy="769620"/>
          </a:xfrm>
        </p:grpSpPr>
        <p:sp>
          <p:nvSpPr>
            <p:cNvPr id="11" name="object 11" descr=""/>
            <p:cNvSpPr/>
            <p:nvPr/>
          </p:nvSpPr>
          <p:spPr>
            <a:xfrm>
              <a:off x="7795260" y="3133343"/>
              <a:ext cx="754380" cy="754380"/>
            </a:xfrm>
            <a:custGeom>
              <a:avLst/>
              <a:gdLst/>
              <a:ahLst/>
              <a:cxnLst/>
              <a:rect l="l" t="t" r="r" b="b"/>
              <a:pathLst>
                <a:path w="754379" h="754379">
                  <a:moveTo>
                    <a:pt x="0" y="0"/>
                  </a:moveTo>
                  <a:lnTo>
                    <a:pt x="754379" y="0"/>
                  </a:lnTo>
                  <a:lnTo>
                    <a:pt x="754379" y="754380"/>
                  </a:lnTo>
                  <a:lnTo>
                    <a:pt x="0" y="754380"/>
                  </a:lnTo>
                  <a:lnTo>
                    <a:pt x="0" y="0"/>
                  </a:lnTo>
                  <a:close/>
                </a:path>
              </a:pathLst>
            </a:custGeom>
            <a:ln w="1524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4974323" y="3174491"/>
              <a:ext cx="2743200" cy="640080"/>
            </a:xfrm>
            <a:custGeom>
              <a:avLst/>
              <a:gdLst/>
              <a:ahLst/>
              <a:cxnLst/>
              <a:rect l="l" t="t" r="r" b="b"/>
              <a:pathLst>
                <a:path w="2743200" h="640079">
                  <a:moveTo>
                    <a:pt x="1053084" y="586740"/>
                  </a:moveTo>
                  <a:lnTo>
                    <a:pt x="1048245" y="580644"/>
                  </a:lnTo>
                  <a:lnTo>
                    <a:pt x="1011936" y="534924"/>
                  </a:lnTo>
                  <a:lnTo>
                    <a:pt x="1030757" y="580644"/>
                  </a:lnTo>
                  <a:lnTo>
                    <a:pt x="0" y="580644"/>
                  </a:lnTo>
                  <a:lnTo>
                    <a:pt x="0" y="594360"/>
                  </a:lnTo>
                  <a:lnTo>
                    <a:pt x="1030224" y="594360"/>
                  </a:lnTo>
                  <a:lnTo>
                    <a:pt x="1011936" y="640080"/>
                  </a:lnTo>
                  <a:lnTo>
                    <a:pt x="1047216" y="594360"/>
                  </a:lnTo>
                  <a:lnTo>
                    <a:pt x="1053084" y="586740"/>
                  </a:lnTo>
                  <a:close/>
                </a:path>
                <a:path w="2743200" h="640079">
                  <a:moveTo>
                    <a:pt x="1053084" y="53340"/>
                  </a:moveTo>
                  <a:lnTo>
                    <a:pt x="1047216" y="45720"/>
                  </a:lnTo>
                  <a:lnTo>
                    <a:pt x="1011936" y="0"/>
                  </a:lnTo>
                  <a:lnTo>
                    <a:pt x="1030224" y="45720"/>
                  </a:lnTo>
                  <a:lnTo>
                    <a:pt x="0" y="45720"/>
                  </a:lnTo>
                  <a:lnTo>
                    <a:pt x="0" y="59436"/>
                  </a:lnTo>
                  <a:lnTo>
                    <a:pt x="1030757" y="59436"/>
                  </a:lnTo>
                  <a:lnTo>
                    <a:pt x="1011936" y="105156"/>
                  </a:lnTo>
                  <a:lnTo>
                    <a:pt x="1048245" y="59436"/>
                  </a:lnTo>
                  <a:lnTo>
                    <a:pt x="1053084" y="53340"/>
                  </a:lnTo>
                  <a:close/>
                </a:path>
                <a:path w="2743200" h="640079">
                  <a:moveTo>
                    <a:pt x="2743200" y="556272"/>
                  </a:moveTo>
                  <a:lnTo>
                    <a:pt x="2737104" y="548652"/>
                  </a:lnTo>
                  <a:lnTo>
                    <a:pt x="2700528" y="502932"/>
                  </a:lnTo>
                  <a:lnTo>
                    <a:pt x="2718816" y="548652"/>
                  </a:lnTo>
                  <a:lnTo>
                    <a:pt x="1752600" y="548652"/>
                  </a:lnTo>
                  <a:lnTo>
                    <a:pt x="1752600" y="562368"/>
                  </a:lnTo>
                  <a:lnTo>
                    <a:pt x="2719349" y="562368"/>
                  </a:lnTo>
                  <a:lnTo>
                    <a:pt x="2700528" y="608088"/>
                  </a:lnTo>
                  <a:lnTo>
                    <a:pt x="2738183" y="562368"/>
                  </a:lnTo>
                  <a:lnTo>
                    <a:pt x="2743200" y="55627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3" name="object 13" descr=""/>
          <p:cNvSpPr txBox="1"/>
          <p:nvPr/>
        </p:nvSpPr>
        <p:spPr>
          <a:xfrm>
            <a:off x="4212335" y="3133343"/>
            <a:ext cx="754380" cy="754380"/>
          </a:xfrm>
          <a:prstGeom prst="rect">
            <a:avLst/>
          </a:prstGeom>
          <a:ln w="15240">
            <a:solidFill>
              <a:srgbClr val="000000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ct val="100000"/>
              </a:lnSpc>
            </a:pPr>
            <a:endParaRPr sz="1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000">
              <a:latin typeface="Times New Roman"/>
              <a:cs typeface="Times New Roman"/>
            </a:endParaRPr>
          </a:p>
          <a:p>
            <a:pPr marL="81915">
              <a:lnSpc>
                <a:spcPct val="100000"/>
              </a:lnSpc>
            </a:pPr>
            <a:r>
              <a:rPr dirty="0" sz="1000" spc="-60">
                <a:latin typeface="Microsoft Sans Serif"/>
                <a:cs typeface="Microsoft Sans Serif"/>
              </a:rPr>
              <a:t>CUSTOMER</a:t>
            </a:r>
            <a:endParaRPr sz="1000">
              <a:latin typeface="Microsoft Sans Serif"/>
              <a:cs typeface="Microsoft Sans Serif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5331985" y="3202915"/>
            <a:ext cx="332105" cy="2012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50" spc="-105">
                <a:latin typeface="Microsoft Sans Serif"/>
                <a:cs typeface="Microsoft Sans Serif"/>
              </a:rPr>
              <a:t>Order</a:t>
            </a:r>
            <a:endParaRPr sz="1150">
              <a:latin typeface="Microsoft Sans Serif"/>
              <a:cs typeface="Microsoft Sans Serif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5307592" y="2585747"/>
            <a:ext cx="2151380" cy="3276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950">
                <a:solidFill>
                  <a:srgbClr val="ED7C31"/>
                </a:solidFill>
                <a:latin typeface="Arial MT"/>
                <a:cs typeface="Arial MT"/>
              </a:rPr>
              <a:t>Context</a:t>
            </a:r>
            <a:r>
              <a:rPr dirty="0" sz="1950" spc="40">
                <a:solidFill>
                  <a:srgbClr val="ED7C31"/>
                </a:solidFill>
                <a:latin typeface="Arial MT"/>
                <a:cs typeface="Arial MT"/>
              </a:rPr>
              <a:t> </a:t>
            </a:r>
            <a:r>
              <a:rPr dirty="0" sz="1950">
                <a:solidFill>
                  <a:srgbClr val="ED7C31"/>
                </a:solidFill>
                <a:latin typeface="Arial MT"/>
                <a:cs typeface="Arial MT"/>
              </a:rPr>
              <a:t>Level</a:t>
            </a:r>
            <a:r>
              <a:rPr dirty="0" sz="1950" spc="60">
                <a:solidFill>
                  <a:srgbClr val="ED7C31"/>
                </a:solidFill>
                <a:latin typeface="Arial MT"/>
                <a:cs typeface="Arial MT"/>
              </a:rPr>
              <a:t> </a:t>
            </a:r>
            <a:r>
              <a:rPr dirty="0" sz="1950" spc="-25">
                <a:solidFill>
                  <a:srgbClr val="ED7C31"/>
                </a:solidFill>
                <a:latin typeface="Arial MT"/>
                <a:cs typeface="Arial MT"/>
              </a:rPr>
              <a:t>DFD</a:t>
            </a:r>
            <a:endParaRPr sz="1950">
              <a:latin typeface="Arial MT"/>
              <a:cs typeface="Arial MT"/>
            </a:endParaRPr>
          </a:p>
        </p:txBody>
      </p:sp>
      <p:sp>
        <p:nvSpPr>
          <p:cNvPr id="16" name="object 16" descr=""/>
          <p:cNvSpPr txBox="1"/>
          <p:nvPr/>
        </p:nvSpPr>
        <p:spPr>
          <a:xfrm>
            <a:off x="1509806" y="1667428"/>
            <a:ext cx="2166620" cy="1383665"/>
          </a:xfrm>
          <a:prstGeom prst="rect">
            <a:avLst/>
          </a:prstGeom>
        </p:spPr>
        <p:txBody>
          <a:bodyPr wrap="square" lIns="0" tIns="180340" rIns="0" bIns="0" rtlCol="0" vert="horz">
            <a:spAutoFit/>
          </a:bodyPr>
          <a:lstStyle/>
          <a:p>
            <a:pPr marL="641985">
              <a:lnSpc>
                <a:spcPct val="100000"/>
              </a:lnSpc>
              <a:spcBef>
                <a:spcPts val="1420"/>
              </a:spcBef>
            </a:pPr>
            <a:r>
              <a:rPr dirty="0" sz="1950" spc="-10">
                <a:solidFill>
                  <a:srgbClr val="00CC00"/>
                </a:solidFill>
                <a:latin typeface="Arial MT"/>
                <a:cs typeface="Arial MT"/>
              </a:rPr>
              <a:t>Example</a:t>
            </a:r>
            <a:endParaRPr sz="1950">
              <a:latin typeface="Arial MT"/>
              <a:cs typeface="Arial MT"/>
            </a:endParaRPr>
          </a:p>
          <a:p>
            <a:pPr marL="12700" marR="5080">
              <a:lnSpc>
                <a:spcPct val="100000"/>
              </a:lnSpc>
              <a:spcBef>
                <a:spcPts val="1090"/>
              </a:spcBef>
            </a:pPr>
            <a:r>
              <a:rPr dirty="0" sz="1650">
                <a:latin typeface="Times New Roman"/>
                <a:cs typeface="Times New Roman"/>
              </a:rPr>
              <a:t>Create</a:t>
            </a:r>
            <a:r>
              <a:rPr dirty="0" sz="1650" spc="-40">
                <a:latin typeface="Times New Roman"/>
                <a:cs typeface="Times New Roman"/>
              </a:rPr>
              <a:t> </a:t>
            </a:r>
            <a:r>
              <a:rPr dirty="0" sz="1650">
                <a:latin typeface="Times New Roman"/>
                <a:cs typeface="Times New Roman"/>
              </a:rPr>
              <a:t>a</a:t>
            </a:r>
            <a:r>
              <a:rPr dirty="0" sz="1650" spc="-35">
                <a:latin typeface="Times New Roman"/>
                <a:cs typeface="Times New Roman"/>
              </a:rPr>
              <a:t> </a:t>
            </a:r>
            <a:r>
              <a:rPr dirty="0" sz="1650">
                <a:latin typeface="Times New Roman"/>
                <a:cs typeface="Times New Roman"/>
              </a:rPr>
              <a:t>context</a:t>
            </a:r>
            <a:r>
              <a:rPr dirty="0" sz="1650" spc="-60">
                <a:latin typeface="Times New Roman"/>
                <a:cs typeface="Times New Roman"/>
              </a:rPr>
              <a:t> </a:t>
            </a:r>
            <a:r>
              <a:rPr dirty="0" sz="1650" spc="-20">
                <a:latin typeface="Times New Roman"/>
                <a:cs typeface="Times New Roman"/>
              </a:rPr>
              <a:t>level </a:t>
            </a:r>
            <a:r>
              <a:rPr dirty="0" sz="1650">
                <a:latin typeface="Times New Roman"/>
                <a:cs typeface="Times New Roman"/>
              </a:rPr>
              <a:t>diagram</a:t>
            </a:r>
            <a:r>
              <a:rPr dirty="0" sz="1650" spc="-90">
                <a:latin typeface="Times New Roman"/>
                <a:cs typeface="Times New Roman"/>
              </a:rPr>
              <a:t> </a:t>
            </a:r>
            <a:r>
              <a:rPr dirty="0" sz="1650">
                <a:latin typeface="Times New Roman"/>
                <a:cs typeface="Times New Roman"/>
              </a:rPr>
              <a:t>identifying</a:t>
            </a:r>
            <a:r>
              <a:rPr dirty="0" sz="1650" spc="-70">
                <a:latin typeface="Times New Roman"/>
                <a:cs typeface="Times New Roman"/>
              </a:rPr>
              <a:t> </a:t>
            </a:r>
            <a:r>
              <a:rPr dirty="0" sz="1650" spc="-25">
                <a:latin typeface="Times New Roman"/>
                <a:cs typeface="Times New Roman"/>
              </a:rPr>
              <a:t>the </a:t>
            </a:r>
            <a:r>
              <a:rPr dirty="0" sz="1650">
                <a:latin typeface="Times New Roman"/>
                <a:cs typeface="Times New Roman"/>
              </a:rPr>
              <a:t>sources</a:t>
            </a:r>
            <a:r>
              <a:rPr dirty="0" sz="1650" spc="-45">
                <a:latin typeface="Times New Roman"/>
                <a:cs typeface="Times New Roman"/>
              </a:rPr>
              <a:t> </a:t>
            </a:r>
            <a:r>
              <a:rPr dirty="0" sz="1650">
                <a:latin typeface="Times New Roman"/>
                <a:cs typeface="Times New Roman"/>
              </a:rPr>
              <a:t>and</a:t>
            </a:r>
            <a:r>
              <a:rPr dirty="0" sz="1650" spc="-5">
                <a:latin typeface="Times New Roman"/>
                <a:cs typeface="Times New Roman"/>
              </a:rPr>
              <a:t> </a:t>
            </a:r>
            <a:r>
              <a:rPr dirty="0" sz="1650">
                <a:latin typeface="Times New Roman"/>
                <a:cs typeface="Times New Roman"/>
              </a:rPr>
              <a:t>sinks</a:t>
            </a:r>
            <a:r>
              <a:rPr dirty="0" sz="1650" spc="-40">
                <a:latin typeface="Times New Roman"/>
                <a:cs typeface="Times New Roman"/>
              </a:rPr>
              <a:t> </a:t>
            </a:r>
            <a:r>
              <a:rPr dirty="0" sz="1650" spc="-10">
                <a:latin typeface="Times New Roman"/>
                <a:cs typeface="Times New Roman"/>
              </a:rPr>
              <a:t>(users).</a:t>
            </a:r>
            <a:endParaRPr sz="1650">
              <a:latin typeface="Times New Roman"/>
              <a:cs typeface="Times New Roman"/>
            </a:endParaRPr>
          </a:p>
        </p:txBody>
      </p:sp>
      <p:pic>
        <p:nvPicPr>
          <p:cNvPr id="17" name="object 17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29512" y="3430523"/>
            <a:ext cx="2083307" cy="3218688"/>
          </a:xfrm>
          <a:prstGeom prst="rect">
            <a:avLst/>
          </a:prstGeom>
        </p:spPr>
      </p:pic>
      <p:sp>
        <p:nvSpPr>
          <p:cNvPr id="18" name="object 18" descr=""/>
          <p:cNvSpPr txBox="1"/>
          <p:nvPr/>
        </p:nvSpPr>
        <p:spPr>
          <a:xfrm>
            <a:off x="1509806" y="3452836"/>
            <a:ext cx="1554480" cy="7810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dirty="0" sz="1650">
                <a:solidFill>
                  <a:srgbClr val="339933"/>
                </a:solidFill>
                <a:latin typeface="Arial MT"/>
                <a:cs typeface="Arial MT"/>
              </a:rPr>
              <a:t>Customer</a:t>
            </a:r>
            <a:r>
              <a:rPr dirty="0" sz="1650" spc="-50">
                <a:solidFill>
                  <a:srgbClr val="339933"/>
                </a:solidFill>
                <a:latin typeface="Arial MT"/>
                <a:cs typeface="Arial MT"/>
              </a:rPr>
              <a:t> </a:t>
            </a:r>
            <a:r>
              <a:rPr dirty="0" sz="1650" spc="-20">
                <a:solidFill>
                  <a:srgbClr val="339933"/>
                </a:solidFill>
                <a:latin typeface="Arial MT"/>
                <a:cs typeface="Arial MT"/>
              </a:rPr>
              <a:t>Order </a:t>
            </a:r>
            <a:r>
              <a:rPr dirty="0" sz="1650">
                <a:solidFill>
                  <a:srgbClr val="339933"/>
                </a:solidFill>
                <a:latin typeface="Arial MT"/>
                <a:cs typeface="Arial MT"/>
              </a:rPr>
              <a:t>Serve</a:t>
            </a:r>
            <a:r>
              <a:rPr dirty="0" sz="1650" spc="-25">
                <a:solidFill>
                  <a:srgbClr val="339933"/>
                </a:solidFill>
                <a:latin typeface="Arial MT"/>
                <a:cs typeface="Arial MT"/>
              </a:rPr>
              <a:t> </a:t>
            </a:r>
            <a:r>
              <a:rPr dirty="0" sz="1650" spc="-10">
                <a:solidFill>
                  <a:srgbClr val="339933"/>
                </a:solidFill>
                <a:latin typeface="Arial MT"/>
                <a:cs typeface="Arial MT"/>
              </a:rPr>
              <a:t>Product </a:t>
            </a:r>
            <a:r>
              <a:rPr dirty="0" sz="1650">
                <a:solidFill>
                  <a:srgbClr val="339933"/>
                </a:solidFill>
                <a:latin typeface="Arial MT"/>
                <a:cs typeface="Arial MT"/>
              </a:rPr>
              <a:t>Collect</a:t>
            </a:r>
            <a:r>
              <a:rPr dirty="0" sz="1650" spc="-15">
                <a:solidFill>
                  <a:srgbClr val="339933"/>
                </a:solidFill>
                <a:latin typeface="Arial MT"/>
                <a:cs typeface="Arial MT"/>
              </a:rPr>
              <a:t> </a:t>
            </a:r>
            <a:r>
              <a:rPr dirty="0" sz="1650" spc="-10">
                <a:solidFill>
                  <a:srgbClr val="339933"/>
                </a:solidFill>
                <a:latin typeface="Arial MT"/>
                <a:cs typeface="Arial MT"/>
              </a:rPr>
              <a:t>Payment</a:t>
            </a:r>
            <a:endParaRPr sz="1650">
              <a:latin typeface="Arial MT"/>
              <a:cs typeface="Arial MT"/>
            </a:endParaRPr>
          </a:p>
        </p:txBody>
      </p:sp>
      <p:sp>
        <p:nvSpPr>
          <p:cNvPr id="19" name="object 19" descr=""/>
          <p:cNvSpPr txBox="1"/>
          <p:nvPr/>
        </p:nvSpPr>
        <p:spPr>
          <a:xfrm>
            <a:off x="1509806" y="4458701"/>
            <a:ext cx="1590040" cy="5295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dirty="0" sz="1650">
                <a:solidFill>
                  <a:srgbClr val="339933"/>
                </a:solidFill>
                <a:latin typeface="Arial MT"/>
                <a:cs typeface="Arial MT"/>
              </a:rPr>
              <a:t>Produce</a:t>
            </a:r>
            <a:r>
              <a:rPr dirty="0" sz="1650" spc="-30">
                <a:solidFill>
                  <a:srgbClr val="339933"/>
                </a:solidFill>
                <a:latin typeface="Arial MT"/>
                <a:cs typeface="Arial MT"/>
              </a:rPr>
              <a:t> </a:t>
            </a:r>
            <a:r>
              <a:rPr dirty="0" sz="1650" spc="-10">
                <a:solidFill>
                  <a:srgbClr val="339933"/>
                </a:solidFill>
                <a:latin typeface="Arial MT"/>
                <a:cs typeface="Arial MT"/>
              </a:rPr>
              <a:t>Product </a:t>
            </a:r>
            <a:r>
              <a:rPr dirty="0" sz="1650">
                <a:solidFill>
                  <a:srgbClr val="339933"/>
                </a:solidFill>
                <a:latin typeface="Arial MT"/>
                <a:cs typeface="Arial MT"/>
              </a:rPr>
              <a:t>Store</a:t>
            </a:r>
            <a:r>
              <a:rPr dirty="0" sz="1650" spc="-40">
                <a:solidFill>
                  <a:srgbClr val="339933"/>
                </a:solidFill>
                <a:latin typeface="Arial MT"/>
                <a:cs typeface="Arial MT"/>
              </a:rPr>
              <a:t> </a:t>
            </a:r>
            <a:r>
              <a:rPr dirty="0" sz="1650" spc="-10">
                <a:solidFill>
                  <a:srgbClr val="339933"/>
                </a:solidFill>
                <a:latin typeface="Arial MT"/>
                <a:cs typeface="Arial MT"/>
              </a:rPr>
              <a:t>Product</a:t>
            </a:r>
            <a:endParaRPr sz="1650">
              <a:latin typeface="Arial MT"/>
              <a:cs typeface="Arial MT"/>
            </a:endParaRPr>
          </a:p>
        </p:txBody>
      </p:sp>
      <p:sp>
        <p:nvSpPr>
          <p:cNvPr id="20" name="object 20" descr=""/>
          <p:cNvSpPr txBox="1"/>
          <p:nvPr/>
        </p:nvSpPr>
        <p:spPr>
          <a:xfrm>
            <a:off x="1509806" y="5213074"/>
            <a:ext cx="2078355" cy="5295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dirty="0" sz="1650">
                <a:solidFill>
                  <a:srgbClr val="339933"/>
                </a:solidFill>
                <a:latin typeface="Arial MT"/>
                <a:cs typeface="Arial MT"/>
              </a:rPr>
              <a:t>Order</a:t>
            </a:r>
            <a:r>
              <a:rPr dirty="0" sz="1650" spc="-45">
                <a:solidFill>
                  <a:srgbClr val="339933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339933"/>
                </a:solidFill>
                <a:latin typeface="Arial MT"/>
                <a:cs typeface="Arial MT"/>
              </a:rPr>
              <a:t>Raw</a:t>
            </a:r>
            <a:r>
              <a:rPr dirty="0" sz="1650" spc="-10">
                <a:solidFill>
                  <a:srgbClr val="339933"/>
                </a:solidFill>
                <a:latin typeface="Arial MT"/>
                <a:cs typeface="Arial MT"/>
              </a:rPr>
              <a:t> Materials </a:t>
            </a:r>
            <a:r>
              <a:rPr dirty="0" sz="1650">
                <a:solidFill>
                  <a:srgbClr val="339933"/>
                </a:solidFill>
                <a:latin typeface="Arial MT"/>
                <a:cs typeface="Arial MT"/>
              </a:rPr>
              <a:t>Pay</a:t>
            </a:r>
            <a:r>
              <a:rPr dirty="0" sz="1650" spc="-20">
                <a:solidFill>
                  <a:srgbClr val="339933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339933"/>
                </a:solidFill>
                <a:latin typeface="Arial MT"/>
                <a:cs typeface="Arial MT"/>
              </a:rPr>
              <a:t>for</a:t>
            </a:r>
            <a:r>
              <a:rPr dirty="0" sz="1650" spc="-25">
                <a:solidFill>
                  <a:srgbClr val="339933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339933"/>
                </a:solidFill>
                <a:latin typeface="Arial MT"/>
                <a:cs typeface="Arial MT"/>
              </a:rPr>
              <a:t>Raw</a:t>
            </a:r>
            <a:r>
              <a:rPr dirty="0" sz="1650" spc="-15">
                <a:solidFill>
                  <a:srgbClr val="339933"/>
                </a:solidFill>
                <a:latin typeface="Arial MT"/>
                <a:cs typeface="Arial MT"/>
              </a:rPr>
              <a:t> </a:t>
            </a:r>
            <a:r>
              <a:rPr dirty="0" sz="1650" spc="-10">
                <a:solidFill>
                  <a:srgbClr val="339933"/>
                </a:solidFill>
                <a:latin typeface="Arial MT"/>
                <a:cs typeface="Arial MT"/>
              </a:rPr>
              <a:t>Materials</a:t>
            </a:r>
            <a:endParaRPr sz="1650">
              <a:latin typeface="Arial MT"/>
              <a:cs typeface="Arial MT"/>
            </a:endParaRPr>
          </a:p>
        </p:txBody>
      </p:sp>
      <p:sp>
        <p:nvSpPr>
          <p:cNvPr id="21" name="object 21" descr=""/>
          <p:cNvSpPr txBox="1"/>
          <p:nvPr/>
        </p:nvSpPr>
        <p:spPr>
          <a:xfrm>
            <a:off x="1509806" y="5967448"/>
            <a:ext cx="1285875" cy="27813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650">
                <a:solidFill>
                  <a:srgbClr val="339933"/>
                </a:solidFill>
                <a:latin typeface="Arial MT"/>
                <a:cs typeface="Arial MT"/>
              </a:rPr>
              <a:t>Pay</a:t>
            </a:r>
            <a:r>
              <a:rPr dirty="0" sz="1650" spc="-20">
                <a:solidFill>
                  <a:srgbClr val="339933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339933"/>
                </a:solidFill>
                <a:latin typeface="Arial MT"/>
                <a:cs typeface="Arial MT"/>
              </a:rPr>
              <a:t>for</a:t>
            </a:r>
            <a:r>
              <a:rPr dirty="0" sz="1650" spc="-25">
                <a:solidFill>
                  <a:srgbClr val="339933"/>
                </a:solidFill>
                <a:latin typeface="Arial MT"/>
                <a:cs typeface="Arial MT"/>
              </a:rPr>
              <a:t> </a:t>
            </a:r>
            <a:r>
              <a:rPr dirty="0" sz="1650" spc="-20">
                <a:solidFill>
                  <a:srgbClr val="339933"/>
                </a:solidFill>
                <a:latin typeface="Arial MT"/>
                <a:cs typeface="Arial MT"/>
              </a:rPr>
              <a:t>Labor</a:t>
            </a:r>
            <a:endParaRPr sz="1650">
              <a:latin typeface="Arial MT"/>
              <a:cs typeface="Arial MT"/>
            </a:endParaRPr>
          </a:p>
        </p:txBody>
      </p:sp>
      <p:sp>
        <p:nvSpPr>
          <p:cNvPr id="22" name="object 22" descr=""/>
          <p:cNvSpPr txBox="1"/>
          <p:nvPr/>
        </p:nvSpPr>
        <p:spPr>
          <a:xfrm>
            <a:off x="6035039" y="4578096"/>
            <a:ext cx="754380" cy="754380"/>
          </a:xfrm>
          <a:prstGeom prst="rect">
            <a:avLst/>
          </a:prstGeom>
          <a:ln w="15240">
            <a:solidFill>
              <a:srgbClr val="000000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ct val="100000"/>
              </a:lnSpc>
            </a:pPr>
            <a:endParaRPr sz="1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1000">
              <a:latin typeface="Times New Roman"/>
              <a:cs typeface="Times New Roman"/>
            </a:endParaRPr>
          </a:p>
          <a:p>
            <a:pPr marL="156845">
              <a:lnSpc>
                <a:spcPct val="100000"/>
              </a:lnSpc>
              <a:spcBef>
                <a:spcPts val="5"/>
              </a:spcBef>
            </a:pPr>
            <a:r>
              <a:rPr dirty="0" sz="1000" spc="-10">
                <a:latin typeface="Microsoft Sans Serif"/>
                <a:cs typeface="Microsoft Sans Serif"/>
              </a:rPr>
              <a:t>VENDOR</a:t>
            </a:r>
            <a:endParaRPr sz="1000">
              <a:latin typeface="Microsoft Sans Serif"/>
              <a:cs typeface="Microsoft Sans Serif"/>
            </a:endParaRPr>
          </a:p>
        </p:txBody>
      </p:sp>
      <p:sp>
        <p:nvSpPr>
          <p:cNvPr id="23" name="object 23" descr=""/>
          <p:cNvSpPr/>
          <p:nvPr/>
        </p:nvSpPr>
        <p:spPr>
          <a:xfrm>
            <a:off x="6172187" y="3832859"/>
            <a:ext cx="292735" cy="737870"/>
          </a:xfrm>
          <a:custGeom>
            <a:avLst/>
            <a:gdLst/>
            <a:ahLst/>
            <a:cxnLst/>
            <a:rect l="l" t="t" r="r" b="b"/>
            <a:pathLst>
              <a:path w="292735" h="737870">
                <a:moveTo>
                  <a:pt x="105156" y="633984"/>
                </a:moveTo>
                <a:lnTo>
                  <a:pt x="59436" y="650976"/>
                </a:lnTo>
                <a:lnTo>
                  <a:pt x="59436" y="0"/>
                </a:lnTo>
                <a:lnTo>
                  <a:pt x="45720" y="0"/>
                </a:lnTo>
                <a:lnTo>
                  <a:pt x="45720" y="651471"/>
                </a:lnTo>
                <a:lnTo>
                  <a:pt x="0" y="633984"/>
                </a:lnTo>
                <a:lnTo>
                  <a:pt x="51816" y="675132"/>
                </a:lnTo>
                <a:lnTo>
                  <a:pt x="79476" y="653796"/>
                </a:lnTo>
                <a:lnTo>
                  <a:pt x="105156" y="633984"/>
                </a:lnTo>
                <a:close/>
              </a:path>
              <a:path w="292735" h="737870">
                <a:moveTo>
                  <a:pt x="292608" y="103644"/>
                </a:moveTo>
                <a:lnTo>
                  <a:pt x="267665" y="83832"/>
                </a:lnTo>
                <a:lnTo>
                  <a:pt x="240792" y="62496"/>
                </a:lnTo>
                <a:lnTo>
                  <a:pt x="188976" y="103644"/>
                </a:lnTo>
                <a:lnTo>
                  <a:pt x="234696" y="86156"/>
                </a:lnTo>
                <a:lnTo>
                  <a:pt x="234696" y="737628"/>
                </a:lnTo>
                <a:lnTo>
                  <a:pt x="246888" y="737628"/>
                </a:lnTo>
                <a:lnTo>
                  <a:pt x="246888" y="86156"/>
                </a:lnTo>
                <a:lnTo>
                  <a:pt x="292608" y="10364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object 24" descr=""/>
          <p:cNvSpPr txBox="1"/>
          <p:nvPr/>
        </p:nvSpPr>
        <p:spPr>
          <a:xfrm>
            <a:off x="6627326" y="4271264"/>
            <a:ext cx="874394" cy="2012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50" spc="-114">
                <a:latin typeface="Microsoft Sans Serif"/>
                <a:cs typeface="Microsoft Sans Serif"/>
              </a:rPr>
              <a:t>Purchase</a:t>
            </a:r>
            <a:r>
              <a:rPr dirty="0" sz="1150" spc="-10">
                <a:latin typeface="Microsoft Sans Serif"/>
                <a:cs typeface="Microsoft Sans Serif"/>
              </a:rPr>
              <a:t> </a:t>
            </a:r>
            <a:r>
              <a:rPr dirty="0" sz="1150" spc="-95">
                <a:latin typeface="Microsoft Sans Serif"/>
                <a:cs typeface="Microsoft Sans Serif"/>
              </a:rPr>
              <a:t>Order</a:t>
            </a:r>
            <a:endParaRPr sz="1150">
              <a:latin typeface="Microsoft Sans Serif"/>
              <a:cs typeface="Microsoft Sans Serif"/>
            </a:endParaRPr>
          </a:p>
        </p:txBody>
      </p:sp>
      <p:sp>
        <p:nvSpPr>
          <p:cNvPr id="25" name="object 25" descr=""/>
          <p:cNvSpPr txBox="1"/>
          <p:nvPr/>
        </p:nvSpPr>
        <p:spPr>
          <a:xfrm>
            <a:off x="6736095" y="3370579"/>
            <a:ext cx="1760855" cy="2012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sz="1150" spc="-105">
                <a:latin typeface="Microsoft Sans Serif"/>
                <a:cs typeface="Microsoft Sans Serif"/>
              </a:rPr>
              <a:t>Production</a:t>
            </a:r>
            <a:r>
              <a:rPr dirty="0" sz="1150" spc="-10">
                <a:latin typeface="Microsoft Sans Serif"/>
                <a:cs typeface="Microsoft Sans Serif"/>
              </a:rPr>
              <a:t> </a:t>
            </a:r>
            <a:r>
              <a:rPr dirty="0" sz="1150" spc="-100">
                <a:latin typeface="Microsoft Sans Serif"/>
                <a:cs typeface="Microsoft Sans Serif"/>
              </a:rPr>
              <a:t>Schedule</a:t>
            </a:r>
            <a:r>
              <a:rPr dirty="0" baseline="-13888" sz="1500" spc="-150">
                <a:latin typeface="Microsoft Sans Serif"/>
                <a:cs typeface="Microsoft Sans Serif"/>
              </a:rPr>
              <a:t>EMPLOYEE</a:t>
            </a:r>
            <a:endParaRPr baseline="-13888" sz="1500">
              <a:latin typeface="Microsoft Sans Serif"/>
              <a:cs typeface="Microsoft Sans Serif"/>
            </a:endParaRPr>
          </a:p>
        </p:txBody>
      </p:sp>
      <p:sp>
        <p:nvSpPr>
          <p:cNvPr id="26" name="object 26" descr=""/>
          <p:cNvSpPr/>
          <p:nvPr/>
        </p:nvSpPr>
        <p:spPr>
          <a:xfrm>
            <a:off x="6548628" y="3342131"/>
            <a:ext cx="1231900" cy="1158875"/>
          </a:xfrm>
          <a:custGeom>
            <a:avLst/>
            <a:gdLst/>
            <a:ahLst/>
            <a:cxnLst/>
            <a:rect l="l" t="t" r="r" b="b"/>
            <a:pathLst>
              <a:path w="1231900" h="1158875">
                <a:moveTo>
                  <a:pt x="105156" y="1115580"/>
                </a:moveTo>
                <a:lnTo>
                  <a:pt x="59436" y="1134402"/>
                </a:lnTo>
                <a:lnTo>
                  <a:pt x="59436" y="481596"/>
                </a:lnTo>
                <a:lnTo>
                  <a:pt x="45720" y="481596"/>
                </a:lnTo>
                <a:lnTo>
                  <a:pt x="45720" y="1133868"/>
                </a:lnTo>
                <a:lnTo>
                  <a:pt x="0" y="1115580"/>
                </a:lnTo>
                <a:lnTo>
                  <a:pt x="53340" y="1158252"/>
                </a:lnTo>
                <a:lnTo>
                  <a:pt x="79248" y="1136916"/>
                </a:lnTo>
                <a:lnTo>
                  <a:pt x="105156" y="1115580"/>
                </a:lnTo>
                <a:close/>
              </a:path>
              <a:path w="1231900" h="1158875">
                <a:moveTo>
                  <a:pt x="1231379" y="45720"/>
                </a:moveTo>
                <a:lnTo>
                  <a:pt x="265163" y="45720"/>
                </a:lnTo>
                <a:lnTo>
                  <a:pt x="283451" y="0"/>
                </a:lnTo>
                <a:lnTo>
                  <a:pt x="240779" y="53340"/>
                </a:lnTo>
                <a:lnTo>
                  <a:pt x="283451" y="105156"/>
                </a:lnTo>
                <a:lnTo>
                  <a:pt x="264629" y="59436"/>
                </a:lnTo>
                <a:lnTo>
                  <a:pt x="1231379" y="59436"/>
                </a:lnTo>
                <a:lnTo>
                  <a:pt x="1231379" y="4572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" name="object 27" descr=""/>
          <p:cNvSpPr txBox="1"/>
          <p:nvPr/>
        </p:nvSpPr>
        <p:spPr>
          <a:xfrm>
            <a:off x="5501114" y="3943837"/>
            <a:ext cx="915035" cy="4038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208915" marR="5080" indent="-196850">
              <a:lnSpc>
                <a:spcPct val="107900"/>
              </a:lnSpc>
              <a:spcBef>
                <a:spcPts val="95"/>
              </a:spcBef>
            </a:pPr>
            <a:r>
              <a:rPr dirty="0" sz="1150" spc="-114">
                <a:latin typeface="Microsoft Sans Serif"/>
                <a:cs typeface="Microsoft Sans Serif"/>
              </a:rPr>
              <a:t>Received</a:t>
            </a:r>
            <a:r>
              <a:rPr dirty="0" sz="1150" spc="-5">
                <a:latin typeface="Microsoft Sans Serif"/>
                <a:cs typeface="Microsoft Sans Serif"/>
              </a:rPr>
              <a:t> </a:t>
            </a:r>
            <a:r>
              <a:rPr dirty="0" sz="1150" spc="-125">
                <a:latin typeface="Microsoft Sans Serif"/>
                <a:cs typeface="Microsoft Sans Serif"/>
              </a:rPr>
              <a:t>Goods</a:t>
            </a:r>
            <a:r>
              <a:rPr dirty="0" sz="1150" spc="-10">
                <a:latin typeface="Microsoft Sans Serif"/>
                <a:cs typeface="Microsoft Sans Serif"/>
              </a:rPr>
              <a:t> Payment</a:t>
            </a:r>
            <a:endParaRPr sz="1150">
              <a:latin typeface="Microsoft Sans Serif"/>
              <a:cs typeface="Microsoft Sans Serif"/>
            </a:endParaRPr>
          </a:p>
        </p:txBody>
      </p:sp>
      <p:sp>
        <p:nvSpPr>
          <p:cNvPr id="28" name="object 28" descr=""/>
          <p:cNvSpPr txBox="1"/>
          <p:nvPr/>
        </p:nvSpPr>
        <p:spPr>
          <a:xfrm>
            <a:off x="6951965" y="3472992"/>
            <a:ext cx="735965" cy="528320"/>
          </a:xfrm>
          <a:prstGeom prst="rect">
            <a:avLst/>
          </a:prstGeom>
        </p:spPr>
        <p:txBody>
          <a:bodyPr wrap="square" lIns="0" tIns="88900" rIns="0" bIns="0" rtlCol="0" vert="horz">
            <a:spAutoFit/>
          </a:bodyPr>
          <a:lstStyle/>
          <a:p>
            <a:pPr marL="201295">
              <a:lnSpc>
                <a:spcPct val="100000"/>
              </a:lnSpc>
              <a:spcBef>
                <a:spcPts val="700"/>
              </a:spcBef>
            </a:pPr>
            <a:r>
              <a:rPr dirty="0" sz="1150" spc="-25">
                <a:latin typeface="Microsoft Sans Serif"/>
                <a:cs typeface="Microsoft Sans Serif"/>
              </a:rPr>
              <a:t>Pay</a:t>
            </a:r>
            <a:endParaRPr sz="115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dirty="0" sz="1150" spc="-135">
                <a:latin typeface="Microsoft Sans Serif"/>
                <a:cs typeface="Microsoft Sans Serif"/>
              </a:rPr>
              <a:t>Time</a:t>
            </a:r>
            <a:r>
              <a:rPr dirty="0" sz="1150">
                <a:latin typeface="Microsoft Sans Serif"/>
                <a:cs typeface="Microsoft Sans Serif"/>
              </a:rPr>
              <a:t> </a:t>
            </a:r>
            <a:r>
              <a:rPr dirty="0" sz="1150" spc="-114">
                <a:latin typeface="Microsoft Sans Serif"/>
                <a:cs typeface="Microsoft Sans Serif"/>
              </a:rPr>
              <a:t>Worked</a:t>
            </a:r>
            <a:endParaRPr sz="1150">
              <a:latin typeface="Microsoft Sans Serif"/>
              <a:cs typeface="Microsoft Sans Serif"/>
            </a:endParaRPr>
          </a:p>
        </p:txBody>
      </p:sp>
      <p:sp>
        <p:nvSpPr>
          <p:cNvPr id="29" name="object 29" descr=""/>
          <p:cNvSpPr/>
          <p:nvPr/>
        </p:nvSpPr>
        <p:spPr>
          <a:xfrm>
            <a:off x="6726923" y="3217163"/>
            <a:ext cx="1045844" cy="660400"/>
          </a:xfrm>
          <a:custGeom>
            <a:avLst/>
            <a:gdLst/>
            <a:ahLst/>
            <a:cxnLst/>
            <a:rect l="l" t="t" r="r" b="b"/>
            <a:pathLst>
              <a:path w="1045845" h="660400">
                <a:moveTo>
                  <a:pt x="990600" y="51816"/>
                </a:moveTo>
                <a:lnTo>
                  <a:pt x="985583" y="45720"/>
                </a:lnTo>
                <a:lnTo>
                  <a:pt x="947928" y="0"/>
                </a:lnTo>
                <a:lnTo>
                  <a:pt x="966749" y="45720"/>
                </a:lnTo>
                <a:lnTo>
                  <a:pt x="0" y="45720"/>
                </a:lnTo>
                <a:lnTo>
                  <a:pt x="0" y="57912"/>
                </a:lnTo>
                <a:lnTo>
                  <a:pt x="966749" y="57912"/>
                </a:lnTo>
                <a:lnTo>
                  <a:pt x="947928" y="103632"/>
                </a:lnTo>
                <a:lnTo>
                  <a:pt x="985583" y="57912"/>
                </a:lnTo>
                <a:lnTo>
                  <a:pt x="990600" y="51816"/>
                </a:lnTo>
                <a:close/>
              </a:path>
              <a:path w="1045845" h="660400">
                <a:moveTo>
                  <a:pt x="1045464" y="600456"/>
                </a:moveTo>
                <a:lnTo>
                  <a:pt x="78714" y="600456"/>
                </a:lnTo>
                <a:lnTo>
                  <a:pt x="97536" y="554736"/>
                </a:lnTo>
                <a:lnTo>
                  <a:pt x="54864" y="606552"/>
                </a:lnTo>
                <a:lnTo>
                  <a:pt x="97536" y="659892"/>
                </a:lnTo>
                <a:lnTo>
                  <a:pt x="79248" y="614172"/>
                </a:lnTo>
                <a:lnTo>
                  <a:pt x="1045464" y="614172"/>
                </a:lnTo>
                <a:lnTo>
                  <a:pt x="1045464" y="60045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0" name="object 30" descr=""/>
          <p:cNvSpPr txBox="1"/>
          <p:nvPr/>
        </p:nvSpPr>
        <p:spPr>
          <a:xfrm>
            <a:off x="6845300" y="3087116"/>
            <a:ext cx="825500" cy="2012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50" spc="-110">
                <a:latin typeface="Microsoft Sans Serif"/>
                <a:cs typeface="Microsoft Sans Serif"/>
              </a:rPr>
              <a:t>Sales</a:t>
            </a:r>
            <a:r>
              <a:rPr dirty="0" sz="1150" spc="-40">
                <a:latin typeface="Microsoft Sans Serif"/>
                <a:cs typeface="Microsoft Sans Serif"/>
              </a:rPr>
              <a:t> </a:t>
            </a:r>
            <a:r>
              <a:rPr dirty="0" sz="1150" spc="-95">
                <a:latin typeface="Microsoft Sans Serif"/>
                <a:cs typeface="Microsoft Sans Serif"/>
              </a:rPr>
              <a:t>Forecast</a:t>
            </a:r>
            <a:endParaRPr sz="1150">
              <a:latin typeface="Microsoft Sans Serif"/>
              <a:cs typeface="Microsoft Sans Serif"/>
            </a:endParaRPr>
          </a:p>
        </p:txBody>
      </p:sp>
      <p:sp>
        <p:nvSpPr>
          <p:cNvPr id="31" name="object 31" descr=""/>
          <p:cNvSpPr txBox="1"/>
          <p:nvPr/>
        </p:nvSpPr>
        <p:spPr>
          <a:xfrm>
            <a:off x="4150831" y="1832875"/>
            <a:ext cx="3128010" cy="5295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90525" marR="5080" indent="-378460">
              <a:lnSpc>
                <a:spcPct val="100000"/>
              </a:lnSpc>
              <a:spcBef>
                <a:spcPts val="105"/>
              </a:spcBef>
              <a:tabLst>
                <a:tab pos="391160" algn="l"/>
              </a:tabLst>
            </a:pPr>
            <a:r>
              <a:rPr dirty="0" sz="1650" spc="-25">
                <a:latin typeface="Arial MT"/>
                <a:cs typeface="Arial MT"/>
              </a:rPr>
              <a:t>2.</a:t>
            </a:r>
            <a:r>
              <a:rPr dirty="0" sz="1650">
                <a:latin typeface="Arial MT"/>
                <a:cs typeface="Arial MT"/>
              </a:rPr>
              <a:t>	Construct</a:t>
            </a:r>
            <a:r>
              <a:rPr dirty="0" sz="1650" spc="-65">
                <a:latin typeface="Arial MT"/>
                <a:cs typeface="Arial MT"/>
              </a:rPr>
              <a:t> </a:t>
            </a:r>
            <a:r>
              <a:rPr dirty="0" sz="1650">
                <a:latin typeface="Arial MT"/>
                <a:cs typeface="Arial MT"/>
              </a:rPr>
              <a:t>Context</a:t>
            </a:r>
            <a:r>
              <a:rPr dirty="0" sz="1650" spc="-40">
                <a:latin typeface="Arial MT"/>
                <a:cs typeface="Arial MT"/>
              </a:rPr>
              <a:t> </a:t>
            </a:r>
            <a:r>
              <a:rPr dirty="0" sz="1650">
                <a:latin typeface="Arial MT"/>
                <a:cs typeface="Arial MT"/>
              </a:rPr>
              <a:t>Level</a:t>
            </a:r>
            <a:r>
              <a:rPr dirty="0" sz="1650" spc="-30">
                <a:latin typeface="Arial MT"/>
                <a:cs typeface="Arial MT"/>
              </a:rPr>
              <a:t> </a:t>
            </a:r>
            <a:r>
              <a:rPr dirty="0" sz="1650" spc="-25">
                <a:latin typeface="Arial MT"/>
                <a:cs typeface="Arial MT"/>
              </a:rPr>
              <a:t>DFD </a:t>
            </a:r>
            <a:r>
              <a:rPr dirty="0" sz="1650">
                <a:latin typeface="Arial MT"/>
                <a:cs typeface="Arial MT"/>
              </a:rPr>
              <a:t>(identifies</a:t>
            </a:r>
            <a:r>
              <a:rPr dirty="0" sz="1650" spc="-50">
                <a:latin typeface="Arial MT"/>
                <a:cs typeface="Arial MT"/>
              </a:rPr>
              <a:t> </a:t>
            </a:r>
            <a:r>
              <a:rPr dirty="0" sz="1650">
                <a:latin typeface="Arial MT"/>
                <a:cs typeface="Arial MT"/>
              </a:rPr>
              <a:t>sources</a:t>
            </a:r>
            <a:r>
              <a:rPr dirty="0" sz="1650" spc="-35">
                <a:latin typeface="Arial MT"/>
                <a:cs typeface="Arial MT"/>
              </a:rPr>
              <a:t> </a:t>
            </a:r>
            <a:r>
              <a:rPr dirty="0" sz="1650">
                <a:latin typeface="Arial MT"/>
                <a:cs typeface="Arial MT"/>
              </a:rPr>
              <a:t>and</a:t>
            </a:r>
            <a:r>
              <a:rPr dirty="0" sz="1650" spc="-25">
                <a:latin typeface="Arial MT"/>
                <a:cs typeface="Arial MT"/>
              </a:rPr>
              <a:t> </a:t>
            </a:r>
            <a:r>
              <a:rPr dirty="0" sz="1650" spc="-20">
                <a:latin typeface="Arial MT"/>
                <a:cs typeface="Arial MT"/>
              </a:rPr>
              <a:t>sink)</a:t>
            </a:r>
            <a:endParaRPr sz="1650">
              <a:latin typeface="Arial MT"/>
              <a:cs typeface="Arial MT"/>
            </a:endParaRPr>
          </a:p>
        </p:txBody>
      </p:sp>
      <p:sp>
        <p:nvSpPr>
          <p:cNvPr id="32" name="object 32" descr=""/>
          <p:cNvSpPr/>
          <p:nvPr/>
        </p:nvSpPr>
        <p:spPr>
          <a:xfrm>
            <a:off x="4974335" y="3457955"/>
            <a:ext cx="1053465" cy="105410"/>
          </a:xfrm>
          <a:custGeom>
            <a:avLst/>
            <a:gdLst/>
            <a:ahLst/>
            <a:cxnLst/>
            <a:rect l="l" t="t" r="r" b="b"/>
            <a:pathLst>
              <a:path w="1053464" h="105410">
                <a:moveTo>
                  <a:pt x="42671" y="105156"/>
                </a:moveTo>
                <a:lnTo>
                  <a:pt x="0" y="51816"/>
                </a:lnTo>
                <a:lnTo>
                  <a:pt x="42671" y="0"/>
                </a:lnTo>
                <a:lnTo>
                  <a:pt x="23846" y="45720"/>
                </a:lnTo>
                <a:lnTo>
                  <a:pt x="21335" y="45720"/>
                </a:lnTo>
                <a:lnTo>
                  <a:pt x="21335" y="59436"/>
                </a:lnTo>
                <a:lnTo>
                  <a:pt x="24383" y="59436"/>
                </a:lnTo>
                <a:lnTo>
                  <a:pt x="42671" y="105156"/>
                </a:lnTo>
                <a:close/>
              </a:path>
              <a:path w="1053464" h="105410">
                <a:moveTo>
                  <a:pt x="21335" y="51816"/>
                </a:moveTo>
                <a:lnTo>
                  <a:pt x="21335" y="45720"/>
                </a:lnTo>
                <a:lnTo>
                  <a:pt x="23846" y="45720"/>
                </a:lnTo>
                <a:lnTo>
                  <a:pt x="21335" y="51816"/>
                </a:lnTo>
                <a:close/>
              </a:path>
              <a:path w="1053464" h="105410">
                <a:moveTo>
                  <a:pt x="1053084" y="59436"/>
                </a:moveTo>
                <a:lnTo>
                  <a:pt x="24383" y="59436"/>
                </a:lnTo>
                <a:lnTo>
                  <a:pt x="21335" y="51816"/>
                </a:lnTo>
                <a:lnTo>
                  <a:pt x="23846" y="45720"/>
                </a:lnTo>
                <a:lnTo>
                  <a:pt x="1053084" y="45720"/>
                </a:lnTo>
                <a:lnTo>
                  <a:pt x="1053084" y="59436"/>
                </a:lnTo>
                <a:close/>
              </a:path>
              <a:path w="1053464" h="105410">
                <a:moveTo>
                  <a:pt x="24383" y="59436"/>
                </a:moveTo>
                <a:lnTo>
                  <a:pt x="21335" y="59436"/>
                </a:lnTo>
                <a:lnTo>
                  <a:pt x="21335" y="51816"/>
                </a:lnTo>
                <a:lnTo>
                  <a:pt x="24383" y="5943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3" name="object 33" descr=""/>
          <p:cNvSpPr txBox="1"/>
          <p:nvPr/>
        </p:nvSpPr>
        <p:spPr>
          <a:xfrm>
            <a:off x="5069854" y="3472992"/>
            <a:ext cx="855980" cy="4648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89230" marR="5080" indent="-177165">
              <a:lnSpc>
                <a:spcPct val="125200"/>
              </a:lnSpc>
              <a:spcBef>
                <a:spcPts val="100"/>
              </a:spcBef>
            </a:pPr>
            <a:r>
              <a:rPr dirty="0" sz="1150" spc="-114">
                <a:latin typeface="Microsoft Sans Serif"/>
                <a:cs typeface="Microsoft Sans Serif"/>
              </a:rPr>
              <a:t>Product</a:t>
            </a:r>
            <a:r>
              <a:rPr dirty="0" sz="1150" spc="30">
                <a:latin typeface="Microsoft Sans Serif"/>
                <a:cs typeface="Microsoft Sans Serif"/>
              </a:rPr>
              <a:t> </a:t>
            </a:r>
            <a:r>
              <a:rPr dirty="0" sz="1150" spc="-110">
                <a:latin typeface="Microsoft Sans Serif"/>
                <a:cs typeface="Microsoft Sans Serif"/>
              </a:rPr>
              <a:t>Served</a:t>
            </a:r>
            <a:r>
              <a:rPr dirty="0" sz="1150" spc="-10">
                <a:latin typeface="Microsoft Sans Serif"/>
                <a:cs typeface="Microsoft Sans Serif"/>
              </a:rPr>
              <a:t> Payment</a:t>
            </a:r>
            <a:endParaRPr sz="115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7145">
              <a:lnSpc>
                <a:spcPct val="100000"/>
              </a:lnSpc>
              <a:spcBef>
                <a:spcPts val="125"/>
              </a:spcBef>
            </a:pPr>
            <a:r>
              <a:rPr dirty="0"/>
              <a:t>Creating</a:t>
            </a:r>
            <a:r>
              <a:rPr dirty="0" spc="20"/>
              <a:t> </a:t>
            </a:r>
            <a:r>
              <a:rPr dirty="0"/>
              <a:t>Data</a:t>
            </a:r>
            <a:r>
              <a:rPr dirty="0" spc="50"/>
              <a:t> </a:t>
            </a:r>
            <a:r>
              <a:rPr dirty="0"/>
              <a:t>Flow</a:t>
            </a:r>
            <a:r>
              <a:rPr dirty="0" spc="30"/>
              <a:t> </a:t>
            </a:r>
            <a:r>
              <a:rPr dirty="0" spc="-10"/>
              <a:t>Diagrams</a:t>
            </a:r>
          </a:p>
        </p:txBody>
      </p:sp>
      <p:grpSp>
        <p:nvGrpSpPr>
          <p:cNvPr id="3" name="object 3" descr=""/>
          <p:cNvGrpSpPr/>
          <p:nvPr/>
        </p:nvGrpSpPr>
        <p:grpSpPr>
          <a:xfrm>
            <a:off x="4020311" y="2063495"/>
            <a:ext cx="7620" cy="4464050"/>
            <a:chOff x="4020311" y="2063495"/>
            <a:chExt cx="7620" cy="4464050"/>
          </a:xfrm>
        </p:grpSpPr>
        <p:sp>
          <p:nvSpPr>
            <p:cNvPr id="4" name="object 4" descr=""/>
            <p:cNvSpPr/>
            <p:nvPr/>
          </p:nvSpPr>
          <p:spPr>
            <a:xfrm>
              <a:off x="4024121" y="4901184"/>
              <a:ext cx="0" cy="1626235"/>
            </a:xfrm>
            <a:custGeom>
              <a:avLst/>
              <a:gdLst/>
              <a:ahLst/>
              <a:cxnLst/>
              <a:rect l="l" t="t" r="r" b="b"/>
              <a:pathLst>
                <a:path w="0" h="1626234">
                  <a:moveTo>
                    <a:pt x="0" y="0"/>
                  </a:moveTo>
                  <a:lnTo>
                    <a:pt x="0" y="1626108"/>
                  </a:lnTo>
                </a:path>
              </a:pathLst>
            </a:custGeom>
            <a:ln w="7620">
              <a:solidFill>
                <a:srgbClr val="954F72"/>
              </a:solidFill>
              <a:prstDash val="sys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4020311" y="4351020"/>
              <a:ext cx="7620" cy="525780"/>
            </a:xfrm>
            <a:custGeom>
              <a:avLst/>
              <a:gdLst/>
              <a:ahLst/>
              <a:cxnLst/>
              <a:rect l="l" t="t" r="r" b="b"/>
              <a:pathLst>
                <a:path w="7620" h="525779">
                  <a:moveTo>
                    <a:pt x="7620" y="525780"/>
                  </a:moveTo>
                  <a:lnTo>
                    <a:pt x="0" y="525780"/>
                  </a:lnTo>
                  <a:lnTo>
                    <a:pt x="0" y="495300"/>
                  </a:lnTo>
                  <a:lnTo>
                    <a:pt x="7620" y="495300"/>
                  </a:lnTo>
                  <a:lnTo>
                    <a:pt x="7620" y="525780"/>
                  </a:lnTo>
                  <a:close/>
                </a:path>
                <a:path w="7620" h="525779">
                  <a:moveTo>
                    <a:pt x="7620" y="470916"/>
                  </a:moveTo>
                  <a:lnTo>
                    <a:pt x="0" y="470916"/>
                  </a:lnTo>
                  <a:lnTo>
                    <a:pt x="0" y="440436"/>
                  </a:lnTo>
                  <a:lnTo>
                    <a:pt x="7620" y="440436"/>
                  </a:lnTo>
                  <a:lnTo>
                    <a:pt x="7620" y="470916"/>
                  </a:lnTo>
                  <a:close/>
                </a:path>
                <a:path w="7620" h="525779">
                  <a:moveTo>
                    <a:pt x="7620" y="416052"/>
                  </a:moveTo>
                  <a:lnTo>
                    <a:pt x="0" y="416052"/>
                  </a:lnTo>
                  <a:lnTo>
                    <a:pt x="0" y="385572"/>
                  </a:lnTo>
                  <a:lnTo>
                    <a:pt x="7620" y="385572"/>
                  </a:lnTo>
                  <a:lnTo>
                    <a:pt x="7620" y="416052"/>
                  </a:lnTo>
                  <a:close/>
                </a:path>
                <a:path w="7620" h="525779">
                  <a:moveTo>
                    <a:pt x="7620" y="361188"/>
                  </a:moveTo>
                  <a:lnTo>
                    <a:pt x="0" y="361188"/>
                  </a:lnTo>
                  <a:lnTo>
                    <a:pt x="0" y="329184"/>
                  </a:lnTo>
                  <a:lnTo>
                    <a:pt x="7620" y="330708"/>
                  </a:lnTo>
                  <a:lnTo>
                    <a:pt x="7620" y="361188"/>
                  </a:lnTo>
                  <a:close/>
                </a:path>
                <a:path w="7620" h="525779">
                  <a:moveTo>
                    <a:pt x="7620" y="306324"/>
                  </a:moveTo>
                  <a:lnTo>
                    <a:pt x="0" y="306324"/>
                  </a:lnTo>
                  <a:lnTo>
                    <a:pt x="0" y="274320"/>
                  </a:lnTo>
                  <a:lnTo>
                    <a:pt x="7620" y="274320"/>
                  </a:lnTo>
                  <a:lnTo>
                    <a:pt x="7620" y="306324"/>
                  </a:lnTo>
                  <a:close/>
                </a:path>
                <a:path w="7620" h="525779">
                  <a:moveTo>
                    <a:pt x="7620" y="251460"/>
                  </a:moveTo>
                  <a:lnTo>
                    <a:pt x="0" y="251460"/>
                  </a:lnTo>
                  <a:lnTo>
                    <a:pt x="0" y="219456"/>
                  </a:lnTo>
                  <a:lnTo>
                    <a:pt x="7620" y="219456"/>
                  </a:lnTo>
                  <a:lnTo>
                    <a:pt x="7620" y="251460"/>
                  </a:lnTo>
                  <a:close/>
                </a:path>
                <a:path w="7620" h="525779">
                  <a:moveTo>
                    <a:pt x="7620" y="196596"/>
                  </a:moveTo>
                  <a:lnTo>
                    <a:pt x="0" y="196596"/>
                  </a:lnTo>
                  <a:lnTo>
                    <a:pt x="0" y="164592"/>
                  </a:lnTo>
                  <a:lnTo>
                    <a:pt x="7620" y="164592"/>
                  </a:lnTo>
                  <a:lnTo>
                    <a:pt x="7620" y="196596"/>
                  </a:lnTo>
                  <a:close/>
                </a:path>
                <a:path w="7620" h="525779">
                  <a:moveTo>
                    <a:pt x="7620" y="141732"/>
                  </a:moveTo>
                  <a:lnTo>
                    <a:pt x="0" y="141732"/>
                  </a:lnTo>
                  <a:lnTo>
                    <a:pt x="0" y="109728"/>
                  </a:lnTo>
                  <a:lnTo>
                    <a:pt x="7620" y="109728"/>
                  </a:lnTo>
                  <a:lnTo>
                    <a:pt x="7620" y="141732"/>
                  </a:lnTo>
                  <a:close/>
                </a:path>
                <a:path w="7620" h="525779">
                  <a:moveTo>
                    <a:pt x="7620" y="86867"/>
                  </a:moveTo>
                  <a:lnTo>
                    <a:pt x="0" y="86867"/>
                  </a:lnTo>
                  <a:lnTo>
                    <a:pt x="0" y="54864"/>
                  </a:lnTo>
                  <a:lnTo>
                    <a:pt x="7620" y="54864"/>
                  </a:lnTo>
                  <a:lnTo>
                    <a:pt x="7620" y="86867"/>
                  </a:lnTo>
                  <a:close/>
                </a:path>
                <a:path w="7620" h="525779">
                  <a:moveTo>
                    <a:pt x="7620" y="32004"/>
                  </a:moveTo>
                  <a:lnTo>
                    <a:pt x="0" y="32004"/>
                  </a:lnTo>
                  <a:lnTo>
                    <a:pt x="0" y="0"/>
                  </a:lnTo>
                  <a:lnTo>
                    <a:pt x="7620" y="0"/>
                  </a:lnTo>
                  <a:lnTo>
                    <a:pt x="7620" y="32004"/>
                  </a:lnTo>
                  <a:close/>
                </a:path>
              </a:pathLst>
            </a:custGeom>
            <a:solidFill>
              <a:srgbClr val="954F7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4024121" y="2095499"/>
              <a:ext cx="0" cy="2231390"/>
            </a:xfrm>
            <a:custGeom>
              <a:avLst/>
              <a:gdLst/>
              <a:ahLst/>
              <a:cxnLst/>
              <a:rect l="l" t="t" r="r" b="b"/>
              <a:pathLst>
                <a:path w="0" h="2231390">
                  <a:moveTo>
                    <a:pt x="0" y="0"/>
                  </a:moveTo>
                  <a:lnTo>
                    <a:pt x="0" y="2231135"/>
                  </a:lnTo>
                </a:path>
              </a:pathLst>
            </a:custGeom>
            <a:ln w="7620">
              <a:solidFill>
                <a:srgbClr val="954F72"/>
              </a:solidFill>
              <a:prstDash val="sys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4020311" y="2063495"/>
              <a:ext cx="7620" cy="9525"/>
            </a:xfrm>
            <a:custGeom>
              <a:avLst/>
              <a:gdLst/>
              <a:ahLst/>
              <a:cxnLst/>
              <a:rect l="l" t="t" r="r" b="b"/>
              <a:pathLst>
                <a:path w="7620" h="9525">
                  <a:moveTo>
                    <a:pt x="7620" y="9144"/>
                  </a:moveTo>
                  <a:lnTo>
                    <a:pt x="0" y="9144"/>
                  </a:lnTo>
                  <a:lnTo>
                    <a:pt x="0" y="0"/>
                  </a:lnTo>
                  <a:lnTo>
                    <a:pt x="7620" y="0"/>
                  </a:lnTo>
                  <a:lnTo>
                    <a:pt x="7620" y="9144"/>
                  </a:lnTo>
                  <a:close/>
                </a:path>
              </a:pathLst>
            </a:custGeom>
            <a:solidFill>
              <a:srgbClr val="954F7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 descr=""/>
          <p:cNvSpPr txBox="1"/>
          <p:nvPr/>
        </p:nvSpPr>
        <p:spPr>
          <a:xfrm>
            <a:off x="4150831" y="1957850"/>
            <a:ext cx="4046854" cy="89154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391160" algn="l"/>
              </a:tabLst>
            </a:pPr>
            <a:r>
              <a:rPr dirty="0" sz="1650" spc="-25">
                <a:latin typeface="Arial MT"/>
                <a:cs typeface="Arial MT"/>
              </a:rPr>
              <a:t>3.</a:t>
            </a:r>
            <a:r>
              <a:rPr dirty="0" sz="1650">
                <a:latin typeface="Arial MT"/>
                <a:cs typeface="Arial MT"/>
              </a:rPr>
              <a:t>	Construct</a:t>
            </a:r>
            <a:r>
              <a:rPr dirty="0" sz="1650" spc="-50">
                <a:latin typeface="Arial MT"/>
                <a:cs typeface="Arial MT"/>
              </a:rPr>
              <a:t> </a:t>
            </a:r>
            <a:r>
              <a:rPr dirty="0" sz="1650">
                <a:latin typeface="Arial MT"/>
                <a:cs typeface="Arial MT"/>
              </a:rPr>
              <a:t>Level</a:t>
            </a:r>
            <a:r>
              <a:rPr dirty="0" sz="1650" spc="-35">
                <a:latin typeface="Arial MT"/>
                <a:cs typeface="Arial MT"/>
              </a:rPr>
              <a:t> </a:t>
            </a:r>
            <a:r>
              <a:rPr dirty="0" sz="1650">
                <a:latin typeface="Arial MT"/>
                <a:cs typeface="Arial MT"/>
              </a:rPr>
              <a:t>0</a:t>
            </a:r>
            <a:r>
              <a:rPr dirty="0" sz="1650" spc="-10">
                <a:latin typeface="Arial MT"/>
                <a:cs typeface="Arial MT"/>
              </a:rPr>
              <a:t> </a:t>
            </a:r>
            <a:r>
              <a:rPr dirty="0" sz="1650" spc="-25">
                <a:latin typeface="Arial MT"/>
                <a:cs typeface="Arial MT"/>
              </a:rPr>
              <a:t>DFD</a:t>
            </a:r>
            <a:endParaRPr sz="1650">
              <a:latin typeface="Arial MT"/>
              <a:cs typeface="Arial MT"/>
            </a:endParaRPr>
          </a:p>
          <a:p>
            <a:pPr marL="390525">
              <a:lnSpc>
                <a:spcPct val="100000"/>
              </a:lnSpc>
            </a:pPr>
            <a:r>
              <a:rPr dirty="0" sz="1650">
                <a:latin typeface="Arial MT"/>
                <a:cs typeface="Arial MT"/>
              </a:rPr>
              <a:t>(identifies</a:t>
            </a:r>
            <a:r>
              <a:rPr dirty="0" sz="1650" spc="-50">
                <a:latin typeface="Arial MT"/>
                <a:cs typeface="Arial MT"/>
              </a:rPr>
              <a:t> </a:t>
            </a:r>
            <a:r>
              <a:rPr dirty="0" sz="1650">
                <a:latin typeface="Arial MT"/>
                <a:cs typeface="Arial MT"/>
              </a:rPr>
              <a:t>manageable</a:t>
            </a:r>
            <a:r>
              <a:rPr dirty="0" sz="1650" spc="-45">
                <a:latin typeface="Arial MT"/>
                <a:cs typeface="Arial MT"/>
              </a:rPr>
              <a:t> </a:t>
            </a:r>
            <a:r>
              <a:rPr dirty="0" sz="1650">
                <a:latin typeface="Arial MT"/>
                <a:cs typeface="Arial MT"/>
              </a:rPr>
              <a:t>sub</a:t>
            </a:r>
            <a:r>
              <a:rPr dirty="0" sz="1650" spc="-10">
                <a:latin typeface="Arial MT"/>
                <a:cs typeface="Arial MT"/>
              </a:rPr>
              <a:t> </a:t>
            </a:r>
            <a:r>
              <a:rPr dirty="0" sz="1650">
                <a:latin typeface="Arial MT"/>
                <a:cs typeface="Arial MT"/>
              </a:rPr>
              <a:t>processes</a:t>
            </a:r>
            <a:r>
              <a:rPr dirty="0" sz="1650" spc="-65">
                <a:latin typeface="Arial MT"/>
                <a:cs typeface="Arial MT"/>
              </a:rPr>
              <a:t> </a:t>
            </a:r>
            <a:r>
              <a:rPr dirty="0" sz="1650" spc="-50">
                <a:latin typeface="Arial MT"/>
                <a:cs typeface="Arial MT"/>
              </a:rPr>
              <a:t>)</a:t>
            </a:r>
            <a:endParaRPr sz="1650">
              <a:latin typeface="Arial MT"/>
              <a:cs typeface="Arial MT"/>
            </a:endParaRPr>
          </a:p>
          <a:p>
            <a:pPr algn="ctr" marL="419100">
              <a:lnSpc>
                <a:spcPct val="100000"/>
              </a:lnSpc>
              <a:spcBef>
                <a:spcPts val="505"/>
              </a:spcBef>
            </a:pPr>
            <a:r>
              <a:rPr dirty="0" sz="1950">
                <a:solidFill>
                  <a:srgbClr val="ED7C31"/>
                </a:solidFill>
                <a:latin typeface="Arial MT"/>
                <a:cs typeface="Arial MT"/>
              </a:rPr>
              <a:t>Level</a:t>
            </a:r>
            <a:r>
              <a:rPr dirty="0" sz="1950" spc="15">
                <a:solidFill>
                  <a:srgbClr val="ED7C31"/>
                </a:solidFill>
                <a:latin typeface="Arial MT"/>
                <a:cs typeface="Arial MT"/>
              </a:rPr>
              <a:t> </a:t>
            </a:r>
            <a:r>
              <a:rPr dirty="0" sz="1950">
                <a:solidFill>
                  <a:srgbClr val="ED7C31"/>
                </a:solidFill>
                <a:latin typeface="Arial MT"/>
                <a:cs typeface="Arial MT"/>
              </a:rPr>
              <a:t>0</a:t>
            </a:r>
            <a:r>
              <a:rPr dirty="0" sz="1950" spc="35">
                <a:solidFill>
                  <a:srgbClr val="ED7C31"/>
                </a:solidFill>
                <a:latin typeface="Arial MT"/>
                <a:cs typeface="Arial MT"/>
              </a:rPr>
              <a:t> </a:t>
            </a:r>
            <a:r>
              <a:rPr dirty="0" sz="1950" spc="-25">
                <a:solidFill>
                  <a:srgbClr val="ED7C31"/>
                </a:solidFill>
                <a:latin typeface="Arial MT"/>
                <a:cs typeface="Arial MT"/>
              </a:rPr>
              <a:t>DFD</a:t>
            </a:r>
            <a:endParaRPr sz="1950">
              <a:latin typeface="Arial MT"/>
              <a:cs typeface="Arial MT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1509806" y="1667428"/>
            <a:ext cx="2257425" cy="1383665"/>
          </a:xfrm>
          <a:prstGeom prst="rect">
            <a:avLst/>
          </a:prstGeom>
        </p:spPr>
        <p:txBody>
          <a:bodyPr wrap="square" lIns="0" tIns="180340" rIns="0" bIns="0" rtlCol="0" vert="horz">
            <a:spAutoFit/>
          </a:bodyPr>
          <a:lstStyle/>
          <a:p>
            <a:pPr marL="641985">
              <a:lnSpc>
                <a:spcPct val="100000"/>
              </a:lnSpc>
              <a:spcBef>
                <a:spcPts val="1420"/>
              </a:spcBef>
            </a:pPr>
            <a:r>
              <a:rPr dirty="0" sz="1950" spc="-10">
                <a:solidFill>
                  <a:srgbClr val="00CC00"/>
                </a:solidFill>
                <a:latin typeface="Arial MT"/>
                <a:cs typeface="Arial MT"/>
              </a:rPr>
              <a:t>Example</a:t>
            </a:r>
            <a:endParaRPr sz="1950">
              <a:latin typeface="Arial MT"/>
              <a:cs typeface="Arial MT"/>
            </a:endParaRPr>
          </a:p>
          <a:p>
            <a:pPr marL="12700" marR="5080">
              <a:lnSpc>
                <a:spcPct val="100000"/>
              </a:lnSpc>
              <a:spcBef>
                <a:spcPts val="1090"/>
              </a:spcBef>
            </a:pPr>
            <a:r>
              <a:rPr dirty="0" sz="1650">
                <a:latin typeface="Times New Roman"/>
                <a:cs typeface="Times New Roman"/>
              </a:rPr>
              <a:t>Create</a:t>
            </a:r>
            <a:r>
              <a:rPr dirty="0" sz="1650" spc="-30">
                <a:latin typeface="Times New Roman"/>
                <a:cs typeface="Times New Roman"/>
              </a:rPr>
              <a:t> </a:t>
            </a:r>
            <a:r>
              <a:rPr dirty="0" sz="1650">
                <a:latin typeface="Times New Roman"/>
                <a:cs typeface="Times New Roman"/>
              </a:rPr>
              <a:t>a</a:t>
            </a:r>
            <a:r>
              <a:rPr dirty="0" sz="1650" spc="-30">
                <a:latin typeface="Times New Roman"/>
                <a:cs typeface="Times New Roman"/>
              </a:rPr>
              <a:t> </a:t>
            </a:r>
            <a:r>
              <a:rPr dirty="0" sz="1650">
                <a:latin typeface="Times New Roman"/>
                <a:cs typeface="Times New Roman"/>
              </a:rPr>
              <a:t>level</a:t>
            </a:r>
            <a:r>
              <a:rPr dirty="0" sz="1650" spc="-40">
                <a:latin typeface="Times New Roman"/>
                <a:cs typeface="Times New Roman"/>
              </a:rPr>
              <a:t> </a:t>
            </a:r>
            <a:r>
              <a:rPr dirty="0" sz="1650">
                <a:latin typeface="Times New Roman"/>
                <a:cs typeface="Times New Roman"/>
              </a:rPr>
              <a:t>0</a:t>
            </a:r>
            <a:r>
              <a:rPr dirty="0" sz="1650" spc="-40">
                <a:latin typeface="Times New Roman"/>
                <a:cs typeface="Times New Roman"/>
              </a:rPr>
              <a:t> </a:t>
            </a:r>
            <a:r>
              <a:rPr dirty="0" sz="1650" spc="-10">
                <a:latin typeface="Times New Roman"/>
                <a:cs typeface="Times New Roman"/>
              </a:rPr>
              <a:t>diagram </a:t>
            </a:r>
            <a:r>
              <a:rPr dirty="0" sz="1650">
                <a:latin typeface="Times New Roman"/>
                <a:cs typeface="Times New Roman"/>
              </a:rPr>
              <a:t>identifying</a:t>
            </a:r>
            <a:r>
              <a:rPr dirty="0" sz="1650" spc="-60">
                <a:latin typeface="Times New Roman"/>
                <a:cs typeface="Times New Roman"/>
              </a:rPr>
              <a:t> </a:t>
            </a:r>
            <a:r>
              <a:rPr dirty="0" sz="1650">
                <a:latin typeface="Times New Roman"/>
                <a:cs typeface="Times New Roman"/>
              </a:rPr>
              <a:t>the</a:t>
            </a:r>
            <a:r>
              <a:rPr dirty="0" sz="1650" spc="-70">
                <a:latin typeface="Times New Roman"/>
                <a:cs typeface="Times New Roman"/>
              </a:rPr>
              <a:t> </a:t>
            </a:r>
            <a:r>
              <a:rPr dirty="0" sz="1650" spc="-10">
                <a:latin typeface="Times New Roman"/>
                <a:cs typeface="Times New Roman"/>
              </a:rPr>
              <a:t>logical </a:t>
            </a:r>
            <a:r>
              <a:rPr dirty="0" sz="1650">
                <a:latin typeface="Times New Roman"/>
                <a:cs typeface="Times New Roman"/>
              </a:rPr>
              <a:t>subsystems</a:t>
            </a:r>
            <a:r>
              <a:rPr dirty="0" sz="1650" spc="-50">
                <a:latin typeface="Times New Roman"/>
                <a:cs typeface="Times New Roman"/>
              </a:rPr>
              <a:t> </a:t>
            </a:r>
            <a:r>
              <a:rPr dirty="0" sz="1650">
                <a:latin typeface="Times New Roman"/>
                <a:cs typeface="Times New Roman"/>
              </a:rPr>
              <a:t>that</a:t>
            </a:r>
            <a:r>
              <a:rPr dirty="0" sz="1650" spc="-50">
                <a:latin typeface="Times New Roman"/>
                <a:cs typeface="Times New Roman"/>
              </a:rPr>
              <a:t> </a:t>
            </a:r>
            <a:r>
              <a:rPr dirty="0" sz="1650">
                <a:latin typeface="Times New Roman"/>
                <a:cs typeface="Times New Roman"/>
              </a:rPr>
              <a:t>may</a:t>
            </a:r>
            <a:r>
              <a:rPr dirty="0" sz="1650" spc="-20">
                <a:latin typeface="Times New Roman"/>
                <a:cs typeface="Times New Roman"/>
              </a:rPr>
              <a:t> </a:t>
            </a:r>
            <a:r>
              <a:rPr dirty="0" sz="1650" spc="-10">
                <a:latin typeface="Times New Roman"/>
                <a:cs typeface="Times New Roman"/>
              </a:rPr>
              <a:t>exist.</a:t>
            </a:r>
            <a:endParaRPr sz="1650">
              <a:latin typeface="Times New Roman"/>
              <a:cs typeface="Times New Roman"/>
            </a:endParaRPr>
          </a:p>
        </p:txBody>
      </p:sp>
      <p:pic>
        <p:nvPicPr>
          <p:cNvPr id="10" name="object 10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29512" y="3430523"/>
            <a:ext cx="2083307" cy="3218688"/>
          </a:xfrm>
          <a:prstGeom prst="rect">
            <a:avLst/>
          </a:prstGeom>
        </p:spPr>
      </p:pic>
      <p:sp>
        <p:nvSpPr>
          <p:cNvPr id="11" name="object 11" descr=""/>
          <p:cNvSpPr txBox="1"/>
          <p:nvPr/>
        </p:nvSpPr>
        <p:spPr>
          <a:xfrm>
            <a:off x="1509806" y="3452836"/>
            <a:ext cx="1554480" cy="7810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dirty="0" sz="1650">
                <a:solidFill>
                  <a:srgbClr val="339933"/>
                </a:solidFill>
                <a:latin typeface="Arial MT"/>
                <a:cs typeface="Arial MT"/>
              </a:rPr>
              <a:t>Customer</a:t>
            </a:r>
            <a:r>
              <a:rPr dirty="0" sz="1650" spc="-50">
                <a:solidFill>
                  <a:srgbClr val="339933"/>
                </a:solidFill>
                <a:latin typeface="Arial MT"/>
                <a:cs typeface="Arial MT"/>
              </a:rPr>
              <a:t> </a:t>
            </a:r>
            <a:r>
              <a:rPr dirty="0" sz="1650" spc="-20">
                <a:solidFill>
                  <a:srgbClr val="339933"/>
                </a:solidFill>
                <a:latin typeface="Arial MT"/>
                <a:cs typeface="Arial MT"/>
              </a:rPr>
              <a:t>Order </a:t>
            </a:r>
            <a:r>
              <a:rPr dirty="0" sz="1650">
                <a:solidFill>
                  <a:srgbClr val="339933"/>
                </a:solidFill>
                <a:latin typeface="Arial MT"/>
                <a:cs typeface="Arial MT"/>
              </a:rPr>
              <a:t>Serve</a:t>
            </a:r>
            <a:r>
              <a:rPr dirty="0" sz="1650" spc="-25">
                <a:solidFill>
                  <a:srgbClr val="339933"/>
                </a:solidFill>
                <a:latin typeface="Arial MT"/>
                <a:cs typeface="Arial MT"/>
              </a:rPr>
              <a:t> </a:t>
            </a:r>
            <a:r>
              <a:rPr dirty="0" sz="1650" spc="-10">
                <a:solidFill>
                  <a:srgbClr val="339933"/>
                </a:solidFill>
                <a:latin typeface="Arial MT"/>
                <a:cs typeface="Arial MT"/>
              </a:rPr>
              <a:t>Product </a:t>
            </a:r>
            <a:r>
              <a:rPr dirty="0" sz="1650">
                <a:solidFill>
                  <a:srgbClr val="339933"/>
                </a:solidFill>
                <a:latin typeface="Arial MT"/>
                <a:cs typeface="Arial MT"/>
              </a:rPr>
              <a:t>Collect</a:t>
            </a:r>
            <a:r>
              <a:rPr dirty="0" sz="1650" spc="-15">
                <a:solidFill>
                  <a:srgbClr val="339933"/>
                </a:solidFill>
                <a:latin typeface="Arial MT"/>
                <a:cs typeface="Arial MT"/>
              </a:rPr>
              <a:t> </a:t>
            </a:r>
            <a:r>
              <a:rPr dirty="0" sz="1650" spc="-10">
                <a:solidFill>
                  <a:srgbClr val="339933"/>
                </a:solidFill>
                <a:latin typeface="Arial MT"/>
                <a:cs typeface="Arial MT"/>
              </a:rPr>
              <a:t>Payment</a:t>
            </a:r>
            <a:endParaRPr sz="1650">
              <a:latin typeface="Arial MT"/>
              <a:cs typeface="Arial MT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1509806" y="4458701"/>
            <a:ext cx="1590040" cy="5295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dirty="0" sz="1650">
                <a:solidFill>
                  <a:srgbClr val="339933"/>
                </a:solidFill>
                <a:latin typeface="Arial MT"/>
                <a:cs typeface="Arial MT"/>
              </a:rPr>
              <a:t>Produce</a:t>
            </a:r>
            <a:r>
              <a:rPr dirty="0" sz="1650" spc="-30">
                <a:solidFill>
                  <a:srgbClr val="339933"/>
                </a:solidFill>
                <a:latin typeface="Arial MT"/>
                <a:cs typeface="Arial MT"/>
              </a:rPr>
              <a:t> </a:t>
            </a:r>
            <a:r>
              <a:rPr dirty="0" sz="1650" spc="-10">
                <a:solidFill>
                  <a:srgbClr val="339933"/>
                </a:solidFill>
                <a:latin typeface="Arial MT"/>
                <a:cs typeface="Arial MT"/>
              </a:rPr>
              <a:t>Product </a:t>
            </a:r>
            <a:r>
              <a:rPr dirty="0" sz="1650">
                <a:solidFill>
                  <a:srgbClr val="339933"/>
                </a:solidFill>
                <a:latin typeface="Arial MT"/>
                <a:cs typeface="Arial MT"/>
              </a:rPr>
              <a:t>Store</a:t>
            </a:r>
            <a:r>
              <a:rPr dirty="0" sz="1650" spc="-40">
                <a:solidFill>
                  <a:srgbClr val="339933"/>
                </a:solidFill>
                <a:latin typeface="Arial MT"/>
                <a:cs typeface="Arial MT"/>
              </a:rPr>
              <a:t> </a:t>
            </a:r>
            <a:r>
              <a:rPr dirty="0" sz="1650" spc="-10">
                <a:solidFill>
                  <a:srgbClr val="339933"/>
                </a:solidFill>
                <a:latin typeface="Arial MT"/>
                <a:cs typeface="Arial MT"/>
              </a:rPr>
              <a:t>Product</a:t>
            </a:r>
            <a:endParaRPr sz="1650">
              <a:latin typeface="Arial MT"/>
              <a:cs typeface="Arial MT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1509806" y="5213074"/>
            <a:ext cx="2078355" cy="5295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dirty="0" sz="1650">
                <a:solidFill>
                  <a:srgbClr val="339933"/>
                </a:solidFill>
                <a:latin typeface="Arial MT"/>
                <a:cs typeface="Arial MT"/>
              </a:rPr>
              <a:t>Order</a:t>
            </a:r>
            <a:r>
              <a:rPr dirty="0" sz="1650" spc="-45">
                <a:solidFill>
                  <a:srgbClr val="339933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339933"/>
                </a:solidFill>
                <a:latin typeface="Arial MT"/>
                <a:cs typeface="Arial MT"/>
              </a:rPr>
              <a:t>Raw</a:t>
            </a:r>
            <a:r>
              <a:rPr dirty="0" sz="1650" spc="-10">
                <a:solidFill>
                  <a:srgbClr val="339933"/>
                </a:solidFill>
                <a:latin typeface="Arial MT"/>
                <a:cs typeface="Arial MT"/>
              </a:rPr>
              <a:t> Materials </a:t>
            </a:r>
            <a:r>
              <a:rPr dirty="0" sz="1650">
                <a:solidFill>
                  <a:srgbClr val="339933"/>
                </a:solidFill>
                <a:latin typeface="Arial MT"/>
                <a:cs typeface="Arial MT"/>
              </a:rPr>
              <a:t>Pay</a:t>
            </a:r>
            <a:r>
              <a:rPr dirty="0" sz="1650" spc="-20">
                <a:solidFill>
                  <a:srgbClr val="339933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339933"/>
                </a:solidFill>
                <a:latin typeface="Arial MT"/>
                <a:cs typeface="Arial MT"/>
              </a:rPr>
              <a:t>for</a:t>
            </a:r>
            <a:r>
              <a:rPr dirty="0" sz="1650" spc="-25">
                <a:solidFill>
                  <a:srgbClr val="339933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339933"/>
                </a:solidFill>
                <a:latin typeface="Arial MT"/>
                <a:cs typeface="Arial MT"/>
              </a:rPr>
              <a:t>Raw</a:t>
            </a:r>
            <a:r>
              <a:rPr dirty="0" sz="1650" spc="-15">
                <a:solidFill>
                  <a:srgbClr val="339933"/>
                </a:solidFill>
                <a:latin typeface="Arial MT"/>
                <a:cs typeface="Arial MT"/>
              </a:rPr>
              <a:t> </a:t>
            </a:r>
            <a:r>
              <a:rPr dirty="0" sz="1650" spc="-10">
                <a:solidFill>
                  <a:srgbClr val="339933"/>
                </a:solidFill>
                <a:latin typeface="Arial MT"/>
                <a:cs typeface="Arial MT"/>
              </a:rPr>
              <a:t>Materials</a:t>
            </a:r>
            <a:endParaRPr sz="1650">
              <a:latin typeface="Arial MT"/>
              <a:cs typeface="Arial MT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1509806" y="5967448"/>
            <a:ext cx="1285875" cy="27813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650">
                <a:solidFill>
                  <a:srgbClr val="339933"/>
                </a:solidFill>
                <a:latin typeface="Arial MT"/>
                <a:cs typeface="Arial MT"/>
              </a:rPr>
              <a:t>Pay</a:t>
            </a:r>
            <a:r>
              <a:rPr dirty="0" sz="1650" spc="-20">
                <a:solidFill>
                  <a:srgbClr val="339933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339933"/>
                </a:solidFill>
                <a:latin typeface="Arial MT"/>
                <a:cs typeface="Arial MT"/>
              </a:rPr>
              <a:t>for</a:t>
            </a:r>
            <a:r>
              <a:rPr dirty="0" sz="1650" spc="-25">
                <a:solidFill>
                  <a:srgbClr val="339933"/>
                </a:solidFill>
                <a:latin typeface="Arial MT"/>
                <a:cs typeface="Arial MT"/>
              </a:rPr>
              <a:t> </a:t>
            </a:r>
            <a:r>
              <a:rPr dirty="0" sz="1650" spc="-20">
                <a:solidFill>
                  <a:srgbClr val="339933"/>
                </a:solidFill>
                <a:latin typeface="Arial MT"/>
                <a:cs typeface="Arial MT"/>
              </a:rPr>
              <a:t>Labor</a:t>
            </a:r>
            <a:endParaRPr sz="1650">
              <a:latin typeface="Arial MT"/>
              <a:cs typeface="Arial MT"/>
            </a:endParaRPr>
          </a:p>
        </p:txBody>
      </p:sp>
      <p:sp>
        <p:nvSpPr>
          <p:cNvPr id="15" name="object 15" descr=""/>
          <p:cNvSpPr/>
          <p:nvPr/>
        </p:nvSpPr>
        <p:spPr>
          <a:xfrm>
            <a:off x="6027420" y="3918204"/>
            <a:ext cx="754380" cy="754380"/>
          </a:xfrm>
          <a:custGeom>
            <a:avLst/>
            <a:gdLst/>
            <a:ahLst/>
            <a:cxnLst/>
            <a:rect l="l" t="t" r="r" b="b"/>
            <a:pathLst>
              <a:path w="754379" h="754379">
                <a:moveTo>
                  <a:pt x="0" y="377951"/>
                </a:moveTo>
                <a:lnTo>
                  <a:pt x="2943" y="330532"/>
                </a:lnTo>
                <a:lnTo>
                  <a:pt x="11539" y="284873"/>
                </a:lnTo>
                <a:lnTo>
                  <a:pt x="25434" y="241328"/>
                </a:lnTo>
                <a:lnTo>
                  <a:pt x="44272" y="200252"/>
                </a:lnTo>
                <a:lnTo>
                  <a:pt x="67702" y="161997"/>
                </a:lnTo>
                <a:lnTo>
                  <a:pt x="95368" y="126918"/>
                </a:lnTo>
                <a:lnTo>
                  <a:pt x="126918" y="95368"/>
                </a:lnTo>
                <a:lnTo>
                  <a:pt x="161997" y="67702"/>
                </a:lnTo>
                <a:lnTo>
                  <a:pt x="200252" y="44272"/>
                </a:lnTo>
                <a:lnTo>
                  <a:pt x="241328" y="25434"/>
                </a:lnTo>
                <a:lnTo>
                  <a:pt x="284873" y="11539"/>
                </a:lnTo>
                <a:lnTo>
                  <a:pt x="330532" y="2943"/>
                </a:lnTo>
                <a:lnTo>
                  <a:pt x="377952" y="0"/>
                </a:lnTo>
                <a:lnTo>
                  <a:pt x="425345" y="2943"/>
                </a:lnTo>
                <a:lnTo>
                  <a:pt x="470933" y="11539"/>
                </a:lnTo>
                <a:lnTo>
                  <a:pt x="514369" y="25434"/>
                </a:lnTo>
                <a:lnTo>
                  <a:pt x="555307" y="44272"/>
                </a:lnTo>
                <a:lnTo>
                  <a:pt x="593403" y="67702"/>
                </a:lnTo>
                <a:lnTo>
                  <a:pt x="628311" y="95368"/>
                </a:lnTo>
                <a:lnTo>
                  <a:pt x="659685" y="126918"/>
                </a:lnTo>
                <a:lnTo>
                  <a:pt x="687180" y="161997"/>
                </a:lnTo>
                <a:lnTo>
                  <a:pt x="710451" y="200252"/>
                </a:lnTo>
                <a:lnTo>
                  <a:pt x="729151" y="241328"/>
                </a:lnTo>
                <a:lnTo>
                  <a:pt x="742937" y="284873"/>
                </a:lnTo>
                <a:lnTo>
                  <a:pt x="751461" y="330532"/>
                </a:lnTo>
                <a:lnTo>
                  <a:pt x="754379" y="377951"/>
                </a:lnTo>
                <a:lnTo>
                  <a:pt x="751461" y="425345"/>
                </a:lnTo>
                <a:lnTo>
                  <a:pt x="742937" y="470933"/>
                </a:lnTo>
                <a:lnTo>
                  <a:pt x="729151" y="514369"/>
                </a:lnTo>
                <a:lnTo>
                  <a:pt x="710451" y="555307"/>
                </a:lnTo>
                <a:lnTo>
                  <a:pt x="687180" y="593403"/>
                </a:lnTo>
                <a:lnTo>
                  <a:pt x="659685" y="628311"/>
                </a:lnTo>
                <a:lnTo>
                  <a:pt x="628311" y="659685"/>
                </a:lnTo>
                <a:lnTo>
                  <a:pt x="593403" y="687180"/>
                </a:lnTo>
                <a:lnTo>
                  <a:pt x="555307" y="710451"/>
                </a:lnTo>
                <a:lnTo>
                  <a:pt x="514369" y="729151"/>
                </a:lnTo>
                <a:lnTo>
                  <a:pt x="470933" y="742937"/>
                </a:lnTo>
                <a:lnTo>
                  <a:pt x="425345" y="751461"/>
                </a:lnTo>
                <a:lnTo>
                  <a:pt x="377952" y="754379"/>
                </a:lnTo>
                <a:lnTo>
                  <a:pt x="330532" y="751461"/>
                </a:lnTo>
                <a:lnTo>
                  <a:pt x="284873" y="742937"/>
                </a:lnTo>
                <a:lnTo>
                  <a:pt x="241328" y="729151"/>
                </a:lnTo>
                <a:lnTo>
                  <a:pt x="200252" y="710451"/>
                </a:lnTo>
                <a:lnTo>
                  <a:pt x="161997" y="687180"/>
                </a:lnTo>
                <a:lnTo>
                  <a:pt x="126918" y="659685"/>
                </a:lnTo>
                <a:lnTo>
                  <a:pt x="95368" y="628311"/>
                </a:lnTo>
                <a:lnTo>
                  <a:pt x="67702" y="593403"/>
                </a:lnTo>
                <a:lnTo>
                  <a:pt x="44272" y="555307"/>
                </a:lnTo>
                <a:lnTo>
                  <a:pt x="25434" y="514369"/>
                </a:lnTo>
                <a:lnTo>
                  <a:pt x="11539" y="470933"/>
                </a:lnTo>
                <a:lnTo>
                  <a:pt x="2943" y="425345"/>
                </a:lnTo>
                <a:lnTo>
                  <a:pt x="0" y="377951"/>
                </a:lnTo>
              </a:path>
            </a:pathLst>
          </a:custGeom>
          <a:ln w="1524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 descr=""/>
          <p:cNvSpPr txBox="1"/>
          <p:nvPr/>
        </p:nvSpPr>
        <p:spPr>
          <a:xfrm>
            <a:off x="6144236" y="4280386"/>
            <a:ext cx="52260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85">
                <a:latin typeface="Microsoft Sans Serif"/>
                <a:cs typeface="Microsoft Sans Serif"/>
              </a:rPr>
              <a:t>Production</a:t>
            </a:r>
            <a:endParaRPr sz="1000">
              <a:latin typeface="Microsoft Sans Serif"/>
              <a:cs typeface="Microsoft Sans Serif"/>
            </a:endParaRPr>
          </a:p>
        </p:txBody>
      </p:sp>
      <p:grpSp>
        <p:nvGrpSpPr>
          <p:cNvPr id="17" name="object 17" descr=""/>
          <p:cNvGrpSpPr/>
          <p:nvPr/>
        </p:nvGrpSpPr>
        <p:grpSpPr>
          <a:xfrm>
            <a:off x="4963667" y="3512819"/>
            <a:ext cx="3586479" cy="1167765"/>
            <a:chOff x="4963667" y="3512819"/>
            <a:chExt cx="3586479" cy="1167765"/>
          </a:xfrm>
        </p:grpSpPr>
        <p:sp>
          <p:nvSpPr>
            <p:cNvPr id="18" name="object 18" descr=""/>
            <p:cNvSpPr/>
            <p:nvPr/>
          </p:nvSpPr>
          <p:spPr>
            <a:xfrm>
              <a:off x="4963667" y="3512819"/>
              <a:ext cx="1173480" cy="788035"/>
            </a:xfrm>
            <a:custGeom>
              <a:avLst/>
              <a:gdLst/>
              <a:ahLst/>
              <a:cxnLst/>
              <a:rect l="l" t="t" r="r" b="b"/>
              <a:pathLst>
                <a:path w="1173479" h="788035">
                  <a:moveTo>
                    <a:pt x="1151861" y="28606"/>
                  </a:moveTo>
                  <a:lnTo>
                    <a:pt x="1110995" y="0"/>
                  </a:lnTo>
                  <a:lnTo>
                    <a:pt x="1173480" y="21335"/>
                  </a:lnTo>
                  <a:lnTo>
                    <a:pt x="1172912" y="27432"/>
                  </a:lnTo>
                  <a:lnTo>
                    <a:pt x="1153668" y="27432"/>
                  </a:lnTo>
                  <a:lnTo>
                    <a:pt x="1151861" y="28606"/>
                  </a:lnTo>
                  <a:close/>
                </a:path>
                <a:path w="1173479" h="788035">
                  <a:moveTo>
                    <a:pt x="1155990" y="31495"/>
                  </a:moveTo>
                  <a:lnTo>
                    <a:pt x="1151861" y="28606"/>
                  </a:lnTo>
                  <a:lnTo>
                    <a:pt x="1153668" y="27432"/>
                  </a:lnTo>
                  <a:lnTo>
                    <a:pt x="1155990" y="31495"/>
                  </a:lnTo>
                  <a:close/>
                </a:path>
                <a:path w="1173479" h="788035">
                  <a:moveTo>
                    <a:pt x="1167384" y="86868"/>
                  </a:moveTo>
                  <a:lnTo>
                    <a:pt x="1158110" y="39176"/>
                  </a:lnTo>
                  <a:lnTo>
                    <a:pt x="1159764" y="38100"/>
                  </a:lnTo>
                  <a:lnTo>
                    <a:pt x="1156940" y="33159"/>
                  </a:lnTo>
                  <a:lnTo>
                    <a:pt x="1156716" y="32004"/>
                  </a:lnTo>
                  <a:lnTo>
                    <a:pt x="1155990" y="31495"/>
                  </a:lnTo>
                  <a:lnTo>
                    <a:pt x="1153668" y="27432"/>
                  </a:lnTo>
                  <a:lnTo>
                    <a:pt x="1172912" y="27432"/>
                  </a:lnTo>
                  <a:lnTo>
                    <a:pt x="1167384" y="86868"/>
                  </a:lnTo>
                  <a:close/>
                </a:path>
                <a:path w="1173479" h="788035">
                  <a:moveTo>
                    <a:pt x="7620" y="787908"/>
                  </a:moveTo>
                  <a:lnTo>
                    <a:pt x="0" y="777240"/>
                  </a:lnTo>
                  <a:lnTo>
                    <a:pt x="1151861" y="28606"/>
                  </a:lnTo>
                  <a:lnTo>
                    <a:pt x="1155990" y="31495"/>
                  </a:lnTo>
                  <a:lnTo>
                    <a:pt x="1156940" y="33159"/>
                  </a:lnTo>
                  <a:lnTo>
                    <a:pt x="1158110" y="39176"/>
                  </a:lnTo>
                  <a:lnTo>
                    <a:pt x="7620" y="787908"/>
                  </a:lnTo>
                  <a:close/>
                </a:path>
                <a:path w="1173479" h="788035">
                  <a:moveTo>
                    <a:pt x="1158110" y="39176"/>
                  </a:moveTo>
                  <a:lnTo>
                    <a:pt x="1156940" y="33159"/>
                  </a:lnTo>
                  <a:lnTo>
                    <a:pt x="1159764" y="38100"/>
                  </a:lnTo>
                  <a:lnTo>
                    <a:pt x="1158110" y="3917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 descr=""/>
            <p:cNvSpPr/>
            <p:nvPr/>
          </p:nvSpPr>
          <p:spPr>
            <a:xfrm>
              <a:off x="7787639" y="3918203"/>
              <a:ext cx="754380" cy="754380"/>
            </a:xfrm>
            <a:custGeom>
              <a:avLst/>
              <a:gdLst/>
              <a:ahLst/>
              <a:cxnLst/>
              <a:rect l="l" t="t" r="r" b="b"/>
              <a:pathLst>
                <a:path w="754379" h="754379">
                  <a:moveTo>
                    <a:pt x="0" y="0"/>
                  </a:moveTo>
                  <a:lnTo>
                    <a:pt x="754380" y="0"/>
                  </a:lnTo>
                  <a:lnTo>
                    <a:pt x="754380" y="754380"/>
                  </a:lnTo>
                  <a:lnTo>
                    <a:pt x="0" y="754380"/>
                  </a:lnTo>
                  <a:lnTo>
                    <a:pt x="0" y="0"/>
                  </a:lnTo>
                  <a:close/>
                </a:path>
              </a:pathLst>
            </a:custGeom>
            <a:ln w="1524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0" name="object 20" descr=""/>
          <p:cNvSpPr txBox="1"/>
          <p:nvPr/>
        </p:nvSpPr>
        <p:spPr>
          <a:xfrm>
            <a:off x="7869397" y="4205730"/>
            <a:ext cx="59436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125">
                <a:latin typeface="Microsoft Sans Serif"/>
                <a:cs typeface="Microsoft Sans Serif"/>
              </a:rPr>
              <a:t>EMPLOYEE</a:t>
            </a:r>
            <a:endParaRPr sz="1000">
              <a:latin typeface="Microsoft Sans Serif"/>
              <a:cs typeface="Microsoft Sans Serif"/>
            </a:endParaRPr>
          </a:p>
        </p:txBody>
      </p:sp>
      <p:sp>
        <p:nvSpPr>
          <p:cNvPr id="21" name="object 21" descr=""/>
          <p:cNvSpPr/>
          <p:nvPr/>
        </p:nvSpPr>
        <p:spPr>
          <a:xfrm>
            <a:off x="6789419" y="4242815"/>
            <a:ext cx="990600" cy="105410"/>
          </a:xfrm>
          <a:custGeom>
            <a:avLst/>
            <a:gdLst/>
            <a:ahLst/>
            <a:cxnLst/>
            <a:rect l="l" t="t" r="r" b="b"/>
            <a:pathLst>
              <a:path w="990600" h="105410">
                <a:moveTo>
                  <a:pt x="42672" y="105156"/>
                </a:moveTo>
                <a:lnTo>
                  <a:pt x="0" y="53340"/>
                </a:lnTo>
                <a:lnTo>
                  <a:pt x="42672" y="0"/>
                </a:lnTo>
                <a:lnTo>
                  <a:pt x="23774" y="47244"/>
                </a:lnTo>
                <a:lnTo>
                  <a:pt x="21335" y="47244"/>
                </a:lnTo>
                <a:lnTo>
                  <a:pt x="21335" y="59436"/>
                </a:lnTo>
                <a:lnTo>
                  <a:pt x="23846" y="59436"/>
                </a:lnTo>
                <a:lnTo>
                  <a:pt x="42672" y="105156"/>
                </a:lnTo>
                <a:close/>
              </a:path>
              <a:path w="990600" h="105410">
                <a:moveTo>
                  <a:pt x="21335" y="53340"/>
                </a:moveTo>
                <a:lnTo>
                  <a:pt x="21335" y="47244"/>
                </a:lnTo>
                <a:lnTo>
                  <a:pt x="23774" y="47244"/>
                </a:lnTo>
                <a:lnTo>
                  <a:pt x="21335" y="53340"/>
                </a:lnTo>
                <a:close/>
              </a:path>
              <a:path w="990600" h="105410">
                <a:moveTo>
                  <a:pt x="990600" y="59436"/>
                </a:moveTo>
                <a:lnTo>
                  <a:pt x="23846" y="59436"/>
                </a:lnTo>
                <a:lnTo>
                  <a:pt x="21335" y="53340"/>
                </a:lnTo>
                <a:lnTo>
                  <a:pt x="23774" y="47244"/>
                </a:lnTo>
                <a:lnTo>
                  <a:pt x="990600" y="47244"/>
                </a:lnTo>
                <a:lnTo>
                  <a:pt x="990600" y="59436"/>
                </a:lnTo>
                <a:close/>
              </a:path>
              <a:path w="990600" h="105410">
                <a:moveTo>
                  <a:pt x="23846" y="59436"/>
                </a:moveTo>
                <a:lnTo>
                  <a:pt x="21335" y="59436"/>
                </a:lnTo>
                <a:lnTo>
                  <a:pt x="21335" y="53340"/>
                </a:lnTo>
                <a:lnTo>
                  <a:pt x="23846" y="5943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 descr=""/>
          <p:cNvSpPr txBox="1"/>
          <p:nvPr/>
        </p:nvSpPr>
        <p:spPr>
          <a:xfrm>
            <a:off x="6930667" y="4109743"/>
            <a:ext cx="600075" cy="37782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65405" marR="5080" indent="-53340">
              <a:lnSpc>
                <a:spcPct val="100800"/>
              </a:lnSpc>
              <a:spcBef>
                <a:spcPts val="90"/>
              </a:spcBef>
            </a:pPr>
            <a:r>
              <a:rPr dirty="0" sz="1150" spc="-110">
                <a:latin typeface="Microsoft Sans Serif"/>
                <a:cs typeface="Microsoft Sans Serif"/>
              </a:rPr>
              <a:t>Production</a:t>
            </a:r>
            <a:r>
              <a:rPr dirty="0" sz="1150" spc="-95">
                <a:latin typeface="Microsoft Sans Serif"/>
                <a:cs typeface="Microsoft Sans Serif"/>
              </a:rPr>
              <a:t> Schedule</a:t>
            </a:r>
            <a:endParaRPr sz="1150">
              <a:latin typeface="Microsoft Sans Serif"/>
              <a:cs typeface="Microsoft Sans Serif"/>
            </a:endParaRPr>
          </a:p>
        </p:txBody>
      </p:sp>
      <p:sp>
        <p:nvSpPr>
          <p:cNvPr id="23" name="object 23" descr=""/>
          <p:cNvSpPr/>
          <p:nvPr/>
        </p:nvSpPr>
        <p:spPr>
          <a:xfrm>
            <a:off x="6027420" y="2881883"/>
            <a:ext cx="754380" cy="754380"/>
          </a:xfrm>
          <a:custGeom>
            <a:avLst/>
            <a:gdLst/>
            <a:ahLst/>
            <a:cxnLst/>
            <a:rect l="l" t="t" r="r" b="b"/>
            <a:pathLst>
              <a:path w="754379" h="754379">
                <a:moveTo>
                  <a:pt x="0" y="376427"/>
                </a:moveTo>
                <a:lnTo>
                  <a:pt x="2943" y="329333"/>
                </a:lnTo>
                <a:lnTo>
                  <a:pt x="11539" y="283950"/>
                </a:lnTo>
                <a:lnTo>
                  <a:pt x="25434" y="240635"/>
                </a:lnTo>
                <a:lnTo>
                  <a:pt x="44272" y="199746"/>
                </a:lnTo>
                <a:lnTo>
                  <a:pt x="67702" y="161642"/>
                </a:lnTo>
                <a:lnTo>
                  <a:pt x="95368" y="126680"/>
                </a:lnTo>
                <a:lnTo>
                  <a:pt x="126918" y="95219"/>
                </a:lnTo>
                <a:lnTo>
                  <a:pt x="161997" y="67615"/>
                </a:lnTo>
                <a:lnTo>
                  <a:pt x="200252" y="44228"/>
                </a:lnTo>
                <a:lnTo>
                  <a:pt x="241328" y="25415"/>
                </a:lnTo>
                <a:lnTo>
                  <a:pt x="284873" y="11534"/>
                </a:lnTo>
                <a:lnTo>
                  <a:pt x="330532" y="2943"/>
                </a:lnTo>
                <a:lnTo>
                  <a:pt x="377952" y="0"/>
                </a:lnTo>
                <a:lnTo>
                  <a:pt x="425345" y="2943"/>
                </a:lnTo>
                <a:lnTo>
                  <a:pt x="470933" y="11534"/>
                </a:lnTo>
                <a:lnTo>
                  <a:pt x="514369" y="25415"/>
                </a:lnTo>
                <a:lnTo>
                  <a:pt x="555307" y="44228"/>
                </a:lnTo>
                <a:lnTo>
                  <a:pt x="593403" y="67615"/>
                </a:lnTo>
                <a:lnTo>
                  <a:pt x="628311" y="95219"/>
                </a:lnTo>
                <a:lnTo>
                  <a:pt x="659685" y="126680"/>
                </a:lnTo>
                <a:lnTo>
                  <a:pt x="687180" y="161642"/>
                </a:lnTo>
                <a:lnTo>
                  <a:pt x="710451" y="199746"/>
                </a:lnTo>
                <a:lnTo>
                  <a:pt x="729151" y="240635"/>
                </a:lnTo>
                <a:lnTo>
                  <a:pt x="742937" y="283950"/>
                </a:lnTo>
                <a:lnTo>
                  <a:pt x="751461" y="329333"/>
                </a:lnTo>
                <a:lnTo>
                  <a:pt x="754379" y="376427"/>
                </a:lnTo>
                <a:lnTo>
                  <a:pt x="751461" y="423847"/>
                </a:lnTo>
                <a:lnTo>
                  <a:pt x="742937" y="469506"/>
                </a:lnTo>
                <a:lnTo>
                  <a:pt x="729151" y="513051"/>
                </a:lnTo>
                <a:lnTo>
                  <a:pt x="710451" y="554127"/>
                </a:lnTo>
                <a:lnTo>
                  <a:pt x="687180" y="592382"/>
                </a:lnTo>
                <a:lnTo>
                  <a:pt x="659685" y="627461"/>
                </a:lnTo>
                <a:lnTo>
                  <a:pt x="628311" y="659011"/>
                </a:lnTo>
                <a:lnTo>
                  <a:pt x="593403" y="686677"/>
                </a:lnTo>
                <a:lnTo>
                  <a:pt x="555307" y="710107"/>
                </a:lnTo>
                <a:lnTo>
                  <a:pt x="514369" y="728945"/>
                </a:lnTo>
                <a:lnTo>
                  <a:pt x="470933" y="742840"/>
                </a:lnTo>
                <a:lnTo>
                  <a:pt x="425345" y="751436"/>
                </a:lnTo>
                <a:lnTo>
                  <a:pt x="377952" y="754379"/>
                </a:lnTo>
                <a:lnTo>
                  <a:pt x="330532" y="751436"/>
                </a:lnTo>
                <a:lnTo>
                  <a:pt x="284873" y="742840"/>
                </a:lnTo>
                <a:lnTo>
                  <a:pt x="241328" y="728945"/>
                </a:lnTo>
                <a:lnTo>
                  <a:pt x="200252" y="710107"/>
                </a:lnTo>
                <a:lnTo>
                  <a:pt x="161997" y="686677"/>
                </a:lnTo>
                <a:lnTo>
                  <a:pt x="126918" y="659011"/>
                </a:lnTo>
                <a:lnTo>
                  <a:pt x="95368" y="627461"/>
                </a:lnTo>
                <a:lnTo>
                  <a:pt x="67702" y="592382"/>
                </a:lnTo>
                <a:lnTo>
                  <a:pt x="44272" y="554127"/>
                </a:lnTo>
                <a:lnTo>
                  <a:pt x="25434" y="513051"/>
                </a:lnTo>
                <a:lnTo>
                  <a:pt x="11539" y="469506"/>
                </a:lnTo>
                <a:lnTo>
                  <a:pt x="2943" y="423847"/>
                </a:lnTo>
                <a:lnTo>
                  <a:pt x="0" y="376427"/>
                </a:lnTo>
              </a:path>
            </a:pathLst>
          </a:custGeom>
          <a:ln w="1524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" name="object 24" descr=""/>
          <p:cNvSpPr txBox="1"/>
          <p:nvPr/>
        </p:nvSpPr>
        <p:spPr>
          <a:xfrm>
            <a:off x="6288994" y="3093183"/>
            <a:ext cx="232410" cy="32829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42545">
              <a:lnSpc>
                <a:spcPts val="1195"/>
              </a:lnSpc>
              <a:spcBef>
                <a:spcPts val="95"/>
              </a:spcBef>
            </a:pPr>
            <a:r>
              <a:rPr dirty="0" u="sng" sz="1000" spc="-25">
                <a:uFill>
                  <a:solidFill>
                    <a:srgbClr val="000000"/>
                  </a:solidFill>
                </a:uFill>
                <a:latin typeface="Microsoft Sans Serif"/>
                <a:cs typeface="Microsoft Sans Serif"/>
              </a:rPr>
              <a:t>1.0</a:t>
            </a:r>
            <a:endParaRPr sz="1000">
              <a:latin typeface="Microsoft Sans Serif"/>
              <a:cs typeface="Microsoft Sans Serif"/>
            </a:endParaRPr>
          </a:p>
          <a:p>
            <a:pPr marL="12700">
              <a:lnSpc>
                <a:spcPts val="1195"/>
              </a:lnSpc>
            </a:pPr>
            <a:r>
              <a:rPr dirty="0" sz="1000" spc="-85">
                <a:latin typeface="Microsoft Sans Serif"/>
                <a:cs typeface="Microsoft Sans Serif"/>
              </a:rPr>
              <a:t>Sale</a:t>
            </a:r>
            <a:endParaRPr sz="1000">
              <a:latin typeface="Microsoft Sans Serif"/>
              <a:cs typeface="Microsoft Sans Serif"/>
            </a:endParaRPr>
          </a:p>
        </p:txBody>
      </p:sp>
      <p:sp>
        <p:nvSpPr>
          <p:cNvPr id="25" name="object 25" descr=""/>
          <p:cNvSpPr/>
          <p:nvPr/>
        </p:nvSpPr>
        <p:spPr>
          <a:xfrm>
            <a:off x="6027420" y="4829555"/>
            <a:ext cx="754380" cy="754380"/>
          </a:xfrm>
          <a:custGeom>
            <a:avLst/>
            <a:gdLst/>
            <a:ahLst/>
            <a:cxnLst/>
            <a:rect l="l" t="t" r="r" b="b"/>
            <a:pathLst>
              <a:path w="754379" h="754379">
                <a:moveTo>
                  <a:pt x="0" y="377951"/>
                </a:moveTo>
                <a:lnTo>
                  <a:pt x="2943" y="330532"/>
                </a:lnTo>
                <a:lnTo>
                  <a:pt x="11539" y="284873"/>
                </a:lnTo>
                <a:lnTo>
                  <a:pt x="25434" y="241328"/>
                </a:lnTo>
                <a:lnTo>
                  <a:pt x="44272" y="200252"/>
                </a:lnTo>
                <a:lnTo>
                  <a:pt x="67702" y="161997"/>
                </a:lnTo>
                <a:lnTo>
                  <a:pt x="95368" y="126918"/>
                </a:lnTo>
                <a:lnTo>
                  <a:pt x="126918" y="95368"/>
                </a:lnTo>
                <a:lnTo>
                  <a:pt x="161997" y="67702"/>
                </a:lnTo>
                <a:lnTo>
                  <a:pt x="200252" y="44272"/>
                </a:lnTo>
                <a:lnTo>
                  <a:pt x="241328" y="25434"/>
                </a:lnTo>
                <a:lnTo>
                  <a:pt x="284873" y="11539"/>
                </a:lnTo>
                <a:lnTo>
                  <a:pt x="330532" y="2943"/>
                </a:lnTo>
                <a:lnTo>
                  <a:pt x="377952" y="0"/>
                </a:lnTo>
                <a:lnTo>
                  <a:pt x="425345" y="2943"/>
                </a:lnTo>
                <a:lnTo>
                  <a:pt x="470933" y="11539"/>
                </a:lnTo>
                <a:lnTo>
                  <a:pt x="514369" y="25434"/>
                </a:lnTo>
                <a:lnTo>
                  <a:pt x="555307" y="44272"/>
                </a:lnTo>
                <a:lnTo>
                  <a:pt x="593403" y="67702"/>
                </a:lnTo>
                <a:lnTo>
                  <a:pt x="628311" y="95368"/>
                </a:lnTo>
                <a:lnTo>
                  <a:pt x="659685" y="126918"/>
                </a:lnTo>
                <a:lnTo>
                  <a:pt x="687180" y="161997"/>
                </a:lnTo>
                <a:lnTo>
                  <a:pt x="710451" y="200252"/>
                </a:lnTo>
                <a:lnTo>
                  <a:pt x="729151" y="241328"/>
                </a:lnTo>
                <a:lnTo>
                  <a:pt x="742937" y="284873"/>
                </a:lnTo>
                <a:lnTo>
                  <a:pt x="751461" y="330532"/>
                </a:lnTo>
                <a:lnTo>
                  <a:pt x="754379" y="377951"/>
                </a:lnTo>
                <a:lnTo>
                  <a:pt x="751461" y="425345"/>
                </a:lnTo>
                <a:lnTo>
                  <a:pt x="742937" y="470933"/>
                </a:lnTo>
                <a:lnTo>
                  <a:pt x="729151" y="514369"/>
                </a:lnTo>
                <a:lnTo>
                  <a:pt x="710451" y="555307"/>
                </a:lnTo>
                <a:lnTo>
                  <a:pt x="687180" y="593403"/>
                </a:lnTo>
                <a:lnTo>
                  <a:pt x="659685" y="628311"/>
                </a:lnTo>
                <a:lnTo>
                  <a:pt x="628311" y="659685"/>
                </a:lnTo>
                <a:lnTo>
                  <a:pt x="593403" y="687180"/>
                </a:lnTo>
                <a:lnTo>
                  <a:pt x="555307" y="710451"/>
                </a:lnTo>
                <a:lnTo>
                  <a:pt x="514369" y="729151"/>
                </a:lnTo>
                <a:lnTo>
                  <a:pt x="470933" y="742937"/>
                </a:lnTo>
                <a:lnTo>
                  <a:pt x="425345" y="751461"/>
                </a:lnTo>
                <a:lnTo>
                  <a:pt x="377952" y="754379"/>
                </a:lnTo>
                <a:lnTo>
                  <a:pt x="330532" y="751461"/>
                </a:lnTo>
                <a:lnTo>
                  <a:pt x="284873" y="742937"/>
                </a:lnTo>
                <a:lnTo>
                  <a:pt x="241328" y="729151"/>
                </a:lnTo>
                <a:lnTo>
                  <a:pt x="200252" y="710451"/>
                </a:lnTo>
                <a:lnTo>
                  <a:pt x="161997" y="687180"/>
                </a:lnTo>
                <a:lnTo>
                  <a:pt x="126918" y="659685"/>
                </a:lnTo>
                <a:lnTo>
                  <a:pt x="95368" y="628311"/>
                </a:lnTo>
                <a:lnTo>
                  <a:pt x="67702" y="593403"/>
                </a:lnTo>
                <a:lnTo>
                  <a:pt x="44272" y="555307"/>
                </a:lnTo>
                <a:lnTo>
                  <a:pt x="25434" y="514369"/>
                </a:lnTo>
                <a:lnTo>
                  <a:pt x="11539" y="470933"/>
                </a:lnTo>
                <a:lnTo>
                  <a:pt x="2943" y="425345"/>
                </a:lnTo>
                <a:lnTo>
                  <a:pt x="0" y="377951"/>
                </a:lnTo>
              </a:path>
            </a:pathLst>
          </a:custGeom>
          <a:ln w="1524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6" name="object 26" descr=""/>
          <p:cNvSpPr txBox="1"/>
          <p:nvPr/>
        </p:nvSpPr>
        <p:spPr>
          <a:xfrm>
            <a:off x="6192952" y="4966150"/>
            <a:ext cx="424815" cy="47942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ctr">
              <a:lnSpc>
                <a:spcPts val="1195"/>
              </a:lnSpc>
              <a:spcBef>
                <a:spcPts val="95"/>
              </a:spcBef>
            </a:pPr>
            <a:r>
              <a:rPr dirty="0" u="sng" sz="1000" spc="-25">
                <a:uFill>
                  <a:solidFill>
                    <a:srgbClr val="000000"/>
                  </a:solidFill>
                </a:uFill>
                <a:latin typeface="Microsoft Sans Serif"/>
                <a:cs typeface="Microsoft Sans Serif"/>
              </a:rPr>
              <a:t>3.0</a:t>
            </a:r>
            <a:endParaRPr sz="1000">
              <a:latin typeface="Microsoft Sans Serif"/>
              <a:cs typeface="Microsoft Sans Serif"/>
            </a:endParaRPr>
          </a:p>
          <a:p>
            <a:pPr algn="ctr" marL="12065" marR="5080">
              <a:lnSpc>
                <a:spcPts val="1190"/>
              </a:lnSpc>
              <a:spcBef>
                <a:spcPts val="40"/>
              </a:spcBef>
            </a:pPr>
            <a:r>
              <a:rPr dirty="0" sz="1000" spc="-95">
                <a:latin typeface="Microsoft Sans Serif"/>
                <a:cs typeface="Microsoft Sans Serif"/>
              </a:rPr>
              <a:t>Procure-</a:t>
            </a:r>
            <a:r>
              <a:rPr dirty="0" sz="1000" spc="-20">
                <a:latin typeface="Microsoft Sans Serif"/>
                <a:cs typeface="Microsoft Sans Serif"/>
              </a:rPr>
              <a:t> ment</a:t>
            </a:r>
            <a:endParaRPr sz="1000">
              <a:latin typeface="Microsoft Sans Serif"/>
              <a:cs typeface="Microsoft Sans Serif"/>
            </a:endParaRPr>
          </a:p>
        </p:txBody>
      </p:sp>
      <p:sp>
        <p:nvSpPr>
          <p:cNvPr id="27" name="object 27" descr=""/>
          <p:cNvSpPr/>
          <p:nvPr/>
        </p:nvSpPr>
        <p:spPr>
          <a:xfrm>
            <a:off x="4963655" y="3241547"/>
            <a:ext cx="2790825" cy="817244"/>
          </a:xfrm>
          <a:custGeom>
            <a:avLst/>
            <a:gdLst/>
            <a:ahLst/>
            <a:cxnLst/>
            <a:rect l="l" t="t" r="r" b="b"/>
            <a:pathLst>
              <a:path w="2790825" h="817245">
                <a:moveTo>
                  <a:pt x="1056132" y="16764"/>
                </a:moveTo>
                <a:lnTo>
                  <a:pt x="992124" y="0"/>
                </a:lnTo>
                <a:lnTo>
                  <a:pt x="1034338" y="25869"/>
                </a:lnTo>
                <a:lnTo>
                  <a:pt x="0" y="797052"/>
                </a:lnTo>
                <a:lnTo>
                  <a:pt x="7620" y="807720"/>
                </a:lnTo>
                <a:lnTo>
                  <a:pt x="1041565" y="36830"/>
                </a:lnTo>
                <a:lnTo>
                  <a:pt x="1054608" y="83820"/>
                </a:lnTo>
                <a:lnTo>
                  <a:pt x="1055966" y="24384"/>
                </a:lnTo>
                <a:lnTo>
                  <a:pt x="1056132" y="16764"/>
                </a:lnTo>
                <a:close/>
              </a:path>
              <a:path w="2790825" h="817245">
                <a:moveTo>
                  <a:pt x="1493520" y="627888"/>
                </a:moveTo>
                <a:lnTo>
                  <a:pt x="1447800" y="645375"/>
                </a:lnTo>
                <a:lnTo>
                  <a:pt x="1447800" y="402336"/>
                </a:lnTo>
                <a:lnTo>
                  <a:pt x="1435608" y="402336"/>
                </a:lnTo>
                <a:lnTo>
                  <a:pt x="1435608" y="645375"/>
                </a:lnTo>
                <a:lnTo>
                  <a:pt x="1435430" y="645375"/>
                </a:lnTo>
                <a:lnTo>
                  <a:pt x="1388364" y="627888"/>
                </a:lnTo>
                <a:lnTo>
                  <a:pt x="1441704" y="669036"/>
                </a:lnTo>
                <a:lnTo>
                  <a:pt x="1468577" y="647700"/>
                </a:lnTo>
                <a:lnTo>
                  <a:pt x="1493520" y="627888"/>
                </a:lnTo>
                <a:close/>
              </a:path>
              <a:path w="2790825" h="817245">
                <a:moveTo>
                  <a:pt x="2790456" y="736104"/>
                </a:moveTo>
                <a:lnTo>
                  <a:pt x="2775762" y="782828"/>
                </a:lnTo>
                <a:lnTo>
                  <a:pt x="1830336" y="12204"/>
                </a:lnTo>
                <a:lnTo>
                  <a:pt x="1822716" y="22872"/>
                </a:lnTo>
                <a:lnTo>
                  <a:pt x="2768562" y="792314"/>
                </a:lnTo>
                <a:lnTo>
                  <a:pt x="2724924" y="816876"/>
                </a:lnTo>
                <a:lnTo>
                  <a:pt x="2790456" y="803160"/>
                </a:lnTo>
                <a:lnTo>
                  <a:pt x="2790456" y="794016"/>
                </a:lnTo>
                <a:lnTo>
                  <a:pt x="2790456" y="73610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" name="object 28" descr=""/>
          <p:cNvSpPr txBox="1"/>
          <p:nvPr/>
        </p:nvSpPr>
        <p:spPr>
          <a:xfrm>
            <a:off x="7137926" y="3391939"/>
            <a:ext cx="825500" cy="2012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50" spc="-110">
                <a:latin typeface="Microsoft Sans Serif"/>
                <a:cs typeface="Microsoft Sans Serif"/>
              </a:rPr>
              <a:t>Sales</a:t>
            </a:r>
            <a:r>
              <a:rPr dirty="0" sz="1150" spc="-40">
                <a:latin typeface="Microsoft Sans Serif"/>
                <a:cs typeface="Microsoft Sans Serif"/>
              </a:rPr>
              <a:t> </a:t>
            </a:r>
            <a:r>
              <a:rPr dirty="0" sz="1150" spc="-95">
                <a:latin typeface="Microsoft Sans Serif"/>
                <a:cs typeface="Microsoft Sans Serif"/>
              </a:rPr>
              <a:t>Forecast</a:t>
            </a:r>
            <a:endParaRPr sz="1150">
              <a:latin typeface="Microsoft Sans Serif"/>
              <a:cs typeface="Microsoft Sans Serif"/>
            </a:endParaRPr>
          </a:p>
        </p:txBody>
      </p:sp>
      <p:sp>
        <p:nvSpPr>
          <p:cNvPr id="29" name="object 29" descr=""/>
          <p:cNvSpPr/>
          <p:nvPr/>
        </p:nvSpPr>
        <p:spPr>
          <a:xfrm>
            <a:off x="6789420" y="4541520"/>
            <a:ext cx="1010919" cy="687705"/>
          </a:xfrm>
          <a:custGeom>
            <a:avLst/>
            <a:gdLst/>
            <a:ahLst/>
            <a:cxnLst/>
            <a:rect l="l" t="t" r="r" b="b"/>
            <a:pathLst>
              <a:path w="1010920" h="687704">
                <a:moveTo>
                  <a:pt x="24114" y="658068"/>
                </a:moveTo>
                <a:lnTo>
                  <a:pt x="18287" y="653796"/>
                </a:lnTo>
                <a:lnTo>
                  <a:pt x="17154" y="647965"/>
                </a:lnTo>
                <a:lnTo>
                  <a:pt x="1002792" y="0"/>
                </a:lnTo>
                <a:lnTo>
                  <a:pt x="1010412" y="10668"/>
                </a:lnTo>
                <a:lnTo>
                  <a:pt x="24114" y="658068"/>
                </a:lnTo>
                <a:close/>
              </a:path>
              <a:path w="1010920" h="687704">
                <a:moveTo>
                  <a:pt x="64008" y="687324"/>
                </a:moveTo>
                <a:lnTo>
                  <a:pt x="0" y="665988"/>
                </a:lnTo>
                <a:lnTo>
                  <a:pt x="7619" y="598932"/>
                </a:lnTo>
                <a:lnTo>
                  <a:pt x="17154" y="647965"/>
                </a:lnTo>
                <a:lnTo>
                  <a:pt x="15239" y="649224"/>
                </a:lnTo>
                <a:lnTo>
                  <a:pt x="21335" y="659892"/>
                </a:lnTo>
                <a:lnTo>
                  <a:pt x="26600" y="659892"/>
                </a:lnTo>
                <a:lnTo>
                  <a:pt x="64008" y="687324"/>
                </a:lnTo>
                <a:close/>
              </a:path>
              <a:path w="1010920" h="687704">
                <a:moveTo>
                  <a:pt x="21335" y="659892"/>
                </a:moveTo>
                <a:lnTo>
                  <a:pt x="15239" y="649224"/>
                </a:lnTo>
                <a:lnTo>
                  <a:pt x="17154" y="647965"/>
                </a:lnTo>
                <a:lnTo>
                  <a:pt x="18287" y="653796"/>
                </a:lnTo>
                <a:lnTo>
                  <a:pt x="24114" y="658068"/>
                </a:lnTo>
                <a:lnTo>
                  <a:pt x="21335" y="659892"/>
                </a:lnTo>
                <a:close/>
              </a:path>
              <a:path w="1010920" h="687704">
                <a:moveTo>
                  <a:pt x="26600" y="659892"/>
                </a:moveTo>
                <a:lnTo>
                  <a:pt x="21335" y="659892"/>
                </a:lnTo>
                <a:lnTo>
                  <a:pt x="24114" y="658068"/>
                </a:lnTo>
                <a:lnTo>
                  <a:pt x="26600" y="65989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0" name="object 30" descr=""/>
          <p:cNvSpPr txBox="1"/>
          <p:nvPr/>
        </p:nvSpPr>
        <p:spPr>
          <a:xfrm>
            <a:off x="4212335" y="3918203"/>
            <a:ext cx="754380" cy="754380"/>
          </a:xfrm>
          <a:prstGeom prst="rect">
            <a:avLst/>
          </a:prstGeom>
          <a:ln w="15240">
            <a:solidFill>
              <a:srgbClr val="000000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ct val="100000"/>
              </a:lnSpc>
            </a:pPr>
            <a:endParaRPr sz="1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60"/>
              </a:spcBef>
            </a:pPr>
            <a:endParaRPr sz="1000">
              <a:latin typeface="Times New Roman"/>
              <a:cs typeface="Times New Roman"/>
            </a:endParaRPr>
          </a:p>
          <a:p>
            <a:pPr marL="81915">
              <a:lnSpc>
                <a:spcPct val="100000"/>
              </a:lnSpc>
            </a:pPr>
            <a:r>
              <a:rPr dirty="0" sz="1000" spc="-60">
                <a:latin typeface="Microsoft Sans Serif"/>
                <a:cs typeface="Microsoft Sans Serif"/>
              </a:rPr>
              <a:t>CUSTOMER</a:t>
            </a:r>
            <a:endParaRPr sz="1000">
              <a:latin typeface="Microsoft Sans Serif"/>
              <a:cs typeface="Microsoft Sans Serif"/>
            </a:endParaRPr>
          </a:p>
        </p:txBody>
      </p:sp>
      <p:sp>
        <p:nvSpPr>
          <p:cNvPr id="31" name="object 31" descr=""/>
          <p:cNvSpPr/>
          <p:nvPr/>
        </p:nvSpPr>
        <p:spPr>
          <a:xfrm>
            <a:off x="6676644" y="4668011"/>
            <a:ext cx="1490980" cy="1275715"/>
          </a:xfrm>
          <a:custGeom>
            <a:avLst/>
            <a:gdLst/>
            <a:ahLst/>
            <a:cxnLst/>
            <a:rect l="l" t="t" r="r" b="b"/>
            <a:pathLst>
              <a:path w="1490979" h="1275714">
                <a:moveTo>
                  <a:pt x="1466992" y="23150"/>
                </a:moveTo>
                <a:lnTo>
                  <a:pt x="1423416" y="0"/>
                </a:lnTo>
                <a:lnTo>
                  <a:pt x="1488948" y="12191"/>
                </a:lnTo>
                <a:lnTo>
                  <a:pt x="1489151" y="21336"/>
                </a:lnTo>
                <a:lnTo>
                  <a:pt x="1469136" y="21336"/>
                </a:lnTo>
                <a:lnTo>
                  <a:pt x="1466992" y="23150"/>
                </a:lnTo>
                <a:close/>
              </a:path>
              <a:path w="1490979" h="1275714">
                <a:moveTo>
                  <a:pt x="1474774" y="33680"/>
                </a:moveTo>
                <a:lnTo>
                  <a:pt x="1472183" y="25908"/>
                </a:lnTo>
                <a:lnTo>
                  <a:pt x="1466992" y="23150"/>
                </a:lnTo>
                <a:lnTo>
                  <a:pt x="1469136" y="21336"/>
                </a:lnTo>
                <a:lnTo>
                  <a:pt x="1476756" y="32004"/>
                </a:lnTo>
                <a:lnTo>
                  <a:pt x="1474774" y="33680"/>
                </a:lnTo>
                <a:close/>
              </a:path>
              <a:path w="1490979" h="1275714">
                <a:moveTo>
                  <a:pt x="1490471" y="80771"/>
                </a:moveTo>
                <a:lnTo>
                  <a:pt x="1474774" y="33680"/>
                </a:lnTo>
                <a:lnTo>
                  <a:pt x="1476756" y="32004"/>
                </a:lnTo>
                <a:lnTo>
                  <a:pt x="1469136" y="21336"/>
                </a:lnTo>
                <a:lnTo>
                  <a:pt x="1489151" y="21336"/>
                </a:lnTo>
                <a:lnTo>
                  <a:pt x="1490471" y="80771"/>
                </a:lnTo>
                <a:close/>
              </a:path>
              <a:path w="1490979" h="1275714">
                <a:moveTo>
                  <a:pt x="7620" y="1275588"/>
                </a:moveTo>
                <a:lnTo>
                  <a:pt x="0" y="1264920"/>
                </a:lnTo>
                <a:lnTo>
                  <a:pt x="1466992" y="23150"/>
                </a:lnTo>
                <a:lnTo>
                  <a:pt x="1472183" y="25908"/>
                </a:lnTo>
                <a:lnTo>
                  <a:pt x="1474774" y="33680"/>
                </a:lnTo>
                <a:lnTo>
                  <a:pt x="7620" y="127558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2" name="object 32" descr=""/>
          <p:cNvSpPr txBox="1"/>
          <p:nvPr/>
        </p:nvSpPr>
        <p:spPr>
          <a:xfrm>
            <a:off x="6645632" y="5591089"/>
            <a:ext cx="233679" cy="2012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50" spc="-95">
                <a:latin typeface="Microsoft Sans Serif"/>
                <a:cs typeface="Microsoft Sans Serif"/>
              </a:rPr>
              <a:t>Pay</a:t>
            </a:r>
            <a:endParaRPr sz="1150">
              <a:latin typeface="Microsoft Sans Serif"/>
              <a:cs typeface="Microsoft Sans Serif"/>
            </a:endParaRPr>
          </a:p>
        </p:txBody>
      </p:sp>
      <p:pic>
        <p:nvPicPr>
          <p:cNvPr id="33" name="object 3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352032" y="4680203"/>
            <a:ext cx="105156" cy="141732"/>
          </a:xfrm>
          <a:prstGeom prst="rect">
            <a:avLst/>
          </a:prstGeom>
        </p:spPr>
      </p:pic>
      <p:sp>
        <p:nvSpPr>
          <p:cNvPr id="34" name="object 34" descr=""/>
          <p:cNvSpPr txBox="1"/>
          <p:nvPr/>
        </p:nvSpPr>
        <p:spPr>
          <a:xfrm>
            <a:off x="5495041" y="3628370"/>
            <a:ext cx="1379220" cy="6788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462915">
              <a:lnSpc>
                <a:spcPct val="126099"/>
              </a:lnSpc>
              <a:spcBef>
                <a:spcPts val="100"/>
              </a:spcBef>
            </a:pPr>
            <a:r>
              <a:rPr dirty="0" sz="1150" spc="-114">
                <a:latin typeface="Microsoft Sans Serif"/>
                <a:cs typeface="Microsoft Sans Serif"/>
              </a:rPr>
              <a:t>Product</a:t>
            </a:r>
            <a:r>
              <a:rPr dirty="0" sz="1150" spc="30">
                <a:latin typeface="Microsoft Sans Serif"/>
                <a:cs typeface="Microsoft Sans Serif"/>
              </a:rPr>
              <a:t> </a:t>
            </a:r>
            <a:r>
              <a:rPr dirty="0" sz="1150" spc="-114">
                <a:latin typeface="Microsoft Sans Serif"/>
                <a:cs typeface="Microsoft Sans Serif"/>
              </a:rPr>
              <a:t>Ordered</a:t>
            </a:r>
            <a:r>
              <a:rPr dirty="0" sz="1150" spc="-10">
                <a:latin typeface="Microsoft Sans Serif"/>
                <a:cs typeface="Microsoft Sans Serif"/>
              </a:rPr>
              <a:t> Payment</a:t>
            </a:r>
            <a:endParaRPr sz="1150">
              <a:latin typeface="Microsoft Sans Serif"/>
              <a:cs typeface="Microsoft Sans Serif"/>
            </a:endParaRPr>
          </a:p>
          <a:p>
            <a:pPr marL="836930">
              <a:lnSpc>
                <a:spcPct val="100000"/>
              </a:lnSpc>
              <a:spcBef>
                <a:spcPts val="459"/>
              </a:spcBef>
            </a:pPr>
            <a:r>
              <a:rPr dirty="0" u="sng" sz="1000" spc="-25">
                <a:uFill>
                  <a:solidFill>
                    <a:srgbClr val="000000"/>
                  </a:solidFill>
                </a:uFill>
                <a:latin typeface="Microsoft Sans Serif"/>
                <a:cs typeface="Microsoft Sans Serif"/>
              </a:rPr>
              <a:t>2.0</a:t>
            </a:r>
            <a:endParaRPr sz="1000">
              <a:latin typeface="Microsoft Sans Serif"/>
              <a:cs typeface="Microsoft Sans Serif"/>
            </a:endParaRPr>
          </a:p>
        </p:txBody>
      </p:sp>
      <p:sp>
        <p:nvSpPr>
          <p:cNvPr id="35" name="object 35" descr=""/>
          <p:cNvSpPr txBox="1"/>
          <p:nvPr/>
        </p:nvSpPr>
        <p:spPr>
          <a:xfrm>
            <a:off x="4737625" y="3422372"/>
            <a:ext cx="889635" cy="2012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50" spc="-120">
                <a:latin typeface="Microsoft Sans Serif"/>
                <a:cs typeface="Microsoft Sans Serif"/>
              </a:rPr>
              <a:t>Customer</a:t>
            </a:r>
            <a:r>
              <a:rPr dirty="0" sz="1150" spc="-10">
                <a:latin typeface="Microsoft Sans Serif"/>
                <a:cs typeface="Microsoft Sans Serif"/>
              </a:rPr>
              <a:t> </a:t>
            </a:r>
            <a:r>
              <a:rPr dirty="0" sz="1150" spc="-90">
                <a:latin typeface="Microsoft Sans Serif"/>
                <a:cs typeface="Microsoft Sans Serif"/>
              </a:rPr>
              <a:t>Order</a:t>
            </a:r>
            <a:endParaRPr sz="1150">
              <a:latin typeface="Microsoft Sans Serif"/>
              <a:cs typeface="Microsoft Sans Serif"/>
            </a:endParaRPr>
          </a:p>
        </p:txBody>
      </p:sp>
      <p:sp>
        <p:nvSpPr>
          <p:cNvPr id="36" name="object 36" descr=""/>
          <p:cNvSpPr txBox="1"/>
          <p:nvPr/>
        </p:nvSpPr>
        <p:spPr>
          <a:xfrm>
            <a:off x="4212335" y="4829555"/>
            <a:ext cx="754380" cy="754380"/>
          </a:xfrm>
          <a:prstGeom prst="rect">
            <a:avLst/>
          </a:prstGeom>
          <a:ln w="15240">
            <a:solidFill>
              <a:srgbClr val="000000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ct val="100000"/>
              </a:lnSpc>
            </a:pPr>
            <a:endParaRPr sz="1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1000">
              <a:latin typeface="Times New Roman"/>
              <a:cs typeface="Times New Roman"/>
            </a:endParaRPr>
          </a:p>
          <a:p>
            <a:pPr marL="156845">
              <a:lnSpc>
                <a:spcPct val="100000"/>
              </a:lnSpc>
              <a:spcBef>
                <a:spcPts val="5"/>
              </a:spcBef>
            </a:pPr>
            <a:r>
              <a:rPr dirty="0" sz="1000" spc="-10">
                <a:latin typeface="Microsoft Sans Serif"/>
                <a:cs typeface="Microsoft Sans Serif"/>
              </a:rPr>
              <a:t>VENDOR</a:t>
            </a:r>
            <a:endParaRPr sz="1000">
              <a:latin typeface="Microsoft Sans Serif"/>
              <a:cs typeface="Microsoft Sans Serif"/>
            </a:endParaRPr>
          </a:p>
        </p:txBody>
      </p:sp>
      <p:sp>
        <p:nvSpPr>
          <p:cNvPr id="37" name="object 37" descr=""/>
          <p:cNvSpPr/>
          <p:nvPr/>
        </p:nvSpPr>
        <p:spPr>
          <a:xfrm>
            <a:off x="4966703" y="4879847"/>
            <a:ext cx="1172210" cy="652780"/>
          </a:xfrm>
          <a:custGeom>
            <a:avLst/>
            <a:gdLst/>
            <a:ahLst/>
            <a:cxnLst/>
            <a:rect l="l" t="t" r="r" b="b"/>
            <a:pathLst>
              <a:path w="1172210" h="652779">
                <a:moveTo>
                  <a:pt x="1171956" y="51816"/>
                </a:moveTo>
                <a:lnTo>
                  <a:pt x="1166939" y="45720"/>
                </a:lnTo>
                <a:lnTo>
                  <a:pt x="1129284" y="0"/>
                </a:lnTo>
                <a:lnTo>
                  <a:pt x="1147572" y="45720"/>
                </a:lnTo>
                <a:lnTo>
                  <a:pt x="1150620" y="45720"/>
                </a:lnTo>
                <a:lnTo>
                  <a:pt x="1147572" y="45732"/>
                </a:lnTo>
                <a:lnTo>
                  <a:pt x="0" y="48768"/>
                </a:lnTo>
                <a:lnTo>
                  <a:pt x="0" y="62484"/>
                </a:lnTo>
                <a:lnTo>
                  <a:pt x="1148105" y="59448"/>
                </a:lnTo>
                <a:lnTo>
                  <a:pt x="1129284" y="105156"/>
                </a:lnTo>
                <a:lnTo>
                  <a:pt x="1165860" y="59436"/>
                </a:lnTo>
                <a:lnTo>
                  <a:pt x="1171956" y="51816"/>
                </a:lnTo>
                <a:close/>
              </a:path>
              <a:path w="1172210" h="652779">
                <a:moveTo>
                  <a:pt x="1171968" y="595896"/>
                </a:moveTo>
                <a:lnTo>
                  <a:pt x="24384" y="592861"/>
                </a:lnTo>
                <a:lnTo>
                  <a:pt x="21348" y="592848"/>
                </a:lnTo>
                <a:lnTo>
                  <a:pt x="24396" y="592848"/>
                </a:lnTo>
                <a:lnTo>
                  <a:pt x="42684" y="547128"/>
                </a:lnTo>
                <a:lnTo>
                  <a:pt x="12" y="600468"/>
                </a:lnTo>
                <a:lnTo>
                  <a:pt x="42684" y="652284"/>
                </a:lnTo>
                <a:lnTo>
                  <a:pt x="23850" y="606577"/>
                </a:lnTo>
                <a:lnTo>
                  <a:pt x="1170444" y="609612"/>
                </a:lnTo>
                <a:lnTo>
                  <a:pt x="1170774" y="606564"/>
                </a:lnTo>
                <a:lnTo>
                  <a:pt x="1171968" y="59589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8" name="object 38" descr=""/>
          <p:cNvSpPr txBox="1"/>
          <p:nvPr/>
        </p:nvSpPr>
        <p:spPr>
          <a:xfrm>
            <a:off x="5126245" y="5182601"/>
            <a:ext cx="876300" cy="48450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3970">
              <a:lnSpc>
                <a:spcPct val="100000"/>
              </a:lnSpc>
              <a:spcBef>
                <a:spcPts val="100"/>
              </a:spcBef>
            </a:pPr>
            <a:r>
              <a:rPr dirty="0" sz="1150" spc="-114">
                <a:latin typeface="Microsoft Sans Serif"/>
                <a:cs typeface="Microsoft Sans Serif"/>
              </a:rPr>
              <a:t>Purchase</a:t>
            </a:r>
            <a:r>
              <a:rPr dirty="0" sz="1150" spc="-10">
                <a:latin typeface="Microsoft Sans Serif"/>
                <a:cs typeface="Microsoft Sans Serif"/>
              </a:rPr>
              <a:t> </a:t>
            </a:r>
            <a:r>
              <a:rPr dirty="0" sz="1150" spc="-95">
                <a:latin typeface="Microsoft Sans Serif"/>
                <a:cs typeface="Microsoft Sans Serif"/>
              </a:rPr>
              <a:t>Order</a:t>
            </a:r>
            <a:endParaRPr sz="115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855"/>
              </a:spcBef>
            </a:pPr>
            <a:r>
              <a:rPr dirty="0" sz="1150" spc="-10">
                <a:latin typeface="Microsoft Sans Serif"/>
                <a:cs typeface="Microsoft Sans Serif"/>
              </a:rPr>
              <a:t>Payment</a:t>
            </a:r>
            <a:endParaRPr sz="1150">
              <a:latin typeface="Microsoft Sans Serif"/>
              <a:cs typeface="Microsoft Sans Serif"/>
            </a:endParaRPr>
          </a:p>
        </p:txBody>
      </p:sp>
      <p:sp>
        <p:nvSpPr>
          <p:cNvPr id="39" name="object 39" descr=""/>
          <p:cNvSpPr txBox="1"/>
          <p:nvPr/>
        </p:nvSpPr>
        <p:spPr>
          <a:xfrm>
            <a:off x="6848381" y="5094241"/>
            <a:ext cx="544830" cy="37782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 marR="5080" indent="54610">
              <a:lnSpc>
                <a:spcPct val="100899"/>
              </a:lnSpc>
              <a:spcBef>
                <a:spcPts val="90"/>
              </a:spcBef>
            </a:pPr>
            <a:r>
              <a:rPr dirty="0" sz="1150" spc="-10">
                <a:latin typeface="Microsoft Sans Serif"/>
                <a:cs typeface="Microsoft Sans Serif"/>
              </a:rPr>
              <a:t>Order </a:t>
            </a:r>
            <a:r>
              <a:rPr dirty="0" sz="1150" spc="-110">
                <a:latin typeface="Microsoft Sans Serif"/>
                <a:cs typeface="Microsoft Sans Serif"/>
              </a:rPr>
              <a:t>Decisions</a:t>
            </a:r>
            <a:endParaRPr sz="1150">
              <a:latin typeface="Microsoft Sans Serif"/>
              <a:cs typeface="Microsoft Sans Serif"/>
            </a:endParaRPr>
          </a:p>
        </p:txBody>
      </p:sp>
      <p:sp>
        <p:nvSpPr>
          <p:cNvPr id="40" name="object 40" descr=""/>
          <p:cNvSpPr/>
          <p:nvPr/>
        </p:nvSpPr>
        <p:spPr>
          <a:xfrm>
            <a:off x="4974335" y="5155692"/>
            <a:ext cx="1045844" cy="104139"/>
          </a:xfrm>
          <a:custGeom>
            <a:avLst/>
            <a:gdLst/>
            <a:ahLst/>
            <a:cxnLst/>
            <a:rect l="l" t="t" r="r" b="b"/>
            <a:pathLst>
              <a:path w="1045845" h="104139">
                <a:moveTo>
                  <a:pt x="42672" y="103632"/>
                </a:moveTo>
                <a:lnTo>
                  <a:pt x="0" y="51816"/>
                </a:lnTo>
                <a:lnTo>
                  <a:pt x="42672" y="0"/>
                </a:lnTo>
                <a:lnTo>
                  <a:pt x="23846" y="45720"/>
                </a:lnTo>
                <a:lnTo>
                  <a:pt x="21336" y="45720"/>
                </a:lnTo>
                <a:lnTo>
                  <a:pt x="21336" y="57912"/>
                </a:lnTo>
                <a:lnTo>
                  <a:pt x="23846" y="57912"/>
                </a:lnTo>
                <a:lnTo>
                  <a:pt x="42672" y="103632"/>
                </a:lnTo>
                <a:close/>
              </a:path>
              <a:path w="1045845" h="104139">
                <a:moveTo>
                  <a:pt x="21336" y="51816"/>
                </a:moveTo>
                <a:lnTo>
                  <a:pt x="21336" y="45720"/>
                </a:lnTo>
                <a:lnTo>
                  <a:pt x="23846" y="45720"/>
                </a:lnTo>
                <a:lnTo>
                  <a:pt x="21336" y="51816"/>
                </a:lnTo>
                <a:close/>
              </a:path>
              <a:path w="1045845" h="104139">
                <a:moveTo>
                  <a:pt x="1045464" y="57912"/>
                </a:moveTo>
                <a:lnTo>
                  <a:pt x="23846" y="57912"/>
                </a:lnTo>
                <a:lnTo>
                  <a:pt x="21336" y="51816"/>
                </a:lnTo>
                <a:lnTo>
                  <a:pt x="23846" y="45720"/>
                </a:lnTo>
                <a:lnTo>
                  <a:pt x="1045464" y="45720"/>
                </a:lnTo>
                <a:lnTo>
                  <a:pt x="1045464" y="57912"/>
                </a:lnTo>
                <a:close/>
              </a:path>
              <a:path w="1045845" h="104139">
                <a:moveTo>
                  <a:pt x="23846" y="57912"/>
                </a:moveTo>
                <a:lnTo>
                  <a:pt x="21336" y="57912"/>
                </a:lnTo>
                <a:lnTo>
                  <a:pt x="21336" y="51816"/>
                </a:lnTo>
                <a:lnTo>
                  <a:pt x="23846" y="5791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1" name="object 41" descr=""/>
          <p:cNvSpPr txBox="1"/>
          <p:nvPr/>
        </p:nvSpPr>
        <p:spPr>
          <a:xfrm>
            <a:off x="4992122" y="4722409"/>
            <a:ext cx="915035" cy="2012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50" spc="-114">
                <a:latin typeface="Microsoft Sans Serif"/>
                <a:cs typeface="Microsoft Sans Serif"/>
              </a:rPr>
              <a:t>Received</a:t>
            </a:r>
            <a:r>
              <a:rPr dirty="0" sz="1150" spc="-5">
                <a:latin typeface="Microsoft Sans Serif"/>
                <a:cs typeface="Microsoft Sans Serif"/>
              </a:rPr>
              <a:t> </a:t>
            </a:r>
            <a:r>
              <a:rPr dirty="0" sz="1150" spc="-105">
                <a:latin typeface="Microsoft Sans Serif"/>
                <a:cs typeface="Microsoft Sans Serif"/>
              </a:rPr>
              <a:t>Goods</a:t>
            </a:r>
            <a:endParaRPr sz="1150">
              <a:latin typeface="Microsoft Sans Serif"/>
              <a:cs typeface="Microsoft Sans Serif"/>
            </a:endParaRPr>
          </a:p>
        </p:txBody>
      </p:sp>
      <p:sp>
        <p:nvSpPr>
          <p:cNvPr id="42" name="object 42" descr=""/>
          <p:cNvSpPr txBox="1"/>
          <p:nvPr/>
        </p:nvSpPr>
        <p:spPr>
          <a:xfrm>
            <a:off x="7326877" y="5655071"/>
            <a:ext cx="735965" cy="2012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50" spc="-135">
                <a:latin typeface="Microsoft Sans Serif"/>
                <a:cs typeface="Microsoft Sans Serif"/>
              </a:rPr>
              <a:t>Time</a:t>
            </a:r>
            <a:r>
              <a:rPr dirty="0" sz="1150">
                <a:latin typeface="Microsoft Sans Serif"/>
                <a:cs typeface="Microsoft Sans Serif"/>
              </a:rPr>
              <a:t> </a:t>
            </a:r>
            <a:r>
              <a:rPr dirty="0" sz="1150" spc="-114">
                <a:latin typeface="Microsoft Sans Serif"/>
                <a:cs typeface="Microsoft Sans Serif"/>
              </a:rPr>
              <a:t>Worked</a:t>
            </a:r>
            <a:endParaRPr sz="1150">
              <a:latin typeface="Microsoft Sans Serif"/>
              <a:cs typeface="Microsoft Sans Serif"/>
            </a:endParaRPr>
          </a:p>
        </p:txBody>
      </p:sp>
      <p:sp>
        <p:nvSpPr>
          <p:cNvPr id="43" name="object 43" descr=""/>
          <p:cNvSpPr/>
          <p:nvPr/>
        </p:nvSpPr>
        <p:spPr>
          <a:xfrm>
            <a:off x="4974323" y="4242815"/>
            <a:ext cx="3490595" cy="1979930"/>
          </a:xfrm>
          <a:custGeom>
            <a:avLst/>
            <a:gdLst/>
            <a:ahLst/>
            <a:cxnLst/>
            <a:rect l="l" t="t" r="r" b="b"/>
            <a:pathLst>
              <a:path w="3490595" h="1979929">
                <a:moveTo>
                  <a:pt x="1045476" y="47244"/>
                </a:moveTo>
                <a:lnTo>
                  <a:pt x="23774" y="47244"/>
                </a:lnTo>
                <a:lnTo>
                  <a:pt x="42672" y="0"/>
                </a:lnTo>
                <a:lnTo>
                  <a:pt x="0" y="53340"/>
                </a:lnTo>
                <a:lnTo>
                  <a:pt x="42672" y="105156"/>
                </a:lnTo>
                <a:lnTo>
                  <a:pt x="23850" y="59436"/>
                </a:lnTo>
                <a:lnTo>
                  <a:pt x="1045476" y="59436"/>
                </a:lnTo>
                <a:lnTo>
                  <a:pt x="1045476" y="47244"/>
                </a:lnTo>
                <a:close/>
              </a:path>
              <a:path w="3490595" h="1979929">
                <a:moveTo>
                  <a:pt x="3489972" y="397764"/>
                </a:moveTo>
                <a:lnTo>
                  <a:pt x="3480828" y="387096"/>
                </a:lnTo>
                <a:lnTo>
                  <a:pt x="1840547" y="1945373"/>
                </a:lnTo>
                <a:lnTo>
                  <a:pt x="1840547" y="1957311"/>
                </a:lnTo>
                <a:lnTo>
                  <a:pt x="1839480" y="1956816"/>
                </a:lnTo>
                <a:lnTo>
                  <a:pt x="1838909" y="1955393"/>
                </a:lnTo>
                <a:lnTo>
                  <a:pt x="1840547" y="1957311"/>
                </a:lnTo>
                <a:lnTo>
                  <a:pt x="1840547" y="1945373"/>
                </a:lnTo>
                <a:lnTo>
                  <a:pt x="1836445" y="1949259"/>
                </a:lnTo>
                <a:lnTo>
                  <a:pt x="1818144" y="1903476"/>
                </a:lnTo>
                <a:lnTo>
                  <a:pt x="1824240" y="1970532"/>
                </a:lnTo>
                <a:lnTo>
                  <a:pt x="1889772" y="1979676"/>
                </a:lnTo>
                <a:lnTo>
                  <a:pt x="1849539" y="1961388"/>
                </a:lnTo>
                <a:lnTo>
                  <a:pt x="1845818" y="1959711"/>
                </a:lnTo>
                <a:lnTo>
                  <a:pt x="3489972" y="39776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4" name="object 44" descr=""/>
          <p:cNvSpPr txBox="1"/>
          <p:nvPr/>
        </p:nvSpPr>
        <p:spPr>
          <a:xfrm>
            <a:off x="6488692" y="4658383"/>
            <a:ext cx="520065" cy="2012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50" spc="-95">
                <a:latin typeface="Microsoft Sans Serif"/>
                <a:cs typeface="Microsoft Sans Serif"/>
              </a:rPr>
              <a:t>Inventory</a:t>
            </a:r>
            <a:endParaRPr sz="1150">
              <a:latin typeface="Microsoft Sans Serif"/>
              <a:cs typeface="Microsoft Sans Serif"/>
            </a:endParaRPr>
          </a:p>
        </p:txBody>
      </p:sp>
      <p:sp>
        <p:nvSpPr>
          <p:cNvPr id="45" name="object 45" descr=""/>
          <p:cNvSpPr txBox="1"/>
          <p:nvPr/>
        </p:nvSpPr>
        <p:spPr>
          <a:xfrm>
            <a:off x="5132318" y="4333789"/>
            <a:ext cx="855980" cy="2012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50" spc="-114">
                <a:latin typeface="Microsoft Sans Serif"/>
                <a:cs typeface="Microsoft Sans Serif"/>
              </a:rPr>
              <a:t>Product</a:t>
            </a:r>
            <a:r>
              <a:rPr dirty="0" sz="1150" spc="30">
                <a:latin typeface="Microsoft Sans Serif"/>
                <a:cs typeface="Microsoft Sans Serif"/>
              </a:rPr>
              <a:t> </a:t>
            </a:r>
            <a:r>
              <a:rPr dirty="0" sz="1150" spc="-95">
                <a:latin typeface="Microsoft Sans Serif"/>
                <a:cs typeface="Microsoft Sans Serif"/>
              </a:rPr>
              <a:t>Served</a:t>
            </a:r>
            <a:endParaRPr sz="1150">
              <a:latin typeface="Microsoft Sans Serif"/>
              <a:cs typeface="Microsoft Sans Serif"/>
            </a:endParaRPr>
          </a:p>
        </p:txBody>
      </p:sp>
      <p:sp>
        <p:nvSpPr>
          <p:cNvPr id="46" name="object 46" descr=""/>
          <p:cNvSpPr/>
          <p:nvPr/>
        </p:nvSpPr>
        <p:spPr>
          <a:xfrm>
            <a:off x="6035039" y="5835396"/>
            <a:ext cx="754380" cy="754380"/>
          </a:xfrm>
          <a:custGeom>
            <a:avLst/>
            <a:gdLst/>
            <a:ahLst/>
            <a:cxnLst/>
            <a:rect l="l" t="t" r="r" b="b"/>
            <a:pathLst>
              <a:path w="754379" h="754379">
                <a:moveTo>
                  <a:pt x="0" y="377951"/>
                </a:moveTo>
                <a:lnTo>
                  <a:pt x="2943" y="330532"/>
                </a:lnTo>
                <a:lnTo>
                  <a:pt x="11539" y="284873"/>
                </a:lnTo>
                <a:lnTo>
                  <a:pt x="25434" y="241328"/>
                </a:lnTo>
                <a:lnTo>
                  <a:pt x="44272" y="200252"/>
                </a:lnTo>
                <a:lnTo>
                  <a:pt x="67702" y="161997"/>
                </a:lnTo>
                <a:lnTo>
                  <a:pt x="95368" y="126918"/>
                </a:lnTo>
                <a:lnTo>
                  <a:pt x="126918" y="95368"/>
                </a:lnTo>
                <a:lnTo>
                  <a:pt x="161997" y="67702"/>
                </a:lnTo>
                <a:lnTo>
                  <a:pt x="200252" y="44272"/>
                </a:lnTo>
                <a:lnTo>
                  <a:pt x="241328" y="25434"/>
                </a:lnTo>
                <a:lnTo>
                  <a:pt x="284873" y="11539"/>
                </a:lnTo>
                <a:lnTo>
                  <a:pt x="330532" y="2943"/>
                </a:lnTo>
                <a:lnTo>
                  <a:pt x="377952" y="0"/>
                </a:lnTo>
                <a:lnTo>
                  <a:pt x="425345" y="2943"/>
                </a:lnTo>
                <a:lnTo>
                  <a:pt x="470933" y="11539"/>
                </a:lnTo>
                <a:lnTo>
                  <a:pt x="514369" y="25434"/>
                </a:lnTo>
                <a:lnTo>
                  <a:pt x="555307" y="44272"/>
                </a:lnTo>
                <a:lnTo>
                  <a:pt x="593403" y="67702"/>
                </a:lnTo>
                <a:lnTo>
                  <a:pt x="628311" y="95368"/>
                </a:lnTo>
                <a:lnTo>
                  <a:pt x="659685" y="126918"/>
                </a:lnTo>
                <a:lnTo>
                  <a:pt x="687180" y="161997"/>
                </a:lnTo>
                <a:lnTo>
                  <a:pt x="710451" y="200252"/>
                </a:lnTo>
                <a:lnTo>
                  <a:pt x="729151" y="241328"/>
                </a:lnTo>
                <a:lnTo>
                  <a:pt x="742937" y="284873"/>
                </a:lnTo>
                <a:lnTo>
                  <a:pt x="751461" y="330532"/>
                </a:lnTo>
                <a:lnTo>
                  <a:pt x="754379" y="377951"/>
                </a:lnTo>
                <a:lnTo>
                  <a:pt x="751461" y="425345"/>
                </a:lnTo>
                <a:lnTo>
                  <a:pt x="742937" y="470933"/>
                </a:lnTo>
                <a:lnTo>
                  <a:pt x="729151" y="514369"/>
                </a:lnTo>
                <a:lnTo>
                  <a:pt x="710451" y="555307"/>
                </a:lnTo>
                <a:lnTo>
                  <a:pt x="687180" y="593403"/>
                </a:lnTo>
                <a:lnTo>
                  <a:pt x="659685" y="628311"/>
                </a:lnTo>
                <a:lnTo>
                  <a:pt x="628311" y="659685"/>
                </a:lnTo>
                <a:lnTo>
                  <a:pt x="593403" y="687180"/>
                </a:lnTo>
                <a:lnTo>
                  <a:pt x="555307" y="710451"/>
                </a:lnTo>
                <a:lnTo>
                  <a:pt x="514369" y="729151"/>
                </a:lnTo>
                <a:lnTo>
                  <a:pt x="470933" y="742937"/>
                </a:lnTo>
                <a:lnTo>
                  <a:pt x="425345" y="751461"/>
                </a:lnTo>
                <a:lnTo>
                  <a:pt x="377952" y="754379"/>
                </a:lnTo>
                <a:lnTo>
                  <a:pt x="330532" y="751461"/>
                </a:lnTo>
                <a:lnTo>
                  <a:pt x="284873" y="742937"/>
                </a:lnTo>
                <a:lnTo>
                  <a:pt x="241328" y="729151"/>
                </a:lnTo>
                <a:lnTo>
                  <a:pt x="200252" y="710451"/>
                </a:lnTo>
                <a:lnTo>
                  <a:pt x="161997" y="687180"/>
                </a:lnTo>
                <a:lnTo>
                  <a:pt x="126918" y="659685"/>
                </a:lnTo>
                <a:lnTo>
                  <a:pt x="95368" y="628311"/>
                </a:lnTo>
                <a:lnTo>
                  <a:pt x="67702" y="593403"/>
                </a:lnTo>
                <a:lnTo>
                  <a:pt x="44272" y="555307"/>
                </a:lnTo>
                <a:lnTo>
                  <a:pt x="25434" y="514369"/>
                </a:lnTo>
                <a:lnTo>
                  <a:pt x="11539" y="470933"/>
                </a:lnTo>
                <a:lnTo>
                  <a:pt x="2943" y="425345"/>
                </a:lnTo>
                <a:lnTo>
                  <a:pt x="0" y="377951"/>
                </a:lnTo>
              </a:path>
            </a:pathLst>
          </a:custGeom>
          <a:ln w="1524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7" name="object 47" descr=""/>
          <p:cNvSpPr txBox="1"/>
          <p:nvPr/>
        </p:nvSpPr>
        <p:spPr>
          <a:xfrm>
            <a:off x="6243289" y="6046697"/>
            <a:ext cx="343535" cy="32829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ctr">
              <a:lnSpc>
                <a:spcPts val="1195"/>
              </a:lnSpc>
              <a:spcBef>
                <a:spcPts val="95"/>
              </a:spcBef>
            </a:pPr>
            <a:r>
              <a:rPr dirty="0" u="sng" sz="1000" spc="-25">
                <a:uFill>
                  <a:solidFill>
                    <a:srgbClr val="000000"/>
                  </a:solidFill>
                </a:uFill>
                <a:latin typeface="Microsoft Sans Serif"/>
                <a:cs typeface="Microsoft Sans Serif"/>
              </a:rPr>
              <a:t>4.0</a:t>
            </a:r>
            <a:endParaRPr sz="1000">
              <a:latin typeface="Microsoft Sans Serif"/>
              <a:cs typeface="Microsoft Sans Serif"/>
            </a:endParaRPr>
          </a:p>
          <a:p>
            <a:pPr algn="ctr">
              <a:lnSpc>
                <a:spcPts val="1195"/>
              </a:lnSpc>
            </a:pPr>
            <a:r>
              <a:rPr dirty="0" sz="1000" spc="-65">
                <a:latin typeface="Microsoft Sans Serif"/>
                <a:cs typeface="Microsoft Sans Serif"/>
              </a:rPr>
              <a:t>Payroll</a:t>
            </a:r>
            <a:endParaRPr sz="10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6658356" y="4005071"/>
            <a:ext cx="2050414" cy="2660650"/>
            <a:chOff x="6658356" y="4005071"/>
            <a:chExt cx="2050414" cy="2660650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973824" y="4760976"/>
              <a:ext cx="1734723" cy="1904304"/>
            </a:xfrm>
            <a:prstGeom prst="rect">
              <a:avLst/>
            </a:prstGeom>
          </p:spPr>
        </p:pic>
        <p:sp>
          <p:nvSpPr>
            <p:cNvPr id="4" name="object 4" descr=""/>
            <p:cNvSpPr/>
            <p:nvPr/>
          </p:nvSpPr>
          <p:spPr>
            <a:xfrm>
              <a:off x="6658356" y="4664963"/>
              <a:ext cx="326390" cy="481965"/>
            </a:xfrm>
            <a:custGeom>
              <a:avLst/>
              <a:gdLst/>
              <a:ahLst/>
              <a:cxnLst/>
              <a:rect l="l" t="t" r="r" b="b"/>
              <a:pathLst>
                <a:path w="326390" h="481964">
                  <a:moveTo>
                    <a:pt x="286975" y="16934"/>
                  </a:moveTo>
                  <a:lnTo>
                    <a:pt x="237744" y="7620"/>
                  </a:lnTo>
                  <a:lnTo>
                    <a:pt x="304799" y="0"/>
                  </a:lnTo>
                  <a:lnTo>
                    <a:pt x="309880" y="15240"/>
                  </a:lnTo>
                  <a:lnTo>
                    <a:pt x="288035" y="15240"/>
                  </a:lnTo>
                  <a:lnTo>
                    <a:pt x="286975" y="16934"/>
                  </a:lnTo>
                  <a:close/>
                </a:path>
                <a:path w="326390" h="481964">
                  <a:moveTo>
                    <a:pt x="292992" y="18072"/>
                  </a:moveTo>
                  <a:lnTo>
                    <a:pt x="286975" y="16934"/>
                  </a:lnTo>
                  <a:lnTo>
                    <a:pt x="288035" y="15240"/>
                  </a:lnTo>
                  <a:lnTo>
                    <a:pt x="292992" y="18072"/>
                  </a:lnTo>
                  <a:close/>
                </a:path>
                <a:path w="326390" h="481964">
                  <a:moveTo>
                    <a:pt x="326136" y="64008"/>
                  </a:moveTo>
                  <a:lnTo>
                    <a:pt x="297556" y="23179"/>
                  </a:lnTo>
                  <a:lnTo>
                    <a:pt x="298704" y="21336"/>
                  </a:lnTo>
                  <a:lnTo>
                    <a:pt x="294640" y="19013"/>
                  </a:lnTo>
                  <a:lnTo>
                    <a:pt x="294132" y="18288"/>
                  </a:lnTo>
                  <a:lnTo>
                    <a:pt x="292992" y="18072"/>
                  </a:lnTo>
                  <a:lnTo>
                    <a:pt x="288035" y="15240"/>
                  </a:lnTo>
                  <a:lnTo>
                    <a:pt x="309880" y="15240"/>
                  </a:lnTo>
                  <a:lnTo>
                    <a:pt x="326136" y="64008"/>
                  </a:lnTo>
                  <a:close/>
                </a:path>
                <a:path w="326390" h="481964">
                  <a:moveTo>
                    <a:pt x="12192" y="481584"/>
                  </a:moveTo>
                  <a:lnTo>
                    <a:pt x="0" y="475488"/>
                  </a:lnTo>
                  <a:lnTo>
                    <a:pt x="286975" y="16934"/>
                  </a:lnTo>
                  <a:lnTo>
                    <a:pt x="292992" y="18072"/>
                  </a:lnTo>
                  <a:lnTo>
                    <a:pt x="294640" y="19013"/>
                  </a:lnTo>
                  <a:lnTo>
                    <a:pt x="297556" y="23179"/>
                  </a:lnTo>
                  <a:lnTo>
                    <a:pt x="12192" y="481584"/>
                  </a:lnTo>
                  <a:close/>
                </a:path>
                <a:path w="326390" h="481964">
                  <a:moveTo>
                    <a:pt x="297556" y="23179"/>
                  </a:moveTo>
                  <a:lnTo>
                    <a:pt x="294640" y="19013"/>
                  </a:lnTo>
                  <a:lnTo>
                    <a:pt x="298704" y="21336"/>
                  </a:lnTo>
                  <a:lnTo>
                    <a:pt x="297556" y="2317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6853428" y="4012691"/>
              <a:ext cx="754380" cy="754380"/>
            </a:xfrm>
            <a:custGeom>
              <a:avLst/>
              <a:gdLst/>
              <a:ahLst/>
              <a:cxnLst/>
              <a:rect l="l" t="t" r="r" b="b"/>
              <a:pathLst>
                <a:path w="754379" h="754379">
                  <a:moveTo>
                    <a:pt x="0" y="377951"/>
                  </a:moveTo>
                  <a:lnTo>
                    <a:pt x="2943" y="330532"/>
                  </a:lnTo>
                  <a:lnTo>
                    <a:pt x="11534" y="284873"/>
                  </a:lnTo>
                  <a:lnTo>
                    <a:pt x="25415" y="241328"/>
                  </a:lnTo>
                  <a:lnTo>
                    <a:pt x="44228" y="200252"/>
                  </a:lnTo>
                  <a:lnTo>
                    <a:pt x="67615" y="161997"/>
                  </a:lnTo>
                  <a:lnTo>
                    <a:pt x="95219" y="126918"/>
                  </a:lnTo>
                  <a:lnTo>
                    <a:pt x="126680" y="95368"/>
                  </a:lnTo>
                  <a:lnTo>
                    <a:pt x="161642" y="67702"/>
                  </a:lnTo>
                  <a:lnTo>
                    <a:pt x="199746" y="44272"/>
                  </a:lnTo>
                  <a:lnTo>
                    <a:pt x="240635" y="25434"/>
                  </a:lnTo>
                  <a:lnTo>
                    <a:pt x="283950" y="11539"/>
                  </a:lnTo>
                  <a:lnTo>
                    <a:pt x="329333" y="2943"/>
                  </a:lnTo>
                  <a:lnTo>
                    <a:pt x="376428" y="0"/>
                  </a:lnTo>
                  <a:lnTo>
                    <a:pt x="423847" y="2943"/>
                  </a:lnTo>
                  <a:lnTo>
                    <a:pt x="469506" y="11539"/>
                  </a:lnTo>
                  <a:lnTo>
                    <a:pt x="513051" y="25434"/>
                  </a:lnTo>
                  <a:lnTo>
                    <a:pt x="554127" y="44272"/>
                  </a:lnTo>
                  <a:lnTo>
                    <a:pt x="592382" y="67702"/>
                  </a:lnTo>
                  <a:lnTo>
                    <a:pt x="627461" y="95368"/>
                  </a:lnTo>
                  <a:lnTo>
                    <a:pt x="659011" y="126918"/>
                  </a:lnTo>
                  <a:lnTo>
                    <a:pt x="686677" y="161997"/>
                  </a:lnTo>
                  <a:lnTo>
                    <a:pt x="710106" y="200252"/>
                  </a:lnTo>
                  <a:lnTo>
                    <a:pt x="728945" y="241328"/>
                  </a:lnTo>
                  <a:lnTo>
                    <a:pt x="742840" y="284873"/>
                  </a:lnTo>
                  <a:lnTo>
                    <a:pt x="751436" y="330532"/>
                  </a:lnTo>
                  <a:lnTo>
                    <a:pt x="754379" y="377951"/>
                  </a:lnTo>
                  <a:lnTo>
                    <a:pt x="751436" y="425046"/>
                  </a:lnTo>
                  <a:lnTo>
                    <a:pt x="742840" y="470429"/>
                  </a:lnTo>
                  <a:lnTo>
                    <a:pt x="728945" y="513744"/>
                  </a:lnTo>
                  <a:lnTo>
                    <a:pt x="710106" y="554633"/>
                  </a:lnTo>
                  <a:lnTo>
                    <a:pt x="686677" y="592737"/>
                  </a:lnTo>
                  <a:lnTo>
                    <a:pt x="659011" y="627699"/>
                  </a:lnTo>
                  <a:lnTo>
                    <a:pt x="627461" y="659160"/>
                  </a:lnTo>
                  <a:lnTo>
                    <a:pt x="592382" y="686764"/>
                  </a:lnTo>
                  <a:lnTo>
                    <a:pt x="554127" y="710151"/>
                  </a:lnTo>
                  <a:lnTo>
                    <a:pt x="513051" y="728964"/>
                  </a:lnTo>
                  <a:lnTo>
                    <a:pt x="469506" y="742845"/>
                  </a:lnTo>
                  <a:lnTo>
                    <a:pt x="423847" y="751436"/>
                  </a:lnTo>
                  <a:lnTo>
                    <a:pt x="376428" y="754379"/>
                  </a:lnTo>
                  <a:lnTo>
                    <a:pt x="329333" y="751436"/>
                  </a:lnTo>
                  <a:lnTo>
                    <a:pt x="283950" y="742845"/>
                  </a:lnTo>
                  <a:lnTo>
                    <a:pt x="240635" y="728964"/>
                  </a:lnTo>
                  <a:lnTo>
                    <a:pt x="199746" y="710151"/>
                  </a:lnTo>
                  <a:lnTo>
                    <a:pt x="161642" y="686764"/>
                  </a:lnTo>
                  <a:lnTo>
                    <a:pt x="126680" y="659160"/>
                  </a:lnTo>
                  <a:lnTo>
                    <a:pt x="95219" y="627699"/>
                  </a:lnTo>
                  <a:lnTo>
                    <a:pt x="67615" y="592737"/>
                  </a:lnTo>
                  <a:lnTo>
                    <a:pt x="44228" y="554633"/>
                  </a:lnTo>
                  <a:lnTo>
                    <a:pt x="25415" y="513744"/>
                  </a:lnTo>
                  <a:lnTo>
                    <a:pt x="11534" y="470429"/>
                  </a:lnTo>
                  <a:lnTo>
                    <a:pt x="2943" y="425046"/>
                  </a:lnTo>
                  <a:lnTo>
                    <a:pt x="0" y="377951"/>
                  </a:lnTo>
                </a:path>
              </a:pathLst>
            </a:custGeom>
            <a:ln w="1524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7145">
              <a:lnSpc>
                <a:spcPct val="100000"/>
              </a:lnSpc>
              <a:spcBef>
                <a:spcPts val="125"/>
              </a:spcBef>
            </a:pPr>
            <a:r>
              <a:rPr dirty="0"/>
              <a:t>Creating</a:t>
            </a:r>
            <a:r>
              <a:rPr dirty="0" spc="20"/>
              <a:t> </a:t>
            </a:r>
            <a:r>
              <a:rPr dirty="0"/>
              <a:t>Data</a:t>
            </a:r>
            <a:r>
              <a:rPr dirty="0" spc="50"/>
              <a:t> </a:t>
            </a:r>
            <a:r>
              <a:rPr dirty="0"/>
              <a:t>Flow</a:t>
            </a:r>
            <a:r>
              <a:rPr dirty="0" spc="30"/>
              <a:t> </a:t>
            </a:r>
            <a:r>
              <a:rPr dirty="0" spc="-10"/>
              <a:t>Diagrams</a:t>
            </a:r>
          </a:p>
        </p:txBody>
      </p:sp>
      <p:grpSp>
        <p:nvGrpSpPr>
          <p:cNvPr id="7" name="object 7" descr=""/>
          <p:cNvGrpSpPr/>
          <p:nvPr/>
        </p:nvGrpSpPr>
        <p:grpSpPr>
          <a:xfrm>
            <a:off x="4020311" y="2063495"/>
            <a:ext cx="7620" cy="4464050"/>
            <a:chOff x="4020311" y="2063495"/>
            <a:chExt cx="7620" cy="4464050"/>
          </a:xfrm>
        </p:grpSpPr>
        <p:sp>
          <p:nvSpPr>
            <p:cNvPr id="8" name="object 8" descr=""/>
            <p:cNvSpPr/>
            <p:nvPr/>
          </p:nvSpPr>
          <p:spPr>
            <a:xfrm>
              <a:off x="4024121" y="4901184"/>
              <a:ext cx="0" cy="1626235"/>
            </a:xfrm>
            <a:custGeom>
              <a:avLst/>
              <a:gdLst/>
              <a:ahLst/>
              <a:cxnLst/>
              <a:rect l="l" t="t" r="r" b="b"/>
              <a:pathLst>
                <a:path w="0" h="1626234">
                  <a:moveTo>
                    <a:pt x="0" y="0"/>
                  </a:moveTo>
                  <a:lnTo>
                    <a:pt x="0" y="1626108"/>
                  </a:lnTo>
                </a:path>
              </a:pathLst>
            </a:custGeom>
            <a:ln w="7620">
              <a:solidFill>
                <a:srgbClr val="954F72"/>
              </a:solidFill>
              <a:prstDash val="sys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4020311" y="4351020"/>
              <a:ext cx="7620" cy="525780"/>
            </a:xfrm>
            <a:custGeom>
              <a:avLst/>
              <a:gdLst/>
              <a:ahLst/>
              <a:cxnLst/>
              <a:rect l="l" t="t" r="r" b="b"/>
              <a:pathLst>
                <a:path w="7620" h="525779">
                  <a:moveTo>
                    <a:pt x="7620" y="525780"/>
                  </a:moveTo>
                  <a:lnTo>
                    <a:pt x="0" y="525780"/>
                  </a:lnTo>
                  <a:lnTo>
                    <a:pt x="0" y="495300"/>
                  </a:lnTo>
                  <a:lnTo>
                    <a:pt x="7620" y="495300"/>
                  </a:lnTo>
                  <a:lnTo>
                    <a:pt x="7620" y="525780"/>
                  </a:lnTo>
                  <a:close/>
                </a:path>
                <a:path w="7620" h="525779">
                  <a:moveTo>
                    <a:pt x="7620" y="470916"/>
                  </a:moveTo>
                  <a:lnTo>
                    <a:pt x="0" y="470916"/>
                  </a:lnTo>
                  <a:lnTo>
                    <a:pt x="0" y="440436"/>
                  </a:lnTo>
                  <a:lnTo>
                    <a:pt x="7620" y="440436"/>
                  </a:lnTo>
                  <a:lnTo>
                    <a:pt x="7620" y="470916"/>
                  </a:lnTo>
                  <a:close/>
                </a:path>
                <a:path w="7620" h="525779">
                  <a:moveTo>
                    <a:pt x="7620" y="416052"/>
                  </a:moveTo>
                  <a:lnTo>
                    <a:pt x="0" y="416052"/>
                  </a:lnTo>
                  <a:lnTo>
                    <a:pt x="0" y="385572"/>
                  </a:lnTo>
                  <a:lnTo>
                    <a:pt x="7620" y="385572"/>
                  </a:lnTo>
                  <a:lnTo>
                    <a:pt x="7620" y="416052"/>
                  </a:lnTo>
                  <a:close/>
                </a:path>
                <a:path w="7620" h="525779">
                  <a:moveTo>
                    <a:pt x="7620" y="361188"/>
                  </a:moveTo>
                  <a:lnTo>
                    <a:pt x="0" y="361188"/>
                  </a:lnTo>
                  <a:lnTo>
                    <a:pt x="0" y="329184"/>
                  </a:lnTo>
                  <a:lnTo>
                    <a:pt x="7620" y="330708"/>
                  </a:lnTo>
                  <a:lnTo>
                    <a:pt x="7620" y="361188"/>
                  </a:lnTo>
                  <a:close/>
                </a:path>
                <a:path w="7620" h="525779">
                  <a:moveTo>
                    <a:pt x="7620" y="306324"/>
                  </a:moveTo>
                  <a:lnTo>
                    <a:pt x="0" y="306324"/>
                  </a:lnTo>
                  <a:lnTo>
                    <a:pt x="0" y="274320"/>
                  </a:lnTo>
                  <a:lnTo>
                    <a:pt x="7620" y="274320"/>
                  </a:lnTo>
                  <a:lnTo>
                    <a:pt x="7620" y="306324"/>
                  </a:lnTo>
                  <a:close/>
                </a:path>
                <a:path w="7620" h="525779">
                  <a:moveTo>
                    <a:pt x="7620" y="251460"/>
                  </a:moveTo>
                  <a:lnTo>
                    <a:pt x="0" y="251460"/>
                  </a:lnTo>
                  <a:lnTo>
                    <a:pt x="0" y="219456"/>
                  </a:lnTo>
                  <a:lnTo>
                    <a:pt x="7620" y="219456"/>
                  </a:lnTo>
                  <a:lnTo>
                    <a:pt x="7620" y="251460"/>
                  </a:lnTo>
                  <a:close/>
                </a:path>
                <a:path w="7620" h="525779">
                  <a:moveTo>
                    <a:pt x="7620" y="196596"/>
                  </a:moveTo>
                  <a:lnTo>
                    <a:pt x="0" y="196596"/>
                  </a:lnTo>
                  <a:lnTo>
                    <a:pt x="0" y="164592"/>
                  </a:lnTo>
                  <a:lnTo>
                    <a:pt x="7620" y="164592"/>
                  </a:lnTo>
                  <a:lnTo>
                    <a:pt x="7620" y="196596"/>
                  </a:lnTo>
                  <a:close/>
                </a:path>
                <a:path w="7620" h="525779">
                  <a:moveTo>
                    <a:pt x="7620" y="141732"/>
                  </a:moveTo>
                  <a:lnTo>
                    <a:pt x="0" y="141732"/>
                  </a:lnTo>
                  <a:lnTo>
                    <a:pt x="0" y="109728"/>
                  </a:lnTo>
                  <a:lnTo>
                    <a:pt x="7620" y="109728"/>
                  </a:lnTo>
                  <a:lnTo>
                    <a:pt x="7620" y="141732"/>
                  </a:lnTo>
                  <a:close/>
                </a:path>
                <a:path w="7620" h="525779">
                  <a:moveTo>
                    <a:pt x="7620" y="86867"/>
                  </a:moveTo>
                  <a:lnTo>
                    <a:pt x="0" y="86867"/>
                  </a:lnTo>
                  <a:lnTo>
                    <a:pt x="0" y="54864"/>
                  </a:lnTo>
                  <a:lnTo>
                    <a:pt x="7620" y="54864"/>
                  </a:lnTo>
                  <a:lnTo>
                    <a:pt x="7620" y="86867"/>
                  </a:lnTo>
                  <a:close/>
                </a:path>
                <a:path w="7620" h="525779">
                  <a:moveTo>
                    <a:pt x="7620" y="32004"/>
                  </a:moveTo>
                  <a:lnTo>
                    <a:pt x="0" y="32004"/>
                  </a:lnTo>
                  <a:lnTo>
                    <a:pt x="0" y="0"/>
                  </a:lnTo>
                  <a:lnTo>
                    <a:pt x="7620" y="0"/>
                  </a:lnTo>
                  <a:lnTo>
                    <a:pt x="7620" y="32004"/>
                  </a:lnTo>
                  <a:close/>
                </a:path>
              </a:pathLst>
            </a:custGeom>
            <a:solidFill>
              <a:srgbClr val="954F7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4024121" y="2095499"/>
              <a:ext cx="0" cy="2231390"/>
            </a:xfrm>
            <a:custGeom>
              <a:avLst/>
              <a:gdLst/>
              <a:ahLst/>
              <a:cxnLst/>
              <a:rect l="l" t="t" r="r" b="b"/>
              <a:pathLst>
                <a:path w="0" h="2231390">
                  <a:moveTo>
                    <a:pt x="0" y="0"/>
                  </a:moveTo>
                  <a:lnTo>
                    <a:pt x="0" y="2231135"/>
                  </a:lnTo>
                </a:path>
              </a:pathLst>
            </a:custGeom>
            <a:ln w="7620">
              <a:solidFill>
                <a:srgbClr val="954F72"/>
              </a:solidFill>
              <a:prstDash val="sys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4020311" y="2063495"/>
              <a:ext cx="7620" cy="9525"/>
            </a:xfrm>
            <a:custGeom>
              <a:avLst/>
              <a:gdLst/>
              <a:ahLst/>
              <a:cxnLst/>
              <a:rect l="l" t="t" r="r" b="b"/>
              <a:pathLst>
                <a:path w="7620" h="9525">
                  <a:moveTo>
                    <a:pt x="7620" y="9144"/>
                  </a:moveTo>
                  <a:lnTo>
                    <a:pt x="0" y="9144"/>
                  </a:lnTo>
                  <a:lnTo>
                    <a:pt x="0" y="0"/>
                  </a:lnTo>
                  <a:lnTo>
                    <a:pt x="7620" y="0"/>
                  </a:lnTo>
                  <a:lnTo>
                    <a:pt x="7620" y="9144"/>
                  </a:lnTo>
                  <a:close/>
                </a:path>
              </a:pathLst>
            </a:custGeom>
            <a:solidFill>
              <a:srgbClr val="954F72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12" name="object 12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429512" y="3430523"/>
            <a:ext cx="2083307" cy="3218688"/>
          </a:xfrm>
          <a:prstGeom prst="rect">
            <a:avLst/>
          </a:prstGeom>
        </p:spPr>
      </p:pic>
      <p:sp>
        <p:nvSpPr>
          <p:cNvPr id="13" name="object 13" descr=""/>
          <p:cNvSpPr txBox="1"/>
          <p:nvPr/>
        </p:nvSpPr>
        <p:spPr>
          <a:xfrm>
            <a:off x="1509806" y="1667428"/>
            <a:ext cx="2307590" cy="2566670"/>
          </a:xfrm>
          <a:prstGeom prst="rect">
            <a:avLst/>
          </a:prstGeom>
        </p:spPr>
        <p:txBody>
          <a:bodyPr wrap="square" lIns="0" tIns="180340" rIns="0" bIns="0" rtlCol="0" vert="horz">
            <a:spAutoFit/>
          </a:bodyPr>
          <a:lstStyle/>
          <a:p>
            <a:pPr marL="641985">
              <a:lnSpc>
                <a:spcPct val="100000"/>
              </a:lnSpc>
              <a:spcBef>
                <a:spcPts val="1420"/>
              </a:spcBef>
            </a:pPr>
            <a:r>
              <a:rPr dirty="0" sz="1950" spc="-10">
                <a:solidFill>
                  <a:srgbClr val="00CC00"/>
                </a:solidFill>
                <a:latin typeface="Arial MT"/>
                <a:cs typeface="Arial MT"/>
              </a:rPr>
              <a:t>Example</a:t>
            </a:r>
            <a:endParaRPr sz="1950">
              <a:latin typeface="Arial MT"/>
              <a:cs typeface="Arial MT"/>
            </a:endParaRPr>
          </a:p>
          <a:p>
            <a:pPr marL="12700" marR="5080">
              <a:lnSpc>
                <a:spcPct val="100000"/>
              </a:lnSpc>
              <a:spcBef>
                <a:spcPts val="1090"/>
              </a:spcBef>
            </a:pPr>
            <a:r>
              <a:rPr dirty="0" sz="1650">
                <a:latin typeface="Times New Roman"/>
                <a:cs typeface="Times New Roman"/>
              </a:rPr>
              <a:t>Create</a:t>
            </a:r>
            <a:r>
              <a:rPr dirty="0" sz="1650" spc="-40">
                <a:latin typeface="Times New Roman"/>
                <a:cs typeface="Times New Roman"/>
              </a:rPr>
              <a:t> </a:t>
            </a:r>
            <a:r>
              <a:rPr dirty="0" sz="1650">
                <a:latin typeface="Times New Roman"/>
                <a:cs typeface="Times New Roman"/>
              </a:rPr>
              <a:t>a</a:t>
            </a:r>
            <a:r>
              <a:rPr dirty="0" sz="1650" spc="-35">
                <a:latin typeface="Times New Roman"/>
                <a:cs typeface="Times New Roman"/>
              </a:rPr>
              <a:t> </a:t>
            </a:r>
            <a:r>
              <a:rPr dirty="0" sz="1650">
                <a:latin typeface="Times New Roman"/>
                <a:cs typeface="Times New Roman"/>
              </a:rPr>
              <a:t>level</a:t>
            </a:r>
            <a:r>
              <a:rPr dirty="0" sz="1650" spc="-45">
                <a:latin typeface="Times New Roman"/>
                <a:cs typeface="Times New Roman"/>
              </a:rPr>
              <a:t> </a:t>
            </a:r>
            <a:r>
              <a:rPr dirty="0" sz="1650" spc="-50">
                <a:latin typeface="Times New Roman"/>
                <a:cs typeface="Times New Roman"/>
              </a:rPr>
              <a:t>1 </a:t>
            </a:r>
            <a:r>
              <a:rPr dirty="0" sz="1650">
                <a:latin typeface="Times New Roman"/>
                <a:cs typeface="Times New Roman"/>
              </a:rPr>
              <a:t>decomposing</a:t>
            </a:r>
            <a:r>
              <a:rPr dirty="0" sz="1650" spc="-60">
                <a:latin typeface="Times New Roman"/>
                <a:cs typeface="Times New Roman"/>
              </a:rPr>
              <a:t> </a:t>
            </a:r>
            <a:r>
              <a:rPr dirty="0" sz="1650">
                <a:latin typeface="Times New Roman"/>
                <a:cs typeface="Times New Roman"/>
              </a:rPr>
              <a:t>the</a:t>
            </a:r>
            <a:r>
              <a:rPr dirty="0" sz="1650" spc="-40">
                <a:latin typeface="Times New Roman"/>
                <a:cs typeface="Times New Roman"/>
              </a:rPr>
              <a:t> </a:t>
            </a:r>
            <a:r>
              <a:rPr dirty="0" sz="1650" spc="-10">
                <a:latin typeface="Times New Roman"/>
                <a:cs typeface="Times New Roman"/>
              </a:rPr>
              <a:t>processes </a:t>
            </a:r>
            <a:r>
              <a:rPr dirty="0" sz="1650">
                <a:latin typeface="Times New Roman"/>
                <a:cs typeface="Times New Roman"/>
              </a:rPr>
              <a:t>in</a:t>
            </a:r>
            <a:r>
              <a:rPr dirty="0" sz="1650" spc="-40">
                <a:latin typeface="Times New Roman"/>
                <a:cs typeface="Times New Roman"/>
              </a:rPr>
              <a:t> </a:t>
            </a:r>
            <a:r>
              <a:rPr dirty="0" sz="1650">
                <a:latin typeface="Times New Roman"/>
                <a:cs typeface="Times New Roman"/>
              </a:rPr>
              <a:t>level</a:t>
            </a:r>
            <a:r>
              <a:rPr dirty="0" sz="1650" spc="-30">
                <a:latin typeface="Times New Roman"/>
                <a:cs typeface="Times New Roman"/>
              </a:rPr>
              <a:t> </a:t>
            </a:r>
            <a:r>
              <a:rPr dirty="0" sz="1650">
                <a:latin typeface="Times New Roman"/>
                <a:cs typeface="Times New Roman"/>
              </a:rPr>
              <a:t>0</a:t>
            </a:r>
            <a:r>
              <a:rPr dirty="0" sz="1650" spc="-15">
                <a:latin typeface="Times New Roman"/>
                <a:cs typeface="Times New Roman"/>
              </a:rPr>
              <a:t> </a:t>
            </a:r>
            <a:r>
              <a:rPr dirty="0" sz="1650">
                <a:latin typeface="Times New Roman"/>
                <a:cs typeface="Times New Roman"/>
              </a:rPr>
              <a:t>and</a:t>
            </a:r>
            <a:r>
              <a:rPr dirty="0" sz="1650" spc="-20">
                <a:latin typeface="Times New Roman"/>
                <a:cs typeface="Times New Roman"/>
              </a:rPr>
              <a:t> </a:t>
            </a:r>
            <a:r>
              <a:rPr dirty="0" sz="1650" spc="-10">
                <a:latin typeface="Times New Roman"/>
                <a:cs typeface="Times New Roman"/>
              </a:rPr>
              <a:t>identifying </a:t>
            </a:r>
            <a:r>
              <a:rPr dirty="0" sz="1650">
                <a:latin typeface="Times New Roman"/>
                <a:cs typeface="Times New Roman"/>
              </a:rPr>
              <a:t>data</a:t>
            </a:r>
            <a:r>
              <a:rPr dirty="0" sz="1650" spc="-35">
                <a:latin typeface="Times New Roman"/>
                <a:cs typeface="Times New Roman"/>
              </a:rPr>
              <a:t> </a:t>
            </a:r>
            <a:r>
              <a:rPr dirty="0" sz="1650" spc="-10">
                <a:latin typeface="Times New Roman"/>
                <a:cs typeface="Times New Roman"/>
              </a:rPr>
              <a:t>stores.</a:t>
            </a:r>
            <a:endParaRPr sz="1650">
              <a:latin typeface="Times New Roman"/>
              <a:cs typeface="Times New Roman"/>
            </a:endParaRPr>
          </a:p>
          <a:p>
            <a:pPr marL="12700" marR="654050">
              <a:lnSpc>
                <a:spcPct val="100000"/>
              </a:lnSpc>
              <a:spcBef>
                <a:spcPts val="1395"/>
              </a:spcBef>
            </a:pPr>
            <a:r>
              <a:rPr dirty="0" sz="1650" b="1">
                <a:latin typeface="Arial"/>
                <a:cs typeface="Arial"/>
              </a:rPr>
              <a:t>Customer</a:t>
            </a:r>
            <a:r>
              <a:rPr dirty="0" sz="1650" spc="-55" b="1">
                <a:latin typeface="Arial"/>
                <a:cs typeface="Arial"/>
              </a:rPr>
              <a:t> </a:t>
            </a:r>
            <a:r>
              <a:rPr dirty="0" sz="1650" spc="-20" b="1">
                <a:latin typeface="Arial"/>
                <a:cs typeface="Arial"/>
              </a:rPr>
              <a:t>Order </a:t>
            </a:r>
            <a:r>
              <a:rPr dirty="0" sz="1650">
                <a:solidFill>
                  <a:srgbClr val="339933"/>
                </a:solidFill>
                <a:latin typeface="Arial MT"/>
                <a:cs typeface="Arial MT"/>
              </a:rPr>
              <a:t>Serve</a:t>
            </a:r>
            <a:r>
              <a:rPr dirty="0" sz="1650" spc="-25">
                <a:solidFill>
                  <a:srgbClr val="339933"/>
                </a:solidFill>
                <a:latin typeface="Arial MT"/>
                <a:cs typeface="Arial MT"/>
              </a:rPr>
              <a:t> </a:t>
            </a:r>
            <a:r>
              <a:rPr dirty="0" sz="1650" spc="-10">
                <a:solidFill>
                  <a:srgbClr val="339933"/>
                </a:solidFill>
                <a:latin typeface="Arial MT"/>
                <a:cs typeface="Arial MT"/>
              </a:rPr>
              <a:t>Product </a:t>
            </a:r>
            <a:r>
              <a:rPr dirty="0" sz="1650" b="1">
                <a:latin typeface="Arial"/>
                <a:cs typeface="Arial"/>
              </a:rPr>
              <a:t>Collect</a:t>
            </a:r>
            <a:r>
              <a:rPr dirty="0" sz="1650" spc="-70" b="1">
                <a:latin typeface="Arial"/>
                <a:cs typeface="Arial"/>
              </a:rPr>
              <a:t> </a:t>
            </a:r>
            <a:r>
              <a:rPr dirty="0" sz="1650" spc="-10" b="1">
                <a:latin typeface="Arial"/>
                <a:cs typeface="Arial"/>
              </a:rPr>
              <a:t>Payment</a:t>
            </a:r>
            <a:endParaRPr sz="1650">
              <a:latin typeface="Arial"/>
              <a:cs typeface="Arial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7015946" y="4073132"/>
            <a:ext cx="431800" cy="6299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ctr">
              <a:lnSpc>
                <a:spcPts val="1195"/>
              </a:lnSpc>
              <a:spcBef>
                <a:spcPts val="95"/>
              </a:spcBef>
            </a:pPr>
            <a:r>
              <a:rPr dirty="0" u="sng" sz="1000" spc="-25">
                <a:uFill>
                  <a:solidFill>
                    <a:srgbClr val="000000"/>
                  </a:solidFill>
                </a:uFill>
                <a:latin typeface="Microsoft Sans Serif"/>
                <a:cs typeface="Microsoft Sans Serif"/>
              </a:rPr>
              <a:t>1.3</a:t>
            </a:r>
            <a:endParaRPr sz="1000">
              <a:latin typeface="Microsoft Sans Serif"/>
              <a:cs typeface="Microsoft Sans Serif"/>
            </a:endParaRPr>
          </a:p>
          <a:p>
            <a:pPr algn="ctr" marL="12700" marR="5080" indent="-1270">
              <a:lnSpc>
                <a:spcPts val="1190"/>
              </a:lnSpc>
              <a:spcBef>
                <a:spcPts val="40"/>
              </a:spcBef>
            </a:pPr>
            <a:r>
              <a:rPr dirty="0" sz="1000" spc="-85">
                <a:latin typeface="Microsoft Sans Serif"/>
                <a:cs typeface="Microsoft Sans Serif"/>
              </a:rPr>
              <a:t>Produce</a:t>
            </a:r>
            <a:r>
              <a:rPr dirty="0" sz="1000" spc="-10">
                <a:latin typeface="Microsoft Sans Serif"/>
                <a:cs typeface="Microsoft Sans Serif"/>
              </a:rPr>
              <a:t> Sales </a:t>
            </a:r>
            <a:r>
              <a:rPr dirty="0" sz="1000" spc="-95">
                <a:latin typeface="Microsoft Sans Serif"/>
                <a:cs typeface="Microsoft Sans Serif"/>
              </a:rPr>
              <a:t>Forecast</a:t>
            </a:r>
            <a:endParaRPr sz="1000">
              <a:latin typeface="Microsoft Sans Serif"/>
              <a:cs typeface="Microsoft Sans Serif"/>
            </a:endParaRPr>
          </a:p>
        </p:txBody>
      </p:sp>
      <p:sp>
        <p:nvSpPr>
          <p:cNvPr id="15" name="object 15" descr=""/>
          <p:cNvSpPr/>
          <p:nvPr/>
        </p:nvSpPr>
        <p:spPr>
          <a:xfrm>
            <a:off x="6658356" y="3569220"/>
            <a:ext cx="1487805" cy="1045844"/>
          </a:xfrm>
          <a:custGeom>
            <a:avLst/>
            <a:gdLst/>
            <a:ahLst/>
            <a:cxnLst/>
            <a:rect l="l" t="t" r="r" b="b"/>
            <a:pathLst>
              <a:path w="1487804" h="1045845">
                <a:moveTo>
                  <a:pt x="330708" y="484632"/>
                </a:moveTo>
                <a:lnTo>
                  <a:pt x="298856" y="521766"/>
                </a:lnTo>
                <a:lnTo>
                  <a:pt x="12192" y="0"/>
                </a:lnTo>
                <a:lnTo>
                  <a:pt x="0" y="6096"/>
                </a:lnTo>
                <a:lnTo>
                  <a:pt x="288315" y="528104"/>
                </a:lnTo>
                <a:lnTo>
                  <a:pt x="239268" y="534924"/>
                </a:lnTo>
                <a:lnTo>
                  <a:pt x="304800" y="545592"/>
                </a:lnTo>
                <a:lnTo>
                  <a:pt x="311277" y="530352"/>
                </a:lnTo>
                <a:lnTo>
                  <a:pt x="330708" y="484632"/>
                </a:lnTo>
                <a:close/>
              </a:path>
              <a:path w="1487804" h="1045845">
                <a:moveTo>
                  <a:pt x="1487411" y="1008888"/>
                </a:moveTo>
                <a:lnTo>
                  <a:pt x="1466075" y="946404"/>
                </a:lnTo>
                <a:lnTo>
                  <a:pt x="1467421" y="996086"/>
                </a:lnTo>
                <a:lnTo>
                  <a:pt x="1467446" y="996696"/>
                </a:lnTo>
                <a:lnTo>
                  <a:pt x="1467599" y="1002792"/>
                </a:lnTo>
                <a:lnTo>
                  <a:pt x="1467421" y="996086"/>
                </a:lnTo>
                <a:lnTo>
                  <a:pt x="958583" y="815340"/>
                </a:lnTo>
                <a:lnTo>
                  <a:pt x="954011" y="827532"/>
                </a:lnTo>
                <a:lnTo>
                  <a:pt x="1463103" y="1007821"/>
                </a:lnTo>
                <a:lnTo>
                  <a:pt x="1429499" y="1045464"/>
                </a:lnTo>
                <a:lnTo>
                  <a:pt x="1487411" y="100888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 descr=""/>
          <p:cNvSpPr txBox="1"/>
          <p:nvPr/>
        </p:nvSpPr>
        <p:spPr>
          <a:xfrm>
            <a:off x="7733759" y="4585249"/>
            <a:ext cx="825500" cy="2012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50" spc="-110">
                <a:latin typeface="Microsoft Sans Serif"/>
                <a:cs typeface="Microsoft Sans Serif"/>
              </a:rPr>
              <a:t>Sales</a:t>
            </a:r>
            <a:r>
              <a:rPr dirty="0" sz="1150" spc="-40">
                <a:latin typeface="Microsoft Sans Serif"/>
                <a:cs typeface="Microsoft Sans Serif"/>
              </a:rPr>
              <a:t> </a:t>
            </a:r>
            <a:r>
              <a:rPr dirty="0" sz="1150" spc="-95">
                <a:latin typeface="Microsoft Sans Serif"/>
                <a:cs typeface="Microsoft Sans Serif"/>
              </a:rPr>
              <a:t>Forecast</a:t>
            </a:r>
            <a:endParaRPr sz="1150">
              <a:latin typeface="Microsoft Sans Serif"/>
              <a:cs typeface="Microsoft Sans Serif"/>
            </a:endParaRPr>
          </a:p>
        </p:txBody>
      </p:sp>
      <p:sp>
        <p:nvSpPr>
          <p:cNvPr id="17" name="object 17" descr=""/>
          <p:cNvSpPr txBox="1"/>
          <p:nvPr/>
        </p:nvSpPr>
        <p:spPr>
          <a:xfrm>
            <a:off x="4021304" y="4554710"/>
            <a:ext cx="501015" cy="2012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50" spc="-114">
                <a:latin typeface="Microsoft Sans Serif"/>
                <a:cs typeface="Microsoft Sans Serif"/>
              </a:rPr>
              <a:t>Payment</a:t>
            </a:r>
            <a:endParaRPr sz="1150">
              <a:latin typeface="Microsoft Sans Serif"/>
              <a:cs typeface="Microsoft Sans Serif"/>
            </a:endParaRPr>
          </a:p>
        </p:txBody>
      </p:sp>
      <p:sp>
        <p:nvSpPr>
          <p:cNvPr id="18" name="object 18" descr=""/>
          <p:cNvSpPr txBox="1"/>
          <p:nvPr/>
        </p:nvSpPr>
        <p:spPr>
          <a:xfrm>
            <a:off x="1509806" y="4458701"/>
            <a:ext cx="1590040" cy="5295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dirty="0" sz="1650">
                <a:solidFill>
                  <a:srgbClr val="339933"/>
                </a:solidFill>
                <a:latin typeface="Arial MT"/>
                <a:cs typeface="Arial MT"/>
              </a:rPr>
              <a:t>Produce</a:t>
            </a:r>
            <a:r>
              <a:rPr dirty="0" sz="1650" spc="-30">
                <a:solidFill>
                  <a:srgbClr val="339933"/>
                </a:solidFill>
                <a:latin typeface="Arial MT"/>
                <a:cs typeface="Arial MT"/>
              </a:rPr>
              <a:t> </a:t>
            </a:r>
            <a:r>
              <a:rPr dirty="0" sz="1650" spc="-10">
                <a:solidFill>
                  <a:srgbClr val="339933"/>
                </a:solidFill>
                <a:latin typeface="Arial MT"/>
                <a:cs typeface="Arial MT"/>
              </a:rPr>
              <a:t>Product </a:t>
            </a:r>
            <a:r>
              <a:rPr dirty="0" sz="1650">
                <a:solidFill>
                  <a:srgbClr val="339933"/>
                </a:solidFill>
                <a:latin typeface="Arial MT"/>
                <a:cs typeface="Arial MT"/>
              </a:rPr>
              <a:t>Store</a:t>
            </a:r>
            <a:r>
              <a:rPr dirty="0" sz="1650" spc="-40">
                <a:solidFill>
                  <a:srgbClr val="339933"/>
                </a:solidFill>
                <a:latin typeface="Arial MT"/>
                <a:cs typeface="Arial MT"/>
              </a:rPr>
              <a:t> </a:t>
            </a:r>
            <a:r>
              <a:rPr dirty="0" sz="1650" spc="-10">
                <a:solidFill>
                  <a:srgbClr val="339933"/>
                </a:solidFill>
                <a:latin typeface="Arial MT"/>
                <a:cs typeface="Arial MT"/>
              </a:rPr>
              <a:t>Product</a:t>
            </a:r>
            <a:endParaRPr sz="1650">
              <a:latin typeface="Arial MT"/>
              <a:cs typeface="Arial MT"/>
            </a:endParaRPr>
          </a:p>
        </p:txBody>
      </p:sp>
      <p:sp>
        <p:nvSpPr>
          <p:cNvPr id="19" name="object 19" descr=""/>
          <p:cNvSpPr txBox="1"/>
          <p:nvPr/>
        </p:nvSpPr>
        <p:spPr>
          <a:xfrm>
            <a:off x="1509806" y="5213074"/>
            <a:ext cx="2078355" cy="5295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dirty="0" sz="1650">
                <a:solidFill>
                  <a:srgbClr val="339933"/>
                </a:solidFill>
                <a:latin typeface="Arial MT"/>
                <a:cs typeface="Arial MT"/>
              </a:rPr>
              <a:t>Order</a:t>
            </a:r>
            <a:r>
              <a:rPr dirty="0" sz="1650" spc="-45">
                <a:solidFill>
                  <a:srgbClr val="339933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339933"/>
                </a:solidFill>
                <a:latin typeface="Arial MT"/>
                <a:cs typeface="Arial MT"/>
              </a:rPr>
              <a:t>Raw</a:t>
            </a:r>
            <a:r>
              <a:rPr dirty="0" sz="1650" spc="-10">
                <a:solidFill>
                  <a:srgbClr val="339933"/>
                </a:solidFill>
                <a:latin typeface="Arial MT"/>
                <a:cs typeface="Arial MT"/>
              </a:rPr>
              <a:t> Materials </a:t>
            </a:r>
            <a:r>
              <a:rPr dirty="0" sz="1650">
                <a:solidFill>
                  <a:srgbClr val="339933"/>
                </a:solidFill>
                <a:latin typeface="Arial MT"/>
                <a:cs typeface="Arial MT"/>
              </a:rPr>
              <a:t>Pay</a:t>
            </a:r>
            <a:r>
              <a:rPr dirty="0" sz="1650" spc="-20">
                <a:solidFill>
                  <a:srgbClr val="339933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339933"/>
                </a:solidFill>
                <a:latin typeface="Arial MT"/>
                <a:cs typeface="Arial MT"/>
              </a:rPr>
              <a:t>for</a:t>
            </a:r>
            <a:r>
              <a:rPr dirty="0" sz="1650" spc="-25">
                <a:solidFill>
                  <a:srgbClr val="339933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339933"/>
                </a:solidFill>
                <a:latin typeface="Arial MT"/>
                <a:cs typeface="Arial MT"/>
              </a:rPr>
              <a:t>Raw</a:t>
            </a:r>
            <a:r>
              <a:rPr dirty="0" sz="1650" spc="-15">
                <a:solidFill>
                  <a:srgbClr val="339933"/>
                </a:solidFill>
                <a:latin typeface="Arial MT"/>
                <a:cs typeface="Arial MT"/>
              </a:rPr>
              <a:t> </a:t>
            </a:r>
            <a:r>
              <a:rPr dirty="0" sz="1650" spc="-10">
                <a:solidFill>
                  <a:srgbClr val="339933"/>
                </a:solidFill>
                <a:latin typeface="Arial MT"/>
                <a:cs typeface="Arial MT"/>
              </a:rPr>
              <a:t>Materials</a:t>
            </a:r>
            <a:endParaRPr sz="1650">
              <a:latin typeface="Arial MT"/>
              <a:cs typeface="Arial MT"/>
            </a:endParaRPr>
          </a:p>
        </p:txBody>
      </p:sp>
      <p:sp>
        <p:nvSpPr>
          <p:cNvPr id="20" name="object 20" descr=""/>
          <p:cNvSpPr txBox="1"/>
          <p:nvPr/>
        </p:nvSpPr>
        <p:spPr>
          <a:xfrm>
            <a:off x="1509806" y="5967448"/>
            <a:ext cx="1285875" cy="27813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650">
                <a:solidFill>
                  <a:srgbClr val="339933"/>
                </a:solidFill>
                <a:latin typeface="Arial MT"/>
                <a:cs typeface="Arial MT"/>
              </a:rPr>
              <a:t>Pay</a:t>
            </a:r>
            <a:r>
              <a:rPr dirty="0" sz="1650" spc="-20">
                <a:solidFill>
                  <a:srgbClr val="339933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339933"/>
                </a:solidFill>
                <a:latin typeface="Arial MT"/>
                <a:cs typeface="Arial MT"/>
              </a:rPr>
              <a:t>for</a:t>
            </a:r>
            <a:r>
              <a:rPr dirty="0" sz="1650" spc="-25">
                <a:solidFill>
                  <a:srgbClr val="339933"/>
                </a:solidFill>
                <a:latin typeface="Arial MT"/>
                <a:cs typeface="Arial MT"/>
              </a:rPr>
              <a:t> </a:t>
            </a:r>
            <a:r>
              <a:rPr dirty="0" sz="1650" spc="-20">
                <a:solidFill>
                  <a:srgbClr val="339933"/>
                </a:solidFill>
                <a:latin typeface="Arial MT"/>
                <a:cs typeface="Arial MT"/>
              </a:rPr>
              <a:t>Labor</a:t>
            </a:r>
            <a:endParaRPr sz="1650">
              <a:latin typeface="Arial MT"/>
              <a:cs typeface="Arial MT"/>
            </a:endParaRPr>
          </a:p>
        </p:txBody>
      </p:sp>
      <p:sp>
        <p:nvSpPr>
          <p:cNvPr id="21" name="object 21" descr=""/>
          <p:cNvSpPr/>
          <p:nvPr/>
        </p:nvSpPr>
        <p:spPr>
          <a:xfrm>
            <a:off x="4777740" y="3572255"/>
            <a:ext cx="754380" cy="754380"/>
          </a:xfrm>
          <a:custGeom>
            <a:avLst/>
            <a:gdLst/>
            <a:ahLst/>
            <a:cxnLst/>
            <a:rect l="l" t="t" r="r" b="b"/>
            <a:pathLst>
              <a:path w="754379" h="754379">
                <a:moveTo>
                  <a:pt x="0" y="377951"/>
                </a:moveTo>
                <a:lnTo>
                  <a:pt x="2943" y="330532"/>
                </a:lnTo>
                <a:lnTo>
                  <a:pt x="11539" y="284873"/>
                </a:lnTo>
                <a:lnTo>
                  <a:pt x="25434" y="241328"/>
                </a:lnTo>
                <a:lnTo>
                  <a:pt x="44272" y="200252"/>
                </a:lnTo>
                <a:lnTo>
                  <a:pt x="67702" y="161997"/>
                </a:lnTo>
                <a:lnTo>
                  <a:pt x="95368" y="126918"/>
                </a:lnTo>
                <a:lnTo>
                  <a:pt x="126918" y="95368"/>
                </a:lnTo>
                <a:lnTo>
                  <a:pt x="161997" y="67702"/>
                </a:lnTo>
                <a:lnTo>
                  <a:pt x="200252" y="44272"/>
                </a:lnTo>
                <a:lnTo>
                  <a:pt x="241328" y="25434"/>
                </a:lnTo>
                <a:lnTo>
                  <a:pt x="284873" y="11539"/>
                </a:lnTo>
                <a:lnTo>
                  <a:pt x="330532" y="2943"/>
                </a:lnTo>
                <a:lnTo>
                  <a:pt x="377952" y="0"/>
                </a:lnTo>
                <a:lnTo>
                  <a:pt x="425345" y="2943"/>
                </a:lnTo>
                <a:lnTo>
                  <a:pt x="470933" y="11539"/>
                </a:lnTo>
                <a:lnTo>
                  <a:pt x="514369" y="25434"/>
                </a:lnTo>
                <a:lnTo>
                  <a:pt x="555307" y="44272"/>
                </a:lnTo>
                <a:lnTo>
                  <a:pt x="593403" y="67702"/>
                </a:lnTo>
                <a:lnTo>
                  <a:pt x="628311" y="95368"/>
                </a:lnTo>
                <a:lnTo>
                  <a:pt x="659685" y="126918"/>
                </a:lnTo>
                <a:lnTo>
                  <a:pt x="687180" y="161997"/>
                </a:lnTo>
                <a:lnTo>
                  <a:pt x="710451" y="200252"/>
                </a:lnTo>
                <a:lnTo>
                  <a:pt x="729151" y="241328"/>
                </a:lnTo>
                <a:lnTo>
                  <a:pt x="742937" y="284873"/>
                </a:lnTo>
                <a:lnTo>
                  <a:pt x="751461" y="330532"/>
                </a:lnTo>
                <a:lnTo>
                  <a:pt x="754379" y="377951"/>
                </a:lnTo>
                <a:lnTo>
                  <a:pt x="751461" y="425345"/>
                </a:lnTo>
                <a:lnTo>
                  <a:pt x="742937" y="470933"/>
                </a:lnTo>
                <a:lnTo>
                  <a:pt x="729151" y="514369"/>
                </a:lnTo>
                <a:lnTo>
                  <a:pt x="710451" y="555307"/>
                </a:lnTo>
                <a:lnTo>
                  <a:pt x="687180" y="593403"/>
                </a:lnTo>
                <a:lnTo>
                  <a:pt x="659685" y="628311"/>
                </a:lnTo>
                <a:lnTo>
                  <a:pt x="628311" y="659685"/>
                </a:lnTo>
                <a:lnTo>
                  <a:pt x="593403" y="687180"/>
                </a:lnTo>
                <a:lnTo>
                  <a:pt x="555307" y="710451"/>
                </a:lnTo>
                <a:lnTo>
                  <a:pt x="514369" y="729151"/>
                </a:lnTo>
                <a:lnTo>
                  <a:pt x="470933" y="742937"/>
                </a:lnTo>
                <a:lnTo>
                  <a:pt x="425345" y="751461"/>
                </a:lnTo>
                <a:lnTo>
                  <a:pt x="377952" y="754379"/>
                </a:lnTo>
                <a:lnTo>
                  <a:pt x="330532" y="751461"/>
                </a:lnTo>
                <a:lnTo>
                  <a:pt x="284873" y="742937"/>
                </a:lnTo>
                <a:lnTo>
                  <a:pt x="241328" y="729151"/>
                </a:lnTo>
                <a:lnTo>
                  <a:pt x="200252" y="710451"/>
                </a:lnTo>
                <a:lnTo>
                  <a:pt x="161997" y="687180"/>
                </a:lnTo>
                <a:lnTo>
                  <a:pt x="126918" y="659685"/>
                </a:lnTo>
                <a:lnTo>
                  <a:pt x="95368" y="628311"/>
                </a:lnTo>
                <a:lnTo>
                  <a:pt x="67702" y="593403"/>
                </a:lnTo>
                <a:lnTo>
                  <a:pt x="44272" y="555307"/>
                </a:lnTo>
                <a:lnTo>
                  <a:pt x="25434" y="514369"/>
                </a:lnTo>
                <a:lnTo>
                  <a:pt x="11539" y="470933"/>
                </a:lnTo>
                <a:lnTo>
                  <a:pt x="2943" y="425345"/>
                </a:lnTo>
                <a:lnTo>
                  <a:pt x="0" y="377951"/>
                </a:lnTo>
              </a:path>
            </a:pathLst>
          </a:custGeom>
          <a:ln w="1524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object 22" descr=""/>
          <p:cNvSpPr txBox="1"/>
          <p:nvPr/>
        </p:nvSpPr>
        <p:spPr>
          <a:xfrm>
            <a:off x="4976835" y="3708899"/>
            <a:ext cx="360680" cy="47942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ctr">
              <a:lnSpc>
                <a:spcPts val="1195"/>
              </a:lnSpc>
              <a:spcBef>
                <a:spcPts val="95"/>
              </a:spcBef>
            </a:pPr>
            <a:r>
              <a:rPr dirty="0" u="sng" sz="1000" spc="-25">
                <a:uFill>
                  <a:solidFill>
                    <a:srgbClr val="000000"/>
                  </a:solidFill>
                </a:uFill>
                <a:latin typeface="Microsoft Sans Serif"/>
                <a:cs typeface="Microsoft Sans Serif"/>
              </a:rPr>
              <a:t>1.1</a:t>
            </a:r>
            <a:endParaRPr sz="1000">
              <a:latin typeface="Microsoft Sans Serif"/>
              <a:cs typeface="Microsoft Sans Serif"/>
            </a:endParaRPr>
          </a:p>
          <a:p>
            <a:pPr algn="ctr" marL="12700" marR="5080">
              <a:lnSpc>
                <a:spcPts val="1190"/>
              </a:lnSpc>
              <a:spcBef>
                <a:spcPts val="40"/>
              </a:spcBef>
            </a:pPr>
            <a:r>
              <a:rPr dirty="0" sz="1000" spc="-110">
                <a:latin typeface="Microsoft Sans Serif"/>
                <a:cs typeface="Microsoft Sans Serif"/>
              </a:rPr>
              <a:t>Record</a:t>
            </a:r>
            <a:r>
              <a:rPr dirty="0" sz="1000" spc="-10">
                <a:latin typeface="Microsoft Sans Serif"/>
                <a:cs typeface="Microsoft Sans Serif"/>
              </a:rPr>
              <a:t> Order</a:t>
            </a:r>
            <a:endParaRPr sz="1000">
              <a:latin typeface="Microsoft Sans Serif"/>
              <a:cs typeface="Microsoft Sans Serif"/>
            </a:endParaRPr>
          </a:p>
        </p:txBody>
      </p:sp>
      <p:sp>
        <p:nvSpPr>
          <p:cNvPr id="23" name="object 23" descr=""/>
          <p:cNvSpPr/>
          <p:nvPr/>
        </p:nvSpPr>
        <p:spPr>
          <a:xfrm>
            <a:off x="4265663" y="3564648"/>
            <a:ext cx="1652270" cy="1630680"/>
          </a:xfrm>
          <a:custGeom>
            <a:avLst/>
            <a:gdLst/>
            <a:ahLst/>
            <a:cxnLst/>
            <a:rect l="l" t="t" r="r" b="b"/>
            <a:pathLst>
              <a:path w="1652270" h="1630679">
                <a:moveTo>
                  <a:pt x="498792" y="1572768"/>
                </a:moveTo>
                <a:lnTo>
                  <a:pt x="464820" y="1527048"/>
                </a:lnTo>
                <a:lnTo>
                  <a:pt x="482307" y="1572768"/>
                </a:lnTo>
                <a:lnTo>
                  <a:pt x="484632" y="1572768"/>
                </a:lnTo>
                <a:lnTo>
                  <a:pt x="498792" y="1572768"/>
                </a:lnTo>
                <a:close/>
              </a:path>
              <a:path w="1652270" h="1630679">
                <a:moveTo>
                  <a:pt x="504444" y="1580388"/>
                </a:moveTo>
                <a:lnTo>
                  <a:pt x="502183" y="1577340"/>
                </a:lnTo>
                <a:lnTo>
                  <a:pt x="484124" y="1577340"/>
                </a:lnTo>
                <a:lnTo>
                  <a:pt x="484111" y="1577479"/>
                </a:lnTo>
                <a:lnTo>
                  <a:pt x="484632" y="1578864"/>
                </a:lnTo>
                <a:lnTo>
                  <a:pt x="483730" y="1580908"/>
                </a:lnTo>
                <a:lnTo>
                  <a:pt x="483793" y="1580388"/>
                </a:lnTo>
                <a:lnTo>
                  <a:pt x="484111" y="1577479"/>
                </a:lnTo>
                <a:lnTo>
                  <a:pt x="484060" y="1577340"/>
                </a:lnTo>
                <a:lnTo>
                  <a:pt x="482307" y="1572768"/>
                </a:lnTo>
                <a:lnTo>
                  <a:pt x="481584" y="1572768"/>
                </a:lnTo>
                <a:lnTo>
                  <a:pt x="458724" y="1571244"/>
                </a:lnTo>
                <a:lnTo>
                  <a:pt x="413004" y="1565148"/>
                </a:lnTo>
                <a:lnTo>
                  <a:pt x="390144" y="1560576"/>
                </a:lnTo>
                <a:lnTo>
                  <a:pt x="368808" y="1554480"/>
                </a:lnTo>
                <a:lnTo>
                  <a:pt x="345948" y="1548384"/>
                </a:lnTo>
                <a:lnTo>
                  <a:pt x="303276" y="1533144"/>
                </a:lnTo>
                <a:lnTo>
                  <a:pt x="260604" y="1514856"/>
                </a:lnTo>
                <a:lnTo>
                  <a:pt x="220980" y="1493520"/>
                </a:lnTo>
                <a:lnTo>
                  <a:pt x="202692" y="1481328"/>
                </a:lnTo>
                <a:lnTo>
                  <a:pt x="182880" y="1469136"/>
                </a:lnTo>
                <a:lnTo>
                  <a:pt x="132588" y="1429512"/>
                </a:lnTo>
                <a:lnTo>
                  <a:pt x="76200" y="1370076"/>
                </a:lnTo>
                <a:lnTo>
                  <a:pt x="54864" y="1338072"/>
                </a:lnTo>
                <a:lnTo>
                  <a:pt x="36576" y="1304544"/>
                </a:lnTo>
                <a:lnTo>
                  <a:pt x="18288" y="1254252"/>
                </a:lnTo>
                <a:lnTo>
                  <a:pt x="12192" y="1202436"/>
                </a:lnTo>
                <a:lnTo>
                  <a:pt x="0" y="1202436"/>
                </a:lnTo>
                <a:lnTo>
                  <a:pt x="0" y="1220724"/>
                </a:lnTo>
                <a:lnTo>
                  <a:pt x="6096" y="1257300"/>
                </a:lnTo>
                <a:lnTo>
                  <a:pt x="24384" y="1310640"/>
                </a:lnTo>
                <a:lnTo>
                  <a:pt x="42672" y="1344168"/>
                </a:lnTo>
                <a:lnTo>
                  <a:pt x="65532" y="1377696"/>
                </a:lnTo>
                <a:lnTo>
                  <a:pt x="79248" y="1392936"/>
                </a:lnTo>
                <a:lnTo>
                  <a:pt x="92964" y="1409700"/>
                </a:lnTo>
                <a:lnTo>
                  <a:pt x="140208" y="1453896"/>
                </a:lnTo>
                <a:lnTo>
                  <a:pt x="175260" y="1479804"/>
                </a:lnTo>
                <a:lnTo>
                  <a:pt x="214884" y="1504188"/>
                </a:lnTo>
                <a:lnTo>
                  <a:pt x="234696" y="1516380"/>
                </a:lnTo>
                <a:lnTo>
                  <a:pt x="254508" y="1527048"/>
                </a:lnTo>
                <a:lnTo>
                  <a:pt x="297180" y="1545336"/>
                </a:lnTo>
                <a:lnTo>
                  <a:pt x="320040" y="1552956"/>
                </a:lnTo>
                <a:lnTo>
                  <a:pt x="341376" y="1560576"/>
                </a:lnTo>
                <a:lnTo>
                  <a:pt x="409956" y="1577340"/>
                </a:lnTo>
                <a:lnTo>
                  <a:pt x="457200" y="1584960"/>
                </a:lnTo>
                <a:lnTo>
                  <a:pt x="481279" y="1586458"/>
                </a:lnTo>
                <a:lnTo>
                  <a:pt x="461772" y="1630680"/>
                </a:lnTo>
                <a:lnTo>
                  <a:pt x="499287" y="1586458"/>
                </a:lnTo>
                <a:lnTo>
                  <a:pt x="504444" y="1580388"/>
                </a:lnTo>
                <a:close/>
              </a:path>
              <a:path w="1652270" h="1630679">
                <a:moveTo>
                  <a:pt x="1652016" y="73152"/>
                </a:moveTo>
                <a:lnTo>
                  <a:pt x="1645462" y="16764"/>
                </a:lnTo>
                <a:lnTo>
                  <a:pt x="1644396" y="7620"/>
                </a:lnTo>
                <a:lnTo>
                  <a:pt x="1577340" y="0"/>
                </a:lnTo>
                <a:lnTo>
                  <a:pt x="1622729" y="18681"/>
                </a:lnTo>
                <a:lnTo>
                  <a:pt x="1271016" y="381000"/>
                </a:lnTo>
                <a:lnTo>
                  <a:pt x="1280160" y="390144"/>
                </a:lnTo>
                <a:lnTo>
                  <a:pt x="1631975" y="27711"/>
                </a:lnTo>
                <a:lnTo>
                  <a:pt x="1652016" y="7315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object 24" descr=""/>
          <p:cNvSpPr txBox="1"/>
          <p:nvPr/>
        </p:nvSpPr>
        <p:spPr>
          <a:xfrm>
            <a:off x="4109743" y="3202915"/>
            <a:ext cx="889635" cy="2012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50" spc="-120">
                <a:latin typeface="Microsoft Sans Serif"/>
                <a:cs typeface="Microsoft Sans Serif"/>
              </a:rPr>
              <a:t>Customer</a:t>
            </a:r>
            <a:r>
              <a:rPr dirty="0" sz="1150" spc="-10">
                <a:latin typeface="Microsoft Sans Serif"/>
                <a:cs typeface="Microsoft Sans Serif"/>
              </a:rPr>
              <a:t> </a:t>
            </a:r>
            <a:r>
              <a:rPr dirty="0" sz="1150" spc="-90">
                <a:latin typeface="Microsoft Sans Serif"/>
                <a:cs typeface="Microsoft Sans Serif"/>
              </a:rPr>
              <a:t>Order</a:t>
            </a:r>
            <a:endParaRPr sz="1150">
              <a:latin typeface="Microsoft Sans Serif"/>
              <a:cs typeface="Microsoft Sans Serif"/>
            </a:endParaRPr>
          </a:p>
        </p:txBody>
      </p:sp>
      <p:pic>
        <p:nvPicPr>
          <p:cNvPr id="25" name="object 25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910071" y="3447288"/>
            <a:ext cx="754380" cy="248411"/>
          </a:xfrm>
          <a:prstGeom prst="rect">
            <a:avLst/>
          </a:prstGeom>
        </p:spPr>
      </p:pic>
      <p:sp>
        <p:nvSpPr>
          <p:cNvPr id="26" name="object 26" descr=""/>
          <p:cNvSpPr txBox="1"/>
          <p:nvPr/>
        </p:nvSpPr>
        <p:spPr>
          <a:xfrm>
            <a:off x="6087839" y="3480253"/>
            <a:ext cx="39878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130">
                <a:latin typeface="Microsoft Sans Serif"/>
                <a:cs typeface="Microsoft Sans Serif"/>
              </a:rPr>
              <a:t>ORDER</a:t>
            </a:r>
            <a:endParaRPr sz="1000">
              <a:latin typeface="Microsoft Sans Serif"/>
              <a:cs typeface="Microsoft Sans Serif"/>
            </a:endParaRPr>
          </a:p>
        </p:txBody>
      </p:sp>
      <p:grpSp>
        <p:nvGrpSpPr>
          <p:cNvPr id="27" name="object 27" descr=""/>
          <p:cNvGrpSpPr/>
          <p:nvPr/>
        </p:nvGrpSpPr>
        <p:grpSpPr>
          <a:xfrm>
            <a:off x="4547615" y="3415284"/>
            <a:ext cx="1744980" cy="2113915"/>
            <a:chOff x="4547615" y="3415284"/>
            <a:chExt cx="1744980" cy="2113915"/>
          </a:xfrm>
        </p:grpSpPr>
        <p:sp>
          <p:nvSpPr>
            <p:cNvPr id="28" name="object 28" descr=""/>
            <p:cNvSpPr/>
            <p:nvPr/>
          </p:nvSpPr>
          <p:spPr>
            <a:xfrm>
              <a:off x="4547616" y="3415283"/>
              <a:ext cx="1744980" cy="1454150"/>
            </a:xfrm>
            <a:custGeom>
              <a:avLst/>
              <a:gdLst/>
              <a:ahLst/>
              <a:cxnLst/>
              <a:rect l="l" t="t" r="r" b="b"/>
              <a:pathLst>
                <a:path w="1744979" h="1454150">
                  <a:moveTo>
                    <a:pt x="222504" y="534924"/>
                  </a:moveTo>
                  <a:lnTo>
                    <a:pt x="202692" y="500722"/>
                  </a:lnTo>
                  <a:lnTo>
                    <a:pt x="202692" y="531876"/>
                  </a:lnTo>
                  <a:lnTo>
                    <a:pt x="200621" y="535368"/>
                  </a:lnTo>
                  <a:lnTo>
                    <a:pt x="202387" y="530656"/>
                  </a:lnTo>
                  <a:lnTo>
                    <a:pt x="202692" y="531876"/>
                  </a:lnTo>
                  <a:lnTo>
                    <a:pt x="202692" y="500722"/>
                  </a:lnTo>
                  <a:lnTo>
                    <a:pt x="188976" y="477024"/>
                  </a:lnTo>
                  <a:lnTo>
                    <a:pt x="200888" y="524675"/>
                  </a:lnTo>
                  <a:lnTo>
                    <a:pt x="195072" y="522744"/>
                  </a:lnTo>
                  <a:lnTo>
                    <a:pt x="158496" y="495300"/>
                  </a:lnTo>
                  <a:lnTo>
                    <a:pt x="131064" y="461772"/>
                  </a:lnTo>
                  <a:lnTo>
                    <a:pt x="105156" y="417576"/>
                  </a:lnTo>
                  <a:lnTo>
                    <a:pt x="96012" y="400824"/>
                  </a:lnTo>
                  <a:lnTo>
                    <a:pt x="80772" y="365772"/>
                  </a:lnTo>
                  <a:lnTo>
                    <a:pt x="65532" y="326148"/>
                  </a:lnTo>
                  <a:lnTo>
                    <a:pt x="47244" y="263652"/>
                  </a:lnTo>
                  <a:lnTo>
                    <a:pt x="32004" y="195072"/>
                  </a:lnTo>
                  <a:lnTo>
                    <a:pt x="24384" y="147828"/>
                  </a:lnTo>
                  <a:lnTo>
                    <a:pt x="18288" y="99060"/>
                  </a:lnTo>
                  <a:lnTo>
                    <a:pt x="13716" y="25908"/>
                  </a:lnTo>
                  <a:lnTo>
                    <a:pt x="13716" y="0"/>
                  </a:lnTo>
                  <a:lnTo>
                    <a:pt x="0" y="0"/>
                  </a:lnTo>
                  <a:lnTo>
                    <a:pt x="0" y="25908"/>
                  </a:lnTo>
                  <a:lnTo>
                    <a:pt x="1524" y="50292"/>
                  </a:lnTo>
                  <a:lnTo>
                    <a:pt x="3048" y="76200"/>
                  </a:lnTo>
                  <a:lnTo>
                    <a:pt x="10668" y="149352"/>
                  </a:lnTo>
                  <a:lnTo>
                    <a:pt x="18288" y="198120"/>
                  </a:lnTo>
                  <a:lnTo>
                    <a:pt x="28956" y="243840"/>
                  </a:lnTo>
                  <a:lnTo>
                    <a:pt x="41148" y="288036"/>
                  </a:lnTo>
                  <a:lnTo>
                    <a:pt x="47244" y="310896"/>
                  </a:lnTo>
                  <a:lnTo>
                    <a:pt x="68580" y="370344"/>
                  </a:lnTo>
                  <a:lnTo>
                    <a:pt x="83820" y="406920"/>
                  </a:lnTo>
                  <a:lnTo>
                    <a:pt x="102108" y="438924"/>
                  </a:lnTo>
                  <a:lnTo>
                    <a:pt x="109728" y="454152"/>
                  </a:lnTo>
                  <a:lnTo>
                    <a:pt x="118872" y="467868"/>
                  </a:lnTo>
                  <a:lnTo>
                    <a:pt x="129540" y="481596"/>
                  </a:lnTo>
                  <a:lnTo>
                    <a:pt x="138684" y="493776"/>
                  </a:lnTo>
                  <a:lnTo>
                    <a:pt x="147828" y="504444"/>
                  </a:lnTo>
                  <a:lnTo>
                    <a:pt x="158496" y="513588"/>
                  </a:lnTo>
                  <a:lnTo>
                    <a:pt x="179832" y="528828"/>
                  </a:lnTo>
                  <a:lnTo>
                    <a:pt x="190500" y="533400"/>
                  </a:lnTo>
                  <a:lnTo>
                    <a:pt x="199199" y="537756"/>
                  </a:lnTo>
                  <a:lnTo>
                    <a:pt x="173736" y="580644"/>
                  </a:lnTo>
                  <a:lnTo>
                    <a:pt x="219252" y="537972"/>
                  </a:lnTo>
                  <a:lnTo>
                    <a:pt x="222504" y="534924"/>
                  </a:lnTo>
                  <a:close/>
                </a:path>
                <a:path w="1744979" h="1454150">
                  <a:moveTo>
                    <a:pt x="1744980" y="284988"/>
                  </a:moveTo>
                  <a:lnTo>
                    <a:pt x="1734312" y="277368"/>
                  </a:lnTo>
                  <a:lnTo>
                    <a:pt x="883869" y="1432090"/>
                  </a:lnTo>
                  <a:lnTo>
                    <a:pt x="858012" y="1389888"/>
                  </a:lnTo>
                  <a:lnTo>
                    <a:pt x="874776" y="1453896"/>
                  </a:lnTo>
                  <a:lnTo>
                    <a:pt x="941832" y="1450848"/>
                  </a:lnTo>
                  <a:lnTo>
                    <a:pt x="905256" y="1441704"/>
                  </a:lnTo>
                  <a:lnTo>
                    <a:pt x="894956" y="1439138"/>
                  </a:lnTo>
                  <a:lnTo>
                    <a:pt x="1744980" y="28498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 descr=""/>
            <p:cNvSpPr/>
            <p:nvPr/>
          </p:nvSpPr>
          <p:spPr>
            <a:xfrm>
              <a:off x="4777739" y="4767071"/>
              <a:ext cx="754380" cy="754380"/>
            </a:xfrm>
            <a:custGeom>
              <a:avLst/>
              <a:gdLst/>
              <a:ahLst/>
              <a:cxnLst/>
              <a:rect l="l" t="t" r="r" b="b"/>
              <a:pathLst>
                <a:path w="754379" h="754379">
                  <a:moveTo>
                    <a:pt x="0" y="377951"/>
                  </a:moveTo>
                  <a:lnTo>
                    <a:pt x="2943" y="330532"/>
                  </a:lnTo>
                  <a:lnTo>
                    <a:pt x="11539" y="284873"/>
                  </a:lnTo>
                  <a:lnTo>
                    <a:pt x="25434" y="241328"/>
                  </a:lnTo>
                  <a:lnTo>
                    <a:pt x="44272" y="200252"/>
                  </a:lnTo>
                  <a:lnTo>
                    <a:pt x="67702" y="161997"/>
                  </a:lnTo>
                  <a:lnTo>
                    <a:pt x="95368" y="126918"/>
                  </a:lnTo>
                  <a:lnTo>
                    <a:pt x="126918" y="95368"/>
                  </a:lnTo>
                  <a:lnTo>
                    <a:pt x="161997" y="67702"/>
                  </a:lnTo>
                  <a:lnTo>
                    <a:pt x="200252" y="44272"/>
                  </a:lnTo>
                  <a:lnTo>
                    <a:pt x="241328" y="25434"/>
                  </a:lnTo>
                  <a:lnTo>
                    <a:pt x="284873" y="11539"/>
                  </a:lnTo>
                  <a:lnTo>
                    <a:pt x="330532" y="2943"/>
                  </a:lnTo>
                  <a:lnTo>
                    <a:pt x="377952" y="0"/>
                  </a:lnTo>
                  <a:lnTo>
                    <a:pt x="425345" y="2943"/>
                  </a:lnTo>
                  <a:lnTo>
                    <a:pt x="470933" y="11539"/>
                  </a:lnTo>
                  <a:lnTo>
                    <a:pt x="514369" y="25434"/>
                  </a:lnTo>
                  <a:lnTo>
                    <a:pt x="555307" y="44272"/>
                  </a:lnTo>
                  <a:lnTo>
                    <a:pt x="593403" y="67702"/>
                  </a:lnTo>
                  <a:lnTo>
                    <a:pt x="628311" y="95368"/>
                  </a:lnTo>
                  <a:lnTo>
                    <a:pt x="659685" y="126918"/>
                  </a:lnTo>
                  <a:lnTo>
                    <a:pt x="687180" y="161997"/>
                  </a:lnTo>
                  <a:lnTo>
                    <a:pt x="710451" y="200252"/>
                  </a:lnTo>
                  <a:lnTo>
                    <a:pt x="729151" y="241328"/>
                  </a:lnTo>
                  <a:lnTo>
                    <a:pt x="742937" y="284873"/>
                  </a:lnTo>
                  <a:lnTo>
                    <a:pt x="751461" y="330532"/>
                  </a:lnTo>
                  <a:lnTo>
                    <a:pt x="754379" y="377951"/>
                  </a:lnTo>
                  <a:lnTo>
                    <a:pt x="751461" y="425046"/>
                  </a:lnTo>
                  <a:lnTo>
                    <a:pt x="742937" y="470429"/>
                  </a:lnTo>
                  <a:lnTo>
                    <a:pt x="729151" y="513744"/>
                  </a:lnTo>
                  <a:lnTo>
                    <a:pt x="710451" y="554633"/>
                  </a:lnTo>
                  <a:lnTo>
                    <a:pt x="687180" y="592737"/>
                  </a:lnTo>
                  <a:lnTo>
                    <a:pt x="659685" y="627699"/>
                  </a:lnTo>
                  <a:lnTo>
                    <a:pt x="628311" y="659160"/>
                  </a:lnTo>
                  <a:lnTo>
                    <a:pt x="593403" y="686764"/>
                  </a:lnTo>
                  <a:lnTo>
                    <a:pt x="555307" y="710151"/>
                  </a:lnTo>
                  <a:lnTo>
                    <a:pt x="514369" y="728964"/>
                  </a:lnTo>
                  <a:lnTo>
                    <a:pt x="470933" y="742845"/>
                  </a:lnTo>
                  <a:lnTo>
                    <a:pt x="425345" y="751436"/>
                  </a:lnTo>
                  <a:lnTo>
                    <a:pt x="377952" y="754379"/>
                  </a:lnTo>
                  <a:lnTo>
                    <a:pt x="330532" y="751436"/>
                  </a:lnTo>
                  <a:lnTo>
                    <a:pt x="284873" y="742845"/>
                  </a:lnTo>
                  <a:lnTo>
                    <a:pt x="241328" y="728964"/>
                  </a:lnTo>
                  <a:lnTo>
                    <a:pt x="200252" y="710151"/>
                  </a:lnTo>
                  <a:lnTo>
                    <a:pt x="161997" y="686764"/>
                  </a:lnTo>
                  <a:lnTo>
                    <a:pt x="126918" y="659160"/>
                  </a:lnTo>
                  <a:lnTo>
                    <a:pt x="95368" y="627699"/>
                  </a:lnTo>
                  <a:lnTo>
                    <a:pt x="67702" y="592737"/>
                  </a:lnTo>
                  <a:lnTo>
                    <a:pt x="44272" y="554633"/>
                  </a:lnTo>
                  <a:lnTo>
                    <a:pt x="25434" y="513744"/>
                  </a:lnTo>
                  <a:lnTo>
                    <a:pt x="11539" y="470429"/>
                  </a:lnTo>
                  <a:lnTo>
                    <a:pt x="2943" y="425046"/>
                  </a:lnTo>
                  <a:lnTo>
                    <a:pt x="0" y="377951"/>
                  </a:lnTo>
                </a:path>
              </a:pathLst>
            </a:custGeom>
            <a:ln w="1524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0" name="object 30" descr=""/>
          <p:cNvSpPr txBox="1"/>
          <p:nvPr/>
        </p:nvSpPr>
        <p:spPr>
          <a:xfrm>
            <a:off x="4938735" y="4903692"/>
            <a:ext cx="434975" cy="47942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ctr">
              <a:lnSpc>
                <a:spcPts val="1195"/>
              </a:lnSpc>
              <a:spcBef>
                <a:spcPts val="95"/>
              </a:spcBef>
            </a:pPr>
            <a:r>
              <a:rPr dirty="0" u="sng" sz="1000" spc="-25">
                <a:uFill>
                  <a:solidFill>
                    <a:srgbClr val="000000"/>
                  </a:solidFill>
                </a:uFill>
                <a:latin typeface="Microsoft Sans Serif"/>
                <a:cs typeface="Microsoft Sans Serif"/>
              </a:rPr>
              <a:t>1.2</a:t>
            </a:r>
            <a:endParaRPr sz="1000">
              <a:latin typeface="Microsoft Sans Serif"/>
              <a:cs typeface="Microsoft Sans Serif"/>
            </a:endParaRPr>
          </a:p>
          <a:p>
            <a:pPr algn="ctr" marL="12700" marR="5080" indent="1905">
              <a:lnSpc>
                <a:spcPts val="1190"/>
              </a:lnSpc>
              <a:spcBef>
                <a:spcPts val="40"/>
              </a:spcBef>
            </a:pPr>
            <a:r>
              <a:rPr dirty="0" sz="1000" spc="-70">
                <a:latin typeface="Microsoft Sans Serif"/>
                <a:cs typeface="Microsoft Sans Serif"/>
              </a:rPr>
              <a:t>Receive</a:t>
            </a:r>
            <a:r>
              <a:rPr dirty="0" sz="1000" spc="500">
                <a:latin typeface="Microsoft Sans Serif"/>
                <a:cs typeface="Microsoft Sans Serif"/>
              </a:rPr>
              <a:t> </a:t>
            </a:r>
            <a:r>
              <a:rPr dirty="0" sz="1000" spc="-114">
                <a:latin typeface="Microsoft Sans Serif"/>
                <a:cs typeface="Microsoft Sans Serif"/>
              </a:rPr>
              <a:t>Payment</a:t>
            </a:r>
            <a:endParaRPr sz="1000">
              <a:latin typeface="Microsoft Sans Serif"/>
              <a:cs typeface="Microsoft Sans Serif"/>
            </a:endParaRPr>
          </a:p>
        </p:txBody>
      </p:sp>
      <p:pic>
        <p:nvPicPr>
          <p:cNvPr id="31" name="object 31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910071" y="5018532"/>
            <a:ext cx="754380" cy="248411"/>
          </a:xfrm>
          <a:prstGeom prst="rect">
            <a:avLst/>
          </a:prstGeom>
        </p:spPr>
      </p:pic>
      <p:sp>
        <p:nvSpPr>
          <p:cNvPr id="32" name="object 32" descr=""/>
          <p:cNvSpPr txBox="1"/>
          <p:nvPr/>
        </p:nvSpPr>
        <p:spPr>
          <a:xfrm>
            <a:off x="6031441" y="5053043"/>
            <a:ext cx="51054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145">
                <a:latin typeface="Microsoft Sans Serif"/>
                <a:cs typeface="Microsoft Sans Serif"/>
              </a:rPr>
              <a:t>PAYMENT</a:t>
            </a:r>
            <a:endParaRPr sz="1000">
              <a:latin typeface="Microsoft Sans Serif"/>
              <a:cs typeface="Microsoft Sans Serif"/>
            </a:endParaRPr>
          </a:p>
        </p:txBody>
      </p:sp>
      <p:sp>
        <p:nvSpPr>
          <p:cNvPr id="33" name="object 33" descr=""/>
          <p:cNvSpPr/>
          <p:nvPr/>
        </p:nvSpPr>
        <p:spPr>
          <a:xfrm>
            <a:off x="5541264" y="5091683"/>
            <a:ext cx="368935" cy="104139"/>
          </a:xfrm>
          <a:custGeom>
            <a:avLst/>
            <a:gdLst/>
            <a:ahLst/>
            <a:cxnLst/>
            <a:rect l="l" t="t" r="r" b="b"/>
            <a:pathLst>
              <a:path w="368935" h="104139">
                <a:moveTo>
                  <a:pt x="347472" y="51816"/>
                </a:moveTo>
                <a:lnTo>
                  <a:pt x="326136" y="0"/>
                </a:lnTo>
                <a:lnTo>
                  <a:pt x="363787" y="45720"/>
                </a:lnTo>
                <a:lnTo>
                  <a:pt x="347472" y="45720"/>
                </a:lnTo>
                <a:lnTo>
                  <a:pt x="347472" y="51816"/>
                </a:lnTo>
                <a:close/>
              </a:path>
              <a:path w="368935" h="104139">
                <a:moveTo>
                  <a:pt x="0" y="59436"/>
                </a:moveTo>
                <a:lnTo>
                  <a:pt x="0" y="45720"/>
                </a:lnTo>
                <a:lnTo>
                  <a:pt x="344961" y="45720"/>
                </a:lnTo>
                <a:lnTo>
                  <a:pt x="347472" y="51816"/>
                </a:lnTo>
                <a:lnTo>
                  <a:pt x="345141" y="57912"/>
                </a:lnTo>
                <a:lnTo>
                  <a:pt x="347472" y="57912"/>
                </a:lnTo>
                <a:lnTo>
                  <a:pt x="0" y="59436"/>
                </a:lnTo>
                <a:close/>
              </a:path>
              <a:path w="368935" h="104139">
                <a:moveTo>
                  <a:pt x="363967" y="57912"/>
                </a:moveTo>
                <a:lnTo>
                  <a:pt x="347472" y="57912"/>
                </a:lnTo>
                <a:lnTo>
                  <a:pt x="347472" y="45720"/>
                </a:lnTo>
                <a:lnTo>
                  <a:pt x="363787" y="45720"/>
                </a:lnTo>
                <a:lnTo>
                  <a:pt x="368808" y="51816"/>
                </a:lnTo>
                <a:lnTo>
                  <a:pt x="363967" y="57912"/>
                </a:lnTo>
                <a:close/>
              </a:path>
              <a:path w="368935" h="104139">
                <a:moveTo>
                  <a:pt x="327660" y="103632"/>
                </a:moveTo>
                <a:lnTo>
                  <a:pt x="347472" y="51816"/>
                </a:lnTo>
                <a:lnTo>
                  <a:pt x="347472" y="57912"/>
                </a:lnTo>
                <a:lnTo>
                  <a:pt x="363967" y="57912"/>
                </a:lnTo>
                <a:lnTo>
                  <a:pt x="327660" y="10363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4" name="object 34" descr=""/>
          <p:cNvSpPr txBox="1"/>
          <p:nvPr/>
        </p:nvSpPr>
        <p:spPr>
          <a:xfrm>
            <a:off x="5810527" y="4333789"/>
            <a:ext cx="813435" cy="2012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50" spc="-114">
                <a:latin typeface="Microsoft Sans Serif"/>
                <a:cs typeface="Microsoft Sans Serif"/>
              </a:rPr>
              <a:t>Severed</a:t>
            </a:r>
            <a:r>
              <a:rPr dirty="0" sz="1150" spc="-30">
                <a:latin typeface="Microsoft Sans Serif"/>
                <a:cs typeface="Microsoft Sans Serif"/>
              </a:rPr>
              <a:t> </a:t>
            </a:r>
            <a:r>
              <a:rPr dirty="0" sz="1150" spc="-95">
                <a:latin typeface="Microsoft Sans Serif"/>
                <a:cs typeface="Microsoft Sans Serif"/>
              </a:rPr>
              <a:t>Order</a:t>
            </a:r>
            <a:endParaRPr sz="1150">
              <a:latin typeface="Microsoft Sans Serif"/>
              <a:cs typeface="Microsoft Sans Serif"/>
            </a:endParaRPr>
          </a:p>
        </p:txBody>
      </p:sp>
      <p:sp>
        <p:nvSpPr>
          <p:cNvPr id="35" name="object 35" descr=""/>
          <p:cNvSpPr txBox="1"/>
          <p:nvPr/>
        </p:nvSpPr>
        <p:spPr>
          <a:xfrm>
            <a:off x="7124173" y="3391939"/>
            <a:ext cx="1149350" cy="2012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50" spc="-114">
                <a:latin typeface="Microsoft Sans Serif"/>
                <a:cs typeface="Microsoft Sans Serif"/>
              </a:rPr>
              <a:t>Request</a:t>
            </a:r>
            <a:r>
              <a:rPr dirty="0" sz="1150" spc="-30">
                <a:latin typeface="Microsoft Sans Serif"/>
                <a:cs typeface="Microsoft Sans Serif"/>
              </a:rPr>
              <a:t> </a:t>
            </a:r>
            <a:r>
              <a:rPr dirty="0" sz="1150" spc="-90">
                <a:latin typeface="Microsoft Sans Serif"/>
                <a:cs typeface="Microsoft Sans Serif"/>
              </a:rPr>
              <a:t>for</a:t>
            </a:r>
            <a:r>
              <a:rPr dirty="0" sz="1150" spc="-20">
                <a:latin typeface="Microsoft Sans Serif"/>
                <a:cs typeface="Microsoft Sans Serif"/>
              </a:rPr>
              <a:t> </a:t>
            </a:r>
            <a:r>
              <a:rPr dirty="0" sz="1150" spc="-90">
                <a:latin typeface="Microsoft Sans Serif"/>
                <a:cs typeface="Microsoft Sans Serif"/>
              </a:rPr>
              <a:t>Forecast</a:t>
            </a:r>
            <a:endParaRPr sz="1150">
              <a:latin typeface="Microsoft Sans Serif"/>
              <a:cs typeface="Microsoft Sans Serif"/>
            </a:endParaRPr>
          </a:p>
        </p:txBody>
      </p:sp>
      <p:grpSp>
        <p:nvGrpSpPr>
          <p:cNvPr id="36" name="object 36" descr=""/>
          <p:cNvGrpSpPr/>
          <p:nvPr/>
        </p:nvGrpSpPr>
        <p:grpSpPr>
          <a:xfrm>
            <a:off x="5910071" y="2945568"/>
            <a:ext cx="1793875" cy="1059815"/>
            <a:chOff x="5910071" y="2945568"/>
            <a:chExt cx="1793875" cy="1059815"/>
          </a:xfrm>
        </p:grpSpPr>
        <p:sp>
          <p:nvSpPr>
            <p:cNvPr id="37" name="object 37" descr=""/>
            <p:cNvSpPr/>
            <p:nvPr/>
          </p:nvSpPr>
          <p:spPr>
            <a:xfrm>
              <a:off x="7181087" y="3604259"/>
              <a:ext cx="523240" cy="401320"/>
            </a:xfrm>
            <a:custGeom>
              <a:avLst/>
              <a:gdLst/>
              <a:ahLst/>
              <a:cxnLst/>
              <a:rect l="l" t="t" r="r" b="b"/>
              <a:pathLst>
                <a:path w="523240" h="401320">
                  <a:moveTo>
                    <a:pt x="50292" y="379476"/>
                  </a:moveTo>
                  <a:lnTo>
                    <a:pt x="44734" y="376781"/>
                  </a:lnTo>
                  <a:lnTo>
                    <a:pt x="45719" y="371856"/>
                  </a:lnTo>
                  <a:lnTo>
                    <a:pt x="51816" y="353568"/>
                  </a:lnTo>
                  <a:lnTo>
                    <a:pt x="54864" y="342900"/>
                  </a:lnTo>
                  <a:lnTo>
                    <a:pt x="74676" y="307848"/>
                  </a:lnTo>
                  <a:lnTo>
                    <a:pt x="102108" y="275843"/>
                  </a:lnTo>
                  <a:lnTo>
                    <a:pt x="135636" y="246888"/>
                  </a:lnTo>
                  <a:lnTo>
                    <a:pt x="173736" y="224028"/>
                  </a:lnTo>
                  <a:lnTo>
                    <a:pt x="216408" y="207264"/>
                  </a:lnTo>
                  <a:lnTo>
                    <a:pt x="271272" y="198119"/>
                  </a:lnTo>
                  <a:lnTo>
                    <a:pt x="292608" y="198119"/>
                  </a:lnTo>
                  <a:lnTo>
                    <a:pt x="324612" y="193548"/>
                  </a:lnTo>
                  <a:lnTo>
                    <a:pt x="365760" y="181356"/>
                  </a:lnTo>
                  <a:lnTo>
                    <a:pt x="403860" y="161543"/>
                  </a:lnTo>
                  <a:lnTo>
                    <a:pt x="438912" y="135636"/>
                  </a:lnTo>
                  <a:lnTo>
                    <a:pt x="467868" y="105156"/>
                  </a:lnTo>
                  <a:lnTo>
                    <a:pt x="490728" y="73152"/>
                  </a:lnTo>
                  <a:lnTo>
                    <a:pt x="498348" y="54864"/>
                  </a:lnTo>
                  <a:lnTo>
                    <a:pt x="502920" y="45720"/>
                  </a:lnTo>
                  <a:lnTo>
                    <a:pt x="504444" y="36576"/>
                  </a:lnTo>
                  <a:lnTo>
                    <a:pt x="507492" y="27432"/>
                  </a:lnTo>
                  <a:lnTo>
                    <a:pt x="509016" y="18288"/>
                  </a:lnTo>
                  <a:lnTo>
                    <a:pt x="509016" y="9144"/>
                  </a:lnTo>
                  <a:lnTo>
                    <a:pt x="510540" y="0"/>
                  </a:lnTo>
                  <a:lnTo>
                    <a:pt x="522732" y="0"/>
                  </a:lnTo>
                  <a:lnTo>
                    <a:pt x="522732" y="10668"/>
                  </a:lnTo>
                  <a:lnTo>
                    <a:pt x="521208" y="19812"/>
                  </a:lnTo>
                  <a:lnTo>
                    <a:pt x="519684" y="30480"/>
                  </a:lnTo>
                  <a:lnTo>
                    <a:pt x="518160" y="39624"/>
                  </a:lnTo>
                  <a:lnTo>
                    <a:pt x="515112" y="50292"/>
                  </a:lnTo>
                  <a:lnTo>
                    <a:pt x="510540" y="59436"/>
                  </a:lnTo>
                  <a:lnTo>
                    <a:pt x="502920" y="77724"/>
                  </a:lnTo>
                  <a:lnTo>
                    <a:pt x="478536" y="114300"/>
                  </a:lnTo>
                  <a:lnTo>
                    <a:pt x="431292" y="160019"/>
                  </a:lnTo>
                  <a:lnTo>
                    <a:pt x="371856" y="193548"/>
                  </a:lnTo>
                  <a:lnTo>
                    <a:pt x="327660" y="205740"/>
                  </a:lnTo>
                  <a:lnTo>
                    <a:pt x="306324" y="210312"/>
                  </a:lnTo>
                  <a:lnTo>
                    <a:pt x="283464" y="210312"/>
                  </a:lnTo>
                  <a:lnTo>
                    <a:pt x="272796" y="211836"/>
                  </a:lnTo>
                  <a:lnTo>
                    <a:pt x="262128" y="211836"/>
                  </a:lnTo>
                  <a:lnTo>
                    <a:pt x="219456" y="220980"/>
                  </a:lnTo>
                  <a:lnTo>
                    <a:pt x="179832" y="236219"/>
                  </a:lnTo>
                  <a:lnTo>
                    <a:pt x="143256" y="257556"/>
                  </a:lnTo>
                  <a:lnTo>
                    <a:pt x="111252" y="284988"/>
                  </a:lnTo>
                  <a:lnTo>
                    <a:pt x="85344" y="315467"/>
                  </a:lnTo>
                  <a:lnTo>
                    <a:pt x="67056" y="348996"/>
                  </a:lnTo>
                  <a:lnTo>
                    <a:pt x="64008" y="358139"/>
                  </a:lnTo>
                  <a:lnTo>
                    <a:pt x="60960" y="365760"/>
                  </a:lnTo>
                  <a:lnTo>
                    <a:pt x="57912" y="374904"/>
                  </a:lnTo>
                  <a:lnTo>
                    <a:pt x="57912" y="377359"/>
                  </a:lnTo>
                  <a:lnTo>
                    <a:pt x="50292" y="379476"/>
                  </a:lnTo>
                  <a:close/>
                </a:path>
                <a:path w="523240" h="401320">
                  <a:moveTo>
                    <a:pt x="48768" y="400812"/>
                  </a:moveTo>
                  <a:lnTo>
                    <a:pt x="0" y="355092"/>
                  </a:lnTo>
                  <a:lnTo>
                    <a:pt x="44734" y="376781"/>
                  </a:lnTo>
                  <a:lnTo>
                    <a:pt x="44195" y="379476"/>
                  </a:lnTo>
                  <a:lnTo>
                    <a:pt x="57912" y="381000"/>
                  </a:lnTo>
                  <a:lnTo>
                    <a:pt x="79311" y="381000"/>
                  </a:lnTo>
                  <a:lnTo>
                    <a:pt x="48768" y="400812"/>
                  </a:lnTo>
                  <a:close/>
                </a:path>
                <a:path w="523240" h="401320">
                  <a:moveTo>
                    <a:pt x="79311" y="381000"/>
                  </a:moveTo>
                  <a:lnTo>
                    <a:pt x="57912" y="381000"/>
                  </a:lnTo>
                  <a:lnTo>
                    <a:pt x="57912" y="377359"/>
                  </a:lnTo>
                  <a:lnTo>
                    <a:pt x="105156" y="364236"/>
                  </a:lnTo>
                  <a:lnTo>
                    <a:pt x="79311" y="381000"/>
                  </a:lnTo>
                  <a:close/>
                </a:path>
                <a:path w="523240" h="401320">
                  <a:moveTo>
                    <a:pt x="57912" y="381000"/>
                  </a:moveTo>
                  <a:lnTo>
                    <a:pt x="44195" y="379476"/>
                  </a:lnTo>
                  <a:lnTo>
                    <a:pt x="44619" y="377359"/>
                  </a:lnTo>
                  <a:lnTo>
                    <a:pt x="44734" y="376781"/>
                  </a:lnTo>
                  <a:lnTo>
                    <a:pt x="50292" y="379476"/>
                  </a:lnTo>
                  <a:lnTo>
                    <a:pt x="57912" y="379476"/>
                  </a:lnTo>
                  <a:lnTo>
                    <a:pt x="57912" y="381000"/>
                  </a:lnTo>
                  <a:close/>
                </a:path>
                <a:path w="523240" h="401320">
                  <a:moveTo>
                    <a:pt x="57912" y="379476"/>
                  </a:moveTo>
                  <a:lnTo>
                    <a:pt x="50292" y="379476"/>
                  </a:lnTo>
                  <a:lnTo>
                    <a:pt x="57912" y="377359"/>
                  </a:lnTo>
                  <a:lnTo>
                    <a:pt x="57912" y="37947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8" name="object 38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910071" y="2945568"/>
              <a:ext cx="749590" cy="246011"/>
            </a:xfrm>
            <a:prstGeom prst="rect">
              <a:avLst/>
            </a:prstGeom>
          </p:spPr>
        </p:pic>
      </p:grpSp>
      <p:sp>
        <p:nvSpPr>
          <p:cNvPr id="39" name="object 39" descr=""/>
          <p:cNvSpPr txBox="1"/>
          <p:nvPr/>
        </p:nvSpPr>
        <p:spPr>
          <a:xfrm>
            <a:off x="4150831" y="1957850"/>
            <a:ext cx="4545330" cy="119697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391160" algn="l"/>
              </a:tabLst>
            </a:pPr>
            <a:r>
              <a:rPr dirty="0" sz="1650" spc="-25">
                <a:latin typeface="Arial MT"/>
                <a:cs typeface="Arial MT"/>
              </a:rPr>
              <a:t>4.</a:t>
            </a:r>
            <a:r>
              <a:rPr dirty="0" sz="1650">
                <a:latin typeface="Arial MT"/>
                <a:cs typeface="Arial MT"/>
              </a:rPr>
              <a:t>	Construct</a:t>
            </a:r>
            <a:r>
              <a:rPr dirty="0" sz="1650" spc="-50">
                <a:latin typeface="Arial MT"/>
                <a:cs typeface="Arial MT"/>
              </a:rPr>
              <a:t> </a:t>
            </a:r>
            <a:r>
              <a:rPr dirty="0" sz="1650">
                <a:latin typeface="Arial MT"/>
                <a:cs typeface="Arial MT"/>
              </a:rPr>
              <a:t>Level</a:t>
            </a:r>
            <a:r>
              <a:rPr dirty="0" sz="1650" spc="-35">
                <a:latin typeface="Arial MT"/>
                <a:cs typeface="Arial MT"/>
              </a:rPr>
              <a:t> </a:t>
            </a:r>
            <a:r>
              <a:rPr dirty="0" sz="1650">
                <a:latin typeface="Arial MT"/>
                <a:cs typeface="Arial MT"/>
              </a:rPr>
              <a:t>1-</a:t>
            </a:r>
            <a:r>
              <a:rPr dirty="0" sz="1650" spc="-20">
                <a:latin typeface="Arial MT"/>
                <a:cs typeface="Arial MT"/>
              </a:rPr>
              <a:t> </a:t>
            </a:r>
            <a:r>
              <a:rPr dirty="0" sz="1650">
                <a:latin typeface="Arial MT"/>
                <a:cs typeface="Arial MT"/>
              </a:rPr>
              <a:t>n</a:t>
            </a:r>
            <a:r>
              <a:rPr dirty="0" sz="1650" spc="-5">
                <a:latin typeface="Arial MT"/>
                <a:cs typeface="Arial MT"/>
              </a:rPr>
              <a:t> </a:t>
            </a:r>
            <a:r>
              <a:rPr dirty="0" sz="1650" spc="-25">
                <a:latin typeface="Arial MT"/>
                <a:cs typeface="Arial MT"/>
              </a:rPr>
              <a:t>DFD</a:t>
            </a:r>
            <a:endParaRPr sz="1650">
              <a:latin typeface="Arial MT"/>
              <a:cs typeface="Arial MT"/>
            </a:endParaRPr>
          </a:p>
          <a:p>
            <a:pPr marL="390525">
              <a:lnSpc>
                <a:spcPct val="100000"/>
              </a:lnSpc>
            </a:pPr>
            <a:r>
              <a:rPr dirty="0" sz="1650">
                <a:latin typeface="Arial MT"/>
                <a:cs typeface="Arial MT"/>
              </a:rPr>
              <a:t>(identifies</a:t>
            </a:r>
            <a:r>
              <a:rPr dirty="0" sz="1650" spc="-55">
                <a:latin typeface="Arial MT"/>
                <a:cs typeface="Arial MT"/>
              </a:rPr>
              <a:t> </a:t>
            </a:r>
            <a:r>
              <a:rPr dirty="0" sz="1650">
                <a:latin typeface="Arial MT"/>
                <a:cs typeface="Arial MT"/>
              </a:rPr>
              <a:t>actual</a:t>
            </a:r>
            <a:r>
              <a:rPr dirty="0" sz="1650" spc="-40">
                <a:latin typeface="Arial MT"/>
                <a:cs typeface="Arial MT"/>
              </a:rPr>
              <a:t> </a:t>
            </a:r>
            <a:r>
              <a:rPr dirty="0" sz="1650">
                <a:latin typeface="Arial MT"/>
                <a:cs typeface="Arial MT"/>
              </a:rPr>
              <a:t>data</a:t>
            </a:r>
            <a:r>
              <a:rPr dirty="0" sz="1650" spc="-30">
                <a:latin typeface="Arial MT"/>
                <a:cs typeface="Arial MT"/>
              </a:rPr>
              <a:t> </a:t>
            </a:r>
            <a:r>
              <a:rPr dirty="0" sz="1650">
                <a:latin typeface="Arial MT"/>
                <a:cs typeface="Arial MT"/>
              </a:rPr>
              <a:t>flows</a:t>
            </a:r>
            <a:r>
              <a:rPr dirty="0" sz="1650" spc="-25">
                <a:latin typeface="Arial MT"/>
                <a:cs typeface="Arial MT"/>
              </a:rPr>
              <a:t> </a:t>
            </a:r>
            <a:r>
              <a:rPr dirty="0" sz="1650">
                <a:latin typeface="Arial MT"/>
                <a:cs typeface="Arial MT"/>
              </a:rPr>
              <a:t>and</a:t>
            </a:r>
            <a:r>
              <a:rPr dirty="0" sz="1650" spc="-30">
                <a:latin typeface="Arial MT"/>
                <a:cs typeface="Arial MT"/>
              </a:rPr>
              <a:t> </a:t>
            </a:r>
            <a:r>
              <a:rPr dirty="0" sz="1650">
                <a:latin typeface="Arial MT"/>
                <a:cs typeface="Arial MT"/>
              </a:rPr>
              <a:t>data</a:t>
            </a:r>
            <a:r>
              <a:rPr dirty="0" sz="1650" spc="-30">
                <a:latin typeface="Arial MT"/>
                <a:cs typeface="Arial MT"/>
              </a:rPr>
              <a:t> </a:t>
            </a:r>
            <a:r>
              <a:rPr dirty="0" sz="1650">
                <a:latin typeface="Arial MT"/>
                <a:cs typeface="Arial MT"/>
              </a:rPr>
              <a:t>stores</a:t>
            </a:r>
            <a:r>
              <a:rPr dirty="0" sz="1650" spc="-35">
                <a:latin typeface="Arial MT"/>
                <a:cs typeface="Arial MT"/>
              </a:rPr>
              <a:t> </a:t>
            </a:r>
            <a:r>
              <a:rPr dirty="0" sz="1650" spc="-50">
                <a:latin typeface="Arial MT"/>
                <a:cs typeface="Arial MT"/>
              </a:rPr>
              <a:t>)</a:t>
            </a:r>
            <a:endParaRPr sz="1650">
              <a:latin typeface="Arial MT"/>
              <a:cs typeface="Arial MT"/>
            </a:endParaRPr>
          </a:p>
          <a:p>
            <a:pPr algn="ctr" marR="71120">
              <a:lnSpc>
                <a:spcPct val="100000"/>
              </a:lnSpc>
              <a:spcBef>
                <a:spcPts val="505"/>
              </a:spcBef>
            </a:pPr>
            <a:r>
              <a:rPr dirty="0" sz="1950">
                <a:solidFill>
                  <a:srgbClr val="ED7C31"/>
                </a:solidFill>
                <a:latin typeface="Arial MT"/>
                <a:cs typeface="Arial MT"/>
              </a:rPr>
              <a:t>Level</a:t>
            </a:r>
            <a:r>
              <a:rPr dirty="0" sz="1950" spc="15">
                <a:solidFill>
                  <a:srgbClr val="ED7C31"/>
                </a:solidFill>
                <a:latin typeface="Arial MT"/>
                <a:cs typeface="Arial MT"/>
              </a:rPr>
              <a:t> </a:t>
            </a:r>
            <a:r>
              <a:rPr dirty="0" sz="1950">
                <a:solidFill>
                  <a:srgbClr val="ED7C31"/>
                </a:solidFill>
                <a:latin typeface="Arial MT"/>
                <a:cs typeface="Arial MT"/>
              </a:rPr>
              <a:t>1</a:t>
            </a:r>
            <a:r>
              <a:rPr dirty="0" sz="1950" spc="35">
                <a:solidFill>
                  <a:srgbClr val="ED7C31"/>
                </a:solidFill>
                <a:latin typeface="Arial MT"/>
                <a:cs typeface="Arial MT"/>
              </a:rPr>
              <a:t> </a:t>
            </a:r>
            <a:r>
              <a:rPr dirty="0" sz="1950" spc="-25">
                <a:solidFill>
                  <a:srgbClr val="ED7C31"/>
                </a:solidFill>
                <a:latin typeface="Arial MT"/>
                <a:cs typeface="Arial MT"/>
              </a:rPr>
              <a:t>DFD</a:t>
            </a:r>
            <a:endParaRPr sz="1950">
              <a:latin typeface="Arial MT"/>
              <a:cs typeface="Arial MT"/>
            </a:endParaRPr>
          </a:p>
          <a:p>
            <a:pPr algn="ctr" marR="266065">
              <a:lnSpc>
                <a:spcPct val="100000"/>
              </a:lnSpc>
              <a:spcBef>
                <a:spcPts val="1210"/>
              </a:spcBef>
            </a:pPr>
            <a:r>
              <a:rPr dirty="0" sz="1000" spc="-25">
                <a:latin typeface="Microsoft Sans Serif"/>
                <a:cs typeface="Microsoft Sans Serif"/>
              </a:rPr>
              <a:t>CUSTOMER</a:t>
            </a:r>
            <a:endParaRPr sz="1000">
              <a:latin typeface="Microsoft Sans Serif"/>
              <a:cs typeface="Microsoft Sans Serif"/>
            </a:endParaRPr>
          </a:p>
        </p:txBody>
      </p:sp>
      <p:sp>
        <p:nvSpPr>
          <p:cNvPr id="40" name="object 40" descr=""/>
          <p:cNvSpPr/>
          <p:nvPr/>
        </p:nvSpPr>
        <p:spPr>
          <a:xfrm>
            <a:off x="5155691" y="3063239"/>
            <a:ext cx="757555" cy="523240"/>
          </a:xfrm>
          <a:custGeom>
            <a:avLst/>
            <a:gdLst/>
            <a:ahLst/>
            <a:cxnLst/>
            <a:rect l="l" t="t" r="r" b="b"/>
            <a:pathLst>
              <a:path w="757554" h="523239">
                <a:moveTo>
                  <a:pt x="22440" y="494573"/>
                </a:moveTo>
                <a:lnTo>
                  <a:pt x="19294" y="492442"/>
                </a:lnTo>
                <a:lnTo>
                  <a:pt x="16293" y="488240"/>
                </a:lnTo>
                <a:lnTo>
                  <a:pt x="15401" y="483524"/>
                </a:lnTo>
                <a:lnTo>
                  <a:pt x="751331" y="0"/>
                </a:lnTo>
                <a:lnTo>
                  <a:pt x="757427" y="10668"/>
                </a:lnTo>
                <a:lnTo>
                  <a:pt x="22440" y="494573"/>
                </a:lnTo>
                <a:close/>
              </a:path>
              <a:path w="757554" h="523239">
                <a:moveTo>
                  <a:pt x="64007" y="522732"/>
                </a:moveTo>
                <a:lnTo>
                  <a:pt x="0" y="501396"/>
                </a:lnTo>
                <a:lnTo>
                  <a:pt x="6095" y="434339"/>
                </a:lnTo>
                <a:lnTo>
                  <a:pt x="15401" y="483524"/>
                </a:lnTo>
                <a:lnTo>
                  <a:pt x="13715" y="484632"/>
                </a:lnTo>
                <a:lnTo>
                  <a:pt x="16293" y="488240"/>
                </a:lnTo>
                <a:lnTo>
                  <a:pt x="16763" y="490728"/>
                </a:lnTo>
                <a:lnTo>
                  <a:pt x="19294" y="492442"/>
                </a:lnTo>
                <a:lnTo>
                  <a:pt x="21335" y="495300"/>
                </a:lnTo>
                <a:lnTo>
                  <a:pt x="23513" y="495300"/>
                </a:lnTo>
                <a:lnTo>
                  <a:pt x="64007" y="522732"/>
                </a:lnTo>
                <a:close/>
              </a:path>
              <a:path w="757554" h="523239">
                <a:moveTo>
                  <a:pt x="16293" y="488240"/>
                </a:moveTo>
                <a:lnTo>
                  <a:pt x="13715" y="484632"/>
                </a:lnTo>
                <a:lnTo>
                  <a:pt x="15401" y="483524"/>
                </a:lnTo>
                <a:lnTo>
                  <a:pt x="16293" y="488240"/>
                </a:lnTo>
                <a:close/>
              </a:path>
              <a:path w="757554" h="523239">
                <a:moveTo>
                  <a:pt x="21335" y="495300"/>
                </a:moveTo>
                <a:lnTo>
                  <a:pt x="19294" y="492442"/>
                </a:lnTo>
                <a:lnTo>
                  <a:pt x="22440" y="494573"/>
                </a:lnTo>
                <a:lnTo>
                  <a:pt x="21335" y="495300"/>
                </a:lnTo>
                <a:close/>
              </a:path>
              <a:path w="757554" h="523239">
                <a:moveTo>
                  <a:pt x="23513" y="495300"/>
                </a:moveTo>
                <a:lnTo>
                  <a:pt x="21335" y="495300"/>
                </a:lnTo>
                <a:lnTo>
                  <a:pt x="22440" y="494573"/>
                </a:lnTo>
                <a:lnTo>
                  <a:pt x="23513" y="4953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031735" y="4448555"/>
            <a:ext cx="1831144" cy="2145791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7145">
              <a:lnSpc>
                <a:spcPct val="100000"/>
              </a:lnSpc>
              <a:spcBef>
                <a:spcPts val="125"/>
              </a:spcBef>
            </a:pPr>
            <a:r>
              <a:rPr dirty="0"/>
              <a:t>Creating</a:t>
            </a:r>
            <a:r>
              <a:rPr dirty="0" spc="20"/>
              <a:t> </a:t>
            </a:r>
            <a:r>
              <a:rPr dirty="0"/>
              <a:t>Data</a:t>
            </a:r>
            <a:r>
              <a:rPr dirty="0" spc="50"/>
              <a:t> </a:t>
            </a:r>
            <a:r>
              <a:rPr dirty="0"/>
              <a:t>Flow</a:t>
            </a:r>
            <a:r>
              <a:rPr dirty="0" spc="30"/>
              <a:t> </a:t>
            </a:r>
            <a:r>
              <a:rPr dirty="0" spc="-10"/>
              <a:t>Diagrams</a:t>
            </a:r>
          </a:p>
        </p:txBody>
      </p:sp>
      <p:grpSp>
        <p:nvGrpSpPr>
          <p:cNvPr id="4" name="object 4" descr=""/>
          <p:cNvGrpSpPr/>
          <p:nvPr/>
        </p:nvGrpSpPr>
        <p:grpSpPr>
          <a:xfrm>
            <a:off x="4020311" y="2063495"/>
            <a:ext cx="7620" cy="4464050"/>
            <a:chOff x="4020311" y="2063495"/>
            <a:chExt cx="7620" cy="4464050"/>
          </a:xfrm>
        </p:grpSpPr>
        <p:sp>
          <p:nvSpPr>
            <p:cNvPr id="5" name="object 5" descr=""/>
            <p:cNvSpPr/>
            <p:nvPr/>
          </p:nvSpPr>
          <p:spPr>
            <a:xfrm>
              <a:off x="4024121" y="4901184"/>
              <a:ext cx="0" cy="1626235"/>
            </a:xfrm>
            <a:custGeom>
              <a:avLst/>
              <a:gdLst/>
              <a:ahLst/>
              <a:cxnLst/>
              <a:rect l="l" t="t" r="r" b="b"/>
              <a:pathLst>
                <a:path w="0" h="1626234">
                  <a:moveTo>
                    <a:pt x="0" y="0"/>
                  </a:moveTo>
                  <a:lnTo>
                    <a:pt x="0" y="1626108"/>
                  </a:lnTo>
                </a:path>
              </a:pathLst>
            </a:custGeom>
            <a:ln w="7620">
              <a:solidFill>
                <a:srgbClr val="954F72"/>
              </a:solidFill>
              <a:prstDash val="sys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4020311" y="4351020"/>
              <a:ext cx="7620" cy="525780"/>
            </a:xfrm>
            <a:custGeom>
              <a:avLst/>
              <a:gdLst/>
              <a:ahLst/>
              <a:cxnLst/>
              <a:rect l="l" t="t" r="r" b="b"/>
              <a:pathLst>
                <a:path w="7620" h="525779">
                  <a:moveTo>
                    <a:pt x="7620" y="525780"/>
                  </a:moveTo>
                  <a:lnTo>
                    <a:pt x="0" y="525780"/>
                  </a:lnTo>
                  <a:lnTo>
                    <a:pt x="0" y="495300"/>
                  </a:lnTo>
                  <a:lnTo>
                    <a:pt x="7620" y="495300"/>
                  </a:lnTo>
                  <a:lnTo>
                    <a:pt x="7620" y="525780"/>
                  </a:lnTo>
                  <a:close/>
                </a:path>
                <a:path w="7620" h="525779">
                  <a:moveTo>
                    <a:pt x="7620" y="470916"/>
                  </a:moveTo>
                  <a:lnTo>
                    <a:pt x="0" y="470916"/>
                  </a:lnTo>
                  <a:lnTo>
                    <a:pt x="0" y="440436"/>
                  </a:lnTo>
                  <a:lnTo>
                    <a:pt x="7620" y="440436"/>
                  </a:lnTo>
                  <a:lnTo>
                    <a:pt x="7620" y="470916"/>
                  </a:lnTo>
                  <a:close/>
                </a:path>
                <a:path w="7620" h="525779">
                  <a:moveTo>
                    <a:pt x="7620" y="416052"/>
                  </a:moveTo>
                  <a:lnTo>
                    <a:pt x="0" y="416052"/>
                  </a:lnTo>
                  <a:lnTo>
                    <a:pt x="0" y="385572"/>
                  </a:lnTo>
                  <a:lnTo>
                    <a:pt x="7620" y="385572"/>
                  </a:lnTo>
                  <a:lnTo>
                    <a:pt x="7620" y="416052"/>
                  </a:lnTo>
                  <a:close/>
                </a:path>
                <a:path w="7620" h="525779">
                  <a:moveTo>
                    <a:pt x="7620" y="361188"/>
                  </a:moveTo>
                  <a:lnTo>
                    <a:pt x="0" y="361188"/>
                  </a:lnTo>
                  <a:lnTo>
                    <a:pt x="0" y="329184"/>
                  </a:lnTo>
                  <a:lnTo>
                    <a:pt x="7620" y="330708"/>
                  </a:lnTo>
                  <a:lnTo>
                    <a:pt x="7620" y="361188"/>
                  </a:lnTo>
                  <a:close/>
                </a:path>
                <a:path w="7620" h="525779">
                  <a:moveTo>
                    <a:pt x="7620" y="306324"/>
                  </a:moveTo>
                  <a:lnTo>
                    <a:pt x="0" y="306324"/>
                  </a:lnTo>
                  <a:lnTo>
                    <a:pt x="0" y="274320"/>
                  </a:lnTo>
                  <a:lnTo>
                    <a:pt x="7620" y="274320"/>
                  </a:lnTo>
                  <a:lnTo>
                    <a:pt x="7620" y="306324"/>
                  </a:lnTo>
                  <a:close/>
                </a:path>
                <a:path w="7620" h="525779">
                  <a:moveTo>
                    <a:pt x="7620" y="251460"/>
                  </a:moveTo>
                  <a:lnTo>
                    <a:pt x="0" y="251460"/>
                  </a:lnTo>
                  <a:lnTo>
                    <a:pt x="0" y="219456"/>
                  </a:lnTo>
                  <a:lnTo>
                    <a:pt x="7620" y="219456"/>
                  </a:lnTo>
                  <a:lnTo>
                    <a:pt x="7620" y="251460"/>
                  </a:lnTo>
                  <a:close/>
                </a:path>
                <a:path w="7620" h="525779">
                  <a:moveTo>
                    <a:pt x="7620" y="196596"/>
                  </a:moveTo>
                  <a:lnTo>
                    <a:pt x="0" y="196596"/>
                  </a:lnTo>
                  <a:lnTo>
                    <a:pt x="0" y="164592"/>
                  </a:lnTo>
                  <a:lnTo>
                    <a:pt x="7620" y="164592"/>
                  </a:lnTo>
                  <a:lnTo>
                    <a:pt x="7620" y="196596"/>
                  </a:lnTo>
                  <a:close/>
                </a:path>
                <a:path w="7620" h="525779">
                  <a:moveTo>
                    <a:pt x="7620" y="141732"/>
                  </a:moveTo>
                  <a:lnTo>
                    <a:pt x="0" y="141732"/>
                  </a:lnTo>
                  <a:lnTo>
                    <a:pt x="0" y="109728"/>
                  </a:lnTo>
                  <a:lnTo>
                    <a:pt x="7620" y="109728"/>
                  </a:lnTo>
                  <a:lnTo>
                    <a:pt x="7620" y="141732"/>
                  </a:lnTo>
                  <a:close/>
                </a:path>
                <a:path w="7620" h="525779">
                  <a:moveTo>
                    <a:pt x="7620" y="86867"/>
                  </a:moveTo>
                  <a:lnTo>
                    <a:pt x="0" y="86867"/>
                  </a:lnTo>
                  <a:lnTo>
                    <a:pt x="0" y="54864"/>
                  </a:lnTo>
                  <a:lnTo>
                    <a:pt x="7620" y="54864"/>
                  </a:lnTo>
                  <a:lnTo>
                    <a:pt x="7620" y="86867"/>
                  </a:lnTo>
                  <a:close/>
                </a:path>
                <a:path w="7620" h="525779">
                  <a:moveTo>
                    <a:pt x="7620" y="32004"/>
                  </a:moveTo>
                  <a:lnTo>
                    <a:pt x="0" y="32004"/>
                  </a:lnTo>
                  <a:lnTo>
                    <a:pt x="0" y="0"/>
                  </a:lnTo>
                  <a:lnTo>
                    <a:pt x="7620" y="0"/>
                  </a:lnTo>
                  <a:lnTo>
                    <a:pt x="7620" y="32004"/>
                  </a:lnTo>
                  <a:close/>
                </a:path>
              </a:pathLst>
            </a:custGeom>
            <a:solidFill>
              <a:srgbClr val="954F7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4024121" y="2095499"/>
              <a:ext cx="0" cy="2231390"/>
            </a:xfrm>
            <a:custGeom>
              <a:avLst/>
              <a:gdLst/>
              <a:ahLst/>
              <a:cxnLst/>
              <a:rect l="l" t="t" r="r" b="b"/>
              <a:pathLst>
                <a:path w="0" h="2231390">
                  <a:moveTo>
                    <a:pt x="0" y="0"/>
                  </a:moveTo>
                  <a:lnTo>
                    <a:pt x="0" y="2231135"/>
                  </a:lnTo>
                </a:path>
              </a:pathLst>
            </a:custGeom>
            <a:ln w="7620">
              <a:solidFill>
                <a:srgbClr val="954F72"/>
              </a:solidFill>
              <a:prstDash val="sys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4020311" y="2063495"/>
              <a:ext cx="7620" cy="9525"/>
            </a:xfrm>
            <a:custGeom>
              <a:avLst/>
              <a:gdLst/>
              <a:ahLst/>
              <a:cxnLst/>
              <a:rect l="l" t="t" r="r" b="b"/>
              <a:pathLst>
                <a:path w="7620" h="9525">
                  <a:moveTo>
                    <a:pt x="7620" y="9144"/>
                  </a:moveTo>
                  <a:lnTo>
                    <a:pt x="0" y="9144"/>
                  </a:lnTo>
                  <a:lnTo>
                    <a:pt x="0" y="0"/>
                  </a:lnTo>
                  <a:lnTo>
                    <a:pt x="7620" y="0"/>
                  </a:lnTo>
                  <a:lnTo>
                    <a:pt x="7620" y="9144"/>
                  </a:lnTo>
                  <a:close/>
                </a:path>
              </a:pathLst>
            </a:custGeom>
            <a:solidFill>
              <a:srgbClr val="954F7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 descr=""/>
          <p:cNvSpPr txBox="1"/>
          <p:nvPr/>
        </p:nvSpPr>
        <p:spPr>
          <a:xfrm>
            <a:off x="5671765" y="2521655"/>
            <a:ext cx="1424305" cy="3276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950">
                <a:solidFill>
                  <a:srgbClr val="ED7C31"/>
                </a:solidFill>
                <a:latin typeface="Arial MT"/>
                <a:cs typeface="Arial MT"/>
              </a:rPr>
              <a:t>Level</a:t>
            </a:r>
            <a:r>
              <a:rPr dirty="0" sz="1950" spc="15">
                <a:solidFill>
                  <a:srgbClr val="ED7C31"/>
                </a:solidFill>
                <a:latin typeface="Arial MT"/>
                <a:cs typeface="Arial MT"/>
              </a:rPr>
              <a:t> </a:t>
            </a:r>
            <a:r>
              <a:rPr dirty="0" sz="1950">
                <a:solidFill>
                  <a:srgbClr val="ED7C31"/>
                </a:solidFill>
                <a:latin typeface="Arial MT"/>
                <a:cs typeface="Arial MT"/>
              </a:rPr>
              <a:t>1</a:t>
            </a:r>
            <a:r>
              <a:rPr dirty="0" sz="1950" spc="35">
                <a:solidFill>
                  <a:srgbClr val="ED7C31"/>
                </a:solidFill>
                <a:latin typeface="Arial MT"/>
                <a:cs typeface="Arial MT"/>
              </a:rPr>
              <a:t> </a:t>
            </a:r>
            <a:r>
              <a:rPr dirty="0" sz="1950" spc="-25">
                <a:solidFill>
                  <a:srgbClr val="ED7C31"/>
                </a:solidFill>
                <a:latin typeface="Arial MT"/>
                <a:cs typeface="Arial MT"/>
              </a:rPr>
              <a:t>DFD</a:t>
            </a:r>
            <a:endParaRPr sz="1950">
              <a:latin typeface="Arial MT"/>
              <a:cs typeface="Arial MT"/>
            </a:endParaRPr>
          </a:p>
        </p:txBody>
      </p:sp>
      <p:pic>
        <p:nvPicPr>
          <p:cNvPr id="10" name="object 10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429512" y="3430523"/>
            <a:ext cx="2083307" cy="3218688"/>
          </a:xfrm>
          <a:prstGeom prst="rect">
            <a:avLst/>
          </a:prstGeom>
        </p:spPr>
      </p:pic>
      <p:sp>
        <p:nvSpPr>
          <p:cNvPr id="11" name="object 11" descr=""/>
          <p:cNvSpPr txBox="1"/>
          <p:nvPr/>
        </p:nvSpPr>
        <p:spPr>
          <a:xfrm>
            <a:off x="1509806" y="1667428"/>
            <a:ext cx="2307590" cy="2566670"/>
          </a:xfrm>
          <a:prstGeom prst="rect">
            <a:avLst/>
          </a:prstGeom>
        </p:spPr>
        <p:txBody>
          <a:bodyPr wrap="square" lIns="0" tIns="180340" rIns="0" bIns="0" rtlCol="0" vert="horz">
            <a:spAutoFit/>
          </a:bodyPr>
          <a:lstStyle/>
          <a:p>
            <a:pPr marL="641985">
              <a:lnSpc>
                <a:spcPct val="100000"/>
              </a:lnSpc>
              <a:spcBef>
                <a:spcPts val="1420"/>
              </a:spcBef>
            </a:pPr>
            <a:r>
              <a:rPr dirty="0" sz="1950" spc="-10">
                <a:solidFill>
                  <a:srgbClr val="00CC00"/>
                </a:solidFill>
                <a:latin typeface="Arial MT"/>
                <a:cs typeface="Arial MT"/>
              </a:rPr>
              <a:t>Example</a:t>
            </a:r>
            <a:endParaRPr sz="1950">
              <a:latin typeface="Arial MT"/>
              <a:cs typeface="Arial MT"/>
            </a:endParaRPr>
          </a:p>
          <a:p>
            <a:pPr marL="12700" marR="5080">
              <a:lnSpc>
                <a:spcPct val="100000"/>
              </a:lnSpc>
              <a:spcBef>
                <a:spcPts val="1090"/>
              </a:spcBef>
            </a:pPr>
            <a:r>
              <a:rPr dirty="0" sz="1650">
                <a:latin typeface="Times New Roman"/>
                <a:cs typeface="Times New Roman"/>
              </a:rPr>
              <a:t>Create</a:t>
            </a:r>
            <a:r>
              <a:rPr dirty="0" sz="1650" spc="-40">
                <a:latin typeface="Times New Roman"/>
                <a:cs typeface="Times New Roman"/>
              </a:rPr>
              <a:t> </a:t>
            </a:r>
            <a:r>
              <a:rPr dirty="0" sz="1650">
                <a:latin typeface="Times New Roman"/>
                <a:cs typeface="Times New Roman"/>
              </a:rPr>
              <a:t>a</a:t>
            </a:r>
            <a:r>
              <a:rPr dirty="0" sz="1650" spc="-35">
                <a:latin typeface="Times New Roman"/>
                <a:cs typeface="Times New Roman"/>
              </a:rPr>
              <a:t> </a:t>
            </a:r>
            <a:r>
              <a:rPr dirty="0" sz="1650">
                <a:latin typeface="Times New Roman"/>
                <a:cs typeface="Times New Roman"/>
              </a:rPr>
              <a:t>level</a:t>
            </a:r>
            <a:r>
              <a:rPr dirty="0" sz="1650" spc="-45">
                <a:latin typeface="Times New Roman"/>
                <a:cs typeface="Times New Roman"/>
              </a:rPr>
              <a:t> </a:t>
            </a:r>
            <a:r>
              <a:rPr dirty="0" sz="1650" spc="-50">
                <a:latin typeface="Times New Roman"/>
                <a:cs typeface="Times New Roman"/>
              </a:rPr>
              <a:t>1 </a:t>
            </a:r>
            <a:r>
              <a:rPr dirty="0" sz="1650">
                <a:latin typeface="Times New Roman"/>
                <a:cs typeface="Times New Roman"/>
              </a:rPr>
              <a:t>decomposing</a:t>
            </a:r>
            <a:r>
              <a:rPr dirty="0" sz="1650" spc="-60">
                <a:latin typeface="Times New Roman"/>
                <a:cs typeface="Times New Roman"/>
              </a:rPr>
              <a:t> </a:t>
            </a:r>
            <a:r>
              <a:rPr dirty="0" sz="1650">
                <a:latin typeface="Times New Roman"/>
                <a:cs typeface="Times New Roman"/>
              </a:rPr>
              <a:t>the</a:t>
            </a:r>
            <a:r>
              <a:rPr dirty="0" sz="1650" spc="-40">
                <a:latin typeface="Times New Roman"/>
                <a:cs typeface="Times New Roman"/>
              </a:rPr>
              <a:t> </a:t>
            </a:r>
            <a:r>
              <a:rPr dirty="0" sz="1650" spc="-10">
                <a:latin typeface="Times New Roman"/>
                <a:cs typeface="Times New Roman"/>
              </a:rPr>
              <a:t>processes </a:t>
            </a:r>
            <a:r>
              <a:rPr dirty="0" sz="1650">
                <a:latin typeface="Times New Roman"/>
                <a:cs typeface="Times New Roman"/>
              </a:rPr>
              <a:t>in</a:t>
            </a:r>
            <a:r>
              <a:rPr dirty="0" sz="1650" spc="-40">
                <a:latin typeface="Times New Roman"/>
                <a:cs typeface="Times New Roman"/>
              </a:rPr>
              <a:t> </a:t>
            </a:r>
            <a:r>
              <a:rPr dirty="0" sz="1650">
                <a:latin typeface="Times New Roman"/>
                <a:cs typeface="Times New Roman"/>
              </a:rPr>
              <a:t>level</a:t>
            </a:r>
            <a:r>
              <a:rPr dirty="0" sz="1650" spc="-30">
                <a:latin typeface="Times New Roman"/>
                <a:cs typeface="Times New Roman"/>
              </a:rPr>
              <a:t> </a:t>
            </a:r>
            <a:r>
              <a:rPr dirty="0" sz="1650">
                <a:latin typeface="Times New Roman"/>
                <a:cs typeface="Times New Roman"/>
              </a:rPr>
              <a:t>0</a:t>
            </a:r>
            <a:r>
              <a:rPr dirty="0" sz="1650" spc="-15">
                <a:latin typeface="Times New Roman"/>
                <a:cs typeface="Times New Roman"/>
              </a:rPr>
              <a:t> </a:t>
            </a:r>
            <a:r>
              <a:rPr dirty="0" sz="1650">
                <a:latin typeface="Times New Roman"/>
                <a:cs typeface="Times New Roman"/>
              </a:rPr>
              <a:t>and</a:t>
            </a:r>
            <a:r>
              <a:rPr dirty="0" sz="1650" spc="-20">
                <a:latin typeface="Times New Roman"/>
                <a:cs typeface="Times New Roman"/>
              </a:rPr>
              <a:t> </a:t>
            </a:r>
            <a:r>
              <a:rPr dirty="0" sz="1650" spc="-10">
                <a:latin typeface="Times New Roman"/>
                <a:cs typeface="Times New Roman"/>
              </a:rPr>
              <a:t>identifying </a:t>
            </a:r>
            <a:r>
              <a:rPr dirty="0" sz="1650">
                <a:latin typeface="Times New Roman"/>
                <a:cs typeface="Times New Roman"/>
              </a:rPr>
              <a:t>data</a:t>
            </a:r>
            <a:r>
              <a:rPr dirty="0" sz="1650" spc="-35">
                <a:latin typeface="Times New Roman"/>
                <a:cs typeface="Times New Roman"/>
              </a:rPr>
              <a:t> </a:t>
            </a:r>
            <a:r>
              <a:rPr dirty="0" sz="1650" spc="-10">
                <a:latin typeface="Times New Roman"/>
                <a:cs typeface="Times New Roman"/>
              </a:rPr>
              <a:t>stores.</a:t>
            </a:r>
            <a:endParaRPr sz="1650">
              <a:latin typeface="Times New Roman"/>
              <a:cs typeface="Times New Roman"/>
            </a:endParaRPr>
          </a:p>
          <a:p>
            <a:pPr marL="12700" marR="758190">
              <a:lnSpc>
                <a:spcPct val="100000"/>
              </a:lnSpc>
              <a:spcBef>
                <a:spcPts val="1395"/>
              </a:spcBef>
            </a:pPr>
            <a:r>
              <a:rPr dirty="0" sz="1650">
                <a:solidFill>
                  <a:srgbClr val="339933"/>
                </a:solidFill>
                <a:latin typeface="Arial MT"/>
                <a:cs typeface="Arial MT"/>
              </a:rPr>
              <a:t>Customer</a:t>
            </a:r>
            <a:r>
              <a:rPr dirty="0" sz="1650" spc="-50">
                <a:solidFill>
                  <a:srgbClr val="339933"/>
                </a:solidFill>
                <a:latin typeface="Arial MT"/>
                <a:cs typeface="Arial MT"/>
              </a:rPr>
              <a:t> </a:t>
            </a:r>
            <a:r>
              <a:rPr dirty="0" sz="1650" spc="-20">
                <a:solidFill>
                  <a:srgbClr val="339933"/>
                </a:solidFill>
                <a:latin typeface="Arial MT"/>
                <a:cs typeface="Arial MT"/>
              </a:rPr>
              <a:t>Order </a:t>
            </a:r>
            <a:r>
              <a:rPr dirty="0" sz="1650" b="1">
                <a:latin typeface="Arial"/>
                <a:cs typeface="Arial"/>
              </a:rPr>
              <a:t>Serve</a:t>
            </a:r>
            <a:r>
              <a:rPr dirty="0" sz="1650" spc="-25" b="1">
                <a:latin typeface="Arial"/>
                <a:cs typeface="Arial"/>
              </a:rPr>
              <a:t> </a:t>
            </a:r>
            <a:r>
              <a:rPr dirty="0" sz="1650" spc="-10" b="1">
                <a:latin typeface="Arial"/>
                <a:cs typeface="Arial"/>
              </a:rPr>
              <a:t>Product </a:t>
            </a:r>
            <a:r>
              <a:rPr dirty="0" sz="1650">
                <a:solidFill>
                  <a:srgbClr val="339933"/>
                </a:solidFill>
                <a:latin typeface="Arial MT"/>
                <a:cs typeface="Arial MT"/>
              </a:rPr>
              <a:t>Collect</a:t>
            </a:r>
            <a:r>
              <a:rPr dirty="0" sz="1650" spc="-15">
                <a:solidFill>
                  <a:srgbClr val="339933"/>
                </a:solidFill>
                <a:latin typeface="Arial MT"/>
                <a:cs typeface="Arial MT"/>
              </a:rPr>
              <a:t> </a:t>
            </a:r>
            <a:r>
              <a:rPr dirty="0" sz="1650" spc="-10">
                <a:solidFill>
                  <a:srgbClr val="339933"/>
                </a:solidFill>
                <a:latin typeface="Arial MT"/>
                <a:cs typeface="Arial MT"/>
              </a:rPr>
              <a:t>Payment</a:t>
            </a:r>
            <a:endParaRPr sz="1650">
              <a:latin typeface="Arial MT"/>
              <a:cs typeface="Arial MT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4150831" y="1957850"/>
            <a:ext cx="3143250" cy="27813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391160" algn="l"/>
              </a:tabLst>
            </a:pPr>
            <a:r>
              <a:rPr dirty="0" sz="1650" spc="-25">
                <a:latin typeface="Arial MT"/>
                <a:cs typeface="Arial MT"/>
              </a:rPr>
              <a:t>4.</a:t>
            </a:r>
            <a:r>
              <a:rPr dirty="0" sz="1650">
                <a:latin typeface="Arial MT"/>
                <a:cs typeface="Arial MT"/>
              </a:rPr>
              <a:t>	Construct</a:t>
            </a:r>
            <a:r>
              <a:rPr dirty="0" sz="1650" spc="-50">
                <a:latin typeface="Arial MT"/>
                <a:cs typeface="Arial MT"/>
              </a:rPr>
              <a:t> </a:t>
            </a:r>
            <a:r>
              <a:rPr dirty="0" sz="1650">
                <a:latin typeface="Arial MT"/>
                <a:cs typeface="Arial MT"/>
              </a:rPr>
              <a:t>Level</a:t>
            </a:r>
            <a:r>
              <a:rPr dirty="0" sz="1650" spc="-35">
                <a:latin typeface="Arial MT"/>
                <a:cs typeface="Arial MT"/>
              </a:rPr>
              <a:t> </a:t>
            </a:r>
            <a:r>
              <a:rPr dirty="0" sz="1650">
                <a:latin typeface="Arial MT"/>
                <a:cs typeface="Arial MT"/>
              </a:rPr>
              <a:t>1</a:t>
            </a:r>
            <a:r>
              <a:rPr dirty="0" sz="1650" spc="-10">
                <a:latin typeface="Arial MT"/>
                <a:cs typeface="Arial MT"/>
              </a:rPr>
              <a:t> (continued)</a:t>
            </a:r>
            <a:endParaRPr sz="1650">
              <a:latin typeface="Arial MT"/>
              <a:cs typeface="Arial MT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1509806" y="4458701"/>
            <a:ext cx="1717039" cy="5295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dirty="0" sz="1650" b="1">
                <a:latin typeface="Arial"/>
                <a:cs typeface="Arial"/>
              </a:rPr>
              <a:t>Produce</a:t>
            </a:r>
            <a:r>
              <a:rPr dirty="0" sz="1650" spc="-50" b="1">
                <a:latin typeface="Arial"/>
                <a:cs typeface="Arial"/>
              </a:rPr>
              <a:t> </a:t>
            </a:r>
            <a:r>
              <a:rPr dirty="0" sz="1650" spc="-10" b="1">
                <a:latin typeface="Arial"/>
                <a:cs typeface="Arial"/>
              </a:rPr>
              <a:t>Product </a:t>
            </a:r>
            <a:r>
              <a:rPr dirty="0" sz="1650" b="1">
                <a:latin typeface="Arial"/>
                <a:cs typeface="Arial"/>
              </a:rPr>
              <a:t>Store</a:t>
            </a:r>
            <a:r>
              <a:rPr dirty="0" sz="1650" spc="-35" b="1">
                <a:latin typeface="Arial"/>
                <a:cs typeface="Arial"/>
              </a:rPr>
              <a:t> </a:t>
            </a:r>
            <a:r>
              <a:rPr dirty="0" sz="1650" spc="-10" b="1">
                <a:latin typeface="Arial"/>
                <a:cs typeface="Arial"/>
              </a:rPr>
              <a:t>Product</a:t>
            </a:r>
            <a:endParaRPr sz="1650">
              <a:latin typeface="Arial"/>
              <a:cs typeface="Arial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1509806" y="5213074"/>
            <a:ext cx="2078355" cy="5295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dirty="0" sz="1650">
                <a:solidFill>
                  <a:srgbClr val="339933"/>
                </a:solidFill>
                <a:latin typeface="Arial MT"/>
                <a:cs typeface="Arial MT"/>
              </a:rPr>
              <a:t>Order</a:t>
            </a:r>
            <a:r>
              <a:rPr dirty="0" sz="1650" spc="-45">
                <a:solidFill>
                  <a:srgbClr val="339933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339933"/>
                </a:solidFill>
                <a:latin typeface="Arial MT"/>
                <a:cs typeface="Arial MT"/>
              </a:rPr>
              <a:t>Raw</a:t>
            </a:r>
            <a:r>
              <a:rPr dirty="0" sz="1650" spc="-10">
                <a:solidFill>
                  <a:srgbClr val="339933"/>
                </a:solidFill>
                <a:latin typeface="Arial MT"/>
                <a:cs typeface="Arial MT"/>
              </a:rPr>
              <a:t> Materials </a:t>
            </a:r>
            <a:r>
              <a:rPr dirty="0" sz="1650">
                <a:solidFill>
                  <a:srgbClr val="339933"/>
                </a:solidFill>
                <a:latin typeface="Arial MT"/>
                <a:cs typeface="Arial MT"/>
              </a:rPr>
              <a:t>Pay</a:t>
            </a:r>
            <a:r>
              <a:rPr dirty="0" sz="1650" spc="-20">
                <a:solidFill>
                  <a:srgbClr val="339933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339933"/>
                </a:solidFill>
                <a:latin typeface="Arial MT"/>
                <a:cs typeface="Arial MT"/>
              </a:rPr>
              <a:t>for</a:t>
            </a:r>
            <a:r>
              <a:rPr dirty="0" sz="1650" spc="-25">
                <a:solidFill>
                  <a:srgbClr val="339933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339933"/>
                </a:solidFill>
                <a:latin typeface="Arial MT"/>
                <a:cs typeface="Arial MT"/>
              </a:rPr>
              <a:t>Raw</a:t>
            </a:r>
            <a:r>
              <a:rPr dirty="0" sz="1650" spc="-15">
                <a:solidFill>
                  <a:srgbClr val="339933"/>
                </a:solidFill>
                <a:latin typeface="Arial MT"/>
                <a:cs typeface="Arial MT"/>
              </a:rPr>
              <a:t> </a:t>
            </a:r>
            <a:r>
              <a:rPr dirty="0" sz="1650" spc="-10">
                <a:solidFill>
                  <a:srgbClr val="339933"/>
                </a:solidFill>
                <a:latin typeface="Arial MT"/>
                <a:cs typeface="Arial MT"/>
              </a:rPr>
              <a:t>Materials</a:t>
            </a:r>
            <a:endParaRPr sz="1650">
              <a:latin typeface="Arial MT"/>
              <a:cs typeface="Arial MT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1509806" y="5967448"/>
            <a:ext cx="1285875" cy="27813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650">
                <a:solidFill>
                  <a:srgbClr val="339933"/>
                </a:solidFill>
                <a:latin typeface="Arial MT"/>
                <a:cs typeface="Arial MT"/>
              </a:rPr>
              <a:t>Pay</a:t>
            </a:r>
            <a:r>
              <a:rPr dirty="0" sz="1650" spc="-20">
                <a:solidFill>
                  <a:srgbClr val="339933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339933"/>
                </a:solidFill>
                <a:latin typeface="Arial MT"/>
                <a:cs typeface="Arial MT"/>
              </a:rPr>
              <a:t>for</a:t>
            </a:r>
            <a:r>
              <a:rPr dirty="0" sz="1650" spc="-25">
                <a:solidFill>
                  <a:srgbClr val="339933"/>
                </a:solidFill>
                <a:latin typeface="Arial MT"/>
                <a:cs typeface="Arial MT"/>
              </a:rPr>
              <a:t> </a:t>
            </a:r>
            <a:r>
              <a:rPr dirty="0" sz="1650" spc="-20">
                <a:solidFill>
                  <a:srgbClr val="339933"/>
                </a:solidFill>
                <a:latin typeface="Arial MT"/>
                <a:cs typeface="Arial MT"/>
              </a:rPr>
              <a:t>Labor</a:t>
            </a:r>
            <a:endParaRPr sz="1650">
              <a:latin typeface="Arial MT"/>
              <a:cs typeface="Arial MT"/>
            </a:endParaRPr>
          </a:p>
        </p:txBody>
      </p:sp>
      <p:sp>
        <p:nvSpPr>
          <p:cNvPr id="16" name="object 16" descr=""/>
          <p:cNvSpPr/>
          <p:nvPr/>
        </p:nvSpPr>
        <p:spPr>
          <a:xfrm>
            <a:off x="4794503" y="3384803"/>
            <a:ext cx="754380" cy="754380"/>
          </a:xfrm>
          <a:custGeom>
            <a:avLst/>
            <a:gdLst/>
            <a:ahLst/>
            <a:cxnLst/>
            <a:rect l="l" t="t" r="r" b="b"/>
            <a:pathLst>
              <a:path w="754379" h="754379">
                <a:moveTo>
                  <a:pt x="0" y="376427"/>
                </a:moveTo>
                <a:lnTo>
                  <a:pt x="2943" y="329333"/>
                </a:lnTo>
                <a:lnTo>
                  <a:pt x="11534" y="283950"/>
                </a:lnTo>
                <a:lnTo>
                  <a:pt x="25415" y="240635"/>
                </a:lnTo>
                <a:lnTo>
                  <a:pt x="44228" y="199746"/>
                </a:lnTo>
                <a:lnTo>
                  <a:pt x="67615" y="161642"/>
                </a:lnTo>
                <a:lnTo>
                  <a:pt x="95219" y="126680"/>
                </a:lnTo>
                <a:lnTo>
                  <a:pt x="126680" y="95219"/>
                </a:lnTo>
                <a:lnTo>
                  <a:pt x="161642" y="67615"/>
                </a:lnTo>
                <a:lnTo>
                  <a:pt x="199746" y="44228"/>
                </a:lnTo>
                <a:lnTo>
                  <a:pt x="240635" y="25415"/>
                </a:lnTo>
                <a:lnTo>
                  <a:pt x="283950" y="11534"/>
                </a:lnTo>
                <a:lnTo>
                  <a:pt x="329333" y="2943"/>
                </a:lnTo>
                <a:lnTo>
                  <a:pt x="376428" y="0"/>
                </a:lnTo>
                <a:lnTo>
                  <a:pt x="423847" y="2943"/>
                </a:lnTo>
                <a:lnTo>
                  <a:pt x="469506" y="11534"/>
                </a:lnTo>
                <a:lnTo>
                  <a:pt x="513051" y="25415"/>
                </a:lnTo>
                <a:lnTo>
                  <a:pt x="554127" y="44228"/>
                </a:lnTo>
                <a:lnTo>
                  <a:pt x="592382" y="67615"/>
                </a:lnTo>
                <a:lnTo>
                  <a:pt x="627461" y="95219"/>
                </a:lnTo>
                <a:lnTo>
                  <a:pt x="659011" y="126680"/>
                </a:lnTo>
                <a:lnTo>
                  <a:pt x="686677" y="161642"/>
                </a:lnTo>
                <a:lnTo>
                  <a:pt x="710106" y="199746"/>
                </a:lnTo>
                <a:lnTo>
                  <a:pt x="728945" y="240635"/>
                </a:lnTo>
                <a:lnTo>
                  <a:pt x="742840" y="283950"/>
                </a:lnTo>
                <a:lnTo>
                  <a:pt x="751436" y="329333"/>
                </a:lnTo>
                <a:lnTo>
                  <a:pt x="754379" y="376427"/>
                </a:lnTo>
                <a:lnTo>
                  <a:pt x="751436" y="423847"/>
                </a:lnTo>
                <a:lnTo>
                  <a:pt x="742840" y="469506"/>
                </a:lnTo>
                <a:lnTo>
                  <a:pt x="728945" y="513051"/>
                </a:lnTo>
                <a:lnTo>
                  <a:pt x="710106" y="554127"/>
                </a:lnTo>
                <a:lnTo>
                  <a:pt x="686677" y="592382"/>
                </a:lnTo>
                <a:lnTo>
                  <a:pt x="659011" y="627461"/>
                </a:lnTo>
                <a:lnTo>
                  <a:pt x="627461" y="659011"/>
                </a:lnTo>
                <a:lnTo>
                  <a:pt x="592382" y="686677"/>
                </a:lnTo>
                <a:lnTo>
                  <a:pt x="554127" y="710107"/>
                </a:lnTo>
                <a:lnTo>
                  <a:pt x="513051" y="728945"/>
                </a:lnTo>
                <a:lnTo>
                  <a:pt x="469506" y="742840"/>
                </a:lnTo>
                <a:lnTo>
                  <a:pt x="423847" y="751436"/>
                </a:lnTo>
                <a:lnTo>
                  <a:pt x="376428" y="754379"/>
                </a:lnTo>
                <a:lnTo>
                  <a:pt x="329333" y="751436"/>
                </a:lnTo>
                <a:lnTo>
                  <a:pt x="283950" y="742840"/>
                </a:lnTo>
                <a:lnTo>
                  <a:pt x="240635" y="728945"/>
                </a:lnTo>
                <a:lnTo>
                  <a:pt x="199746" y="710107"/>
                </a:lnTo>
                <a:lnTo>
                  <a:pt x="161642" y="686677"/>
                </a:lnTo>
                <a:lnTo>
                  <a:pt x="126680" y="659011"/>
                </a:lnTo>
                <a:lnTo>
                  <a:pt x="95219" y="627461"/>
                </a:lnTo>
                <a:lnTo>
                  <a:pt x="67615" y="592382"/>
                </a:lnTo>
                <a:lnTo>
                  <a:pt x="44228" y="554127"/>
                </a:lnTo>
                <a:lnTo>
                  <a:pt x="25415" y="513051"/>
                </a:lnTo>
                <a:lnTo>
                  <a:pt x="11534" y="469506"/>
                </a:lnTo>
                <a:lnTo>
                  <a:pt x="2943" y="423847"/>
                </a:lnTo>
                <a:lnTo>
                  <a:pt x="0" y="376427"/>
                </a:lnTo>
              </a:path>
            </a:pathLst>
          </a:custGeom>
          <a:ln w="1524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 descr=""/>
          <p:cNvSpPr txBox="1"/>
          <p:nvPr/>
        </p:nvSpPr>
        <p:spPr>
          <a:xfrm>
            <a:off x="4979847" y="3519904"/>
            <a:ext cx="383540" cy="47942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19380">
              <a:lnSpc>
                <a:spcPts val="1195"/>
              </a:lnSpc>
              <a:spcBef>
                <a:spcPts val="95"/>
              </a:spcBef>
            </a:pPr>
            <a:r>
              <a:rPr dirty="0" u="sng" sz="1000" spc="-25">
                <a:uFill>
                  <a:solidFill>
                    <a:srgbClr val="000000"/>
                  </a:solidFill>
                </a:uFill>
                <a:latin typeface="Microsoft Sans Serif"/>
                <a:cs typeface="Microsoft Sans Serif"/>
              </a:rPr>
              <a:t>2.1</a:t>
            </a:r>
            <a:endParaRPr sz="1000">
              <a:latin typeface="Microsoft Sans Serif"/>
              <a:cs typeface="Microsoft Sans Serif"/>
            </a:endParaRPr>
          </a:p>
          <a:p>
            <a:pPr marL="12700" marR="5080" indent="43815">
              <a:lnSpc>
                <a:spcPts val="1190"/>
              </a:lnSpc>
              <a:spcBef>
                <a:spcPts val="40"/>
              </a:spcBef>
            </a:pPr>
            <a:r>
              <a:rPr dirty="0" sz="1000" spc="-40">
                <a:latin typeface="Microsoft Sans Serif"/>
                <a:cs typeface="Microsoft Sans Serif"/>
              </a:rPr>
              <a:t>Serve </a:t>
            </a:r>
            <a:r>
              <a:rPr dirty="0" sz="1000" spc="-100">
                <a:latin typeface="Microsoft Sans Serif"/>
                <a:cs typeface="Microsoft Sans Serif"/>
              </a:rPr>
              <a:t>Product</a:t>
            </a:r>
            <a:endParaRPr sz="1000">
              <a:latin typeface="Microsoft Sans Serif"/>
              <a:cs typeface="Microsoft Sans Serif"/>
            </a:endParaRPr>
          </a:p>
        </p:txBody>
      </p:sp>
      <p:grpSp>
        <p:nvGrpSpPr>
          <p:cNvPr id="18" name="object 18" descr=""/>
          <p:cNvGrpSpPr/>
          <p:nvPr/>
        </p:nvGrpSpPr>
        <p:grpSpPr>
          <a:xfrm>
            <a:off x="4472940" y="3259511"/>
            <a:ext cx="2312035" cy="1620520"/>
            <a:chOff x="4472940" y="3259511"/>
            <a:chExt cx="2312035" cy="1620520"/>
          </a:xfrm>
        </p:grpSpPr>
        <p:sp>
          <p:nvSpPr>
            <p:cNvPr id="19" name="object 19" descr=""/>
            <p:cNvSpPr/>
            <p:nvPr/>
          </p:nvSpPr>
          <p:spPr>
            <a:xfrm>
              <a:off x="4472940" y="3377183"/>
              <a:ext cx="1564005" cy="1503045"/>
            </a:xfrm>
            <a:custGeom>
              <a:avLst/>
              <a:gdLst/>
              <a:ahLst/>
              <a:cxnLst/>
              <a:rect l="l" t="t" r="r" b="b"/>
              <a:pathLst>
                <a:path w="1564004" h="1503045">
                  <a:moveTo>
                    <a:pt x="313944" y="1452372"/>
                  </a:moveTo>
                  <a:lnTo>
                    <a:pt x="308648" y="1444752"/>
                  </a:lnTo>
                  <a:lnTo>
                    <a:pt x="275844" y="1397508"/>
                  </a:lnTo>
                  <a:lnTo>
                    <a:pt x="290690" y="1444752"/>
                  </a:lnTo>
                  <a:lnTo>
                    <a:pt x="286512" y="1444752"/>
                  </a:lnTo>
                  <a:lnTo>
                    <a:pt x="272796" y="1441704"/>
                  </a:lnTo>
                  <a:lnTo>
                    <a:pt x="245364" y="1432560"/>
                  </a:lnTo>
                  <a:lnTo>
                    <a:pt x="231648" y="1424940"/>
                  </a:lnTo>
                  <a:lnTo>
                    <a:pt x="217932" y="1418844"/>
                  </a:lnTo>
                  <a:lnTo>
                    <a:pt x="178308" y="1389888"/>
                  </a:lnTo>
                  <a:lnTo>
                    <a:pt x="141732" y="1354836"/>
                  </a:lnTo>
                  <a:lnTo>
                    <a:pt x="97536" y="1296924"/>
                  </a:lnTo>
                  <a:lnTo>
                    <a:pt x="70104" y="1246632"/>
                  </a:lnTo>
                  <a:lnTo>
                    <a:pt x="45720" y="1191768"/>
                  </a:lnTo>
                  <a:lnTo>
                    <a:pt x="39624" y="1171956"/>
                  </a:lnTo>
                  <a:lnTo>
                    <a:pt x="33528" y="1153668"/>
                  </a:lnTo>
                  <a:lnTo>
                    <a:pt x="19812" y="1094232"/>
                  </a:lnTo>
                  <a:lnTo>
                    <a:pt x="16764" y="1074420"/>
                  </a:lnTo>
                  <a:lnTo>
                    <a:pt x="15240" y="1054608"/>
                  </a:lnTo>
                  <a:lnTo>
                    <a:pt x="13716" y="1033272"/>
                  </a:lnTo>
                  <a:lnTo>
                    <a:pt x="13716" y="1013460"/>
                  </a:lnTo>
                  <a:lnTo>
                    <a:pt x="0" y="1013460"/>
                  </a:lnTo>
                  <a:lnTo>
                    <a:pt x="1524" y="1033272"/>
                  </a:lnTo>
                  <a:lnTo>
                    <a:pt x="1524" y="1054608"/>
                  </a:lnTo>
                  <a:lnTo>
                    <a:pt x="4572" y="1075944"/>
                  </a:lnTo>
                  <a:lnTo>
                    <a:pt x="7620" y="1095756"/>
                  </a:lnTo>
                  <a:lnTo>
                    <a:pt x="10668" y="1117092"/>
                  </a:lnTo>
                  <a:lnTo>
                    <a:pt x="15240" y="1136904"/>
                  </a:lnTo>
                  <a:lnTo>
                    <a:pt x="33528" y="1196340"/>
                  </a:lnTo>
                  <a:lnTo>
                    <a:pt x="48768" y="1232916"/>
                  </a:lnTo>
                  <a:lnTo>
                    <a:pt x="76200" y="1286256"/>
                  </a:lnTo>
                  <a:lnTo>
                    <a:pt x="97536" y="1319784"/>
                  </a:lnTo>
                  <a:lnTo>
                    <a:pt x="144780" y="1376172"/>
                  </a:lnTo>
                  <a:lnTo>
                    <a:pt x="182880" y="1411224"/>
                  </a:lnTo>
                  <a:lnTo>
                    <a:pt x="225552" y="1437132"/>
                  </a:lnTo>
                  <a:lnTo>
                    <a:pt x="268224" y="1453896"/>
                  </a:lnTo>
                  <a:lnTo>
                    <a:pt x="289191" y="1458099"/>
                  </a:lnTo>
                  <a:lnTo>
                    <a:pt x="268224" y="1502664"/>
                  </a:lnTo>
                  <a:lnTo>
                    <a:pt x="308394" y="1458468"/>
                  </a:lnTo>
                  <a:lnTo>
                    <a:pt x="313944" y="1452372"/>
                  </a:lnTo>
                  <a:close/>
                </a:path>
                <a:path w="1564004" h="1503045">
                  <a:moveTo>
                    <a:pt x="1563611" y="12192"/>
                  </a:moveTo>
                  <a:lnTo>
                    <a:pt x="1562087" y="0"/>
                  </a:lnTo>
                  <a:lnTo>
                    <a:pt x="987488" y="98552"/>
                  </a:lnTo>
                  <a:lnTo>
                    <a:pt x="998207" y="50292"/>
                  </a:lnTo>
                  <a:lnTo>
                    <a:pt x="966203" y="109728"/>
                  </a:lnTo>
                  <a:lnTo>
                    <a:pt x="1016495" y="153924"/>
                  </a:lnTo>
                  <a:lnTo>
                    <a:pt x="990777" y="112776"/>
                  </a:lnTo>
                  <a:lnTo>
                    <a:pt x="990460" y="112268"/>
                  </a:lnTo>
                  <a:lnTo>
                    <a:pt x="1563611" y="1219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0" name="object 20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035039" y="3259511"/>
              <a:ext cx="749590" cy="246011"/>
            </a:xfrm>
            <a:prstGeom prst="rect">
              <a:avLst/>
            </a:prstGeom>
          </p:spPr>
        </p:pic>
      </p:grpSp>
      <p:sp>
        <p:nvSpPr>
          <p:cNvPr id="21" name="object 21" descr=""/>
          <p:cNvSpPr txBox="1"/>
          <p:nvPr/>
        </p:nvSpPr>
        <p:spPr>
          <a:xfrm>
            <a:off x="4163036" y="3013963"/>
            <a:ext cx="782320" cy="2012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50" spc="-114">
                <a:latin typeface="Microsoft Sans Serif"/>
                <a:cs typeface="Microsoft Sans Serif"/>
              </a:rPr>
              <a:t>Product</a:t>
            </a:r>
            <a:r>
              <a:rPr dirty="0" sz="1150" spc="30">
                <a:latin typeface="Microsoft Sans Serif"/>
                <a:cs typeface="Microsoft Sans Serif"/>
              </a:rPr>
              <a:t> </a:t>
            </a:r>
            <a:r>
              <a:rPr dirty="0" sz="1150" spc="-95">
                <a:latin typeface="Microsoft Sans Serif"/>
                <a:cs typeface="Microsoft Sans Serif"/>
              </a:rPr>
              <a:t>Order</a:t>
            </a:r>
            <a:endParaRPr sz="1150">
              <a:latin typeface="Microsoft Sans Serif"/>
              <a:cs typeface="Microsoft Sans Serif"/>
            </a:endParaRPr>
          </a:p>
        </p:txBody>
      </p:sp>
      <p:sp>
        <p:nvSpPr>
          <p:cNvPr id="22" name="object 22" descr=""/>
          <p:cNvSpPr txBox="1"/>
          <p:nvPr/>
        </p:nvSpPr>
        <p:spPr>
          <a:xfrm>
            <a:off x="6214338" y="3292801"/>
            <a:ext cx="39878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130">
                <a:latin typeface="Microsoft Sans Serif"/>
                <a:cs typeface="Microsoft Sans Serif"/>
              </a:rPr>
              <a:t>ORDER</a:t>
            </a:r>
            <a:endParaRPr sz="1000">
              <a:latin typeface="Microsoft Sans Serif"/>
              <a:cs typeface="Microsoft Sans Serif"/>
            </a:endParaRPr>
          </a:p>
        </p:txBody>
      </p:sp>
      <p:grpSp>
        <p:nvGrpSpPr>
          <p:cNvPr id="23" name="object 23" descr=""/>
          <p:cNvGrpSpPr/>
          <p:nvPr/>
        </p:nvGrpSpPr>
        <p:grpSpPr>
          <a:xfrm>
            <a:off x="4547615" y="3227832"/>
            <a:ext cx="1865630" cy="1987550"/>
            <a:chOff x="4547615" y="3227832"/>
            <a:chExt cx="1865630" cy="1987550"/>
          </a:xfrm>
        </p:grpSpPr>
        <p:sp>
          <p:nvSpPr>
            <p:cNvPr id="24" name="object 24" descr=""/>
            <p:cNvSpPr/>
            <p:nvPr/>
          </p:nvSpPr>
          <p:spPr>
            <a:xfrm>
              <a:off x="4547616" y="3227844"/>
              <a:ext cx="1865630" cy="814069"/>
            </a:xfrm>
            <a:custGeom>
              <a:avLst/>
              <a:gdLst/>
              <a:ahLst/>
              <a:cxnLst/>
              <a:rect l="l" t="t" r="r" b="b"/>
              <a:pathLst>
                <a:path w="1865629" h="814070">
                  <a:moveTo>
                    <a:pt x="239268" y="533400"/>
                  </a:moveTo>
                  <a:lnTo>
                    <a:pt x="204216" y="475488"/>
                  </a:lnTo>
                  <a:lnTo>
                    <a:pt x="216166" y="523316"/>
                  </a:lnTo>
                  <a:lnTo>
                    <a:pt x="208788" y="521208"/>
                  </a:lnTo>
                  <a:lnTo>
                    <a:pt x="158496" y="483108"/>
                  </a:lnTo>
                  <a:lnTo>
                    <a:pt x="149352" y="472440"/>
                  </a:lnTo>
                  <a:lnTo>
                    <a:pt x="138684" y="460248"/>
                  </a:lnTo>
                  <a:lnTo>
                    <a:pt x="111252" y="416052"/>
                  </a:lnTo>
                  <a:lnTo>
                    <a:pt x="92964" y="382524"/>
                  </a:lnTo>
                  <a:lnTo>
                    <a:pt x="77724" y="345948"/>
                  </a:lnTo>
                  <a:lnTo>
                    <a:pt x="62484" y="304800"/>
                  </a:lnTo>
                  <a:lnTo>
                    <a:pt x="44196" y="240792"/>
                  </a:lnTo>
                  <a:lnTo>
                    <a:pt x="33528" y="195072"/>
                  </a:lnTo>
                  <a:lnTo>
                    <a:pt x="24384" y="146304"/>
                  </a:lnTo>
                  <a:lnTo>
                    <a:pt x="18288" y="99060"/>
                  </a:lnTo>
                  <a:lnTo>
                    <a:pt x="15240" y="48768"/>
                  </a:lnTo>
                  <a:lnTo>
                    <a:pt x="13716" y="24384"/>
                  </a:lnTo>
                  <a:lnTo>
                    <a:pt x="13716" y="0"/>
                  </a:lnTo>
                  <a:lnTo>
                    <a:pt x="0" y="0"/>
                  </a:lnTo>
                  <a:lnTo>
                    <a:pt x="0" y="24384"/>
                  </a:lnTo>
                  <a:lnTo>
                    <a:pt x="1524" y="50292"/>
                  </a:lnTo>
                  <a:lnTo>
                    <a:pt x="3048" y="74676"/>
                  </a:lnTo>
                  <a:lnTo>
                    <a:pt x="6096" y="99060"/>
                  </a:lnTo>
                  <a:lnTo>
                    <a:pt x="9144" y="124968"/>
                  </a:lnTo>
                  <a:lnTo>
                    <a:pt x="12192" y="149352"/>
                  </a:lnTo>
                  <a:lnTo>
                    <a:pt x="19812" y="196596"/>
                  </a:lnTo>
                  <a:lnTo>
                    <a:pt x="30480" y="243840"/>
                  </a:lnTo>
                  <a:lnTo>
                    <a:pt x="36576" y="265176"/>
                  </a:lnTo>
                  <a:lnTo>
                    <a:pt x="42672" y="288036"/>
                  </a:lnTo>
                  <a:lnTo>
                    <a:pt x="50292" y="309372"/>
                  </a:lnTo>
                  <a:lnTo>
                    <a:pt x="57912" y="329184"/>
                  </a:lnTo>
                  <a:lnTo>
                    <a:pt x="65532" y="350520"/>
                  </a:lnTo>
                  <a:lnTo>
                    <a:pt x="73152" y="368808"/>
                  </a:lnTo>
                  <a:lnTo>
                    <a:pt x="82296" y="387096"/>
                  </a:lnTo>
                  <a:lnTo>
                    <a:pt x="89916" y="405384"/>
                  </a:lnTo>
                  <a:lnTo>
                    <a:pt x="108204" y="438912"/>
                  </a:lnTo>
                  <a:lnTo>
                    <a:pt x="118872" y="452628"/>
                  </a:lnTo>
                  <a:lnTo>
                    <a:pt x="128016" y="467868"/>
                  </a:lnTo>
                  <a:lnTo>
                    <a:pt x="149352" y="492252"/>
                  </a:lnTo>
                  <a:lnTo>
                    <a:pt x="158496" y="502920"/>
                  </a:lnTo>
                  <a:lnTo>
                    <a:pt x="170688" y="512064"/>
                  </a:lnTo>
                  <a:lnTo>
                    <a:pt x="192024" y="527304"/>
                  </a:lnTo>
                  <a:lnTo>
                    <a:pt x="202692" y="533400"/>
                  </a:lnTo>
                  <a:lnTo>
                    <a:pt x="214630" y="536384"/>
                  </a:lnTo>
                  <a:lnTo>
                    <a:pt x="190500" y="580644"/>
                  </a:lnTo>
                  <a:lnTo>
                    <a:pt x="234543" y="537972"/>
                  </a:lnTo>
                  <a:lnTo>
                    <a:pt x="239268" y="533400"/>
                  </a:lnTo>
                  <a:close/>
                </a:path>
                <a:path w="1865629" h="814070">
                  <a:moveTo>
                    <a:pt x="1865363" y="278892"/>
                  </a:moveTo>
                  <a:lnTo>
                    <a:pt x="1802879" y="252984"/>
                  </a:lnTo>
                  <a:lnTo>
                    <a:pt x="1841423" y="284873"/>
                  </a:lnTo>
                  <a:lnTo>
                    <a:pt x="888479" y="803148"/>
                  </a:lnTo>
                  <a:lnTo>
                    <a:pt x="894575" y="813816"/>
                  </a:lnTo>
                  <a:lnTo>
                    <a:pt x="1847875" y="296875"/>
                  </a:lnTo>
                  <a:lnTo>
                    <a:pt x="1853171" y="345948"/>
                  </a:lnTo>
                  <a:lnTo>
                    <a:pt x="1864537" y="283464"/>
                  </a:lnTo>
                  <a:lnTo>
                    <a:pt x="1865363" y="27889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 descr=""/>
            <p:cNvSpPr/>
            <p:nvPr/>
          </p:nvSpPr>
          <p:spPr>
            <a:xfrm>
              <a:off x="4794503" y="4453128"/>
              <a:ext cx="754380" cy="754380"/>
            </a:xfrm>
            <a:custGeom>
              <a:avLst/>
              <a:gdLst/>
              <a:ahLst/>
              <a:cxnLst/>
              <a:rect l="l" t="t" r="r" b="b"/>
              <a:pathLst>
                <a:path w="754379" h="754379">
                  <a:moveTo>
                    <a:pt x="0" y="376427"/>
                  </a:moveTo>
                  <a:lnTo>
                    <a:pt x="2943" y="329333"/>
                  </a:lnTo>
                  <a:lnTo>
                    <a:pt x="11534" y="283950"/>
                  </a:lnTo>
                  <a:lnTo>
                    <a:pt x="25415" y="240635"/>
                  </a:lnTo>
                  <a:lnTo>
                    <a:pt x="44228" y="199746"/>
                  </a:lnTo>
                  <a:lnTo>
                    <a:pt x="67615" y="161642"/>
                  </a:lnTo>
                  <a:lnTo>
                    <a:pt x="95219" y="126680"/>
                  </a:lnTo>
                  <a:lnTo>
                    <a:pt x="126680" y="95219"/>
                  </a:lnTo>
                  <a:lnTo>
                    <a:pt x="161642" y="67615"/>
                  </a:lnTo>
                  <a:lnTo>
                    <a:pt x="199746" y="44228"/>
                  </a:lnTo>
                  <a:lnTo>
                    <a:pt x="240635" y="25415"/>
                  </a:lnTo>
                  <a:lnTo>
                    <a:pt x="283950" y="11534"/>
                  </a:lnTo>
                  <a:lnTo>
                    <a:pt x="329333" y="2943"/>
                  </a:lnTo>
                  <a:lnTo>
                    <a:pt x="376428" y="0"/>
                  </a:lnTo>
                  <a:lnTo>
                    <a:pt x="423847" y="2943"/>
                  </a:lnTo>
                  <a:lnTo>
                    <a:pt x="469506" y="11534"/>
                  </a:lnTo>
                  <a:lnTo>
                    <a:pt x="513051" y="25415"/>
                  </a:lnTo>
                  <a:lnTo>
                    <a:pt x="554127" y="44228"/>
                  </a:lnTo>
                  <a:lnTo>
                    <a:pt x="592382" y="67615"/>
                  </a:lnTo>
                  <a:lnTo>
                    <a:pt x="627461" y="95219"/>
                  </a:lnTo>
                  <a:lnTo>
                    <a:pt x="659011" y="126680"/>
                  </a:lnTo>
                  <a:lnTo>
                    <a:pt x="686677" y="161642"/>
                  </a:lnTo>
                  <a:lnTo>
                    <a:pt x="710106" y="199746"/>
                  </a:lnTo>
                  <a:lnTo>
                    <a:pt x="728945" y="240635"/>
                  </a:lnTo>
                  <a:lnTo>
                    <a:pt x="742840" y="283950"/>
                  </a:lnTo>
                  <a:lnTo>
                    <a:pt x="751436" y="329333"/>
                  </a:lnTo>
                  <a:lnTo>
                    <a:pt x="754379" y="376427"/>
                  </a:lnTo>
                  <a:lnTo>
                    <a:pt x="751436" y="423847"/>
                  </a:lnTo>
                  <a:lnTo>
                    <a:pt x="742840" y="469506"/>
                  </a:lnTo>
                  <a:lnTo>
                    <a:pt x="728945" y="513051"/>
                  </a:lnTo>
                  <a:lnTo>
                    <a:pt x="710106" y="554127"/>
                  </a:lnTo>
                  <a:lnTo>
                    <a:pt x="686677" y="592382"/>
                  </a:lnTo>
                  <a:lnTo>
                    <a:pt x="659011" y="627461"/>
                  </a:lnTo>
                  <a:lnTo>
                    <a:pt x="627461" y="659011"/>
                  </a:lnTo>
                  <a:lnTo>
                    <a:pt x="592382" y="686677"/>
                  </a:lnTo>
                  <a:lnTo>
                    <a:pt x="554127" y="710107"/>
                  </a:lnTo>
                  <a:lnTo>
                    <a:pt x="513051" y="728945"/>
                  </a:lnTo>
                  <a:lnTo>
                    <a:pt x="469506" y="742840"/>
                  </a:lnTo>
                  <a:lnTo>
                    <a:pt x="423847" y="751436"/>
                  </a:lnTo>
                  <a:lnTo>
                    <a:pt x="376428" y="754379"/>
                  </a:lnTo>
                  <a:lnTo>
                    <a:pt x="329333" y="751436"/>
                  </a:lnTo>
                  <a:lnTo>
                    <a:pt x="283950" y="742840"/>
                  </a:lnTo>
                  <a:lnTo>
                    <a:pt x="240635" y="728945"/>
                  </a:lnTo>
                  <a:lnTo>
                    <a:pt x="199746" y="710107"/>
                  </a:lnTo>
                  <a:lnTo>
                    <a:pt x="161642" y="686677"/>
                  </a:lnTo>
                  <a:lnTo>
                    <a:pt x="126680" y="659011"/>
                  </a:lnTo>
                  <a:lnTo>
                    <a:pt x="95219" y="627461"/>
                  </a:lnTo>
                  <a:lnTo>
                    <a:pt x="67615" y="592382"/>
                  </a:lnTo>
                  <a:lnTo>
                    <a:pt x="44228" y="554127"/>
                  </a:lnTo>
                  <a:lnTo>
                    <a:pt x="25415" y="513051"/>
                  </a:lnTo>
                  <a:lnTo>
                    <a:pt x="11534" y="469506"/>
                  </a:lnTo>
                  <a:lnTo>
                    <a:pt x="2943" y="423847"/>
                  </a:lnTo>
                  <a:lnTo>
                    <a:pt x="0" y="376427"/>
                  </a:lnTo>
                </a:path>
              </a:pathLst>
            </a:custGeom>
            <a:ln w="1524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6" name="object 26" descr=""/>
          <p:cNvSpPr txBox="1"/>
          <p:nvPr/>
        </p:nvSpPr>
        <p:spPr>
          <a:xfrm>
            <a:off x="4966143" y="4588237"/>
            <a:ext cx="412115" cy="47942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ctr">
              <a:lnSpc>
                <a:spcPts val="1195"/>
              </a:lnSpc>
              <a:spcBef>
                <a:spcPts val="95"/>
              </a:spcBef>
            </a:pPr>
            <a:r>
              <a:rPr dirty="0" u="sng" sz="1000" spc="-25">
                <a:uFill>
                  <a:solidFill>
                    <a:srgbClr val="000000"/>
                  </a:solidFill>
                </a:uFill>
                <a:latin typeface="Microsoft Sans Serif"/>
                <a:cs typeface="Microsoft Sans Serif"/>
              </a:rPr>
              <a:t>2.2</a:t>
            </a:r>
            <a:endParaRPr sz="1000">
              <a:latin typeface="Microsoft Sans Serif"/>
              <a:cs typeface="Microsoft Sans Serif"/>
            </a:endParaRPr>
          </a:p>
          <a:p>
            <a:pPr algn="ctr" marL="12700" marR="5080">
              <a:lnSpc>
                <a:spcPts val="1190"/>
              </a:lnSpc>
              <a:spcBef>
                <a:spcPts val="40"/>
              </a:spcBef>
            </a:pPr>
            <a:r>
              <a:rPr dirty="0" sz="1000" spc="-105">
                <a:latin typeface="Microsoft Sans Serif"/>
                <a:cs typeface="Microsoft Sans Serif"/>
              </a:rPr>
              <a:t>Produce</a:t>
            </a:r>
            <a:r>
              <a:rPr dirty="0" sz="1000" spc="-60">
                <a:latin typeface="Microsoft Sans Serif"/>
                <a:cs typeface="Microsoft Sans Serif"/>
              </a:rPr>
              <a:t> Product</a:t>
            </a:r>
            <a:endParaRPr sz="1000">
              <a:latin typeface="Microsoft Sans Serif"/>
              <a:cs typeface="Microsoft Sans Serif"/>
            </a:endParaRPr>
          </a:p>
        </p:txBody>
      </p:sp>
      <p:pic>
        <p:nvPicPr>
          <p:cNvPr id="27" name="object 27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035039" y="5146223"/>
            <a:ext cx="749590" cy="246011"/>
          </a:xfrm>
          <a:prstGeom prst="rect">
            <a:avLst/>
          </a:prstGeom>
        </p:spPr>
      </p:pic>
      <p:sp>
        <p:nvSpPr>
          <p:cNvPr id="28" name="object 28" descr=""/>
          <p:cNvSpPr txBox="1"/>
          <p:nvPr/>
        </p:nvSpPr>
        <p:spPr>
          <a:xfrm>
            <a:off x="6067997" y="5177998"/>
            <a:ext cx="69088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120">
                <a:latin typeface="Microsoft Sans Serif"/>
                <a:cs typeface="Microsoft Sans Serif"/>
              </a:rPr>
              <a:t>INVENTORTY</a:t>
            </a:r>
            <a:endParaRPr sz="1000">
              <a:latin typeface="Microsoft Sans Serif"/>
              <a:cs typeface="Microsoft Sans Serif"/>
            </a:endParaRPr>
          </a:p>
        </p:txBody>
      </p:sp>
      <p:grpSp>
        <p:nvGrpSpPr>
          <p:cNvPr id="29" name="object 29" descr=""/>
          <p:cNvGrpSpPr/>
          <p:nvPr/>
        </p:nvGrpSpPr>
        <p:grpSpPr>
          <a:xfrm>
            <a:off x="5553455" y="4139184"/>
            <a:ext cx="1362710" cy="696595"/>
            <a:chOff x="5553455" y="4139184"/>
            <a:chExt cx="1362710" cy="696595"/>
          </a:xfrm>
        </p:grpSpPr>
        <p:sp>
          <p:nvSpPr>
            <p:cNvPr id="30" name="object 30" descr=""/>
            <p:cNvSpPr/>
            <p:nvPr/>
          </p:nvSpPr>
          <p:spPr>
            <a:xfrm>
              <a:off x="5553455" y="4418075"/>
              <a:ext cx="922019" cy="417830"/>
            </a:xfrm>
            <a:custGeom>
              <a:avLst/>
              <a:gdLst/>
              <a:ahLst/>
              <a:cxnLst/>
              <a:rect l="l" t="t" r="r" b="b"/>
              <a:pathLst>
                <a:path w="922020" h="417829">
                  <a:moveTo>
                    <a:pt x="899604" y="35496"/>
                  </a:moveTo>
                  <a:lnTo>
                    <a:pt x="864108" y="0"/>
                  </a:lnTo>
                  <a:lnTo>
                    <a:pt x="922020" y="32004"/>
                  </a:lnTo>
                  <a:lnTo>
                    <a:pt x="921169" y="35052"/>
                  </a:lnTo>
                  <a:lnTo>
                    <a:pt x="900684" y="35052"/>
                  </a:lnTo>
                  <a:lnTo>
                    <a:pt x="899604" y="35496"/>
                  </a:lnTo>
                  <a:close/>
                </a:path>
                <a:path w="922020" h="417829">
                  <a:moveTo>
                    <a:pt x="901827" y="37719"/>
                  </a:moveTo>
                  <a:lnTo>
                    <a:pt x="899604" y="35496"/>
                  </a:lnTo>
                  <a:lnTo>
                    <a:pt x="900684" y="35052"/>
                  </a:lnTo>
                  <a:lnTo>
                    <a:pt x="901827" y="37719"/>
                  </a:lnTo>
                  <a:close/>
                </a:path>
                <a:path w="922020" h="417829">
                  <a:moveTo>
                    <a:pt x="903732" y="97536"/>
                  </a:moveTo>
                  <a:lnTo>
                    <a:pt x="903732" y="46350"/>
                  </a:lnTo>
                  <a:lnTo>
                    <a:pt x="905256" y="45719"/>
                  </a:lnTo>
                  <a:lnTo>
                    <a:pt x="903732" y="42163"/>
                  </a:lnTo>
                  <a:lnTo>
                    <a:pt x="903732" y="39624"/>
                  </a:lnTo>
                  <a:lnTo>
                    <a:pt x="901827" y="37719"/>
                  </a:lnTo>
                  <a:lnTo>
                    <a:pt x="900684" y="35052"/>
                  </a:lnTo>
                  <a:lnTo>
                    <a:pt x="921169" y="35052"/>
                  </a:lnTo>
                  <a:lnTo>
                    <a:pt x="903732" y="97536"/>
                  </a:lnTo>
                  <a:close/>
                </a:path>
                <a:path w="922020" h="417829">
                  <a:moveTo>
                    <a:pt x="6096" y="417576"/>
                  </a:moveTo>
                  <a:lnTo>
                    <a:pt x="0" y="405384"/>
                  </a:lnTo>
                  <a:lnTo>
                    <a:pt x="899604" y="35496"/>
                  </a:lnTo>
                  <a:lnTo>
                    <a:pt x="901827" y="37719"/>
                  </a:lnTo>
                  <a:lnTo>
                    <a:pt x="903732" y="42163"/>
                  </a:lnTo>
                  <a:lnTo>
                    <a:pt x="903732" y="46350"/>
                  </a:lnTo>
                  <a:lnTo>
                    <a:pt x="6096" y="417576"/>
                  </a:lnTo>
                  <a:close/>
                </a:path>
                <a:path w="922020" h="417829">
                  <a:moveTo>
                    <a:pt x="903732" y="46350"/>
                  </a:moveTo>
                  <a:lnTo>
                    <a:pt x="903732" y="42163"/>
                  </a:lnTo>
                  <a:lnTo>
                    <a:pt x="905256" y="45719"/>
                  </a:lnTo>
                  <a:lnTo>
                    <a:pt x="903732" y="4635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1" name="object 31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035039" y="4139184"/>
              <a:ext cx="880872" cy="310895"/>
            </a:xfrm>
            <a:prstGeom prst="rect">
              <a:avLst/>
            </a:prstGeom>
          </p:spPr>
        </p:pic>
      </p:grpSp>
      <p:sp>
        <p:nvSpPr>
          <p:cNvPr id="32" name="object 32" descr=""/>
          <p:cNvSpPr txBox="1"/>
          <p:nvPr/>
        </p:nvSpPr>
        <p:spPr>
          <a:xfrm>
            <a:off x="5935454" y="3705836"/>
            <a:ext cx="955675" cy="2012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50" spc="-105">
                <a:latin typeface="Microsoft Sans Serif"/>
                <a:cs typeface="Microsoft Sans Serif"/>
              </a:rPr>
              <a:t>Quantity</a:t>
            </a:r>
            <a:r>
              <a:rPr dirty="0" sz="1150" spc="-25">
                <a:latin typeface="Microsoft Sans Serif"/>
                <a:cs typeface="Microsoft Sans Serif"/>
              </a:rPr>
              <a:t> </a:t>
            </a:r>
            <a:r>
              <a:rPr dirty="0" sz="1150" spc="-100">
                <a:latin typeface="Microsoft Sans Serif"/>
                <a:cs typeface="Microsoft Sans Serif"/>
              </a:rPr>
              <a:t>Severed</a:t>
            </a:r>
            <a:endParaRPr sz="1150">
              <a:latin typeface="Microsoft Sans Serif"/>
              <a:cs typeface="Microsoft Sans Serif"/>
            </a:endParaRPr>
          </a:p>
        </p:txBody>
      </p:sp>
      <p:sp>
        <p:nvSpPr>
          <p:cNvPr id="33" name="object 33" descr=""/>
          <p:cNvSpPr txBox="1"/>
          <p:nvPr/>
        </p:nvSpPr>
        <p:spPr>
          <a:xfrm>
            <a:off x="4164607" y="4172180"/>
            <a:ext cx="600075" cy="37782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65405" marR="5080" indent="-53340">
              <a:lnSpc>
                <a:spcPct val="100899"/>
              </a:lnSpc>
              <a:spcBef>
                <a:spcPts val="90"/>
              </a:spcBef>
            </a:pPr>
            <a:r>
              <a:rPr dirty="0" sz="1150" spc="-110">
                <a:latin typeface="Microsoft Sans Serif"/>
                <a:cs typeface="Microsoft Sans Serif"/>
              </a:rPr>
              <a:t>Production</a:t>
            </a:r>
            <a:r>
              <a:rPr dirty="0" sz="1150" spc="-95">
                <a:latin typeface="Microsoft Sans Serif"/>
                <a:cs typeface="Microsoft Sans Serif"/>
              </a:rPr>
              <a:t> Schedule</a:t>
            </a:r>
            <a:endParaRPr sz="1150">
              <a:latin typeface="Microsoft Sans Serif"/>
              <a:cs typeface="Microsoft Sans Serif"/>
            </a:endParaRPr>
          </a:p>
        </p:txBody>
      </p:sp>
      <p:sp>
        <p:nvSpPr>
          <p:cNvPr id="34" name="object 34" descr=""/>
          <p:cNvSpPr txBox="1"/>
          <p:nvPr/>
        </p:nvSpPr>
        <p:spPr>
          <a:xfrm>
            <a:off x="6174654" y="4127947"/>
            <a:ext cx="605790" cy="328295"/>
          </a:xfrm>
          <a:prstGeom prst="rect">
            <a:avLst/>
          </a:prstGeom>
        </p:spPr>
        <p:txBody>
          <a:bodyPr wrap="square" lIns="0" tIns="17780" rIns="0" bIns="0" rtlCol="0" vert="horz">
            <a:spAutoFit/>
          </a:bodyPr>
          <a:lstStyle/>
          <a:p>
            <a:pPr marL="12700" marR="5080" indent="170180">
              <a:lnSpc>
                <a:spcPts val="1190"/>
              </a:lnSpc>
              <a:spcBef>
                <a:spcPts val="140"/>
              </a:spcBef>
            </a:pPr>
            <a:r>
              <a:rPr dirty="0" sz="1000" spc="-25">
                <a:latin typeface="Microsoft Sans Serif"/>
                <a:cs typeface="Microsoft Sans Serif"/>
              </a:rPr>
              <a:t>RAW </a:t>
            </a:r>
            <a:r>
              <a:rPr dirty="0" sz="1000" spc="-130">
                <a:latin typeface="Microsoft Sans Serif"/>
                <a:cs typeface="Microsoft Sans Serif"/>
              </a:rPr>
              <a:t>MATERIALS</a:t>
            </a:r>
            <a:endParaRPr sz="1000">
              <a:latin typeface="Microsoft Sans Serif"/>
              <a:cs typeface="Microsoft Sans Serif"/>
            </a:endParaRPr>
          </a:p>
        </p:txBody>
      </p:sp>
      <p:grpSp>
        <p:nvGrpSpPr>
          <p:cNvPr id="35" name="object 35" descr=""/>
          <p:cNvGrpSpPr/>
          <p:nvPr/>
        </p:nvGrpSpPr>
        <p:grpSpPr>
          <a:xfrm>
            <a:off x="4786883" y="4288535"/>
            <a:ext cx="1249680" cy="2057400"/>
            <a:chOff x="4786883" y="4288535"/>
            <a:chExt cx="1249680" cy="2057400"/>
          </a:xfrm>
        </p:grpSpPr>
        <p:sp>
          <p:nvSpPr>
            <p:cNvPr id="36" name="object 36" descr=""/>
            <p:cNvSpPr/>
            <p:nvPr/>
          </p:nvSpPr>
          <p:spPr>
            <a:xfrm>
              <a:off x="5170931" y="4288535"/>
              <a:ext cx="866140" cy="201295"/>
            </a:xfrm>
            <a:custGeom>
              <a:avLst/>
              <a:gdLst/>
              <a:ahLst/>
              <a:cxnLst/>
              <a:rect l="l" t="t" r="r" b="b"/>
              <a:pathLst>
                <a:path w="866139" h="201295">
                  <a:moveTo>
                    <a:pt x="25577" y="159543"/>
                  </a:moveTo>
                  <a:lnTo>
                    <a:pt x="21335" y="152400"/>
                  </a:lnTo>
                  <a:lnTo>
                    <a:pt x="22521" y="146304"/>
                  </a:lnTo>
                  <a:lnTo>
                    <a:pt x="22615" y="145818"/>
                  </a:lnTo>
                  <a:lnTo>
                    <a:pt x="864108" y="0"/>
                  </a:lnTo>
                  <a:lnTo>
                    <a:pt x="865632" y="12192"/>
                  </a:lnTo>
                  <a:lnTo>
                    <a:pt x="25577" y="159543"/>
                  </a:lnTo>
                  <a:close/>
                </a:path>
                <a:path w="866139" h="201295">
                  <a:moveTo>
                    <a:pt x="50291" y="201168"/>
                  </a:moveTo>
                  <a:lnTo>
                    <a:pt x="0" y="156972"/>
                  </a:lnTo>
                  <a:lnTo>
                    <a:pt x="32004" y="97536"/>
                  </a:lnTo>
                  <a:lnTo>
                    <a:pt x="22615" y="145818"/>
                  </a:lnTo>
                  <a:lnTo>
                    <a:pt x="19812" y="146304"/>
                  </a:lnTo>
                  <a:lnTo>
                    <a:pt x="22754" y="159543"/>
                  </a:lnTo>
                  <a:lnTo>
                    <a:pt x="22860" y="160019"/>
                  </a:lnTo>
                  <a:lnTo>
                    <a:pt x="25860" y="160019"/>
                  </a:lnTo>
                  <a:lnTo>
                    <a:pt x="50291" y="201168"/>
                  </a:lnTo>
                  <a:close/>
                </a:path>
                <a:path w="866139" h="201295">
                  <a:moveTo>
                    <a:pt x="22860" y="160019"/>
                  </a:moveTo>
                  <a:lnTo>
                    <a:pt x="19812" y="146304"/>
                  </a:lnTo>
                  <a:lnTo>
                    <a:pt x="22615" y="145818"/>
                  </a:lnTo>
                  <a:lnTo>
                    <a:pt x="21335" y="152400"/>
                  </a:lnTo>
                  <a:lnTo>
                    <a:pt x="25577" y="159543"/>
                  </a:lnTo>
                  <a:lnTo>
                    <a:pt x="22860" y="160019"/>
                  </a:lnTo>
                  <a:close/>
                </a:path>
                <a:path w="866139" h="201295">
                  <a:moveTo>
                    <a:pt x="25860" y="160019"/>
                  </a:moveTo>
                  <a:lnTo>
                    <a:pt x="22860" y="160019"/>
                  </a:lnTo>
                  <a:lnTo>
                    <a:pt x="25577" y="159543"/>
                  </a:lnTo>
                  <a:lnTo>
                    <a:pt x="25860" y="16001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7" name="object 37" descr=""/>
            <p:cNvSpPr/>
            <p:nvPr/>
          </p:nvSpPr>
          <p:spPr>
            <a:xfrm>
              <a:off x="4794503" y="5583935"/>
              <a:ext cx="754380" cy="754380"/>
            </a:xfrm>
            <a:custGeom>
              <a:avLst/>
              <a:gdLst/>
              <a:ahLst/>
              <a:cxnLst/>
              <a:rect l="l" t="t" r="r" b="b"/>
              <a:pathLst>
                <a:path w="754379" h="754379">
                  <a:moveTo>
                    <a:pt x="0" y="377951"/>
                  </a:moveTo>
                  <a:lnTo>
                    <a:pt x="2943" y="330532"/>
                  </a:lnTo>
                  <a:lnTo>
                    <a:pt x="11534" y="284873"/>
                  </a:lnTo>
                  <a:lnTo>
                    <a:pt x="25415" y="241328"/>
                  </a:lnTo>
                  <a:lnTo>
                    <a:pt x="44228" y="200252"/>
                  </a:lnTo>
                  <a:lnTo>
                    <a:pt x="67615" y="161997"/>
                  </a:lnTo>
                  <a:lnTo>
                    <a:pt x="95219" y="126918"/>
                  </a:lnTo>
                  <a:lnTo>
                    <a:pt x="126680" y="95368"/>
                  </a:lnTo>
                  <a:lnTo>
                    <a:pt x="161642" y="67702"/>
                  </a:lnTo>
                  <a:lnTo>
                    <a:pt x="199746" y="44272"/>
                  </a:lnTo>
                  <a:lnTo>
                    <a:pt x="240635" y="25434"/>
                  </a:lnTo>
                  <a:lnTo>
                    <a:pt x="283950" y="11539"/>
                  </a:lnTo>
                  <a:lnTo>
                    <a:pt x="329333" y="2943"/>
                  </a:lnTo>
                  <a:lnTo>
                    <a:pt x="376428" y="0"/>
                  </a:lnTo>
                  <a:lnTo>
                    <a:pt x="423847" y="2943"/>
                  </a:lnTo>
                  <a:lnTo>
                    <a:pt x="469506" y="11539"/>
                  </a:lnTo>
                  <a:lnTo>
                    <a:pt x="513051" y="25434"/>
                  </a:lnTo>
                  <a:lnTo>
                    <a:pt x="554127" y="44272"/>
                  </a:lnTo>
                  <a:lnTo>
                    <a:pt x="592382" y="67702"/>
                  </a:lnTo>
                  <a:lnTo>
                    <a:pt x="627461" y="95368"/>
                  </a:lnTo>
                  <a:lnTo>
                    <a:pt x="659011" y="126918"/>
                  </a:lnTo>
                  <a:lnTo>
                    <a:pt x="686677" y="161997"/>
                  </a:lnTo>
                  <a:lnTo>
                    <a:pt x="710106" y="200252"/>
                  </a:lnTo>
                  <a:lnTo>
                    <a:pt x="728945" y="241328"/>
                  </a:lnTo>
                  <a:lnTo>
                    <a:pt x="742840" y="284873"/>
                  </a:lnTo>
                  <a:lnTo>
                    <a:pt x="751436" y="330532"/>
                  </a:lnTo>
                  <a:lnTo>
                    <a:pt x="754379" y="377951"/>
                  </a:lnTo>
                  <a:lnTo>
                    <a:pt x="751436" y="425345"/>
                  </a:lnTo>
                  <a:lnTo>
                    <a:pt x="742840" y="470933"/>
                  </a:lnTo>
                  <a:lnTo>
                    <a:pt x="728945" y="514369"/>
                  </a:lnTo>
                  <a:lnTo>
                    <a:pt x="710106" y="555307"/>
                  </a:lnTo>
                  <a:lnTo>
                    <a:pt x="686677" y="593403"/>
                  </a:lnTo>
                  <a:lnTo>
                    <a:pt x="659011" y="628311"/>
                  </a:lnTo>
                  <a:lnTo>
                    <a:pt x="627461" y="659685"/>
                  </a:lnTo>
                  <a:lnTo>
                    <a:pt x="592382" y="687180"/>
                  </a:lnTo>
                  <a:lnTo>
                    <a:pt x="554127" y="710451"/>
                  </a:lnTo>
                  <a:lnTo>
                    <a:pt x="513051" y="729151"/>
                  </a:lnTo>
                  <a:lnTo>
                    <a:pt x="469506" y="742937"/>
                  </a:lnTo>
                  <a:lnTo>
                    <a:pt x="423847" y="751461"/>
                  </a:lnTo>
                  <a:lnTo>
                    <a:pt x="376428" y="754379"/>
                  </a:lnTo>
                  <a:lnTo>
                    <a:pt x="329333" y="751461"/>
                  </a:lnTo>
                  <a:lnTo>
                    <a:pt x="283950" y="742937"/>
                  </a:lnTo>
                  <a:lnTo>
                    <a:pt x="240635" y="729151"/>
                  </a:lnTo>
                  <a:lnTo>
                    <a:pt x="199746" y="710451"/>
                  </a:lnTo>
                  <a:lnTo>
                    <a:pt x="161642" y="687180"/>
                  </a:lnTo>
                  <a:lnTo>
                    <a:pt x="126680" y="659685"/>
                  </a:lnTo>
                  <a:lnTo>
                    <a:pt x="95219" y="628311"/>
                  </a:lnTo>
                  <a:lnTo>
                    <a:pt x="67615" y="593403"/>
                  </a:lnTo>
                  <a:lnTo>
                    <a:pt x="44228" y="555307"/>
                  </a:lnTo>
                  <a:lnTo>
                    <a:pt x="25415" y="514369"/>
                  </a:lnTo>
                  <a:lnTo>
                    <a:pt x="11534" y="470933"/>
                  </a:lnTo>
                  <a:lnTo>
                    <a:pt x="2943" y="425345"/>
                  </a:lnTo>
                  <a:lnTo>
                    <a:pt x="0" y="377951"/>
                  </a:lnTo>
                </a:path>
              </a:pathLst>
            </a:custGeom>
            <a:ln w="1524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8" name="object 38" descr=""/>
          <p:cNvSpPr txBox="1"/>
          <p:nvPr/>
        </p:nvSpPr>
        <p:spPr>
          <a:xfrm>
            <a:off x="4979847" y="5720510"/>
            <a:ext cx="383540" cy="47942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19380">
              <a:lnSpc>
                <a:spcPts val="1195"/>
              </a:lnSpc>
              <a:spcBef>
                <a:spcPts val="95"/>
              </a:spcBef>
            </a:pPr>
            <a:r>
              <a:rPr dirty="0" u="sng" sz="1000" spc="-25">
                <a:uFill>
                  <a:solidFill>
                    <a:srgbClr val="000000"/>
                  </a:solidFill>
                </a:uFill>
                <a:latin typeface="Microsoft Sans Serif"/>
                <a:cs typeface="Microsoft Sans Serif"/>
              </a:rPr>
              <a:t>2.3</a:t>
            </a:r>
            <a:endParaRPr sz="1000">
              <a:latin typeface="Microsoft Sans Serif"/>
              <a:cs typeface="Microsoft Sans Serif"/>
            </a:endParaRPr>
          </a:p>
          <a:p>
            <a:pPr marL="12700" marR="5080" indent="54610">
              <a:lnSpc>
                <a:spcPts val="1190"/>
              </a:lnSpc>
              <a:spcBef>
                <a:spcPts val="40"/>
              </a:spcBef>
            </a:pPr>
            <a:r>
              <a:rPr dirty="0" sz="1000" spc="-10">
                <a:latin typeface="Microsoft Sans Serif"/>
                <a:cs typeface="Microsoft Sans Serif"/>
              </a:rPr>
              <a:t>Store </a:t>
            </a:r>
            <a:r>
              <a:rPr dirty="0" sz="1000" spc="-100">
                <a:latin typeface="Microsoft Sans Serif"/>
                <a:cs typeface="Microsoft Sans Serif"/>
              </a:rPr>
              <a:t>Product</a:t>
            </a:r>
            <a:endParaRPr sz="1000">
              <a:latin typeface="Microsoft Sans Serif"/>
              <a:cs typeface="Microsoft Sans Serif"/>
            </a:endParaRPr>
          </a:p>
        </p:txBody>
      </p:sp>
      <p:sp>
        <p:nvSpPr>
          <p:cNvPr id="39" name="object 39" descr=""/>
          <p:cNvSpPr/>
          <p:nvPr/>
        </p:nvSpPr>
        <p:spPr>
          <a:xfrm>
            <a:off x="5553455" y="5373623"/>
            <a:ext cx="859790" cy="594360"/>
          </a:xfrm>
          <a:custGeom>
            <a:avLst/>
            <a:gdLst/>
            <a:ahLst/>
            <a:cxnLst/>
            <a:rect l="l" t="t" r="r" b="b"/>
            <a:pathLst>
              <a:path w="859789" h="594360">
                <a:moveTo>
                  <a:pt x="835963" y="27392"/>
                </a:moveTo>
                <a:lnTo>
                  <a:pt x="795527" y="0"/>
                </a:lnTo>
                <a:lnTo>
                  <a:pt x="859536" y="19812"/>
                </a:lnTo>
                <a:lnTo>
                  <a:pt x="858981" y="25908"/>
                </a:lnTo>
                <a:lnTo>
                  <a:pt x="838200" y="25908"/>
                </a:lnTo>
                <a:lnTo>
                  <a:pt x="835963" y="27392"/>
                </a:lnTo>
                <a:close/>
              </a:path>
              <a:path w="859789" h="594360">
                <a:moveTo>
                  <a:pt x="842350" y="31718"/>
                </a:moveTo>
                <a:lnTo>
                  <a:pt x="835963" y="27392"/>
                </a:lnTo>
                <a:lnTo>
                  <a:pt x="838200" y="25908"/>
                </a:lnTo>
                <a:lnTo>
                  <a:pt x="842350" y="31718"/>
                </a:lnTo>
                <a:close/>
              </a:path>
              <a:path w="859789" h="594360">
                <a:moveTo>
                  <a:pt x="853440" y="86868"/>
                </a:moveTo>
                <a:lnTo>
                  <a:pt x="843907" y="37846"/>
                </a:lnTo>
                <a:lnTo>
                  <a:pt x="845820" y="36576"/>
                </a:lnTo>
                <a:lnTo>
                  <a:pt x="842853" y="32422"/>
                </a:lnTo>
                <a:lnTo>
                  <a:pt x="842771" y="32004"/>
                </a:lnTo>
                <a:lnTo>
                  <a:pt x="842350" y="31718"/>
                </a:lnTo>
                <a:lnTo>
                  <a:pt x="838200" y="25908"/>
                </a:lnTo>
                <a:lnTo>
                  <a:pt x="858981" y="25908"/>
                </a:lnTo>
                <a:lnTo>
                  <a:pt x="853440" y="86868"/>
                </a:lnTo>
                <a:close/>
              </a:path>
              <a:path w="859789" h="594360">
                <a:moveTo>
                  <a:pt x="6096" y="594360"/>
                </a:moveTo>
                <a:lnTo>
                  <a:pt x="0" y="582168"/>
                </a:lnTo>
                <a:lnTo>
                  <a:pt x="835963" y="27392"/>
                </a:lnTo>
                <a:lnTo>
                  <a:pt x="842350" y="31718"/>
                </a:lnTo>
                <a:lnTo>
                  <a:pt x="842853" y="32422"/>
                </a:lnTo>
                <a:lnTo>
                  <a:pt x="843907" y="37846"/>
                </a:lnTo>
                <a:lnTo>
                  <a:pt x="6096" y="594360"/>
                </a:lnTo>
                <a:close/>
              </a:path>
              <a:path w="859789" h="594360">
                <a:moveTo>
                  <a:pt x="843907" y="37846"/>
                </a:moveTo>
                <a:lnTo>
                  <a:pt x="842853" y="32422"/>
                </a:lnTo>
                <a:lnTo>
                  <a:pt x="845820" y="36576"/>
                </a:lnTo>
                <a:lnTo>
                  <a:pt x="843907" y="3784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0" name="object 40" descr=""/>
          <p:cNvSpPr txBox="1"/>
          <p:nvPr/>
        </p:nvSpPr>
        <p:spPr>
          <a:xfrm>
            <a:off x="5872946" y="5723651"/>
            <a:ext cx="1136015" cy="37782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 marR="5080">
              <a:lnSpc>
                <a:spcPct val="100899"/>
              </a:lnSpc>
              <a:spcBef>
                <a:spcPts val="90"/>
              </a:spcBef>
            </a:pPr>
            <a:r>
              <a:rPr dirty="0" sz="1150" spc="-105">
                <a:latin typeface="Microsoft Sans Serif"/>
                <a:cs typeface="Microsoft Sans Serif"/>
              </a:rPr>
              <a:t>Quantity</a:t>
            </a:r>
            <a:r>
              <a:rPr dirty="0" sz="1150" spc="-30">
                <a:latin typeface="Microsoft Sans Serif"/>
                <a:cs typeface="Microsoft Sans Serif"/>
              </a:rPr>
              <a:t> </a:t>
            </a:r>
            <a:r>
              <a:rPr dirty="0" sz="1150" spc="-114">
                <a:latin typeface="Microsoft Sans Serif"/>
                <a:cs typeface="Microsoft Sans Serif"/>
              </a:rPr>
              <a:t>Produced</a:t>
            </a:r>
            <a:r>
              <a:rPr dirty="0" sz="1150" spc="-25">
                <a:latin typeface="Microsoft Sans Serif"/>
                <a:cs typeface="Microsoft Sans Serif"/>
              </a:rPr>
              <a:t> </a:t>
            </a:r>
            <a:r>
              <a:rPr dirty="0" sz="1150" spc="-65">
                <a:latin typeface="Microsoft Sans Serif"/>
                <a:cs typeface="Microsoft Sans Serif"/>
              </a:rPr>
              <a:t>&amp; </a:t>
            </a:r>
            <a:r>
              <a:rPr dirty="0" sz="1150" spc="-105">
                <a:latin typeface="Microsoft Sans Serif"/>
                <a:cs typeface="Microsoft Sans Serif"/>
              </a:rPr>
              <a:t>Location</a:t>
            </a:r>
            <a:r>
              <a:rPr dirty="0" sz="1150" spc="-20">
                <a:latin typeface="Microsoft Sans Serif"/>
                <a:cs typeface="Microsoft Sans Serif"/>
              </a:rPr>
              <a:t> </a:t>
            </a:r>
            <a:r>
              <a:rPr dirty="0" sz="1150" spc="-10">
                <a:latin typeface="Microsoft Sans Serif"/>
                <a:cs typeface="Microsoft Sans Serif"/>
              </a:rPr>
              <a:t>Stored</a:t>
            </a:r>
            <a:endParaRPr sz="1150">
              <a:latin typeface="Microsoft Sans Serif"/>
              <a:cs typeface="Microsoft Sans Serif"/>
            </a:endParaRPr>
          </a:p>
        </p:txBody>
      </p:sp>
      <p:sp>
        <p:nvSpPr>
          <p:cNvPr id="41" name="object 41" descr=""/>
          <p:cNvSpPr txBox="1"/>
          <p:nvPr/>
        </p:nvSpPr>
        <p:spPr>
          <a:xfrm>
            <a:off x="5810527" y="4711694"/>
            <a:ext cx="787400" cy="2012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50" spc="-105">
                <a:latin typeface="Microsoft Sans Serif"/>
                <a:cs typeface="Microsoft Sans Serif"/>
              </a:rPr>
              <a:t>Quantity</a:t>
            </a:r>
            <a:r>
              <a:rPr dirty="0" sz="1150" spc="-25">
                <a:latin typeface="Microsoft Sans Serif"/>
                <a:cs typeface="Microsoft Sans Serif"/>
              </a:rPr>
              <a:t> </a:t>
            </a:r>
            <a:r>
              <a:rPr dirty="0" sz="1150" spc="-100">
                <a:latin typeface="Microsoft Sans Serif"/>
                <a:cs typeface="Microsoft Sans Serif"/>
              </a:rPr>
              <a:t>Used</a:t>
            </a:r>
            <a:endParaRPr sz="1150">
              <a:latin typeface="Microsoft Sans Serif"/>
              <a:cs typeface="Microsoft Sans Serif"/>
            </a:endParaRPr>
          </a:p>
        </p:txBody>
      </p:sp>
      <p:sp>
        <p:nvSpPr>
          <p:cNvPr id="42" name="object 42" descr=""/>
          <p:cNvSpPr/>
          <p:nvPr/>
        </p:nvSpPr>
        <p:spPr>
          <a:xfrm>
            <a:off x="5119115" y="5215128"/>
            <a:ext cx="105410" cy="361315"/>
          </a:xfrm>
          <a:custGeom>
            <a:avLst/>
            <a:gdLst/>
            <a:ahLst/>
            <a:cxnLst/>
            <a:rect l="l" t="t" r="r" b="b"/>
            <a:pathLst>
              <a:path w="105410" h="361314">
                <a:moveTo>
                  <a:pt x="51816" y="341376"/>
                </a:moveTo>
                <a:lnTo>
                  <a:pt x="45720" y="338865"/>
                </a:lnTo>
                <a:lnTo>
                  <a:pt x="45720" y="0"/>
                </a:lnTo>
                <a:lnTo>
                  <a:pt x="59436" y="0"/>
                </a:lnTo>
                <a:lnTo>
                  <a:pt x="59436" y="338328"/>
                </a:lnTo>
                <a:lnTo>
                  <a:pt x="51816" y="341376"/>
                </a:lnTo>
                <a:close/>
              </a:path>
              <a:path w="105410" h="361314">
                <a:moveTo>
                  <a:pt x="51816" y="361187"/>
                </a:moveTo>
                <a:lnTo>
                  <a:pt x="0" y="320039"/>
                </a:lnTo>
                <a:lnTo>
                  <a:pt x="45720" y="338865"/>
                </a:lnTo>
                <a:lnTo>
                  <a:pt x="45720" y="341376"/>
                </a:lnTo>
                <a:lnTo>
                  <a:pt x="77498" y="341376"/>
                </a:lnTo>
                <a:lnTo>
                  <a:pt x="51816" y="361187"/>
                </a:lnTo>
                <a:close/>
              </a:path>
              <a:path w="105410" h="361314">
                <a:moveTo>
                  <a:pt x="77498" y="341376"/>
                </a:moveTo>
                <a:lnTo>
                  <a:pt x="59436" y="341376"/>
                </a:lnTo>
                <a:lnTo>
                  <a:pt x="59436" y="338328"/>
                </a:lnTo>
                <a:lnTo>
                  <a:pt x="105156" y="320039"/>
                </a:lnTo>
                <a:lnTo>
                  <a:pt x="77498" y="341376"/>
                </a:lnTo>
                <a:close/>
              </a:path>
              <a:path w="105410" h="361314">
                <a:moveTo>
                  <a:pt x="59436" y="341376"/>
                </a:moveTo>
                <a:lnTo>
                  <a:pt x="51816" y="341376"/>
                </a:lnTo>
                <a:lnTo>
                  <a:pt x="59436" y="338328"/>
                </a:lnTo>
                <a:lnTo>
                  <a:pt x="59436" y="341376"/>
                </a:lnTo>
                <a:close/>
              </a:path>
              <a:path w="105410" h="361314">
                <a:moveTo>
                  <a:pt x="51816" y="341376"/>
                </a:moveTo>
                <a:lnTo>
                  <a:pt x="45720" y="341376"/>
                </a:lnTo>
                <a:lnTo>
                  <a:pt x="45720" y="338865"/>
                </a:lnTo>
                <a:lnTo>
                  <a:pt x="51816" y="34137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3" name="object 43" descr=""/>
          <p:cNvSpPr txBox="1"/>
          <p:nvPr/>
        </p:nvSpPr>
        <p:spPr>
          <a:xfrm>
            <a:off x="4527286" y="5292302"/>
            <a:ext cx="956944" cy="2012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50" spc="-85">
                <a:latin typeface="Microsoft Sans Serif"/>
                <a:cs typeface="Microsoft Sans Serif"/>
              </a:rPr>
              <a:t>Production</a:t>
            </a:r>
            <a:r>
              <a:rPr dirty="0" sz="1150" spc="305">
                <a:latin typeface="Microsoft Sans Serif"/>
                <a:cs typeface="Microsoft Sans Serif"/>
              </a:rPr>
              <a:t> </a:t>
            </a:r>
            <a:r>
              <a:rPr dirty="0" sz="1150" spc="-80">
                <a:latin typeface="Microsoft Sans Serif"/>
                <a:cs typeface="Microsoft Sans Serif"/>
              </a:rPr>
              <a:t>Data</a:t>
            </a:r>
            <a:endParaRPr sz="115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5021579" y="3061716"/>
            <a:ext cx="3657600" cy="3595370"/>
            <a:chOff x="5021579" y="3061716"/>
            <a:chExt cx="3657600" cy="3595370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658355" y="5138928"/>
              <a:ext cx="2020824" cy="1517903"/>
            </a:xfrm>
            <a:prstGeom prst="rect">
              <a:avLst/>
            </a:prstGeom>
          </p:spPr>
        </p:pic>
        <p:sp>
          <p:nvSpPr>
            <p:cNvPr id="4" name="object 4" descr=""/>
            <p:cNvSpPr/>
            <p:nvPr/>
          </p:nvSpPr>
          <p:spPr>
            <a:xfrm>
              <a:off x="5029199" y="3069336"/>
              <a:ext cx="754380" cy="754380"/>
            </a:xfrm>
            <a:custGeom>
              <a:avLst/>
              <a:gdLst/>
              <a:ahLst/>
              <a:cxnLst/>
              <a:rect l="l" t="t" r="r" b="b"/>
              <a:pathLst>
                <a:path w="754379" h="754379">
                  <a:moveTo>
                    <a:pt x="0" y="377951"/>
                  </a:moveTo>
                  <a:lnTo>
                    <a:pt x="2943" y="330532"/>
                  </a:lnTo>
                  <a:lnTo>
                    <a:pt x="11539" y="284873"/>
                  </a:lnTo>
                  <a:lnTo>
                    <a:pt x="25434" y="241328"/>
                  </a:lnTo>
                  <a:lnTo>
                    <a:pt x="44272" y="200252"/>
                  </a:lnTo>
                  <a:lnTo>
                    <a:pt x="67702" y="161997"/>
                  </a:lnTo>
                  <a:lnTo>
                    <a:pt x="95368" y="126918"/>
                  </a:lnTo>
                  <a:lnTo>
                    <a:pt x="126918" y="95368"/>
                  </a:lnTo>
                  <a:lnTo>
                    <a:pt x="161997" y="67702"/>
                  </a:lnTo>
                  <a:lnTo>
                    <a:pt x="200252" y="44272"/>
                  </a:lnTo>
                  <a:lnTo>
                    <a:pt x="241328" y="25434"/>
                  </a:lnTo>
                  <a:lnTo>
                    <a:pt x="284873" y="11539"/>
                  </a:lnTo>
                  <a:lnTo>
                    <a:pt x="330532" y="2943"/>
                  </a:lnTo>
                  <a:lnTo>
                    <a:pt x="377952" y="0"/>
                  </a:lnTo>
                  <a:lnTo>
                    <a:pt x="425345" y="2943"/>
                  </a:lnTo>
                  <a:lnTo>
                    <a:pt x="470933" y="11539"/>
                  </a:lnTo>
                  <a:lnTo>
                    <a:pt x="514369" y="25434"/>
                  </a:lnTo>
                  <a:lnTo>
                    <a:pt x="555307" y="44272"/>
                  </a:lnTo>
                  <a:lnTo>
                    <a:pt x="593403" y="67702"/>
                  </a:lnTo>
                  <a:lnTo>
                    <a:pt x="628311" y="95368"/>
                  </a:lnTo>
                  <a:lnTo>
                    <a:pt x="659685" y="126918"/>
                  </a:lnTo>
                  <a:lnTo>
                    <a:pt x="687180" y="161997"/>
                  </a:lnTo>
                  <a:lnTo>
                    <a:pt x="710451" y="200252"/>
                  </a:lnTo>
                  <a:lnTo>
                    <a:pt x="729151" y="241328"/>
                  </a:lnTo>
                  <a:lnTo>
                    <a:pt x="742937" y="284873"/>
                  </a:lnTo>
                  <a:lnTo>
                    <a:pt x="751461" y="330532"/>
                  </a:lnTo>
                  <a:lnTo>
                    <a:pt x="754379" y="377951"/>
                  </a:lnTo>
                  <a:lnTo>
                    <a:pt x="751461" y="425345"/>
                  </a:lnTo>
                  <a:lnTo>
                    <a:pt x="742937" y="470933"/>
                  </a:lnTo>
                  <a:lnTo>
                    <a:pt x="729151" y="514369"/>
                  </a:lnTo>
                  <a:lnTo>
                    <a:pt x="710451" y="555307"/>
                  </a:lnTo>
                  <a:lnTo>
                    <a:pt x="687180" y="593403"/>
                  </a:lnTo>
                  <a:lnTo>
                    <a:pt x="659685" y="628311"/>
                  </a:lnTo>
                  <a:lnTo>
                    <a:pt x="628311" y="659685"/>
                  </a:lnTo>
                  <a:lnTo>
                    <a:pt x="593403" y="687180"/>
                  </a:lnTo>
                  <a:lnTo>
                    <a:pt x="555307" y="710451"/>
                  </a:lnTo>
                  <a:lnTo>
                    <a:pt x="514369" y="729151"/>
                  </a:lnTo>
                  <a:lnTo>
                    <a:pt x="470933" y="742937"/>
                  </a:lnTo>
                  <a:lnTo>
                    <a:pt x="425345" y="751461"/>
                  </a:lnTo>
                  <a:lnTo>
                    <a:pt x="377952" y="754379"/>
                  </a:lnTo>
                  <a:lnTo>
                    <a:pt x="330532" y="751461"/>
                  </a:lnTo>
                  <a:lnTo>
                    <a:pt x="284873" y="742937"/>
                  </a:lnTo>
                  <a:lnTo>
                    <a:pt x="241328" y="729151"/>
                  </a:lnTo>
                  <a:lnTo>
                    <a:pt x="200252" y="710451"/>
                  </a:lnTo>
                  <a:lnTo>
                    <a:pt x="161997" y="687180"/>
                  </a:lnTo>
                  <a:lnTo>
                    <a:pt x="126918" y="659685"/>
                  </a:lnTo>
                  <a:lnTo>
                    <a:pt x="95368" y="628311"/>
                  </a:lnTo>
                  <a:lnTo>
                    <a:pt x="67702" y="593403"/>
                  </a:lnTo>
                  <a:lnTo>
                    <a:pt x="44272" y="555307"/>
                  </a:lnTo>
                  <a:lnTo>
                    <a:pt x="25434" y="514369"/>
                  </a:lnTo>
                  <a:lnTo>
                    <a:pt x="11539" y="470933"/>
                  </a:lnTo>
                  <a:lnTo>
                    <a:pt x="2943" y="425345"/>
                  </a:lnTo>
                  <a:lnTo>
                    <a:pt x="0" y="377951"/>
                  </a:lnTo>
                </a:path>
              </a:pathLst>
            </a:custGeom>
            <a:ln w="1524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7145">
              <a:lnSpc>
                <a:spcPct val="100000"/>
              </a:lnSpc>
              <a:spcBef>
                <a:spcPts val="125"/>
              </a:spcBef>
            </a:pPr>
            <a:r>
              <a:rPr dirty="0"/>
              <a:t>Creating</a:t>
            </a:r>
            <a:r>
              <a:rPr dirty="0" spc="20"/>
              <a:t> </a:t>
            </a:r>
            <a:r>
              <a:rPr dirty="0"/>
              <a:t>Data</a:t>
            </a:r>
            <a:r>
              <a:rPr dirty="0" spc="50"/>
              <a:t> </a:t>
            </a:r>
            <a:r>
              <a:rPr dirty="0"/>
              <a:t>Flow</a:t>
            </a:r>
            <a:r>
              <a:rPr dirty="0" spc="30"/>
              <a:t> </a:t>
            </a:r>
            <a:r>
              <a:rPr dirty="0" spc="-10"/>
              <a:t>Diagrams</a:t>
            </a:r>
          </a:p>
        </p:txBody>
      </p:sp>
      <p:grpSp>
        <p:nvGrpSpPr>
          <p:cNvPr id="6" name="object 6" descr=""/>
          <p:cNvGrpSpPr/>
          <p:nvPr/>
        </p:nvGrpSpPr>
        <p:grpSpPr>
          <a:xfrm>
            <a:off x="4020311" y="2063495"/>
            <a:ext cx="7620" cy="4464050"/>
            <a:chOff x="4020311" y="2063495"/>
            <a:chExt cx="7620" cy="4464050"/>
          </a:xfrm>
        </p:grpSpPr>
        <p:sp>
          <p:nvSpPr>
            <p:cNvPr id="7" name="object 7" descr=""/>
            <p:cNvSpPr/>
            <p:nvPr/>
          </p:nvSpPr>
          <p:spPr>
            <a:xfrm>
              <a:off x="4024121" y="4901184"/>
              <a:ext cx="0" cy="1626235"/>
            </a:xfrm>
            <a:custGeom>
              <a:avLst/>
              <a:gdLst/>
              <a:ahLst/>
              <a:cxnLst/>
              <a:rect l="l" t="t" r="r" b="b"/>
              <a:pathLst>
                <a:path w="0" h="1626234">
                  <a:moveTo>
                    <a:pt x="0" y="0"/>
                  </a:moveTo>
                  <a:lnTo>
                    <a:pt x="0" y="1626108"/>
                  </a:lnTo>
                </a:path>
              </a:pathLst>
            </a:custGeom>
            <a:ln w="7620">
              <a:solidFill>
                <a:srgbClr val="954F72"/>
              </a:solidFill>
              <a:prstDash val="sys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4020311" y="4351020"/>
              <a:ext cx="7620" cy="525780"/>
            </a:xfrm>
            <a:custGeom>
              <a:avLst/>
              <a:gdLst/>
              <a:ahLst/>
              <a:cxnLst/>
              <a:rect l="l" t="t" r="r" b="b"/>
              <a:pathLst>
                <a:path w="7620" h="525779">
                  <a:moveTo>
                    <a:pt x="7620" y="525780"/>
                  </a:moveTo>
                  <a:lnTo>
                    <a:pt x="0" y="525780"/>
                  </a:lnTo>
                  <a:lnTo>
                    <a:pt x="0" y="495300"/>
                  </a:lnTo>
                  <a:lnTo>
                    <a:pt x="7620" y="495300"/>
                  </a:lnTo>
                  <a:lnTo>
                    <a:pt x="7620" y="525780"/>
                  </a:lnTo>
                  <a:close/>
                </a:path>
                <a:path w="7620" h="525779">
                  <a:moveTo>
                    <a:pt x="7620" y="470916"/>
                  </a:moveTo>
                  <a:lnTo>
                    <a:pt x="0" y="470916"/>
                  </a:lnTo>
                  <a:lnTo>
                    <a:pt x="0" y="440436"/>
                  </a:lnTo>
                  <a:lnTo>
                    <a:pt x="7620" y="440436"/>
                  </a:lnTo>
                  <a:lnTo>
                    <a:pt x="7620" y="470916"/>
                  </a:lnTo>
                  <a:close/>
                </a:path>
                <a:path w="7620" h="525779">
                  <a:moveTo>
                    <a:pt x="7620" y="416052"/>
                  </a:moveTo>
                  <a:lnTo>
                    <a:pt x="0" y="416052"/>
                  </a:lnTo>
                  <a:lnTo>
                    <a:pt x="0" y="385572"/>
                  </a:lnTo>
                  <a:lnTo>
                    <a:pt x="7620" y="385572"/>
                  </a:lnTo>
                  <a:lnTo>
                    <a:pt x="7620" y="416052"/>
                  </a:lnTo>
                  <a:close/>
                </a:path>
                <a:path w="7620" h="525779">
                  <a:moveTo>
                    <a:pt x="7620" y="361188"/>
                  </a:moveTo>
                  <a:lnTo>
                    <a:pt x="0" y="361188"/>
                  </a:lnTo>
                  <a:lnTo>
                    <a:pt x="0" y="329184"/>
                  </a:lnTo>
                  <a:lnTo>
                    <a:pt x="7620" y="330708"/>
                  </a:lnTo>
                  <a:lnTo>
                    <a:pt x="7620" y="361188"/>
                  </a:lnTo>
                  <a:close/>
                </a:path>
                <a:path w="7620" h="525779">
                  <a:moveTo>
                    <a:pt x="7620" y="306324"/>
                  </a:moveTo>
                  <a:lnTo>
                    <a:pt x="0" y="306324"/>
                  </a:lnTo>
                  <a:lnTo>
                    <a:pt x="0" y="274320"/>
                  </a:lnTo>
                  <a:lnTo>
                    <a:pt x="7620" y="274320"/>
                  </a:lnTo>
                  <a:lnTo>
                    <a:pt x="7620" y="306324"/>
                  </a:lnTo>
                  <a:close/>
                </a:path>
                <a:path w="7620" h="525779">
                  <a:moveTo>
                    <a:pt x="7620" y="251460"/>
                  </a:moveTo>
                  <a:lnTo>
                    <a:pt x="0" y="251460"/>
                  </a:lnTo>
                  <a:lnTo>
                    <a:pt x="0" y="219456"/>
                  </a:lnTo>
                  <a:lnTo>
                    <a:pt x="7620" y="219456"/>
                  </a:lnTo>
                  <a:lnTo>
                    <a:pt x="7620" y="251460"/>
                  </a:lnTo>
                  <a:close/>
                </a:path>
                <a:path w="7620" h="525779">
                  <a:moveTo>
                    <a:pt x="7620" y="196596"/>
                  </a:moveTo>
                  <a:lnTo>
                    <a:pt x="0" y="196596"/>
                  </a:lnTo>
                  <a:lnTo>
                    <a:pt x="0" y="164592"/>
                  </a:lnTo>
                  <a:lnTo>
                    <a:pt x="7620" y="164592"/>
                  </a:lnTo>
                  <a:lnTo>
                    <a:pt x="7620" y="196596"/>
                  </a:lnTo>
                  <a:close/>
                </a:path>
                <a:path w="7620" h="525779">
                  <a:moveTo>
                    <a:pt x="7620" y="141732"/>
                  </a:moveTo>
                  <a:lnTo>
                    <a:pt x="0" y="141732"/>
                  </a:lnTo>
                  <a:lnTo>
                    <a:pt x="0" y="109728"/>
                  </a:lnTo>
                  <a:lnTo>
                    <a:pt x="7620" y="109728"/>
                  </a:lnTo>
                  <a:lnTo>
                    <a:pt x="7620" y="141732"/>
                  </a:lnTo>
                  <a:close/>
                </a:path>
                <a:path w="7620" h="525779">
                  <a:moveTo>
                    <a:pt x="7620" y="86867"/>
                  </a:moveTo>
                  <a:lnTo>
                    <a:pt x="0" y="86867"/>
                  </a:lnTo>
                  <a:lnTo>
                    <a:pt x="0" y="54864"/>
                  </a:lnTo>
                  <a:lnTo>
                    <a:pt x="7620" y="54864"/>
                  </a:lnTo>
                  <a:lnTo>
                    <a:pt x="7620" y="86867"/>
                  </a:lnTo>
                  <a:close/>
                </a:path>
                <a:path w="7620" h="525779">
                  <a:moveTo>
                    <a:pt x="7620" y="32004"/>
                  </a:moveTo>
                  <a:lnTo>
                    <a:pt x="0" y="32004"/>
                  </a:lnTo>
                  <a:lnTo>
                    <a:pt x="0" y="0"/>
                  </a:lnTo>
                  <a:lnTo>
                    <a:pt x="7620" y="0"/>
                  </a:lnTo>
                  <a:lnTo>
                    <a:pt x="7620" y="32004"/>
                  </a:lnTo>
                  <a:close/>
                </a:path>
              </a:pathLst>
            </a:custGeom>
            <a:solidFill>
              <a:srgbClr val="954F7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4024121" y="2095499"/>
              <a:ext cx="0" cy="2231390"/>
            </a:xfrm>
            <a:custGeom>
              <a:avLst/>
              <a:gdLst/>
              <a:ahLst/>
              <a:cxnLst/>
              <a:rect l="l" t="t" r="r" b="b"/>
              <a:pathLst>
                <a:path w="0" h="2231390">
                  <a:moveTo>
                    <a:pt x="0" y="0"/>
                  </a:moveTo>
                  <a:lnTo>
                    <a:pt x="0" y="2231135"/>
                  </a:lnTo>
                </a:path>
              </a:pathLst>
            </a:custGeom>
            <a:ln w="7620">
              <a:solidFill>
                <a:srgbClr val="954F72"/>
              </a:solidFill>
              <a:prstDash val="sys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4020311" y="2063495"/>
              <a:ext cx="7620" cy="9525"/>
            </a:xfrm>
            <a:custGeom>
              <a:avLst/>
              <a:gdLst/>
              <a:ahLst/>
              <a:cxnLst/>
              <a:rect l="l" t="t" r="r" b="b"/>
              <a:pathLst>
                <a:path w="7620" h="9525">
                  <a:moveTo>
                    <a:pt x="7620" y="9144"/>
                  </a:moveTo>
                  <a:lnTo>
                    <a:pt x="0" y="9144"/>
                  </a:lnTo>
                  <a:lnTo>
                    <a:pt x="0" y="0"/>
                  </a:lnTo>
                  <a:lnTo>
                    <a:pt x="7620" y="0"/>
                  </a:lnTo>
                  <a:lnTo>
                    <a:pt x="7620" y="9144"/>
                  </a:lnTo>
                  <a:close/>
                </a:path>
              </a:pathLst>
            </a:custGeom>
            <a:solidFill>
              <a:srgbClr val="954F72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11" name="object 11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429512" y="3430523"/>
            <a:ext cx="2083307" cy="3218688"/>
          </a:xfrm>
          <a:prstGeom prst="rect">
            <a:avLst/>
          </a:prstGeom>
        </p:spPr>
      </p:pic>
      <p:sp>
        <p:nvSpPr>
          <p:cNvPr id="12" name="object 12" descr=""/>
          <p:cNvSpPr txBox="1"/>
          <p:nvPr/>
        </p:nvSpPr>
        <p:spPr>
          <a:xfrm>
            <a:off x="1509806" y="1667428"/>
            <a:ext cx="2307590" cy="2566670"/>
          </a:xfrm>
          <a:prstGeom prst="rect">
            <a:avLst/>
          </a:prstGeom>
        </p:spPr>
        <p:txBody>
          <a:bodyPr wrap="square" lIns="0" tIns="180340" rIns="0" bIns="0" rtlCol="0" vert="horz">
            <a:spAutoFit/>
          </a:bodyPr>
          <a:lstStyle/>
          <a:p>
            <a:pPr marL="641985">
              <a:lnSpc>
                <a:spcPct val="100000"/>
              </a:lnSpc>
              <a:spcBef>
                <a:spcPts val="1420"/>
              </a:spcBef>
            </a:pPr>
            <a:r>
              <a:rPr dirty="0" sz="1950" spc="-10">
                <a:solidFill>
                  <a:srgbClr val="00CC00"/>
                </a:solidFill>
                <a:latin typeface="Arial MT"/>
                <a:cs typeface="Arial MT"/>
              </a:rPr>
              <a:t>Example</a:t>
            </a:r>
            <a:endParaRPr sz="1950">
              <a:latin typeface="Arial MT"/>
              <a:cs typeface="Arial MT"/>
            </a:endParaRPr>
          </a:p>
          <a:p>
            <a:pPr marL="12700" marR="5080">
              <a:lnSpc>
                <a:spcPct val="100000"/>
              </a:lnSpc>
              <a:spcBef>
                <a:spcPts val="1090"/>
              </a:spcBef>
            </a:pPr>
            <a:r>
              <a:rPr dirty="0" sz="1650">
                <a:latin typeface="Times New Roman"/>
                <a:cs typeface="Times New Roman"/>
              </a:rPr>
              <a:t>Create</a:t>
            </a:r>
            <a:r>
              <a:rPr dirty="0" sz="1650" spc="-40">
                <a:latin typeface="Times New Roman"/>
                <a:cs typeface="Times New Roman"/>
              </a:rPr>
              <a:t> </a:t>
            </a:r>
            <a:r>
              <a:rPr dirty="0" sz="1650">
                <a:latin typeface="Times New Roman"/>
                <a:cs typeface="Times New Roman"/>
              </a:rPr>
              <a:t>a</a:t>
            </a:r>
            <a:r>
              <a:rPr dirty="0" sz="1650" spc="-35">
                <a:latin typeface="Times New Roman"/>
                <a:cs typeface="Times New Roman"/>
              </a:rPr>
              <a:t> </a:t>
            </a:r>
            <a:r>
              <a:rPr dirty="0" sz="1650">
                <a:latin typeface="Times New Roman"/>
                <a:cs typeface="Times New Roman"/>
              </a:rPr>
              <a:t>level</a:t>
            </a:r>
            <a:r>
              <a:rPr dirty="0" sz="1650" spc="-45">
                <a:latin typeface="Times New Roman"/>
                <a:cs typeface="Times New Roman"/>
              </a:rPr>
              <a:t> </a:t>
            </a:r>
            <a:r>
              <a:rPr dirty="0" sz="1650" spc="-50">
                <a:latin typeface="Times New Roman"/>
                <a:cs typeface="Times New Roman"/>
              </a:rPr>
              <a:t>1 </a:t>
            </a:r>
            <a:r>
              <a:rPr dirty="0" sz="1650">
                <a:latin typeface="Times New Roman"/>
                <a:cs typeface="Times New Roman"/>
              </a:rPr>
              <a:t>decomposing</a:t>
            </a:r>
            <a:r>
              <a:rPr dirty="0" sz="1650" spc="-60">
                <a:latin typeface="Times New Roman"/>
                <a:cs typeface="Times New Roman"/>
              </a:rPr>
              <a:t> </a:t>
            </a:r>
            <a:r>
              <a:rPr dirty="0" sz="1650">
                <a:latin typeface="Times New Roman"/>
                <a:cs typeface="Times New Roman"/>
              </a:rPr>
              <a:t>the</a:t>
            </a:r>
            <a:r>
              <a:rPr dirty="0" sz="1650" spc="-40">
                <a:latin typeface="Times New Roman"/>
                <a:cs typeface="Times New Roman"/>
              </a:rPr>
              <a:t> </a:t>
            </a:r>
            <a:r>
              <a:rPr dirty="0" sz="1650" spc="-10">
                <a:latin typeface="Times New Roman"/>
                <a:cs typeface="Times New Roman"/>
              </a:rPr>
              <a:t>processes </a:t>
            </a:r>
            <a:r>
              <a:rPr dirty="0" sz="1650">
                <a:latin typeface="Times New Roman"/>
                <a:cs typeface="Times New Roman"/>
              </a:rPr>
              <a:t>in</a:t>
            </a:r>
            <a:r>
              <a:rPr dirty="0" sz="1650" spc="-40">
                <a:latin typeface="Times New Roman"/>
                <a:cs typeface="Times New Roman"/>
              </a:rPr>
              <a:t> </a:t>
            </a:r>
            <a:r>
              <a:rPr dirty="0" sz="1650">
                <a:latin typeface="Times New Roman"/>
                <a:cs typeface="Times New Roman"/>
              </a:rPr>
              <a:t>level</a:t>
            </a:r>
            <a:r>
              <a:rPr dirty="0" sz="1650" spc="-30">
                <a:latin typeface="Times New Roman"/>
                <a:cs typeface="Times New Roman"/>
              </a:rPr>
              <a:t> </a:t>
            </a:r>
            <a:r>
              <a:rPr dirty="0" sz="1650">
                <a:latin typeface="Times New Roman"/>
                <a:cs typeface="Times New Roman"/>
              </a:rPr>
              <a:t>0</a:t>
            </a:r>
            <a:r>
              <a:rPr dirty="0" sz="1650" spc="-15">
                <a:latin typeface="Times New Roman"/>
                <a:cs typeface="Times New Roman"/>
              </a:rPr>
              <a:t> </a:t>
            </a:r>
            <a:r>
              <a:rPr dirty="0" sz="1650">
                <a:latin typeface="Times New Roman"/>
                <a:cs typeface="Times New Roman"/>
              </a:rPr>
              <a:t>and</a:t>
            </a:r>
            <a:r>
              <a:rPr dirty="0" sz="1650" spc="-20">
                <a:latin typeface="Times New Roman"/>
                <a:cs typeface="Times New Roman"/>
              </a:rPr>
              <a:t> </a:t>
            </a:r>
            <a:r>
              <a:rPr dirty="0" sz="1650" spc="-10">
                <a:latin typeface="Times New Roman"/>
                <a:cs typeface="Times New Roman"/>
              </a:rPr>
              <a:t>identifying </a:t>
            </a:r>
            <a:r>
              <a:rPr dirty="0" sz="1650">
                <a:latin typeface="Times New Roman"/>
                <a:cs typeface="Times New Roman"/>
              </a:rPr>
              <a:t>data</a:t>
            </a:r>
            <a:r>
              <a:rPr dirty="0" sz="1650" spc="-35">
                <a:latin typeface="Times New Roman"/>
                <a:cs typeface="Times New Roman"/>
              </a:rPr>
              <a:t> </a:t>
            </a:r>
            <a:r>
              <a:rPr dirty="0" sz="1650" spc="-10">
                <a:latin typeface="Times New Roman"/>
                <a:cs typeface="Times New Roman"/>
              </a:rPr>
              <a:t>stores.</a:t>
            </a:r>
            <a:endParaRPr sz="1650">
              <a:latin typeface="Times New Roman"/>
              <a:cs typeface="Times New Roman"/>
            </a:endParaRPr>
          </a:p>
          <a:p>
            <a:pPr marL="12700" marR="758190">
              <a:lnSpc>
                <a:spcPct val="100000"/>
              </a:lnSpc>
              <a:spcBef>
                <a:spcPts val="1395"/>
              </a:spcBef>
            </a:pPr>
            <a:r>
              <a:rPr dirty="0" sz="1650">
                <a:solidFill>
                  <a:srgbClr val="339933"/>
                </a:solidFill>
                <a:latin typeface="Arial MT"/>
                <a:cs typeface="Arial MT"/>
              </a:rPr>
              <a:t>Customer</a:t>
            </a:r>
            <a:r>
              <a:rPr dirty="0" sz="1650" spc="-50">
                <a:solidFill>
                  <a:srgbClr val="339933"/>
                </a:solidFill>
                <a:latin typeface="Arial MT"/>
                <a:cs typeface="Arial MT"/>
              </a:rPr>
              <a:t> </a:t>
            </a:r>
            <a:r>
              <a:rPr dirty="0" sz="1650" spc="-20">
                <a:solidFill>
                  <a:srgbClr val="339933"/>
                </a:solidFill>
                <a:latin typeface="Arial MT"/>
                <a:cs typeface="Arial MT"/>
              </a:rPr>
              <a:t>Order </a:t>
            </a:r>
            <a:r>
              <a:rPr dirty="0" sz="1650">
                <a:solidFill>
                  <a:srgbClr val="339933"/>
                </a:solidFill>
                <a:latin typeface="Arial MT"/>
                <a:cs typeface="Arial MT"/>
              </a:rPr>
              <a:t>Serve</a:t>
            </a:r>
            <a:r>
              <a:rPr dirty="0" sz="1650" spc="-25">
                <a:solidFill>
                  <a:srgbClr val="339933"/>
                </a:solidFill>
                <a:latin typeface="Arial MT"/>
                <a:cs typeface="Arial MT"/>
              </a:rPr>
              <a:t> </a:t>
            </a:r>
            <a:r>
              <a:rPr dirty="0" sz="1650" spc="-10">
                <a:solidFill>
                  <a:srgbClr val="339933"/>
                </a:solidFill>
                <a:latin typeface="Arial MT"/>
                <a:cs typeface="Arial MT"/>
              </a:rPr>
              <a:t>Product </a:t>
            </a:r>
            <a:r>
              <a:rPr dirty="0" sz="1650">
                <a:solidFill>
                  <a:srgbClr val="339933"/>
                </a:solidFill>
                <a:latin typeface="Arial MT"/>
                <a:cs typeface="Arial MT"/>
              </a:rPr>
              <a:t>Collect</a:t>
            </a:r>
            <a:r>
              <a:rPr dirty="0" sz="1650" spc="-15">
                <a:solidFill>
                  <a:srgbClr val="339933"/>
                </a:solidFill>
                <a:latin typeface="Arial MT"/>
                <a:cs typeface="Arial MT"/>
              </a:rPr>
              <a:t> </a:t>
            </a:r>
            <a:r>
              <a:rPr dirty="0" sz="1650" spc="-10">
                <a:solidFill>
                  <a:srgbClr val="339933"/>
                </a:solidFill>
                <a:latin typeface="Arial MT"/>
                <a:cs typeface="Arial MT"/>
              </a:rPr>
              <a:t>Payment</a:t>
            </a:r>
            <a:endParaRPr sz="1650">
              <a:latin typeface="Arial MT"/>
              <a:cs typeface="Arial MT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4150831" y="1957850"/>
            <a:ext cx="3143250" cy="27813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391160" algn="l"/>
              </a:tabLst>
            </a:pPr>
            <a:r>
              <a:rPr dirty="0" sz="1650" spc="-25">
                <a:latin typeface="Arial MT"/>
                <a:cs typeface="Arial MT"/>
              </a:rPr>
              <a:t>4.</a:t>
            </a:r>
            <a:r>
              <a:rPr dirty="0" sz="1650">
                <a:latin typeface="Arial MT"/>
                <a:cs typeface="Arial MT"/>
              </a:rPr>
              <a:t>	Construct</a:t>
            </a:r>
            <a:r>
              <a:rPr dirty="0" sz="1650" spc="-50">
                <a:latin typeface="Arial MT"/>
                <a:cs typeface="Arial MT"/>
              </a:rPr>
              <a:t> </a:t>
            </a:r>
            <a:r>
              <a:rPr dirty="0" sz="1650">
                <a:latin typeface="Arial MT"/>
                <a:cs typeface="Arial MT"/>
              </a:rPr>
              <a:t>Level</a:t>
            </a:r>
            <a:r>
              <a:rPr dirty="0" sz="1650" spc="-35">
                <a:latin typeface="Arial MT"/>
                <a:cs typeface="Arial MT"/>
              </a:rPr>
              <a:t> </a:t>
            </a:r>
            <a:r>
              <a:rPr dirty="0" sz="1650">
                <a:latin typeface="Arial MT"/>
                <a:cs typeface="Arial MT"/>
              </a:rPr>
              <a:t>1</a:t>
            </a:r>
            <a:r>
              <a:rPr dirty="0" sz="1650" spc="-10">
                <a:latin typeface="Arial MT"/>
                <a:cs typeface="Arial MT"/>
              </a:rPr>
              <a:t> (continued)</a:t>
            </a:r>
            <a:endParaRPr sz="1650">
              <a:latin typeface="Arial MT"/>
              <a:cs typeface="Arial MT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1509806" y="4458701"/>
            <a:ext cx="1590040" cy="5295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dirty="0" sz="1650">
                <a:solidFill>
                  <a:srgbClr val="339933"/>
                </a:solidFill>
                <a:latin typeface="Arial MT"/>
                <a:cs typeface="Arial MT"/>
              </a:rPr>
              <a:t>Produce</a:t>
            </a:r>
            <a:r>
              <a:rPr dirty="0" sz="1650" spc="-30">
                <a:solidFill>
                  <a:srgbClr val="339933"/>
                </a:solidFill>
                <a:latin typeface="Arial MT"/>
                <a:cs typeface="Arial MT"/>
              </a:rPr>
              <a:t> </a:t>
            </a:r>
            <a:r>
              <a:rPr dirty="0" sz="1650" spc="-10">
                <a:solidFill>
                  <a:srgbClr val="339933"/>
                </a:solidFill>
                <a:latin typeface="Arial MT"/>
                <a:cs typeface="Arial MT"/>
              </a:rPr>
              <a:t>Product </a:t>
            </a:r>
            <a:r>
              <a:rPr dirty="0" sz="1650">
                <a:solidFill>
                  <a:srgbClr val="339933"/>
                </a:solidFill>
                <a:latin typeface="Arial MT"/>
                <a:cs typeface="Arial MT"/>
              </a:rPr>
              <a:t>Store</a:t>
            </a:r>
            <a:r>
              <a:rPr dirty="0" sz="1650" spc="-40">
                <a:solidFill>
                  <a:srgbClr val="339933"/>
                </a:solidFill>
                <a:latin typeface="Arial MT"/>
                <a:cs typeface="Arial MT"/>
              </a:rPr>
              <a:t> </a:t>
            </a:r>
            <a:r>
              <a:rPr dirty="0" sz="1650" spc="-10">
                <a:solidFill>
                  <a:srgbClr val="339933"/>
                </a:solidFill>
                <a:latin typeface="Arial MT"/>
                <a:cs typeface="Arial MT"/>
              </a:rPr>
              <a:t>Product</a:t>
            </a:r>
            <a:endParaRPr sz="1650">
              <a:latin typeface="Arial MT"/>
              <a:cs typeface="Arial MT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1509806" y="5213074"/>
            <a:ext cx="2193290" cy="5295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dirty="0" sz="1650" b="1">
                <a:latin typeface="Arial"/>
                <a:cs typeface="Arial"/>
              </a:rPr>
              <a:t>Order</a:t>
            </a:r>
            <a:r>
              <a:rPr dirty="0" sz="1650" spc="-30" b="1">
                <a:latin typeface="Arial"/>
                <a:cs typeface="Arial"/>
              </a:rPr>
              <a:t> </a:t>
            </a:r>
            <a:r>
              <a:rPr dirty="0" sz="1650" b="1">
                <a:latin typeface="Arial"/>
                <a:cs typeface="Arial"/>
              </a:rPr>
              <a:t>Raw</a:t>
            </a:r>
            <a:r>
              <a:rPr dirty="0" sz="1650" spc="-45" b="1">
                <a:latin typeface="Arial"/>
                <a:cs typeface="Arial"/>
              </a:rPr>
              <a:t> </a:t>
            </a:r>
            <a:r>
              <a:rPr dirty="0" sz="1650" spc="-10" b="1">
                <a:latin typeface="Arial"/>
                <a:cs typeface="Arial"/>
              </a:rPr>
              <a:t>Materials </a:t>
            </a:r>
            <a:r>
              <a:rPr dirty="0" sz="1650" b="1">
                <a:latin typeface="Arial"/>
                <a:cs typeface="Arial"/>
              </a:rPr>
              <a:t>Pay</a:t>
            </a:r>
            <a:r>
              <a:rPr dirty="0" sz="1650" spc="-15" b="1">
                <a:latin typeface="Arial"/>
                <a:cs typeface="Arial"/>
              </a:rPr>
              <a:t> </a:t>
            </a:r>
            <a:r>
              <a:rPr dirty="0" sz="1650" b="1">
                <a:latin typeface="Arial"/>
                <a:cs typeface="Arial"/>
              </a:rPr>
              <a:t>for</a:t>
            </a:r>
            <a:r>
              <a:rPr dirty="0" sz="1650" spc="-20" b="1">
                <a:latin typeface="Arial"/>
                <a:cs typeface="Arial"/>
              </a:rPr>
              <a:t> </a:t>
            </a:r>
            <a:r>
              <a:rPr dirty="0" sz="1650" b="1">
                <a:latin typeface="Arial"/>
                <a:cs typeface="Arial"/>
              </a:rPr>
              <a:t>Raw</a:t>
            </a:r>
            <a:r>
              <a:rPr dirty="0" sz="1650" spc="-35" b="1">
                <a:latin typeface="Arial"/>
                <a:cs typeface="Arial"/>
              </a:rPr>
              <a:t> </a:t>
            </a:r>
            <a:r>
              <a:rPr dirty="0" sz="1650" spc="-10" b="1">
                <a:latin typeface="Arial"/>
                <a:cs typeface="Arial"/>
              </a:rPr>
              <a:t>Materials</a:t>
            </a:r>
            <a:endParaRPr sz="1650">
              <a:latin typeface="Arial"/>
              <a:cs typeface="Arial"/>
            </a:endParaRPr>
          </a:p>
        </p:txBody>
      </p:sp>
      <p:sp>
        <p:nvSpPr>
          <p:cNvPr id="16" name="object 16" descr=""/>
          <p:cNvSpPr txBox="1"/>
          <p:nvPr/>
        </p:nvSpPr>
        <p:spPr>
          <a:xfrm>
            <a:off x="1509806" y="5967448"/>
            <a:ext cx="1285875" cy="27813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650">
                <a:solidFill>
                  <a:srgbClr val="339933"/>
                </a:solidFill>
                <a:latin typeface="Arial MT"/>
                <a:cs typeface="Arial MT"/>
              </a:rPr>
              <a:t>Pay</a:t>
            </a:r>
            <a:r>
              <a:rPr dirty="0" sz="1650" spc="-20">
                <a:solidFill>
                  <a:srgbClr val="339933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339933"/>
                </a:solidFill>
                <a:latin typeface="Arial MT"/>
                <a:cs typeface="Arial MT"/>
              </a:rPr>
              <a:t>for</a:t>
            </a:r>
            <a:r>
              <a:rPr dirty="0" sz="1650" spc="-25">
                <a:solidFill>
                  <a:srgbClr val="339933"/>
                </a:solidFill>
                <a:latin typeface="Arial MT"/>
                <a:cs typeface="Arial MT"/>
              </a:rPr>
              <a:t> </a:t>
            </a:r>
            <a:r>
              <a:rPr dirty="0" sz="1650" spc="-20">
                <a:solidFill>
                  <a:srgbClr val="339933"/>
                </a:solidFill>
                <a:latin typeface="Arial MT"/>
                <a:cs typeface="Arial MT"/>
              </a:rPr>
              <a:t>Labor</a:t>
            </a:r>
            <a:endParaRPr sz="1650">
              <a:latin typeface="Arial MT"/>
              <a:cs typeface="Arial MT"/>
            </a:endParaRPr>
          </a:p>
        </p:txBody>
      </p:sp>
      <p:sp>
        <p:nvSpPr>
          <p:cNvPr id="17" name="object 17" descr=""/>
          <p:cNvSpPr txBox="1"/>
          <p:nvPr/>
        </p:nvSpPr>
        <p:spPr>
          <a:xfrm>
            <a:off x="5174979" y="3129747"/>
            <a:ext cx="464184" cy="6299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ctr">
              <a:lnSpc>
                <a:spcPts val="1195"/>
              </a:lnSpc>
              <a:spcBef>
                <a:spcPts val="95"/>
              </a:spcBef>
            </a:pPr>
            <a:r>
              <a:rPr dirty="0" u="sng" sz="1000" spc="-25">
                <a:uFill>
                  <a:solidFill>
                    <a:srgbClr val="000000"/>
                  </a:solidFill>
                </a:uFill>
                <a:latin typeface="Microsoft Sans Serif"/>
                <a:cs typeface="Microsoft Sans Serif"/>
              </a:rPr>
              <a:t>3.1</a:t>
            </a:r>
            <a:endParaRPr sz="1000">
              <a:latin typeface="Microsoft Sans Serif"/>
              <a:cs typeface="Microsoft Sans Serif"/>
            </a:endParaRPr>
          </a:p>
          <a:p>
            <a:pPr algn="ctr" marL="12700" marR="5080" indent="-635">
              <a:lnSpc>
                <a:spcPts val="1190"/>
              </a:lnSpc>
              <a:spcBef>
                <a:spcPts val="40"/>
              </a:spcBef>
            </a:pPr>
            <a:r>
              <a:rPr dirty="0" sz="1000" spc="-50">
                <a:latin typeface="Microsoft Sans Serif"/>
                <a:cs typeface="Microsoft Sans Serif"/>
              </a:rPr>
              <a:t>Produce </a:t>
            </a:r>
            <a:r>
              <a:rPr dirty="0" sz="1000" spc="-105">
                <a:latin typeface="Microsoft Sans Serif"/>
                <a:cs typeface="Microsoft Sans Serif"/>
              </a:rPr>
              <a:t>Purchase</a:t>
            </a:r>
            <a:r>
              <a:rPr dirty="0" sz="1000" spc="-10">
                <a:latin typeface="Microsoft Sans Serif"/>
                <a:cs typeface="Microsoft Sans Serif"/>
              </a:rPr>
              <a:t> Order</a:t>
            </a:r>
            <a:endParaRPr sz="1000">
              <a:latin typeface="Microsoft Sans Serif"/>
              <a:cs typeface="Microsoft Sans Serif"/>
            </a:endParaRPr>
          </a:p>
        </p:txBody>
      </p:sp>
      <p:sp>
        <p:nvSpPr>
          <p:cNvPr id="18" name="object 18" descr=""/>
          <p:cNvSpPr/>
          <p:nvPr/>
        </p:nvSpPr>
        <p:spPr>
          <a:xfrm>
            <a:off x="4582667" y="4337303"/>
            <a:ext cx="439420" cy="355600"/>
          </a:xfrm>
          <a:custGeom>
            <a:avLst/>
            <a:gdLst/>
            <a:ahLst/>
            <a:cxnLst/>
            <a:rect l="l" t="t" r="r" b="b"/>
            <a:pathLst>
              <a:path w="439420" h="355600">
                <a:moveTo>
                  <a:pt x="415798" y="310759"/>
                </a:moveTo>
                <a:lnTo>
                  <a:pt x="397763" y="309372"/>
                </a:lnTo>
                <a:lnTo>
                  <a:pt x="358139" y="303276"/>
                </a:lnTo>
                <a:lnTo>
                  <a:pt x="336804" y="300228"/>
                </a:lnTo>
                <a:lnTo>
                  <a:pt x="298704" y="291084"/>
                </a:lnTo>
                <a:lnTo>
                  <a:pt x="259080" y="277367"/>
                </a:lnTo>
                <a:lnTo>
                  <a:pt x="204216" y="254507"/>
                </a:lnTo>
                <a:lnTo>
                  <a:pt x="170688" y="234696"/>
                </a:lnTo>
                <a:lnTo>
                  <a:pt x="153924" y="225552"/>
                </a:lnTo>
                <a:lnTo>
                  <a:pt x="108204" y="192024"/>
                </a:lnTo>
                <a:lnTo>
                  <a:pt x="70104" y="155448"/>
                </a:lnTo>
                <a:lnTo>
                  <a:pt x="59436" y="141732"/>
                </a:lnTo>
                <a:lnTo>
                  <a:pt x="48768" y="129540"/>
                </a:lnTo>
                <a:lnTo>
                  <a:pt x="38100" y="115824"/>
                </a:lnTo>
                <a:lnTo>
                  <a:pt x="22860" y="88392"/>
                </a:lnTo>
                <a:lnTo>
                  <a:pt x="16764" y="73152"/>
                </a:lnTo>
                <a:lnTo>
                  <a:pt x="10668" y="59436"/>
                </a:lnTo>
                <a:lnTo>
                  <a:pt x="6096" y="44196"/>
                </a:lnTo>
                <a:lnTo>
                  <a:pt x="3048" y="30480"/>
                </a:lnTo>
                <a:lnTo>
                  <a:pt x="1524" y="15240"/>
                </a:lnTo>
                <a:lnTo>
                  <a:pt x="0" y="1524"/>
                </a:lnTo>
                <a:lnTo>
                  <a:pt x="13716" y="0"/>
                </a:lnTo>
                <a:lnTo>
                  <a:pt x="13716" y="13716"/>
                </a:lnTo>
                <a:lnTo>
                  <a:pt x="22860" y="54864"/>
                </a:lnTo>
                <a:lnTo>
                  <a:pt x="41148" y="96012"/>
                </a:lnTo>
                <a:lnTo>
                  <a:pt x="50292" y="108204"/>
                </a:lnTo>
                <a:lnTo>
                  <a:pt x="59436" y="121920"/>
                </a:lnTo>
                <a:lnTo>
                  <a:pt x="103632" y="170688"/>
                </a:lnTo>
                <a:lnTo>
                  <a:pt x="161543" y="214884"/>
                </a:lnTo>
                <a:lnTo>
                  <a:pt x="210312" y="242316"/>
                </a:lnTo>
                <a:lnTo>
                  <a:pt x="245364" y="259080"/>
                </a:lnTo>
                <a:lnTo>
                  <a:pt x="263652" y="265176"/>
                </a:lnTo>
                <a:lnTo>
                  <a:pt x="283464" y="272796"/>
                </a:lnTo>
                <a:lnTo>
                  <a:pt x="301752" y="277367"/>
                </a:lnTo>
                <a:lnTo>
                  <a:pt x="321563" y="283464"/>
                </a:lnTo>
                <a:lnTo>
                  <a:pt x="339852" y="288036"/>
                </a:lnTo>
                <a:lnTo>
                  <a:pt x="379476" y="294131"/>
                </a:lnTo>
                <a:lnTo>
                  <a:pt x="416698" y="296995"/>
                </a:lnTo>
                <a:lnTo>
                  <a:pt x="418575" y="301903"/>
                </a:lnTo>
                <a:lnTo>
                  <a:pt x="418253" y="304800"/>
                </a:lnTo>
                <a:lnTo>
                  <a:pt x="418194" y="305328"/>
                </a:lnTo>
                <a:lnTo>
                  <a:pt x="415798" y="310759"/>
                </a:lnTo>
                <a:close/>
              </a:path>
              <a:path w="439420" h="355600">
                <a:moveTo>
                  <a:pt x="433739" y="310896"/>
                </a:moveTo>
                <a:lnTo>
                  <a:pt x="417576" y="310896"/>
                </a:lnTo>
                <a:lnTo>
                  <a:pt x="418194" y="305328"/>
                </a:lnTo>
                <a:lnTo>
                  <a:pt x="419100" y="303276"/>
                </a:lnTo>
                <a:lnTo>
                  <a:pt x="418575" y="301903"/>
                </a:lnTo>
                <a:lnTo>
                  <a:pt x="419100" y="297180"/>
                </a:lnTo>
                <a:lnTo>
                  <a:pt x="416698" y="296995"/>
                </a:lnTo>
                <a:lnTo>
                  <a:pt x="399287" y="251460"/>
                </a:lnTo>
                <a:lnTo>
                  <a:pt x="438912" y="304800"/>
                </a:lnTo>
                <a:lnTo>
                  <a:pt x="433855" y="310759"/>
                </a:lnTo>
                <a:lnTo>
                  <a:pt x="433739" y="310896"/>
                </a:lnTo>
                <a:close/>
              </a:path>
              <a:path w="439420" h="355600">
                <a:moveTo>
                  <a:pt x="418575" y="301903"/>
                </a:moveTo>
                <a:lnTo>
                  <a:pt x="416769" y="297180"/>
                </a:lnTo>
                <a:lnTo>
                  <a:pt x="416698" y="296995"/>
                </a:lnTo>
                <a:lnTo>
                  <a:pt x="419100" y="297180"/>
                </a:lnTo>
                <a:lnTo>
                  <a:pt x="418575" y="301903"/>
                </a:lnTo>
                <a:close/>
              </a:path>
              <a:path w="439420" h="355600">
                <a:moveTo>
                  <a:pt x="417576" y="310896"/>
                </a:moveTo>
                <a:lnTo>
                  <a:pt x="415798" y="310759"/>
                </a:lnTo>
                <a:lnTo>
                  <a:pt x="418194" y="305328"/>
                </a:lnTo>
                <a:lnTo>
                  <a:pt x="417591" y="310759"/>
                </a:lnTo>
                <a:lnTo>
                  <a:pt x="417576" y="310896"/>
                </a:lnTo>
                <a:close/>
              </a:path>
              <a:path w="439420" h="355600">
                <a:moveTo>
                  <a:pt x="396239" y="355092"/>
                </a:moveTo>
                <a:lnTo>
                  <a:pt x="415738" y="310896"/>
                </a:lnTo>
                <a:lnTo>
                  <a:pt x="415798" y="310759"/>
                </a:lnTo>
                <a:lnTo>
                  <a:pt x="417576" y="310896"/>
                </a:lnTo>
                <a:lnTo>
                  <a:pt x="433739" y="310896"/>
                </a:lnTo>
                <a:lnTo>
                  <a:pt x="396239" y="35509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 descr=""/>
          <p:cNvSpPr txBox="1"/>
          <p:nvPr/>
        </p:nvSpPr>
        <p:spPr>
          <a:xfrm>
            <a:off x="4268192" y="2889019"/>
            <a:ext cx="825500" cy="2012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50" spc="-120">
                <a:latin typeface="Microsoft Sans Serif"/>
                <a:cs typeface="Microsoft Sans Serif"/>
              </a:rPr>
              <a:t>Order</a:t>
            </a:r>
            <a:r>
              <a:rPr dirty="0" sz="1150">
                <a:latin typeface="Microsoft Sans Serif"/>
                <a:cs typeface="Microsoft Sans Serif"/>
              </a:rPr>
              <a:t> </a:t>
            </a:r>
            <a:r>
              <a:rPr dirty="0" sz="1150" spc="-95">
                <a:latin typeface="Microsoft Sans Serif"/>
                <a:cs typeface="Microsoft Sans Serif"/>
              </a:rPr>
              <a:t>Decision</a:t>
            </a:r>
            <a:endParaRPr sz="1150">
              <a:latin typeface="Microsoft Sans Serif"/>
              <a:cs typeface="Microsoft Sans Serif"/>
            </a:endParaRPr>
          </a:p>
        </p:txBody>
      </p:sp>
      <p:pic>
        <p:nvPicPr>
          <p:cNvPr id="20" name="object 20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475476" y="3008361"/>
            <a:ext cx="811677" cy="309401"/>
          </a:xfrm>
          <a:prstGeom prst="rect">
            <a:avLst/>
          </a:prstGeom>
        </p:spPr>
      </p:pic>
      <p:sp>
        <p:nvSpPr>
          <p:cNvPr id="21" name="object 21" descr=""/>
          <p:cNvSpPr txBox="1"/>
          <p:nvPr/>
        </p:nvSpPr>
        <p:spPr>
          <a:xfrm>
            <a:off x="5671765" y="2521655"/>
            <a:ext cx="1513840" cy="80391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950">
                <a:solidFill>
                  <a:srgbClr val="ED7C31"/>
                </a:solidFill>
                <a:latin typeface="Arial MT"/>
                <a:cs typeface="Arial MT"/>
              </a:rPr>
              <a:t>Level</a:t>
            </a:r>
            <a:r>
              <a:rPr dirty="0" sz="1950" spc="15">
                <a:solidFill>
                  <a:srgbClr val="ED7C31"/>
                </a:solidFill>
                <a:latin typeface="Arial MT"/>
                <a:cs typeface="Arial MT"/>
              </a:rPr>
              <a:t> </a:t>
            </a:r>
            <a:r>
              <a:rPr dirty="0" sz="1950">
                <a:solidFill>
                  <a:srgbClr val="ED7C31"/>
                </a:solidFill>
                <a:latin typeface="Arial MT"/>
                <a:cs typeface="Arial MT"/>
              </a:rPr>
              <a:t>1</a:t>
            </a:r>
            <a:r>
              <a:rPr dirty="0" sz="1950" spc="35">
                <a:solidFill>
                  <a:srgbClr val="ED7C31"/>
                </a:solidFill>
                <a:latin typeface="Arial MT"/>
                <a:cs typeface="Arial MT"/>
              </a:rPr>
              <a:t> </a:t>
            </a:r>
            <a:r>
              <a:rPr dirty="0" sz="1950" spc="-25">
                <a:solidFill>
                  <a:srgbClr val="ED7C31"/>
                </a:solidFill>
                <a:latin typeface="Arial MT"/>
                <a:cs typeface="Arial MT"/>
              </a:rPr>
              <a:t>DFD</a:t>
            </a:r>
            <a:endParaRPr sz="1950">
              <a:latin typeface="Arial MT"/>
              <a:cs typeface="Arial MT"/>
            </a:endParaRPr>
          </a:p>
          <a:p>
            <a:pPr marL="1025525" marR="5080" indent="-99060">
              <a:lnSpc>
                <a:spcPts val="1190"/>
              </a:lnSpc>
              <a:spcBef>
                <a:spcPts val="1415"/>
              </a:spcBef>
            </a:pPr>
            <a:r>
              <a:rPr dirty="0" sz="1000" spc="-140">
                <a:latin typeface="Microsoft Sans Serif"/>
                <a:cs typeface="Microsoft Sans Serif"/>
              </a:rPr>
              <a:t>PURCHASE</a:t>
            </a:r>
            <a:r>
              <a:rPr dirty="0" sz="1000" spc="-10">
                <a:latin typeface="Microsoft Sans Serif"/>
                <a:cs typeface="Microsoft Sans Serif"/>
              </a:rPr>
              <a:t> ORDER</a:t>
            </a:r>
            <a:endParaRPr sz="1000">
              <a:latin typeface="Microsoft Sans Serif"/>
              <a:cs typeface="Microsoft Sans Serif"/>
            </a:endParaRPr>
          </a:p>
        </p:txBody>
      </p:sp>
      <p:grpSp>
        <p:nvGrpSpPr>
          <p:cNvPr id="22" name="object 22" descr=""/>
          <p:cNvGrpSpPr/>
          <p:nvPr/>
        </p:nvGrpSpPr>
        <p:grpSpPr>
          <a:xfrm>
            <a:off x="4674108" y="3101339"/>
            <a:ext cx="1801495" cy="1925320"/>
            <a:chOff x="4674108" y="3101339"/>
            <a:chExt cx="1801495" cy="1925320"/>
          </a:xfrm>
        </p:grpSpPr>
        <p:sp>
          <p:nvSpPr>
            <p:cNvPr id="23" name="object 23" descr=""/>
            <p:cNvSpPr/>
            <p:nvPr/>
          </p:nvSpPr>
          <p:spPr>
            <a:xfrm>
              <a:off x="4674108" y="3101352"/>
              <a:ext cx="1801495" cy="396240"/>
            </a:xfrm>
            <a:custGeom>
              <a:avLst/>
              <a:gdLst/>
              <a:ahLst/>
              <a:cxnLst/>
              <a:rect l="l" t="t" r="r" b="b"/>
              <a:pathLst>
                <a:path w="1801495" h="396239">
                  <a:moveTo>
                    <a:pt x="347472" y="345948"/>
                  </a:moveTo>
                  <a:lnTo>
                    <a:pt x="309372" y="291084"/>
                  </a:lnTo>
                  <a:lnTo>
                    <a:pt x="325450" y="338010"/>
                  </a:lnTo>
                  <a:lnTo>
                    <a:pt x="325564" y="338328"/>
                  </a:lnTo>
                  <a:lnTo>
                    <a:pt x="327139" y="342925"/>
                  </a:lnTo>
                  <a:lnTo>
                    <a:pt x="327660" y="344424"/>
                  </a:lnTo>
                  <a:lnTo>
                    <a:pt x="326771" y="346303"/>
                  </a:lnTo>
                  <a:lnTo>
                    <a:pt x="326809" y="345948"/>
                  </a:lnTo>
                  <a:lnTo>
                    <a:pt x="327139" y="342925"/>
                  </a:lnTo>
                  <a:lnTo>
                    <a:pt x="325450" y="338010"/>
                  </a:lnTo>
                  <a:lnTo>
                    <a:pt x="316992" y="336804"/>
                  </a:lnTo>
                  <a:lnTo>
                    <a:pt x="301752" y="335280"/>
                  </a:lnTo>
                  <a:lnTo>
                    <a:pt x="286512" y="332232"/>
                  </a:lnTo>
                  <a:lnTo>
                    <a:pt x="225552" y="310896"/>
                  </a:lnTo>
                  <a:lnTo>
                    <a:pt x="169164" y="277368"/>
                  </a:lnTo>
                  <a:lnTo>
                    <a:pt x="117348" y="233172"/>
                  </a:lnTo>
                  <a:lnTo>
                    <a:pt x="85344" y="195072"/>
                  </a:lnTo>
                  <a:lnTo>
                    <a:pt x="74676" y="181356"/>
                  </a:lnTo>
                  <a:lnTo>
                    <a:pt x="56388" y="153924"/>
                  </a:lnTo>
                  <a:lnTo>
                    <a:pt x="48768" y="138684"/>
                  </a:lnTo>
                  <a:lnTo>
                    <a:pt x="41148" y="124968"/>
                  </a:lnTo>
                  <a:lnTo>
                    <a:pt x="19812" y="64008"/>
                  </a:lnTo>
                  <a:lnTo>
                    <a:pt x="13716" y="16764"/>
                  </a:lnTo>
                  <a:lnTo>
                    <a:pt x="12192" y="0"/>
                  </a:lnTo>
                  <a:lnTo>
                    <a:pt x="0" y="0"/>
                  </a:lnTo>
                  <a:lnTo>
                    <a:pt x="0" y="16764"/>
                  </a:lnTo>
                  <a:lnTo>
                    <a:pt x="1524" y="33528"/>
                  </a:lnTo>
                  <a:lnTo>
                    <a:pt x="12192" y="82296"/>
                  </a:lnTo>
                  <a:lnTo>
                    <a:pt x="28956" y="129540"/>
                  </a:lnTo>
                  <a:lnTo>
                    <a:pt x="54864" y="175260"/>
                  </a:lnTo>
                  <a:lnTo>
                    <a:pt x="85344" y="216408"/>
                  </a:lnTo>
                  <a:lnTo>
                    <a:pt x="134112" y="265176"/>
                  </a:lnTo>
                  <a:lnTo>
                    <a:pt x="146304" y="277368"/>
                  </a:lnTo>
                  <a:lnTo>
                    <a:pt x="188976" y="306324"/>
                  </a:lnTo>
                  <a:lnTo>
                    <a:pt x="234696" y="329184"/>
                  </a:lnTo>
                  <a:lnTo>
                    <a:pt x="266700" y="339852"/>
                  </a:lnTo>
                  <a:lnTo>
                    <a:pt x="281940" y="344424"/>
                  </a:lnTo>
                  <a:lnTo>
                    <a:pt x="315468" y="350520"/>
                  </a:lnTo>
                  <a:lnTo>
                    <a:pt x="324192" y="351764"/>
                  </a:lnTo>
                  <a:lnTo>
                    <a:pt x="303276" y="396240"/>
                  </a:lnTo>
                  <a:lnTo>
                    <a:pt x="342112" y="352044"/>
                  </a:lnTo>
                  <a:lnTo>
                    <a:pt x="347472" y="345948"/>
                  </a:lnTo>
                  <a:close/>
                </a:path>
                <a:path w="1801495" h="396239">
                  <a:moveTo>
                    <a:pt x="1801368" y="60947"/>
                  </a:moveTo>
                  <a:lnTo>
                    <a:pt x="1783080" y="50850"/>
                  </a:lnTo>
                  <a:lnTo>
                    <a:pt x="1783080" y="70091"/>
                  </a:lnTo>
                  <a:lnTo>
                    <a:pt x="1783080" y="72123"/>
                  </a:lnTo>
                  <a:lnTo>
                    <a:pt x="1781822" y="68795"/>
                  </a:lnTo>
                  <a:lnTo>
                    <a:pt x="1783080" y="70091"/>
                  </a:lnTo>
                  <a:lnTo>
                    <a:pt x="1783080" y="50850"/>
                  </a:lnTo>
                  <a:lnTo>
                    <a:pt x="1743456" y="28943"/>
                  </a:lnTo>
                  <a:lnTo>
                    <a:pt x="1778012" y="64833"/>
                  </a:lnTo>
                  <a:lnTo>
                    <a:pt x="1115568" y="339839"/>
                  </a:lnTo>
                  <a:lnTo>
                    <a:pt x="1120140" y="352031"/>
                  </a:lnTo>
                  <a:lnTo>
                    <a:pt x="1783080" y="76822"/>
                  </a:lnTo>
                  <a:lnTo>
                    <a:pt x="1783080" y="126479"/>
                  </a:lnTo>
                  <a:lnTo>
                    <a:pt x="1800517" y="63995"/>
                  </a:lnTo>
                  <a:lnTo>
                    <a:pt x="1801368" y="6094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 descr=""/>
            <p:cNvSpPr/>
            <p:nvPr/>
          </p:nvSpPr>
          <p:spPr>
            <a:xfrm>
              <a:off x="5029200" y="4264151"/>
              <a:ext cx="754380" cy="754380"/>
            </a:xfrm>
            <a:custGeom>
              <a:avLst/>
              <a:gdLst/>
              <a:ahLst/>
              <a:cxnLst/>
              <a:rect l="l" t="t" r="r" b="b"/>
              <a:pathLst>
                <a:path w="754379" h="754379">
                  <a:moveTo>
                    <a:pt x="0" y="377951"/>
                  </a:moveTo>
                  <a:lnTo>
                    <a:pt x="2943" y="330532"/>
                  </a:lnTo>
                  <a:lnTo>
                    <a:pt x="11539" y="284873"/>
                  </a:lnTo>
                  <a:lnTo>
                    <a:pt x="25434" y="241328"/>
                  </a:lnTo>
                  <a:lnTo>
                    <a:pt x="44272" y="200252"/>
                  </a:lnTo>
                  <a:lnTo>
                    <a:pt x="67702" y="161997"/>
                  </a:lnTo>
                  <a:lnTo>
                    <a:pt x="95368" y="126918"/>
                  </a:lnTo>
                  <a:lnTo>
                    <a:pt x="126918" y="95368"/>
                  </a:lnTo>
                  <a:lnTo>
                    <a:pt x="161997" y="67702"/>
                  </a:lnTo>
                  <a:lnTo>
                    <a:pt x="200252" y="44272"/>
                  </a:lnTo>
                  <a:lnTo>
                    <a:pt x="241328" y="25434"/>
                  </a:lnTo>
                  <a:lnTo>
                    <a:pt x="284873" y="11539"/>
                  </a:lnTo>
                  <a:lnTo>
                    <a:pt x="330532" y="2943"/>
                  </a:lnTo>
                  <a:lnTo>
                    <a:pt x="377952" y="0"/>
                  </a:lnTo>
                  <a:lnTo>
                    <a:pt x="425345" y="2943"/>
                  </a:lnTo>
                  <a:lnTo>
                    <a:pt x="470933" y="11539"/>
                  </a:lnTo>
                  <a:lnTo>
                    <a:pt x="514369" y="25434"/>
                  </a:lnTo>
                  <a:lnTo>
                    <a:pt x="555307" y="44272"/>
                  </a:lnTo>
                  <a:lnTo>
                    <a:pt x="593403" y="67702"/>
                  </a:lnTo>
                  <a:lnTo>
                    <a:pt x="628311" y="95368"/>
                  </a:lnTo>
                  <a:lnTo>
                    <a:pt x="659685" y="126918"/>
                  </a:lnTo>
                  <a:lnTo>
                    <a:pt x="687180" y="161997"/>
                  </a:lnTo>
                  <a:lnTo>
                    <a:pt x="710451" y="200252"/>
                  </a:lnTo>
                  <a:lnTo>
                    <a:pt x="729151" y="241328"/>
                  </a:lnTo>
                  <a:lnTo>
                    <a:pt x="742937" y="284873"/>
                  </a:lnTo>
                  <a:lnTo>
                    <a:pt x="751461" y="330532"/>
                  </a:lnTo>
                  <a:lnTo>
                    <a:pt x="754379" y="377951"/>
                  </a:lnTo>
                  <a:lnTo>
                    <a:pt x="751461" y="425046"/>
                  </a:lnTo>
                  <a:lnTo>
                    <a:pt x="742937" y="470429"/>
                  </a:lnTo>
                  <a:lnTo>
                    <a:pt x="729151" y="513744"/>
                  </a:lnTo>
                  <a:lnTo>
                    <a:pt x="710451" y="554633"/>
                  </a:lnTo>
                  <a:lnTo>
                    <a:pt x="687180" y="592737"/>
                  </a:lnTo>
                  <a:lnTo>
                    <a:pt x="659685" y="627699"/>
                  </a:lnTo>
                  <a:lnTo>
                    <a:pt x="628311" y="659160"/>
                  </a:lnTo>
                  <a:lnTo>
                    <a:pt x="593403" y="686764"/>
                  </a:lnTo>
                  <a:lnTo>
                    <a:pt x="555307" y="710151"/>
                  </a:lnTo>
                  <a:lnTo>
                    <a:pt x="514369" y="728964"/>
                  </a:lnTo>
                  <a:lnTo>
                    <a:pt x="470933" y="742845"/>
                  </a:lnTo>
                  <a:lnTo>
                    <a:pt x="425345" y="751436"/>
                  </a:lnTo>
                  <a:lnTo>
                    <a:pt x="377952" y="754379"/>
                  </a:lnTo>
                  <a:lnTo>
                    <a:pt x="330532" y="751436"/>
                  </a:lnTo>
                  <a:lnTo>
                    <a:pt x="284873" y="742845"/>
                  </a:lnTo>
                  <a:lnTo>
                    <a:pt x="241328" y="728964"/>
                  </a:lnTo>
                  <a:lnTo>
                    <a:pt x="200252" y="710151"/>
                  </a:lnTo>
                  <a:lnTo>
                    <a:pt x="161997" y="686764"/>
                  </a:lnTo>
                  <a:lnTo>
                    <a:pt x="126918" y="659160"/>
                  </a:lnTo>
                  <a:lnTo>
                    <a:pt x="95368" y="627699"/>
                  </a:lnTo>
                  <a:lnTo>
                    <a:pt x="67702" y="592737"/>
                  </a:lnTo>
                  <a:lnTo>
                    <a:pt x="44272" y="554633"/>
                  </a:lnTo>
                  <a:lnTo>
                    <a:pt x="25434" y="513744"/>
                  </a:lnTo>
                  <a:lnTo>
                    <a:pt x="11539" y="470429"/>
                  </a:lnTo>
                  <a:lnTo>
                    <a:pt x="2943" y="425046"/>
                  </a:lnTo>
                  <a:lnTo>
                    <a:pt x="0" y="377951"/>
                  </a:lnTo>
                </a:path>
              </a:pathLst>
            </a:custGeom>
            <a:ln w="1524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5" name="object 25" descr=""/>
          <p:cNvSpPr txBox="1"/>
          <p:nvPr/>
        </p:nvSpPr>
        <p:spPr>
          <a:xfrm>
            <a:off x="5208524" y="4400786"/>
            <a:ext cx="400685" cy="47942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ctr">
              <a:lnSpc>
                <a:spcPts val="1195"/>
              </a:lnSpc>
              <a:spcBef>
                <a:spcPts val="95"/>
              </a:spcBef>
            </a:pPr>
            <a:r>
              <a:rPr dirty="0" u="sng" sz="1000" spc="-25">
                <a:uFill>
                  <a:solidFill>
                    <a:srgbClr val="000000"/>
                  </a:solidFill>
                </a:uFill>
                <a:latin typeface="Microsoft Sans Serif"/>
                <a:cs typeface="Microsoft Sans Serif"/>
              </a:rPr>
              <a:t>3.2</a:t>
            </a:r>
            <a:endParaRPr sz="1000">
              <a:latin typeface="Microsoft Sans Serif"/>
              <a:cs typeface="Microsoft Sans Serif"/>
            </a:endParaRPr>
          </a:p>
          <a:p>
            <a:pPr algn="ctr" marL="12065" marR="5080">
              <a:lnSpc>
                <a:spcPts val="1190"/>
              </a:lnSpc>
              <a:spcBef>
                <a:spcPts val="40"/>
              </a:spcBef>
            </a:pPr>
            <a:r>
              <a:rPr dirty="0" sz="1000" spc="-105">
                <a:latin typeface="Microsoft Sans Serif"/>
                <a:cs typeface="Microsoft Sans Serif"/>
              </a:rPr>
              <a:t>Receive</a:t>
            </a:r>
            <a:r>
              <a:rPr dirty="0" sz="1000" spc="-10">
                <a:latin typeface="Microsoft Sans Serif"/>
                <a:cs typeface="Microsoft Sans Serif"/>
              </a:rPr>
              <a:t> Items</a:t>
            </a:r>
            <a:endParaRPr sz="1000">
              <a:latin typeface="Microsoft Sans Serif"/>
              <a:cs typeface="Microsoft Sans Serif"/>
            </a:endParaRPr>
          </a:p>
        </p:txBody>
      </p:sp>
      <p:grpSp>
        <p:nvGrpSpPr>
          <p:cNvPr id="26" name="object 26" descr=""/>
          <p:cNvGrpSpPr/>
          <p:nvPr/>
        </p:nvGrpSpPr>
        <p:grpSpPr>
          <a:xfrm>
            <a:off x="5672328" y="3756659"/>
            <a:ext cx="1746885" cy="615950"/>
            <a:chOff x="5672328" y="3756659"/>
            <a:chExt cx="1746885" cy="615950"/>
          </a:xfrm>
        </p:grpSpPr>
        <p:sp>
          <p:nvSpPr>
            <p:cNvPr id="27" name="object 27" descr=""/>
            <p:cNvSpPr/>
            <p:nvPr/>
          </p:nvSpPr>
          <p:spPr>
            <a:xfrm>
              <a:off x="5672328" y="4026407"/>
              <a:ext cx="1306195" cy="346075"/>
            </a:xfrm>
            <a:custGeom>
              <a:avLst/>
              <a:gdLst/>
              <a:ahLst/>
              <a:cxnLst/>
              <a:rect l="l" t="t" r="r" b="b"/>
              <a:pathLst>
                <a:path w="1306195" h="346075">
                  <a:moveTo>
                    <a:pt x="1282367" y="40165"/>
                  </a:moveTo>
                  <a:lnTo>
                    <a:pt x="1254252" y="0"/>
                  </a:lnTo>
                  <a:lnTo>
                    <a:pt x="1304148" y="39624"/>
                  </a:lnTo>
                  <a:lnTo>
                    <a:pt x="1284732" y="39624"/>
                  </a:lnTo>
                  <a:lnTo>
                    <a:pt x="1282367" y="40165"/>
                  </a:lnTo>
                  <a:close/>
                </a:path>
                <a:path w="1306195" h="346075">
                  <a:moveTo>
                    <a:pt x="1286007" y="45365"/>
                  </a:moveTo>
                  <a:lnTo>
                    <a:pt x="1282367" y="40165"/>
                  </a:lnTo>
                  <a:lnTo>
                    <a:pt x="1284732" y="39624"/>
                  </a:lnTo>
                  <a:lnTo>
                    <a:pt x="1286007" y="45365"/>
                  </a:lnTo>
                  <a:close/>
                </a:path>
                <a:path w="1306195" h="346075">
                  <a:moveTo>
                    <a:pt x="1277111" y="102108"/>
                  </a:moveTo>
                  <a:lnTo>
                    <a:pt x="1284914" y="53992"/>
                  </a:lnTo>
                  <a:lnTo>
                    <a:pt x="1287780" y="53340"/>
                  </a:lnTo>
                  <a:lnTo>
                    <a:pt x="1286184" y="46160"/>
                  </a:lnTo>
                  <a:lnTo>
                    <a:pt x="1286256" y="45720"/>
                  </a:lnTo>
                  <a:lnTo>
                    <a:pt x="1286007" y="45365"/>
                  </a:lnTo>
                  <a:lnTo>
                    <a:pt x="1284852" y="40165"/>
                  </a:lnTo>
                  <a:lnTo>
                    <a:pt x="1284732" y="39624"/>
                  </a:lnTo>
                  <a:lnTo>
                    <a:pt x="1304148" y="39624"/>
                  </a:lnTo>
                  <a:lnTo>
                    <a:pt x="1306068" y="41148"/>
                  </a:lnTo>
                  <a:lnTo>
                    <a:pt x="1277111" y="102108"/>
                  </a:lnTo>
                  <a:close/>
                </a:path>
                <a:path w="1306195" h="346075">
                  <a:moveTo>
                    <a:pt x="3048" y="345948"/>
                  </a:moveTo>
                  <a:lnTo>
                    <a:pt x="0" y="333756"/>
                  </a:lnTo>
                  <a:lnTo>
                    <a:pt x="1282367" y="40165"/>
                  </a:lnTo>
                  <a:lnTo>
                    <a:pt x="1286007" y="45365"/>
                  </a:lnTo>
                  <a:lnTo>
                    <a:pt x="1286086" y="45720"/>
                  </a:lnTo>
                  <a:lnTo>
                    <a:pt x="1286184" y="46160"/>
                  </a:lnTo>
                  <a:lnTo>
                    <a:pt x="1285020" y="53340"/>
                  </a:lnTo>
                  <a:lnTo>
                    <a:pt x="1284914" y="53992"/>
                  </a:lnTo>
                  <a:lnTo>
                    <a:pt x="3048" y="345948"/>
                  </a:lnTo>
                  <a:close/>
                </a:path>
                <a:path w="1306195" h="346075">
                  <a:moveTo>
                    <a:pt x="1284914" y="53992"/>
                  </a:moveTo>
                  <a:lnTo>
                    <a:pt x="1286184" y="46160"/>
                  </a:lnTo>
                  <a:lnTo>
                    <a:pt x="1287780" y="53340"/>
                  </a:lnTo>
                  <a:lnTo>
                    <a:pt x="1284914" y="5399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8" name="object 28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537960" y="3756659"/>
              <a:ext cx="880871" cy="310895"/>
            </a:xfrm>
            <a:prstGeom prst="rect">
              <a:avLst/>
            </a:prstGeom>
          </p:spPr>
        </p:pic>
      </p:grpSp>
      <p:sp>
        <p:nvSpPr>
          <p:cNvPr id="29" name="object 29" descr=""/>
          <p:cNvSpPr txBox="1"/>
          <p:nvPr/>
        </p:nvSpPr>
        <p:spPr>
          <a:xfrm>
            <a:off x="4327628" y="4047235"/>
            <a:ext cx="525780" cy="37782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85725" marR="5080" indent="-73660">
              <a:lnSpc>
                <a:spcPct val="100899"/>
              </a:lnSpc>
              <a:spcBef>
                <a:spcPts val="90"/>
              </a:spcBef>
            </a:pPr>
            <a:r>
              <a:rPr dirty="0" sz="1150" spc="-120">
                <a:latin typeface="Microsoft Sans Serif"/>
                <a:cs typeface="Microsoft Sans Serif"/>
              </a:rPr>
              <a:t>Received</a:t>
            </a:r>
            <a:r>
              <a:rPr dirty="0" sz="1150" spc="-20">
                <a:latin typeface="Microsoft Sans Serif"/>
                <a:cs typeface="Microsoft Sans Serif"/>
              </a:rPr>
              <a:t> Goods</a:t>
            </a:r>
            <a:endParaRPr sz="1150">
              <a:latin typeface="Microsoft Sans Serif"/>
              <a:cs typeface="Microsoft Sans Serif"/>
            </a:endParaRPr>
          </a:p>
        </p:txBody>
      </p:sp>
      <p:sp>
        <p:nvSpPr>
          <p:cNvPr id="30" name="object 30" descr=""/>
          <p:cNvSpPr txBox="1"/>
          <p:nvPr/>
        </p:nvSpPr>
        <p:spPr>
          <a:xfrm>
            <a:off x="6677600" y="3896335"/>
            <a:ext cx="60579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120">
                <a:latin typeface="Microsoft Sans Serif"/>
                <a:cs typeface="Microsoft Sans Serif"/>
              </a:rPr>
              <a:t>MATERIALS</a:t>
            </a:r>
            <a:endParaRPr sz="1000">
              <a:latin typeface="Microsoft Sans Serif"/>
              <a:cs typeface="Microsoft Sans Serif"/>
            </a:endParaRPr>
          </a:p>
        </p:txBody>
      </p:sp>
      <p:grpSp>
        <p:nvGrpSpPr>
          <p:cNvPr id="31" name="object 31" descr=""/>
          <p:cNvGrpSpPr/>
          <p:nvPr/>
        </p:nvGrpSpPr>
        <p:grpSpPr>
          <a:xfrm>
            <a:off x="5021579" y="3680459"/>
            <a:ext cx="1518285" cy="2478405"/>
            <a:chOff x="5021579" y="3680459"/>
            <a:chExt cx="1518285" cy="2478405"/>
          </a:xfrm>
        </p:grpSpPr>
        <p:sp>
          <p:nvSpPr>
            <p:cNvPr id="32" name="object 32" descr=""/>
            <p:cNvSpPr/>
            <p:nvPr/>
          </p:nvSpPr>
          <p:spPr>
            <a:xfrm>
              <a:off x="5673852" y="3680459"/>
              <a:ext cx="866140" cy="238125"/>
            </a:xfrm>
            <a:custGeom>
              <a:avLst/>
              <a:gdLst/>
              <a:ahLst/>
              <a:cxnLst/>
              <a:rect l="l" t="t" r="r" b="b"/>
              <a:pathLst>
                <a:path w="866140" h="238125">
                  <a:moveTo>
                    <a:pt x="30480" y="102107"/>
                  </a:moveTo>
                  <a:lnTo>
                    <a:pt x="0" y="41148"/>
                  </a:lnTo>
                  <a:lnTo>
                    <a:pt x="53339" y="0"/>
                  </a:lnTo>
                  <a:lnTo>
                    <a:pt x="25603" y="39624"/>
                  </a:lnTo>
                  <a:lnTo>
                    <a:pt x="22860" y="39624"/>
                  </a:lnTo>
                  <a:lnTo>
                    <a:pt x="21584" y="45365"/>
                  </a:lnTo>
                  <a:lnTo>
                    <a:pt x="21335" y="45719"/>
                  </a:lnTo>
                  <a:lnTo>
                    <a:pt x="21407" y="46160"/>
                  </a:lnTo>
                  <a:lnTo>
                    <a:pt x="19812" y="53339"/>
                  </a:lnTo>
                  <a:lnTo>
                    <a:pt x="22672" y="53964"/>
                  </a:lnTo>
                  <a:lnTo>
                    <a:pt x="30480" y="102107"/>
                  </a:lnTo>
                  <a:close/>
                </a:path>
                <a:path w="866140" h="238125">
                  <a:moveTo>
                    <a:pt x="21584" y="45365"/>
                  </a:moveTo>
                  <a:lnTo>
                    <a:pt x="22743" y="40148"/>
                  </a:lnTo>
                  <a:lnTo>
                    <a:pt x="22860" y="39624"/>
                  </a:lnTo>
                  <a:lnTo>
                    <a:pt x="25236" y="40148"/>
                  </a:lnTo>
                  <a:lnTo>
                    <a:pt x="21584" y="45365"/>
                  </a:lnTo>
                  <a:close/>
                </a:path>
                <a:path w="866140" h="238125">
                  <a:moveTo>
                    <a:pt x="25236" y="40148"/>
                  </a:moveTo>
                  <a:lnTo>
                    <a:pt x="22860" y="39624"/>
                  </a:lnTo>
                  <a:lnTo>
                    <a:pt x="25603" y="39624"/>
                  </a:lnTo>
                  <a:lnTo>
                    <a:pt x="25236" y="40148"/>
                  </a:lnTo>
                  <a:close/>
                </a:path>
                <a:path w="866140" h="238125">
                  <a:moveTo>
                    <a:pt x="864108" y="237743"/>
                  </a:moveTo>
                  <a:lnTo>
                    <a:pt x="22672" y="53964"/>
                  </a:lnTo>
                  <a:lnTo>
                    <a:pt x="21407" y="46160"/>
                  </a:lnTo>
                  <a:lnTo>
                    <a:pt x="21505" y="45719"/>
                  </a:lnTo>
                  <a:lnTo>
                    <a:pt x="21584" y="45365"/>
                  </a:lnTo>
                  <a:lnTo>
                    <a:pt x="25236" y="40148"/>
                  </a:lnTo>
                  <a:lnTo>
                    <a:pt x="865632" y="225551"/>
                  </a:lnTo>
                  <a:lnTo>
                    <a:pt x="864108" y="237743"/>
                  </a:lnTo>
                  <a:close/>
                </a:path>
                <a:path w="866140" h="238125">
                  <a:moveTo>
                    <a:pt x="22672" y="53964"/>
                  </a:moveTo>
                  <a:lnTo>
                    <a:pt x="19812" y="53339"/>
                  </a:lnTo>
                  <a:lnTo>
                    <a:pt x="21407" y="46160"/>
                  </a:lnTo>
                  <a:lnTo>
                    <a:pt x="22571" y="53339"/>
                  </a:lnTo>
                  <a:lnTo>
                    <a:pt x="22672" y="5396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3" name="object 33" descr=""/>
            <p:cNvSpPr/>
            <p:nvPr/>
          </p:nvSpPr>
          <p:spPr>
            <a:xfrm>
              <a:off x="5029199" y="5396484"/>
              <a:ext cx="754380" cy="754380"/>
            </a:xfrm>
            <a:custGeom>
              <a:avLst/>
              <a:gdLst/>
              <a:ahLst/>
              <a:cxnLst/>
              <a:rect l="l" t="t" r="r" b="b"/>
              <a:pathLst>
                <a:path w="754379" h="754379">
                  <a:moveTo>
                    <a:pt x="0" y="376427"/>
                  </a:moveTo>
                  <a:lnTo>
                    <a:pt x="2943" y="329333"/>
                  </a:lnTo>
                  <a:lnTo>
                    <a:pt x="11539" y="283950"/>
                  </a:lnTo>
                  <a:lnTo>
                    <a:pt x="25434" y="240635"/>
                  </a:lnTo>
                  <a:lnTo>
                    <a:pt x="44272" y="199746"/>
                  </a:lnTo>
                  <a:lnTo>
                    <a:pt x="67702" y="161642"/>
                  </a:lnTo>
                  <a:lnTo>
                    <a:pt x="95368" y="126680"/>
                  </a:lnTo>
                  <a:lnTo>
                    <a:pt x="126918" y="95219"/>
                  </a:lnTo>
                  <a:lnTo>
                    <a:pt x="161997" y="67615"/>
                  </a:lnTo>
                  <a:lnTo>
                    <a:pt x="200252" y="44228"/>
                  </a:lnTo>
                  <a:lnTo>
                    <a:pt x="241328" y="25415"/>
                  </a:lnTo>
                  <a:lnTo>
                    <a:pt x="284873" y="11534"/>
                  </a:lnTo>
                  <a:lnTo>
                    <a:pt x="330532" y="2943"/>
                  </a:lnTo>
                  <a:lnTo>
                    <a:pt x="377952" y="0"/>
                  </a:lnTo>
                  <a:lnTo>
                    <a:pt x="425345" y="2943"/>
                  </a:lnTo>
                  <a:lnTo>
                    <a:pt x="470933" y="11534"/>
                  </a:lnTo>
                  <a:lnTo>
                    <a:pt x="514369" y="25415"/>
                  </a:lnTo>
                  <a:lnTo>
                    <a:pt x="555307" y="44228"/>
                  </a:lnTo>
                  <a:lnTo>
                    <a:pt x="593403" y="67615"/>
                  </a:lnTo>
                  <a:lnTo>
                    <a:pt x="628311" y="95219"/>
                  </a:lnTo>
                  <a:lnTo>
                    <a:pt x="659685" y="126680"/>
                  </a:lnTo>
                  <a:lnTo>
                    <a:pt x="687180" y="161642"/>
                  </a:lnTo>
                  <a:lnTo>
                    <a:pt x="710451" y="199746"/>
                  </a:lnTo>
                  <a:lnTo>
                    <a:pt x="729151" y="240635"/>
                  </a:lnTo>
                  <a:lnTo>
                    <a:pt x="742937" y="283950"/>
                  </a:lnTo>
                  <a:lnTo>
                    <a:pt x="751461" y="329333"/>
                  </a:lnTo>
                  <a:lnTo>
                    <a:pt x="754379" y="376427"/>
                  </a:lnTo>
                  <a:lnTo>
                    <a:pt x="751461" y="423847"/>
                  </a:lnTo>
                  <a:lnTo>
                    <a:pt x="742937" y="469506"/>
                  </a:lnTo>
                  <a:lnTo>
                    <a:pt x="729151" y="513051"/>
                  </a:lnTo>
                  <a:lnTo>
                    <a:pt x="710451" y="554127"/>
                  </a:lnTo>
                  <a:lnTo>
                    <a:pt x="687180" y="592382"/>
                  </a:lnTo>
                  <a:lnTo>
                    <a:pt x="659685" y="627461"/>
                  </a:lnTo>
                  <a:lnTo>
                    <a:pt x="628311" y="659011"/>
                  </a:lnTo>
                  <a:lnTo>
                    <a:pt x="593403" y="686677"/>
                  </a:lnTo>
                  <a:lnTo>
                    <a:pt x="555307" y="710107"/>
                  </a:lnTo>
                  <a:lnTo>
                    <a:pt x="514369" y="728945"/>
                  </a:lnTo>
                  <a:lnTo>
                    <a:pt x="470933" y="742840"/>
                  </a:lnTo>
                  <a:lnTo>
                    <a:pt x="425345" y="751436"/>
                  </a:lnTo>
                  <a:lnTo>
                    <a:pt x="377952" y="754379"/>
                  </a:lnTo>
                  <a:lnTo>
                    <a:pt x="330532" y="751436"/>
                  </a:lnTo>
                  <a:lnTo>
                    <a:pt x="284873" y="742840"/>
                  </a:lnTo>
                  <a:lnTo>
                    <a:pt x="241328" y="728945"/>
                  </a:lnTo>
                  <a:lnTo>
                    <a:pt x="200252" y="710107"/>
                  </a:lnTo>
                  <a:lnTo>
                    <a:pt x="161997" y="686677"/>
                  </a:lnTo>
                  <a:lnTo>
                    <a:pt x="126918" y="659011"/>
                  </a:lnTo>
                  <a:lnTo>
                    <a:pt x="95368" y="627461"/>
                  </a:lnTo>
                  <a:lnTo>
                    <a:pt x="67702" y="592382"/>
                  </a:lnTo>
                  <a:lnTo>
                    <a:pt x="44272" y="554127"/>
                  </a:lnTo>
                  <a:lnTo>
                    <a:pt x="25434" y="513051"/>
                  </a:lnTo>
                  <a:lnTo>
                    <a:pt x="11539" y="469506"/>
                  </a:lnTo>
                  <a:lnTo>
                    <a:pt x="2943" y="423847"/>
                  </a:lnTo>
                  <a:lnTo>
                    <a:pt x="0" y="376427"/>
                  </a:lnTo>
                </a:path>
              </a:pathLst>
            </a:custGeom>
            <a:ln w="1524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4" name="object 34" descr=""/>
          <p:cNvSpPr txBox="1"/>
          <p:nvPr/>
        </p:nvSpPr>
        <p:spPr>
          <a:xfrm>
            <a:off x="5229833" y="5531592"/>
            <a:ext cx="354965" cy="47942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ctr">
              <a:lnSpc>
                <a:spcPts val="1195"/>
              </a:lnSpc>
              <a:spcBef>
                <a:spcPts val="95"/>
              </a:spcBef>
            </a:pPr>
            <a:r>
              <a:rPr dirty="0" u="sng" sz="1000" spc="-25">
                <a:uFill>
                  <a:solidFill>
                    <a:srgbClr val="000000"/>
                  </a:solidFill>
                </a:uFill>
                <a:latin typeface="Microsoft Sans Serif"/>
                <a:cs typeface="Microsoft Sans Serif"/>
              </a:rPr>
              <a:t>3.3</a:t>
            </a:r>
            <a:endParaRPr sz="1000">
              <a:latin typeface="Microsoft Sans Serif"/>
              <a:cs typeface="Microsoft Sans Serif"/>
            </a:endParaRPr>
          </a:p>
          <a:p>
            <a:pPr algn="ctr" marL="12700" marR="5080" indent="-1905">
              <a:lnSpc>
                <a:spcPts val="1190"/>
              </a:lnSpc>
              <a:spcBef>
                <a:spcPts val="40"/>
              </a:spcBef>
            </a:pPr>
            <a:r>
              <a:rPr dirty="0" sz="1000" spc="-25">
                <a:latin typeface="Microsoft Sans Serif"/>
                <a:cs typeface="Microsoft Sans Serif"/>
              </a:rPr>
              <a:t>Pay </a:t>
            </a:r>
            <a:r>
              <a:rPr dirty="0" sz="1000" spc="-114">
                <a:latin typeface="Microsoft Sans Serif"/>
                <a:cs typeface="Microsoft Sans Serif"/>
              </a:rPr>
              <a:t>Vendor</a:t>
            </a:r>
            <a:endParaRPr sz="1000">
              <a:latin typeface="Microsoft Sans Serif"/>
              <a:cs typeface="Microsoft Sans Serif"/>
            </a:endParaRPr>
          </a:p>
        </p:txBody>
      </p:sp>
      <p:sp>
        <p:nvSpPr>
          <p:cNvPr id="35" name="object 35" descr=""/>
          <p:cNvSpPr/>
          <p:nvPr/>
        </p:nvSpPr>
        <p:spPr>
          <a:xfrm>
            <a:off x="5792724" y="5513832"/>
            <a:ext cx="873760" cy="299085"/>
          </a:xfrm>
          <a:custGeom>
            <a:avLst/>
            <a:gdLst/>
            <a:ahLst/>
            <a:cxnLst/>
            <a:rect l="l" t="t" r="r" b="b"/>
            <a:pathLst>
              <a:path w="873759" h="299085">
                <a:moveTo>
                  <a:pt x="24865" y="259574"/>
                </a:moveTo>
                <a:lnTo>
                  <a:pt x="19812" y="252983"/>
                </a:lnTo>
                <a:lnTo>
                  <a:pt x="20320" y="246888"/>
                </a:lnTo>
                <a:lnTo>
                  <a:pt x="20370" y="246284"/>
                </a:lnTo>
                <a:lnTo>
                  <a:pt x="870204" y="0"/>
                </a:lnTo>
                <a:lnTo>
                  <a:pt x="873252" y="12192"/>
                </a:lnTo>
                <a:lnTo>
                  <a:pt x="24865" y="259574"/>
                </a:lnTo>
                <a:close/>
              </a:path>
              <a:path w="873759" h="299085">
                <a:moveTo>
                  <a:pt x="54864" y="298704"/>
                </a:moveTo>
                <a:lnTo>
                  <a:pt x="0" y="259080"/>
                </a:lnTo>
                <a:lnTo>
                  <a:pt x="24383" y="198119"/>
                </a:lnTo>
                <a:lnTo>
                  <a:pt x="20370" y="246284"/>
                </a:lnTo>
                <a:lnTo>
                  <a:pt x="18287" y="246888"/>
                </a:lnTo>
                <a:lnTo>
                  <a:pt x="21335" y="260604"/>
                </a:lnTo>
                <a:lnTo>
                  <a:pt x="25654" y="260604"/>
                </a:lnTo>
                <a:lnTo>
                  <a:pt x="54864" y="298704"/>
                </a:lnTo>
                <a:close/>
              </a:path>
              <a:path w="873759" h="299085">
                <a:moveTo>
                  <a:pt x="21335" y="260604"/>
                </a:moveTo>
                <a:lnTo>
                  <a:pt x="18287" y="246888"/>
                </a:lnTo>
                <a:lnTo>
                  <a:pt x="20370" y="246284"/>
                </a:lnTo>
                <a:lnTo>
                  <a:pt x="19812" y="252983"/>
                </a:lnTo>
                <a:lnTo>
                  <a:pt x="24865" y="259574"/>
                </a:lnTo>
                <a:lnTo>
                  <a:pt x="21335" y="260604"/>
                </a:lnTo>
                <a:close/>
              </a:path>
              <a:path w="873759" h="299085">
                <a:moveTo>
                  <a:pt x="25654" y="260604"/>
                </a:moveTo>
                <a:lnTo>
                  <a:pt x="21335" y="260604"/>
                </a:lnTo>
                <a:lnTo>
                  <a:pt x="24865" y="259574"/>
                </a:lnTo>
                <a:lnTo>
                  <a:pt x="25654" y="26060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6" name="object 36" descr=""/>
          <p:cNvSpPr txBox="1"/>
          <p:nvPr/>
        </p:nvSpPr>
        <p:spPr>
          <a:xfrm>
            <a:off x="5674885" y="3868928"/>
            <a:ext cx="527050" cy="37782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 marR="5080" indent="53340">
              <a:lnSpc>
                <a:spcPct val="100899"/>
              </a:lnSpc>
              <a:spcBef>
                <a:spcPts val="90"/>
              </a:spcBef>
            </a:pPr>
            <a:r>
              <a:rPr dirty="0" sz="1150" spc="-110">
                <a:latin typeface="Microsoft Sans Serif"/>
                <a:cs typeface="Microsoft Sans Serif"/>
              </a:rPr>
              <a:t>Quantity</a:t>
            </a:r>
            <a:r>
              <a:rPr dirty="0" sz="1150" spc="500">
                <a:latin typeface="Microsoft Sans Serif"/>
                <a:cs typeface="Microsoft Sans Serif"/>
              </a:rPr>
              <a:t> </a:t>
            </a:r>
            <a:r>
              <a:rPr dirty="0" sz="1150" spc="-114">
                <a:latin typeface="Microsoft Sans Serif"/>
                <a:cs typeface="Microsoft Sans Serif"/>
              </a:rPr>
              <a:t>Received</a:t>
            </a:r>
            <a:endParaRPr sz="1150">
              <a:latin typeface="Microsoft Sans Serif"/>
              <a:cs typeface="Microsoft Sans Serif"/>
            </a:endParaRPr>
          </a:p>
        </p:txBody>
      </p:sp>
      <p:sp>
        <p:nvSpPr>
          <p:cNvPr id="37" name="object 37" descr=""/>
          <p:cNvSpPr/>
          <p:nvPr/>
        </p:nvSpPr>
        <p:spPr>
          <a:xfrm>
            <a:off x="5355335" y="5026152"/>
            <a:ext cx="104139" cy="363220"/>
          </a:xfrm>
          <a:custGeom>
            <a:avLst/>
            <a:gdLst/>
            <a:ahLst/>
            <a:cxnLst/>
            <a:rect l="l" t="t" r="r" b="b"/>
            <a:pathLst>
              <a:path w="104139" h="363220">
                <a:moveTo>
                  <a:pt x="51816" y="341376"/>
                </a:moveTo>
                <a:lnTo>
                  <a:pt x="45720" y="338865"/>
                </a:lnTo>
                <a:lnTo>
                  <a:pt x="45720" y="0"/>
                </a:lnTo>
                <a:lnTo>
                  <a:pt x="57912" y="0"/>
                </a:lnTo>
                <a:lnTo>
                  <a:pt x="57912" y="338865"/>
                </a:lnTo>
                <a:lnTo>
                  <a:pt x="51816" y="341376"/>
                </a:lnTo>
                <a:close/>
              </a:path>
              <a:path w="104139" h="363220">
                <a:moveTo>
                  <a:pt x="51816" y="362712"/>
                </a:moveTo>
                <a:lnTo>
                  <a:pt x="0" y="320039"/>
                </a:lnTo>
                <a:lnTo>
                  <a:pt x="45720" y="338865"/>
                </a:lnTo>
                <a:lnTo>
                  <a:pt x="45720" y="341376"/>
                </a:lnTo>
                <a:lnTo>
                  <a:pt x="77724" y="341376"/>
                </a:lnTo>
                <a:lnTo>
                  <a:pt x="51816" y="362712"/>
                </a:lnTo>
                <a:close/>
              </a:path>
              <a:path w="104139" h="363220">
                <a:moveTo>
                  <a:pt x="77724" y="341376"/>
                </a:moveTo>
                <a:lnTo>
                  <a:pt x="57912" y="341376"/>
                </a:lnTo>
                <a:lnTo>
                  <a:pt x="57912" y="338865"/>
                </a:lnTo>
                <a:lnTo>
                  <a:pt x="103632" y="320039"/>
                </a:lnTo>
                <a:lnTo>
                  <a:pt x="77724" y="341376"/>
                </a:lnTo>
                <a:close/>
              </a:path>
              <a:path w="104139" h="363220">
                <a:moveTo>
                  <a:pt x="51816" y="341376"/>
                </a:moveTo>
                <a:lnTo>
                  <a:pt x="45720" y="341376"/>
                </a:lnTo>
                <a:lnTo>
                  <a:pt x="45720" y="338865"/>
                </a:lnTo>
                <a:lnTo>
                  <a:pt x="51816" y="341376"/>
                </a:lnTo>
                <a:close/>
              </a:path>
              <a:path w="104139" h="363220">
                <a:moveTo>
                  <a:pt x="57912" y="341376"/>
                </a:moveTo>
                <a:lnTo>
                  <a:pt x="51816" y="341376"/>
                </a:lnTo>
                <a:lnTo>
                  <a:pt x="57912" y="338865"/>
                </a:lnTo>
                <a:lnTo>
                  <a:pt x="57912" y="34137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8" name="object 38" descr=""/>
          <p:cNvSpPr txBox="1"/>
          <p:nvPr/>
        </p:nvSpPr>
        <p:spPr>
          <a:xfrm>
            <a:off x="5895806" y="3455546"/>
            <a:ext cx="1216660" cy="467359"/>
          </a:xfrm>
          <a:prstGeom prst="rect">
            <a:avLst/>
          </a:prstGeom>
        </p:spPr>
        <p:txBody>
          <a:bodyPr wrap="square" lIns="0" tIns="7429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85"/>
              </a:spcBef>
            </a:pPr>
            <a:r>
              <a:rPr dirty="0" sz="1150" spc="-105">
                <a:latin typeface="Microsoft Sans Serif"/>
                <a:cs typeface="Microsoft Sans Serif"/>
              </a:rPr>
              <a:t>Quantity</a:t>
            </a:r>
            <a:r>
              <a:rPr dirty="0" sz="1150">
                <a:latin typeface="Microsoft Sans Serif"/>
                <a:cs typeface="Microsoft Sans Serif"/>
              </a:rPr>
              <a:t> </a:t>
            </a:r>
            <a:r>
              <a:rPr dirty="0" sz="1150" spc="-130">
                <a:latin typeface="Microsoft Sans Serif"/>
                <a:cs typeface="Microsoft Sans Serif"/>
              </a:rPr>
              <a:t>On-</a:t>
            </a:r>
            <a:r>
              <a:rPr dirty="0" sz="1150" spc="-20">
                <a:latin typeface="Microsoft Sans Serif"/>
                <a:cs typeface="Microsoft Sans Serif"/>
              </a:rPr>
              <a:t>Hand</a:t>
            </a:r>
            <a:endParaRPr sz="1150">
              <a:latin typeface="Microsoft Sans Serif"/>
              <a:cs typeface="Microsoft Sans Serif"/>
            </a:endParaRPr>
          </a:p>
          <a:p>
            <a:pPr algn="r" marR="5080">
              <a:lnSpc>
                <a:spcPct val="100000"/>
              </a:lnSpc>
              <a:spcBef>
                <a:spcPts val="409"/>
              </a:spcBef>
            </a:pPr>
            <a:r>
              <a:rPr dirty="0" sz="1000" spc="-25">
                <a:latin typeface="Microsoft Sans Serif"/>
                <a:cs typeface="Microsoft Sans Serif"/>
              </a:rPr>
              <a:t>RAW</a:t>
            </a:r>
            <a:endParaRPr sz="1000">
              <a:latin typeface="Microsoft Sans Serif"/>
              <a:cs typeface="Microsoft Sans Serif"/>
            </a:endParaRPr>
          </a:p>
        </p:txBody>
      </p:sp>
      <p:pic>
        <p:nvPicPr>
          <p:cNvPr id="39" name="object 39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664452" y="4821921"/>
            <a:ext cx="811677" cy="309401"/>
          </a:xfrm>
          <a:prstGeom prst="rect">
            <a:avLst/>
          </a:prstGeom>
        </p:spPr>
      </p:pic>
      <p:sp>
        <p:nvSpPr>
          <p:cNvPr id="40" name="object 40" descr=""/>
          <p:cNvSpPr txBox="1"/>
          <p:nvPr/>
        </p:nvSpPr>
        <p:spPr>
          <a:xfrm>
            <a:off x="6796493" y="4810700"/>
            <a:ext cx="553720" cy="328295"/>
          </a:xfrm>
          <a:prstGeom prst="rect">
            <a:avLst/>
          </a:prstGeom>
        </p:spPr>
        <p:txBody>
          <a:bodyPr wrap="square" lIns="0" tIns="17780" rIns="0" bIns="0" rtlCol="0" vert="horz">
            <a:spAutoFit/>
          </a:bodyPr>
          <a:lstStyle/>
          <a:p>
            <a:pPr marL="117475" marR="5080" indent="-105410">
              <a:lnSpc>
                <a:spcPts val="1190"/>
              </a:lnSpc>
              <a:spcBef>
                <a:spcPts val="140"/>
              </a:spcBef>
            </a:pPr>
            <a:r>
              <a:rPr dirty="0" sz="1000" spc="-130">
                <a:latin typeface="Microsoft Sans Serif"/>
                <a:cs typeface="Microsoft Sans Serif"/>
              </a:rPr>
              <a:t>RECEIVED</a:t>
            </a:r>
            <a:r>
              <a:rPr dirty="0" sz="1000" spc="-10">
                <a:latin typeface="Microsoft Sans Serif"/>
                <a:cs typeface="Microsoft Sans Serif"/>
              </a:rPr>
              <a:t> ITEMS</a:t>
            </a:r>
            <a:endParaRPr sz="1000">
              <a:latin typeface="Microsoft Sans Serif"/>
              <a:cs typeface="Microsoft Sans Serif"/>
            </a:endParaRPr>
          </a:p>
        </p:txBody>
      </p:sp>
      <p:pic>
        <p:nvPicPr>
          <p:cNvPr id="41" name="object 41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664452" y="5396484"/>
            <a:ext cx="754380" cy="248411"/>
          </a:xfrm>
          <a:prstGeom prst="rect">
            <a:avLst/>
          </a:prstGeom>
        </p:spPr>
      </p:pic>
      <p:sp>
        <p:nvSpPr>
          <p:cNvPr id="42" name="object 42" descr=""/>
          <p:cNvSpPr txBox="1"/>
          <p:nvPr/>
        </p:nvSpPr>
        <p:spPr>
          <a:xfrm>
            <a:off x="6807109" y="5429451"/>
            <a:ext cx="467359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130">
                <a:latin typeface="Microsoft Sans Serif"/>
                <a:cs typeface="Microsoft Sans Serif"/>
              </a:rPr>
              <a:t>VENDOR</a:t>
            </a:r>
            <a:endParaRPr sz="1000">
              <a:latin typeface="Microsoft Sans Serif"/>
              <a:cs typeface="Microsoft Sans Serif"/>
            </a:endParaRPr>
          </a:p>
        </p:txBody>
      </p:sp>
      <p:sp>
        <p:nvSpPr>
          <p:cNvPr id="43" name="object 43" descr=""/>
          <p:cNvSpPr/>
          <p:nvPr/>
        </p:nvSpPr>
        <p:spPr>
          <a:xfrm>
            <a:off x="5673839" y="3156203"/>
            <a:ext cx="2097405" cy="2368550"/>
          </a:xfrm>
          <a:custGeom>
            <a:avLst/>
            <a:gdLst/>
            <a:ahLst/>
            <a:cxnLst/>
            <a:rect l="l" t="t" r="r" b="b"/>
            <a:pathLst>
              <a:path w="2097404" h="2368550">
                <a:moveTo>
                  <a:pt x="993648" y="1827276"/>
                </a:moveTo>
                <a:lnTo>
                  <a:pt x="990600" y="1821205"/>
                </a:lnTo>
                <a:lnTo>
                  <a:pt x="987552" y="1815084"/>
                </a:lnTo>
                <a:lnTo>
                  <a:pt x="986675" y="1815541"/>
                </a:lnTo>
                <a:lnTo>
                  <a:pt x="970800" y="1792681"/>
                </a:lnTo>
                <a:lnTo>
                  <a:pt x="970800" y="1813572"/>
                </a:lnTo>
                <a:lnTo>
                  <a:pt x="969416" y="1824647"/>
                </a:lnTo>
                <a:lnTo>
                  <a:pt x="970800" y="1813572"/>
                </a:lnTo>
                <a:lnTo>
                  <a:pt x="970800" y="1792681"/>
                </a:lnTo>
                <a:lnTo>
                  <a:pt x="952512" y="1766328"/>
                </a:lnTo>
                <a:lnTo>
                  <a:pt x="967282" y="1813356"/>
                </a:lnTo>
                <a:lnTo>
                  <a:pt x="967359" y="1813572"/>
                </a:lnTo>
                <a:lnTo>
                  <a:pt x="969276" y="1819668"/>
                </a:lnTo>
                <a:lnTo>
                  <a:pt x="967282" y="1813356"/>
                </a:lnTo>
                <a:lnTo>
                  <a:pt x="1536" y="1754136"/>
                </a:lnTo>
                <a:lnTo>
                  <a:pt x="12" y="1766328"/>
                </a:lnTo>
                <a:lnTo>
                  <a:pt x="966406" y="1825586"/>
                </a:lnTo>
                <a:lnTo>
                  <a:pt x="966317" y="1825764"/>
                </a:lnTo>
                <a:lnTo>
                  <a:pt x="965987" y="1826450"/>
                </a:lnTo>
                <a:lnTo>
                  <a:pt x="17805" y="2325814"/>
                </a:lnTo>
                <a:lnTo>
                  <a:pt x="13716" y="2276856"/>
                </a:lnTo>
                <a:lnTo>
                  <a:pt x="0" y="2342388"/>
                </a:lnTo>
                <a:lnTo>
                  <a:pt x="62484" y="2368296"/>
                </a:lnTo>
                <a:lnTo>
                  <a:pt x="25654" y="2337816"/>
                </a:lnTo>
                <a:lnTo>
                  <a:pt x="23990" y="2336431"/>
                </a:lnTo>
                <a:lnTo>
                  <a:pt x="955992" y="1847049"/>
                </a:lnTo>
                <a:lnTo>
                  <a:pt x="944892" y="1869960"/>
                </a:lnTo>
                <a:lnTo>
                  <a:pt x="976426" y="1836318"/>
                </a:lnTo>
                <a:lnTo>
                  <a:pt x="993648" y="1827276"/>
                </a:lnTo>
                <a:close/>
              </a:path>
              <a:path w="2097404" h="2368550">
                <a:moveTo>
                  <a:pt x="2097024" y="0"/>
                </a:moveTo>
                <a:lnTo>
                  <a:pt x="1618488" y="0"/>
                </a:lnTo>
                <a:lnTo>
                  <a:pt x="1618488" y="13716"/>
                </a:lnTo>
                <a:lnTo>
                  <a:pt x="2084832" y="13716"/>
                </a:lnTo>
                <a:lnTo>
                  <a:pt x="2084832" y="1478280"/>
                </a:lnTo>
                <a:lnTo>
                  <a:pt x="141732" y="1478280"/>
                </a:lnTo>
                <a:lnTo>
                  <a:pt x="160020" y="1432560"/>
                </a:lnTo>
                <a:lnTo>
                  <a:pt x="118872" y="1485900"/>
                </a:lnTo>
                <a:lnTo>
                  <a:pt x="160020" y="1537716"/>
                </a:lnTo>
                <a:lnTo>
                  <a:pt x="141198" y="1491996"/>
                </a:lnTo>
                <a:lnTo>
                  <a:pt x="2097024" y="1491996"/>
                </a:lnTo>
                <a:lnTo>
                  <a:pt x="2097024" y="1485900"/>
                </a:lnTo>
                <a:lnTo>
                  <a:pt x="2097024" y="1478280"/>
                </a:lnTo>
                <a:lnTo>
                  <a:pt x="2097024" y="13716"/>
                </a:lnTo>
                <a:lnTo>
                  <a:pt x="2097024" y="6096"/>
                </a:lnTo>
                <a:lnTo>
                  <a:pt x="209702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4" name="object 44" descr=""/>
          <p:cNvSpPr txBox="1"/>
          <p:nvPr/>
        </p:nvSpPr>
        <p:spPr>
          <a:xfrm>
            <a:off x="4893047" y="5079016"/>
            <a:ext cx="1036955" cy="2012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50" spc="-105">
                <a:latin typeface="Microsoft Sans Serif"/>
                <a:cs typeface="Microsoft Sans Serif"/>
              </a:rPr>
              <a:t>Payment</a:t>
            </a:r>
            <a:r>
              <a:rPr dirty="0" sz="1150" spc="65">
                <a:latin typeface="Microsoft Sans Serif"/>
                <a:cs typeface="Microsoft Sans Serif"/>
              </a:rPr>
              <a:t> </a:t>
            </a:r>
            <a:r>
              <a:rPr dirty="0" sz="1150" spc="-95">
                <a:latin typeface="Microsoft Sans Serif"/>
                <a:cs typeface="Microsoft Sans Serif"/>
              </a:rPr>
              <a:t>Approval</a:t>
            </a:r>
            <a:endParaRPr sz="1150">
              <a:latin typeface="Microsoft Sans Serif"/>
              <a:cs typeface="Microsoft Sans Serif"/>
            </a:endParaRPr>
          </a:p>
        </p:txBody>
      </p:sp>
      <p:sp>
        <p:nvSpPr>
          <p:cNvPr id="45" name="object 45" descr=""/>
          <p:cNvSpPr txBox="1"/>
          <p:nvPr/>
        </p:nvSpPr>
        <p:spPr>
          <a:xfrm>
            <a:off x="4441928" y="6272290"/>
            <a:ext cx="501015" cy="2012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50" spc="-114">
                <a:latin typeface="Microsoft Sans Serif"/>
                <a:cs typeface="Microsoft Sans Serif"/>
              </a:rPr>
              <a:t>Payment</a:t>
            </a:r>
            <a:endParaRPr sz="1150">
              <a:latin typeface="Microsoft Sans Serif"/>
              <a:cs typeface="Microsoft Sans Serif"/>
            </a:endParaRPr>
          </a:p>
        </p:txBody>
      </p:sp>
      <p:sp>
        <p:nvSpPr>
          <p:cNvPr id="46" name="object 46" descr=""/>
          <p:cNvSpPr/>
          <p:nvPr/>
        </p:nvSpPr>
        <p:spPr>
          <a:xfrm>
            <a:off x="4966716" y="6158484"/>
            <a:ext cx="447040" cy="268605"/>
          </a:xfrm>
          <a:custGeom>
            <a:avLst/>
            <a:gdLst/>
            <a:ahLst/>
            <a:cxnLst/>
            <a:rect l="l" t="t" r="r" b="b"/>
            <a:pathLst>
              <a:path w="447039" h="268604">
                <a:moveTo>
                  <a:pt x="24384" y="223810"/>
                </a:moveTo>
                <a:lnTo>
                  <a:pt x="21336" y="216407"/>
                </a:lnTo>
                <a:lnTo>
                  <a:pt x="23666" y="210312"/>
                </a:lnTo>
                <a:lnTo>
                  <a:pt x="23737" y="210127"/>
                </a:lnTo>
                <a:lnTo>
                  <a:pt x="80771" y="205740"/>
                </a:lnTo>
                <a:lnTo>
                  <a:pt x="121919" y="199643"/>
                </a:lnTo>
                <a:lnTo>
                  <a:pt x="160020" y="192024"/>
                </a:lnTo>
                <a:lnTo>
                  <a:pt x="198120" y="182880"/>
                </a:lnTo>
                <a:lnTo>
                  <a:pt x="268224" y="158495"/>
                </a:lnTo>
                <a:lnTo>
                  <a:pt x="315468" y="135636"/>
                </a:lnTo>
                <a:lnTo>
                  <a:pt x="342900" y="118872"/>
                </a:lnTo>
                <a:lnTo>
                  <a:pt x="355092" y="111252"/>
                </a:lnTo>
                <a:lnTo>
                  <a:pt x="388620" y="83820"/>
                </a:lnTo>
                <a:lnTo>
                  <a:pt x="425196" y="38100"/>
                </a:lnTo>
                <a:lnTo>
                  <a:pt x="434340" y="0"/>
                </a:lnTo>
                <a:lnTo>
                  <a:pt x="446532" y="0"/>
                </a:lnTo>
                <a:lnTo>
                  <a:pt x="446532" y="10668"/>
                </a:lnTo>
                <a:lnTo>
                  <a:pt x="445008" y="21336"/>
                </a:lnTo>
                <a:lnTo>
                  <a:pt x="431292" y="53340"/>
                </a:lnTo>
                <a:lnTo>
                  <a:pt x="416052" y="74676"/>
                </a:lnTo>
                <a:lnTo>
                  <a:pt x="406908" y="83820"/>
                </a:lnTo>
                <a:lnTo>
                  <a:pt x="397764" y="94488"/>
                </a:lnTo>
                <a:lnTo>
                  <a:pt x="387096" y="103632"/>
                </a:lnTo>
                <a:lnTo>
                  <a:pt x="350520" y="131064"/>
                </a:lnTo>
                <a:lnTo>
                  <a:pt x="335280" y="138684"/>
                </a:lnTo>
                <a:lnTo>
                  <a:pt x="321564" y="147828"/>
                </a:lnTo>
                <a:lnTo>
                  <a:pt x="306324" y="155448"/>
                </a:lnTo>
                <a:lnTo>
                  <a:pt x="289560" y="163068"/>
                </a:lnTo>
                <a:lnTo>
                  <a:pt x="272796" y="169164"/>
                </a:lnTo>
                <a:lnTo>
                  <a:pt x="239268" y="182880"/>
                </a:lnTo>
                <a:lnTo>
                  <a:pt x="201168" y="195072"/>
                </a:lnTo>
                <a:lnTo>
                  <a:pt x="123444" y="213360"/>
                </a:lnTo>
                <a:lnTo>
                  <a:pt x="83819" y="219456"/>
                </a:lnTo>
                <a:lnTo>
                  <a:pt x="24384" y="223810"/>
                </a:lnTo>
                <a:close/>
              </a:path>
              <a:path w="447039" h="268604">
                <a:moveTo>
                  <a:pt x="42671" y="268224"/>
                </a:moveTo>
                <a:lnTo>
                  <a:pt x="0" y="217931"/>
                </a:lnTo>
                <a:lnTo>
                  <a:pt x="41148" y="164592"/>
                </a:lnTo>
                <a:lnTo>
                  <a:pt x="23737" y="210127"/>
                </a:lnTo>
                <a:lnTo>
                  <a:pt x="21336" y="210312"/>
                </a:lnTo>
                <a:lnTo>
                  <a:pt x="21336" y="224028"/>
                </a:lnTo>
                <a:lnTo>
                  <a:pt x="24473" y="224028"/>
                </a:lnTo>
                <a:lnTo>
                  <a:pt x="42671" y="268224"/>
                </a:lnTo>
                <a:close/>
              </a:path>
              <a:path w="447039" h="268604">
                <a:moveTo>
                  <a:pt x="21336" y="216407"/>
                </a:moveTo>
                <a:lnTo>
                  <a:pt x="21336" y="210312"/>
                </a:lnTo>
                <a:lnTo>
                  <a:pt x="23737" y="210127"/>
                </a:lnTo>
                <a:lnTo>
                  <a:pt x="21336" y="216407"/>
                </a:lnTo>
                <a:close/>
              </a:path>
              <a:path w="447039" h="268604">
                <a:moveTo>
                  <a:pt x="21336" y="224028"/>
                </a:moveTo>
                <a:lnTo>
                  <a:pt x="21336" y="216407"/>
                </a:lnTo>
                <a:lnTo>
                  <a:pt x="24384" y="223810"/>
                </a:lnTo>
                <a:lnTo>
                  <a:pt x="21336" y="224028"/>
                </a:lnTo>
                <a:close/>
              </a:path>
              <a:path w="447039" h="268604">
                <a:moveTo>
                  <a:pt x="24473" y="224028"/>
                </a:moveTo>
                <a:lnTo>
                  <a:pt x="21336" y="224028"/>
                </a:lnTo>
                <a:lnTo>
                  <a:pt x="24384" y="223810"/>
                </a:lnTo>
                <a:lnTo>
                  <a:pt x="24473" y="22402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5021579" y="3061716"/>
            <a:ext cx="3629025" cy="3492500"/>
            <a:chOff x="5021579" y="3061716"/>
            <a:chExt cx="3629025" cy="3492500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161276" y="5201412"/>
              <a:ext cx="1488947" cy="1352199"/>
            </a:xfrm>
            <a:prstGeom prst="rect">
              <a:avLst/>
            </a:prstGeom>
          </p:spPr>
        </p:pic>
        <p:sp>
          <p:nvSpPr>
            <p:cNvPr id="4" name="object 4" descr=""/>
            <p:cNvSpPr/>
            <p:nvPr/>
          </p:nvSpPr>
          <p:spPr>
            <a:xfrm>
              <a:off x="5029199" y="3069336"/>
              <a:ext cx="754380" cy="754380"/>
            </a:xfrm>
            <a:custGeom>
              <a:avLst/>
              <a:gdLst/>
              <a:ahLst/>
              <a:cxnLst/>
              <a:rect l="l" t="t" r="r" b="b"/>
              <a:pathLst>
                <a:path w="754379" h="754379">
                  <a:moveTo>
                    <a:pt x="0" y="377951"/>
                  </a:moveTo>
                  <a:lnTo>
                    <a:pt x="2943" y="330532"/>
                  </a:lnTo>
                  <a:lnTo>
                    <a:pt x="11539" y="284873"/>
                  </a:lnTo>
                  <a:lnTo>
                    <a:pt x="25434" y="241328"/>
                  </a:lnTo>
                  <a:lnTo>
                    <a:pt x="44272" y="200252"/>
                  </a:lnTo>
                  <a:lnTo>
                    <a:pt x="67702" y="161997"/>
                  </a:lnTo>
                  <a:lnTo>
                    <a:pt x="95368" y="126918"/>
                  </a:lnTo>
                  <a:lnTo>
                    <a:pt x="126918" y="95368"/>
                  </a:lnTo>
                  <a:lnTo>
                    <a:pt x="161997" y="67702"/>
                  </a:lnTo>
                  <a:lnTo>
                    <a:pt x="200252" y="44272"/>
                  </a:lnTo>
                  <a:lnTo>
                    <a:pt x="241328" y="25434"/>
                  </a:lnTo>
                  <a:lnTo>
                    <a:pt x="284873" y="11539"/>
                  </a:lnTo>
                  <a:lnTo>
                    <a:pt x="330532" y="2943"/>
                  </a:lnTo>
                  <a:lnTo>
                    <a:pt x="377952" y="0"/>
                  </a:lnTo>
                  <a:lnTo>
                    <a:pt x="425345" y="2943"/>
                  </a:lnTo>
                  <a:lnTo>
                    <a:pt x="470933" y="11539"/>
                  </a:lnTo>
                  <a:lnTo>
                    <a:pt x="514369" y="25434"/>
                  </a:lnTo>
                  <a:lnTo>
                    <a:pt x="555307" y="44272"/>
                  </a:lnTo>
                  <a:lnTo>
                    <a:pt x="593403" y="67702"/>
                  </a:lnTo>
                  <a:lnTo>
                    <a:pt x="628311" y="95368"/>
                  </a:lnTo>
                  <a:lnTo>
                    <a:pt x="659685" y="126918"/>
                  </a:lnTo>
                  <a:lnTo>
                    <a:pt x="687180" y="161997"/>
                  </a:lnTo>
                  <a:lnTo>
                    <a:pt x="710451" y="200252"/>
                  </a:lnTo>
                  <a:lnTo>
                    <a:pt x="729151" y="241328"/>
                  </a:lnTo>
                  <a:lnTo>
                    <a:pt x="742937" y="284873"/>
                  </a:lnTo>
                  <a:lnTo>
                    <a:pt x="751461" y="330532"/>
                  </a:lnTo>
                  <a:lnTo>
                    <a:pt x="754379" y="377951"/>
                  </a:lnTo>
                  <a:lnTo>
                    <a:pt x="751461" y="425345"/>
                  </a:lnTo>
                  <a:lnTo>
                    <a:pt x="742937" y="470933"/>
                  </a:lnTo>
                  <a:lnTo>
                    <a:pt x="729151" y="514369"/>
                  </a:lnTo>
                  <a:lnTo>
                    <a:pt x="710451" y="555307"/>
                  </a:lnTo>
                  <a:lnTo>
                    <a:pt x="687180" y="593403"/>
                  </a:lnTo>
                  <a:lnTo>
                    <a:pt x="659685" y="628311"/>
                  </a:lnTo>
                  <a:lnTo>
                    <a:pt x="628311" y="659685"/>
                  </a:lnTo>
                  <a:lnTo>
                    <a:pt x="593403" y="687180"/>
                  </a:lnTo>
                  <a:lnTo>
                    <a:pt x="555307" y="710451"/>
                  </a:lnTo>
                  <a:lnTo>
                    <a:pt x="514369" y="729151"/>
                  </a:lnTo>
                  <a:lnTo>
                    <a:pt x="470933" y="742937"/>
                  </a:lnTo>
                  <a:lnTo>
                    <a:pt x="425345" y="751461"/>
                  </a:lnTo>
                  <a:lnTo>
                    <a:pt x="377952" y="754379"/>
                  </a:lnTo>
                  <a:lnTo>
                    <a:pt x="330532" y="751461"/>
                  </a:lnTo>
                  <a:lnTo>
                    <a:pt x="284873" y="742937"/>
                  </a:lnTo>
                  <a:lnTo>
                    <a:pt x="241328" y="729151"/>
                  </a:lnTo>
                  <a:lnTo>
                    <a:pt x="200252" y="710451"/>
                  </a:lnTo>
                  <a:lnTo>
                    <a:pt x="161997" y="687180"/>
                  </a:lnTo>
                  <a:lnTo>
                    <a:pt x="126918" y="659685"/>
                  </a:lnTo>
                  <a:lnTo>
                    <a:pt x="95368" y="628311"/>
                  </a:lnTo>
                  <a:lnTo>
                    <a:pt x="67702" y="593403"/>
                  </a:lnTo>
                  <a:lnTo>
                    <a:pt x="44272" y="555307"/>
                  </a:lnTo>
                  <a:lnTo>
                    <a:pt x="25434" y="514369"/>
                  </a:lnTo>
                  <a:lnTo>
                    <a:pt x="11539" y="470933"/>
                  </a:lnTo>
                  <a:lnTo>
                    <a:pt x="2943" y="425345"/>
                  </a:lnTo>
                  <a:lnTo>
                    <a:pt x="0" y="377951"/>
                  </a:lnTo>
                </a:path>
              </a:pathLst>
            </a:custGeom>
            <a:ln w="1524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7145">
              <a:lnSpc>
                <a:spcPct val="100000"/>
              </a:lnSpc>
              <a:spcBef>
                <a:spcPts val="125"/>
              </a:spcBef>
            </a:pPr>
            <a:r>
              <a:rPr dirty="0"/>
              <a:t>Creating</a:t>
            </a:r>
            <a:r>
              <a:rPr dirty="0" spc="20"/>
              <a:t> </a:t>
            </a:r>
            <a:r>
              <a:rPr dirty="0"/>
              <a:t>Data</a:t>
            </a:r>
            <a:r>
              <a:rPr dirty="0" spc="50"/>
              <a:t> </a:t>
            </a:r>
            <a:r>
              <a:rPr dirty="0"/>
              <a:t>Flow</a:t>
            </a:r>
            <a:r>
              <a:rPr dirty="0" spc="30"/>
              <a:t> </a:t>
            </a:r>
            <a:r>
              <a:rPr dirty="0" spc="-10"/>
              <a:t>Diagrams</a:t>
            </a:r>
          </a:p>
        </p:txBody>
      </p:sp>
      <p:grpSp>
        <p:nvGrpSpPr>
          <p:cNvPr id="6" name="object 6" descr=""/>
          <p:cNvGrpSpPr/>
          <p:nvPr/>
        </p:nvGrpSpPr>
        <p:grpSpPr>
          <a:xfrm>
            <a:off x="4020311" y="2063495"/>
            <a:ext cx="7620" cy="4464050"/>
            <a:chOff x="4020311" y="2063495"/>
            <a:chExt cx="7620" cy="4464050"/>
          </a:xfrm>
        </p:grpSpPr>
        <p:sp>
          <p:nvSpPr>
            <p:cNvPr id="7" name="object 7" descr=""/>
            <p:cNvSpPr/>
            <p:nvPr/>
          </p:nvSpPr>
          <p:spPr>
            <a:xfrm>
              <a:off x="4024121" y="4901184"/>
              <a:ext cx="0" cy="1626235"/>
            </a:xfrm>
            <a:custGeom>
              <a:avLst/>
              <a:gdLst/>
              <a:ahLst/>
              <a:cxnLst/>
              <a:rect l="l" t="t" r="r" b="b"/>
              <a:pathLst>
                <a:path w="0" h="1626234">
                  <a:moveTo>
                    <a:pt x="0" y="0"/>
                  </a:moveTo>
                  <a:lnTo>
                    <a:pt x="0" y="1626108"/>
                  </a:lnTo>
                </a:path>
              </a:pathLst>
            </a:custGeom>
            <a:ln w="7620">
              <a:solidFill>
                <a:srgbClr val="954F72"/>
              </a:solidFill>
              <a:prstDash val="sys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4020311" y="4351020"/>
              <a:ext cx="7620" cy="525780"/>
            </a:xfrm>
            <a:custGeom>
              <a:avLst/>
              <a:gdLst/>
              <a:ahLst/>
              <a:cxnLst/>
              <a:rect l="l" t="t" r="r" b="b"/>
              <a:pathLst>
                <a:path w="7620" h="525779">
                  <a:moveTo>
                    <a:pt x="7620" y="525780"/>
                  </a:moveTo>
                  <a:lnTo>
                    <a:pt x="0" y="525780"/>
                  </a:lnTo>
                  <a:lnTo>
                    <a:pt x="0" y="495300"/>
                  </a:lnTo>
                  <a:lnTo>
                    <a:pt x="7620" y="495300"/>
                  </a:lnTo>
                  <a:lnTo>
                    <a:pt x="7620" y="525780"/>
                  </a:lnTo>
                  <a:close/>
                </a:path>
                <a:path w="7620" h="525779">
                  <a:moveTo>
                    <a:pt x="7620" y="470916"/>
                  </a:moveTo>
                  <a:lnTo>
                    <a:pt x="0" y="470916"/>
                  </a:lnTo>
                  <a:lnTo>
                    <a:pt x="0" y="440436"/>
                  </a:lnTo>
                  <a:lnTo>
                    <a:pt x="7620" y="440436"/>
                  </a:lnTo>
                  <a:lnTo>
                    <a:pt x="7620" y="470916"/>
                  </a:lnTo>
                  <a:close/>
                </a:path>
                <a:path w="7620" h="525779">
                  <a:moveTo>
                    <a:pt x="7620" y="416052"/>
                  </a:moveTo>
                  <a:lnTo>
                    <a:pt x="0" y="416052"/>
                  </a:lnTo>
                  <a:lnTo>
                    <a:pt x="0" y="385572"/>
                  </a:lnTo>
                  <a:lnTo>
                    <a:pt x="7620" y="385572"/>
                  </a:lnTo>
                  <a:lnTo>
                    <a:pt x="7620" y="416052"/>
                  </a:lnTo>
                  <a:close/>
                </a:path>
                <a:path w="7620" h="525779">
                  <a:moveTo>
                    <a:pt x="7620" y="361188"/>
                  </a:moveTo>
                  <a:lnTo>
                    <a:pt x="0" y="361188"/>
                  </a:lnTo>
                  <a:lnTo>
                    <a:pt x="0" y="329184"/>
                  </a:lnTo>
                  <a:lnTo>
                    <a:pt x="7620" y="330708"/>
                  </a:lnTo>
                  <a:lnTo>
                    <a:pt x="7620" y="361188"/>
                  </a:lnTo>
                  <a:close/>
                </a:path>
                <a:path w="7620" h="525779">
                  <a:moveTo>
                    <a:pt x="7620" y="306324"/>
                  </a:moveTo>
                  <a:lnTo>
                    <a:pt x="0" y="306324"/>
                  </a:lnTo>
                  <a:lnTo>
                    <a:pt x="0" y="274320"/>
                  </a:lnTo>
                  <a:lnTo>
                    <a:pt x="7620" y="274320"/>
                  </a:lnTo>
                  <a:lnTo>
                    <a:pt x="7620" y="306324"/>
                  </a:lnTo>
                  <a:close/>
                </a:path>
                <a:path w="7620" h="525779">
                  <a:moveTo>
                    <a:pt x="7620" y="251460"/>
                  </a:moveTo>
                  <a:lnTo>
                    <a:pt x="0" y="251460"/>
                  </a:lnTo>
                  <a:lnTo>
                    <a:pt x="0" y="219456"/>
                  </a:lnTo>
                  <a:lnTo>
                    <a:pt x="7620" y="219456"/>
                  </a:lnTo>
                  <a:lnTo>
                    <a:pt x="7620" y="251460"/>
                  </a:lnTo>
                  <a:close/>
                </a:path>
                <a:path w="7620" h="525779">
                  <a:moveTo>
                    <a:pt x="7620" y="196596"/>
                  </a:moveTo>
                  <a:lnTo>
                    <a:pt x="0" y="196596"/>
                  </a:lnTo>
                  <a:lnTo>
                    <a:pt x="0" y="164592"/>
                  </a:lnTo>
                  <a:lnTo>
                    <a:pt x="7620" y="164592"/>
                  </a:lnTo>
                  <a:lnTo>
                    <a:pt x="7620" y="196596"/>
                  </a:lnTo>
                  <a:close/>
                </a:path>
                <a:path w="7620" h="525779">
                  <a:moveTo>
                    <a:pt x="7620" y="141732"/>
                  </a:moveTo>
                  <a:lnTo>
                    <a:pt x="0" y="141732"/>
                  </a:lnTo>
                  <a:lnTo>
                    <a:pt x="0" y="109728"/>
                  </a:lnTo>
                  <a:lnTo>
                    <a:pt x="7620" y="109728"/>
                  </a:lnTo>
                  <a:lnTo>
                    <a:pt x="7620" y="141732"/>
                  </a:lnTo>
                  <a:close/>
                </a:path>
                <a:path w="7620" h="525779">
                  <a:moveTo>
                    <a:pt x="7620" y="86867"/>
                  </a:moveTo>
                  <a:lnTo>
                    <a:pt x="0" y="86867"/>
                  </a:lnTo>
                  <a:lnTo>
                    <a:pt x="0" y="54864"/>
                  </a:lnTo>
                  <a:lnTo>
                    <a:pt x="7620" y="54864"/>
                  </a:lnTo>
                  <a:lnTo>
                    <a:pt x="7620" y="86867"/>
                  </a:lnTo>
                  <a:close/>
                </a:path>
                <a:path w="7620" h="525779">
                  <a:moveTo>
                    <a:pt x="7620" y="32004"/>
                  </a:moveTo>
                  <a:lnTo>
                    <a:pt x="0" y="32004"/>
                  </a:lnTo>
                  <a:lnTo>
                    <a:pt x="0" y="0"/>
                  </a:lnTo>
                  <a:lnTo>
                    <a:pt x="7620" y="0"/>
                  </a:lnTo>
                  <a:lnTo>
                    <a:pt x="7620" y="32004"/>
                  </a:lnTo>
                  <a:close/>
                </a:path>
              </a:pathLst>
            </a:custGeom>
            <a:solidFill>
              <a:srgbClr val="954F7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4024121" y="2095499"/>
              <a:ext cx="0" cy="2231390"/>
            </a:xfrm>
            <a:custGeom>
              <a:avLst/>
              <a:gdLst/>
              <a:ahLst/>
              <a:cxnLst/>
              <a:rect l="l" t="t" r="r" b="b"/>
              <a:pathLst>
                <a:path w="0" h="2231390">
                  <a:moveTo>
                    <a:pt x="0" y="0"/>
                  </a:moveTo>
                  <a:lnTo>
                    <a:pt x="0" y="2231135"/>
                  </a:lnTo>
                </a:path>
              </a:pathLst>
            </a:custGeom>
            <a:ln w="7620">
              <a:solidFill>
                <a:srgbClr val="954F72"/>
              </a:solidFill>
              <a:prstDash val="sys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4020311" y="2063495"/>
              <a:ext cx="7620" cy="9525"/>
            </a:xfrm>
            <a:custGeom>
              <a:avLst/>
              <a:gdLst/>
              <a:ahLst/>
              <a:cxnLst/>
              <a:rect l="l" t="t" r="r" b="b"/>
              <a:pathLst>
                <a:path w="7620" h="9525">
                  <a:moveTo>
                    <a:pt x="7620" y="9144"/>
                  </a:moveTo>
                  <a:lnTo>
                    <a:pt x="0" y="9144"/>
                  </a:lnTo>
                  <a:lnTo>
                    <a:pt x="0" y="0"/>
                  </a:lnTo>
                  <a:lnTo>
                    <a:pt x="7620" y="0"/>
                  </a:lnTo>
                  <a:lnTo>
                    <a:pt x="7620" y="9144"/>
                  </a:lnTo>
                  <a:close/>
                </a:path>
              </a:pathLst>
            </a:custGeom>
            <a:solidFill>
              <a:srgbClr val="954F7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" name="object 11" descr=""/>
          <p:cNvSpPr txBox="1"/>
          <p:nvPr/>
        </p:nvSpPr>
        <p:spPr>
          <a:xfrm>
            <a:off x="5671765" y="2521655"/>
            <a:ext cx="1424305" cy="3276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950">
                <a:solidFill>
                  <a:srgbClr val="ED7C31"/>
                </a:solidFill>
                <a:latin typeface="Arial MT"/>
                <a:cs typeface="Arial MT"/>
              </a:rPr>
              <a:t>Level</a:t>
            </a:r>
            <a:r>
              <a:rPr dirty="0" sz="1950" spc="15">
                <a:solidFill>
                  <a:srgbClr val="ED7C31"/>
                </a:solidFill>
                <a:latin typeface="Arial MT"/>
                <a:cs typeface="Arial MT"/>
              </a:rPr>
              <a:t> </a:t>
            </a:r>
            <a:r>
              <a:rPr dirty="0" sz="1950">
                <a:solidFill>
                  <a:srgbClr val="ED7C31"/>
                </a:solidFill>
                <a:latin typeface="Arial MT"/>
                <a:cs typeface="Arial MT"/>
              </a:rPr>
              <a:t>1</a:t>
            </a:r>
            <a:r>
              <a:rPr dirty="0" sz="1950" spc="35">
                <a:solidFill>
                  <a:srgbClr val="ED7C31"/>
                </a:solidFill>
                <a:latin typeface="Arial MT"/>
                <a:cs typeface="Arial MT"/>
              </a:rPr>
              <a:t> </a:t>
            </a:r>
            <a:r>
              <a:rPr dirty="0" sz="1950" spc="-25">
                <a:solidFill>
                  <a:srgbClr val="ED7C31"/>
                </a:solidFill>
                <a:latin typeface="Arial MT"/>
                <a:cs typeface="Arial MT"/>
              </a:rPr>
              <a:t>DFD</a:t>
            </a:r>
            <a:endParaRPr sz="1950">
              <a:latin typeface="Arial MT"/>
              <a:cs typeface="Arial MT"/>
            </a:endParaRPr>
          </a:p>
        </p:txBody>
      </p:sp>
      <p:pic>
        <p:nvPicPr>
          <p:cNvPr id="12" name="object 12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429512" y="3430523"/>
            <a:ext cx="2083307" cy="3218688"/>
          </a:xfrm>
          <a:prstGeom prst="rect">
            <a:avLst/>
          </a:prstGeom>
        </p:spPr>
      </p:pic>
      <p:sp>
        <p:nvSpPr>
          <p:cNvPr id="13" name="object 13" descr=""/>
          <p:cNvSpPr txBox="1"/>
          <p:nvPr/>
        </p:nvSpPr>
        <p:spPr>
          <a:xfrm>
            <a:off x="1509806" y="1667428"/>
            <a:ext cx="2307590" cy="2566670"/>
          </a:xfrm>
          <a:prstGeom prst="rect">
            <a:avLst/>
          </a:prstGeom>
        </p:spPr>
        <p:txBody>
          <a:bodyPr wrap="square" lIns="0" tIns="180340" rIns="0" bIns="0" rtlCol="0" vert="horz">
            <a:spAutoFit/>
          </a:bodyPr>
          <a:lstStyle/>
          <a:p>
            <a:pPr marL="641985">
              <a:lnSpc>
                <a:spcPct val="100000"/>
              </a:lnSpc>
              <a:spcBef>
                <a:spcPts val="1420"/>
              </a:spcBef>
            </a:pPr>
            <a:r>
              <a:rPr dirty="0" sz="1950" spc="-10">
                <a:solidFill>
                  <a:srgbClr val="00CC00"/>
                </a:solidFill>
                <a:latin typeface="Arial MT"/>
                <a:cs typeface="Arial MT"/>
              </a:rPr>
              <a:t>Example</a:t>
            </a:r>
            <a:endParaRPr sz="1950">
              <a:latin typeface="Arial MT"/>
              <a:cs typeface="Arial MT"/>
            </a:endParaRPr>
          </a:p>
          <a:p>
            <a:pPr marL="12700" marR="5080">
              <a:lnSpc>
                <a:spcPct val="100000"/>
              </a:lnSpc>
              <a:spcBef>
                <a:spcPts val="1090"/>
              </a:spcBef>
            </a:pPr>
            <a:r>
              <a:rPr dirty="0" sz="1650">
                <a:latin typeface="Times New Roman"/>
                <a:cs typeface="Times New Roman"/>
              </a:rPr>
              <a:t>Create</a:t>
            </a:r>
            <a:r>
              <a:rPr dirty="0" sz="1650" spc="-40">
                <a:latin typeface="Times New Roman"/>
                <a:cs typeface="Times New Roman"/>
              </a:rPr>
              <a:t> </a:t>
            </a:r>
            <a:r>
              <a:rPr dirty="0" sz="1650">
                <a:latin typeface="Times New Roman"/>
                <a:cs typeface="Times New Roman"/>
              </a:rPr>
              <a:t>a</a:t>
            </a:r>
            <a:r>
              <a:rPr dirty="0" sz="1650" spc="-35">
                <a:latin typeface="Times New Roman"/>
                <a:cs typeface="Times New Roman"/>
              </a:rPr>
              <a:t> </a:t>
            </a:r>
            <a:r>
              <a:rPr dirty="0" sz="1650">
                <a:latin typeface="Times New Roman"/>
                <a:cs typeface="Times New Roman"/>
              </a:rPr>
              <a:t>level</a:t>
            </a:r>
            <a:r>
              <a:rPr dirty="0" sz="1650" spc="-45">
                <a:latin typeface="Times New Roman"/>
                <a:cs typeface="Times New Roman"/>
              </a:rPr>
              <a:t> </a:t>
            </a:r>
            <a:r>
              <a:rPr dirty="0" sz="1650" spc="-50">
                <a:latin typeface="Times New Roman"/>
                <a:cs typeface="Times New Roman"/>
              </a:rPr>
              <a:t>1 </a:t>
            </a:r>
            <a:r>
              <a:rPr dirty="0" sz="1650">
                <a:latin typeface="Times New Roman"/>
                <a:cs typeface="Times New Roman"/>
              </a:rPr>
              <a:t>decomposing</a:t>
            </a:r>
            <a:r>
              <a:rPr dirty="0" sz="1650" spc="-60">
                <a:latin typeface="Times New Roman"/>
                <a:cs typeface="Times New Roman"/>
              </a:rPr>
              <a:t> </a:t>
            </a:r>
            <a:r>
              <a:rPr dirty="0" sz="1650">
                <a:latin typeface="Times New Roman"/>
                <a:cs typeface="Times New Roman"/>
              </a:rPr>
              <a:t>the</a:t>
            </a:r>
            <a:r>
              <a:rPr dirty="0" sz="1650" spc="-40">
                <a:latin typeface="Times New Roman"/>
                <a:cs typeface="Times New Roman"/>
              </a:rPr>
              <a:t> </a:t>
            </a:r>
            <a:r>
              <a:rPr dirty="0" sz="1650" spc="-10">
                <a:latin typeface="Times New Roman"/>
                <a:cs typeface="Times New Roman"/>
              </a:rPr>
              <a:t>processes </a:t>
            </a:r>
            <a:r>
              <a:rPr dirty="0" sz="1650">
                <a:latin typeface="Times New Roman"/>
                <a:cs typeface="Times New Roman"/>
              </a:rPr>
              <a:t>in</a:t>
            </a:r>
            <a:r>
              <a:rPr dirty="0" sz="1650" spc="-40">
                <a:latin typeface="Times New Roman"/>
                <a:cs typeface="Times New Roman"/>
              </a:rPr>
              <a:t> </a:t>
            </a:r>
            <a:r>
              <a:rPr dirty="0" sz="1650">
                <a:latin typeface="Times New Roman"/>
                <a:cs typeface="Times New Roman"/>
              </a:rPr>
              <a:t>level</a:t>
            </a:r>
            <a:r>
              <a:rPr dirty="0" sz="1650" spc="-30">
                <a:latin typeface="Times New Roman"/>
                <a:cs typeface="Times New Roman"/>
              </a:rPr>
              <a:t> </a:t>
            </a:r>
            <a:r>
              <a:rPr dirty="0" sz="1650">
                <a:latin typeface="Times New Roman"/>
                <a:cs typeface="Times New Roman"/>
              </a:rPr>
              <a:t>0</a:t>
            </a:r>
            <a:r>
              <a:rPr dirty="0" sz="1650" spc="-15">
                <a:latin typeface="Times New Roman"/>
                <a:cs typeface="Times New Roman"/>
              </a:rPr>
              <a:t> </a:t>
            </a:r>
            <a:r>
              <a:rPr dirty="0" sz="1650">
                <a:latin typeface="Times New Roman"/>
                <a:cs typeface="Times New Roman"/>
              </a:rPr>
              <a:t>and</a:t>
            </a:r>
            <a:r>
              <a:rPr dirty="0" sz="1650" spc="-20">
                <a:latin typeface="Times New Roman"/>
                <a:cs typeface="Times New Roman"/>
              </a:rPr>
              <a:t> </a:t>
            </a:r>
            <a:r>
              <a:rPr dirty="0" sz="1650" spc="-10">
                <a:latin typeface="Times New Roman"/>
                <a:cs typeface="Times New Roman"/>
              </a:rPr>
              <a:t>identifying </a:t>
            </a:r>
            <a:r>
              <a:rPr dirty="0" sz="1650">
                <a:latin typeface="Times New Roman"/>
                <a:cs typeface="Times New Roman"/>
              </a:rPr>
              <a:t>data</a:t>
            </a:r>
            <a:r>
              <a:rPr dirty="0" sz="1650" spc="-35">
                <a:latin typeface="Times New Roman"/>
                <a:cs typeface="Times New Roman"/>
              </a:rPr>
              <a:t> </a:t>
            </a:r>
            <a:r>
              <a:rPr dirty="0" sz="1650" spc="-10">
                <a:latin typeface="Times New Roman"/>
                <a:cs typeface="Times New Roman"/>
              </a:rPr>
              <a:t>stores.</a:t>
            </a:r>
            <a:endParaRPr sz="1650">
              <a:latin typeface="Times New Roman"/>
              <a:cs typeface="Times New Roman"/>
            </a:endParaRPr>
          </a:p>
          <a:p>
            <a:pPr marL="12700" marR="758190">
              <a:lnSpc>
                <a:spcPct val="100000"/>
              </a:lnSpc>
              <a:spcBef>
                <a:spcPts val="1395"/>
              </a:spcBef>
            </a:pPr>
            <a:r>
              <a:rPr dirty="0" sz="1650">
                <a:solidFill>
                  <a:srgbClr val="339933"/>
                </a:solidFill>
                <a:latin typeface="Arial MT"/>
                <a:cs typeface="Arial MT"/>
              </a:rPr>
              <a:t>Customer</a:t>
            </a:r>
            <a:r>
              <a:rPr dirty="0" sz="1650" spc="-50">
                <a:solidFill>
                  <a:srgbClr val="339933"/>
                </a:solidFill>
                <a:latin typeface="Arial MT"/>
                <a:cs typeface="Arial MT"/>
              </a:rPr>
              <a:t> </a:t>
            </a:r>
            <a:r>
              <a:rPr dirty="0" sz="1650" spc="-20">
                <a:solidFill>
                  <a:srgbClr val="339933"/>
                </a:solidFill>
                <a:latin typeface="Arial MT"/>
                <a:cs typeface="Arial MT"/>
              </a:rPr>
              <a:t>Order </a:t>
            </a:r>
            <a:r>
              <a:rPr dirty="0" sz="1650">
                <a:solidFill>
                  <a:srgbClr val="339933"/>
                </a:solidFill>
                <a:latin typeface="Arial MT"/>
                <a:cs typeface="Arial MT"/>
              </a:rPr>
              <a:t>Serve</a:t>
            </a:r>
            <a:r>
              <a:rPr dirty="0" sz="1650" spc="-25">
                <a:solidFill>
                  <a:srgbClr val="339933"/>
                </a:solidFill>
                <a:latin typeface="Arial MT"/>
                <a:cs typeface="Arial MT"/>
              </a:rPr>
              <a:t> </a:t>
            </a:r>
            <a:r>
              <a:rPr dirty="0" sz="1650" spc="-10">
                <a:solidFill>
                  <a:srgbClr val="339933"/>
                </a:solidFill>
                <a:latin typeface="Arial MT"/>
                <a:cs typeface="Arial MT"/>
              </a:rPr>
              <a:t>Product </a:t>
            </a:r>
            <a:r>
              <a:rPr dirty="0" sz="1650">
                <a:solidFill>
                  <a:srgbClr val="339933"/>
                </a:solidFill>
                <a:latin typeface="Arial MT"/>
                <a:cs typeface="Arial MT"/>
              </a:rPr>
              <a:t>Collect</a:t>
            </a:r>
            <a:r>
              <a:rPr dirty="0" sz="1650" spc="-15">
                <a:solidFill>
                  <a:srgbClr val="339933"/>
                </a:solidFill>
                <a:latin typeface="Arial MT"/>
                <a:cs typeface="Arial MT"/>
              </a:rPr>
              <a:t> </a:t>
            </a:r>
            <a:r>
              <a:rPr dirty="0" sz="1650" spc="-10">
                <a:solidFill>
                  <a:srgbClr val="339933"/>
                </a:solidFill>
                <a:latin typeface="Arial MT"/>
                <a:cs typeface="Arial MT"/>
              </a:rPr>
              <a:t>Payment</a:t>
            </a:r>
            <a:endParaRPr sz="1650">
              <a:latin typeface="Arial MT"/>
              <a:cs typeface="Arial MT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4150831" y="1957850"/>
            <a:ext cx="3143250" cy="27813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391160" algn="l"/>
              </a:tabLst>
            </a:pPr>
            <a:r>
              <a:rPr dirty="0" sz="1650" spc="-25">
                <a:latin typeface="Arial MT"/>
                <a:cs typeface="Arial MT"/>
              </a:rPr>
              <a:t>4.</a:t>
            </a:r>
            <a:r>
              <a:rPr dirty="0" sz="1650">
                <a:latin typeface="Arial MT"/>
                <a:cs typeface="Arial MT"/>
              </a:rPr>
              <a:t>	Construct</a:t>
            </a:r>
            <a:r>
              <a:rPr dirty="0" sz="1650" spc="-50">
                <a:latin typeface="Arial MT"/>
                <a:cs typeface="Arial MT"/>
              </a:rPr>
              <a:t> </a:t>
            </a:r>
            <a:r>
              <a:rPr dirty="0" sz="1650">
                <a:latin typeface="Arial MT"/>
                <a:cs typeface="Arial MT"/>
              </a:rPr>
              <a:t>Level</a:t>
            </a:r>
            <a:r>
              <a:rPr dirty="0" sz="1650" spc="-35">
                <a:latin typeface="Arial MT"/>
                <a:cs typeface="Arial MT"/>
              </a:rPr>
              <a:t> </a:t>
            </a:r>
            <a:r>
              <a:rPr dirty="0" sz="1650">
                <a:latin typeface="Arial MT"/>
                <a:cs typeface="Arial MT"/>
              </a:rPr>
              <a:t>1</a:t>
            </a:r>
            <a:r>
              <a:rPr dirty="0" sz="1650" spc="-10">
                <a:latin typeface="Arial MT"/>
                <a:cs typeface="Arial MT"/>
              </a:rPr>
              <a:t> (continued)</a:t>
            </a:r>
            <a:endParaRPr sz="1650">
              <a:latin typeface="Arial MT"/>
              <a:cs typeface="Arial MT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4195040" y="2794507"/>
            <a:ext cx="735965" cy="2012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50" spc="-135">
                <a:latin typeface="Microsoft Sans Serif"/>
                <a:cs typeface="Microsoft Sans Serif"/>
              </a:rPr>
              <a:t>Time</a:t>
            </a:r>
            <a:r>
              <a:rPr dirty="0" sz="1150">
                <a:latin typeface="Microsoft Sans Serif"/>
                <a:cs typeface="Microsoft Sans Serif"/>
              </a:rPr>
              <a:t> </a:t>
            </a:r>
            <a:r>
              <a:rPr dirty="0" sz="1150" spc="-114">
                <a:latin typeface="Microsoft Sans Serif"/>
                <a:cs typeface="Microsoft Sans Serif"/>
              </a:rPr>
              <a:t>Worked</a:t>
            </a:r>
            <a:endParaRPr sz="1150">
              <a:latin typeface="Microsoft Sans Serif"/>
              <a:cs typeface="Microsoft Sans Serif"/>
            </a:endParaRPr>
          </a:p>
        </p:txBody>
      </p:sp>
      <p:sp>
        <p:nvSpPr>
          <p:cNvPr id="16" name="object 16" descr=""/>
          <p:cNvSpPr txBox="1"/>
          <p:nvPr/>
        </p:nvSpPr>
        <p:spPr>
          <a:xfrm>
            <a:off x="1509806" y="4458701"/>
            <a:ext cx="1590040" cy="5295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dirty="0" sz="1650">
                <a:solidFill>
                  <a:srgbClr val="339933"/>
                </a:solidFill>
                <a:latin typeface="Arial MT"/>
                <a:cs typeface="Arial MT"/>
              </a:rPr>
              <a:t>Produce</a:t>
            </a:r>
            <a:r>
              <a:rPr dirty="0" sz="1650" spc="-30">
                <a:solidFill>
                  <a:srgbClr val="339933"/>
                </a:solidFill>
                <a:latin typeface="Arial MT"/>
                <a:cs typeface="Arial MT"/>
              </a:rPr>
              <a:t> </a:t>
            </a:r>
            <a:r>
              <a:rPr dirty="0" sz="1650" spc="-10">
                <a:solidFill>
                  <a:srgbClr val="339933"/>
                </a:solidFill>
                <a:latin typeface="Arial MT"/>
                <a:cs typeface="Arial MT"/>
              </a:rPr>
              <a:t>Product </a:t>
            </a:r>
            <a:r>
              <a:rPr dirty="0" sz="1650">
                <a:solidFill>
                  <a:srgbClr val="339933"/>
                </a:solidFill>
                <a:latin typeface="Arial MT"/>
                <a:cs typeface="Arial MT"/>
              </a:rPr>
              <a:t>Store</a:t>
            </a:r>
            <a:r>
              <a:rPr dirty="0" sz="1650" spc="-40">
                <a:solidFill>
                  <a:srgbClr val="339933"/>
                </a:solidFill>
                <a:latin typeface="Arial MT"/>
                <a:cs typeface="Arial MT"/>
              </a:rPr>
              <a:t> </a:t>
            </a:r>
            <a:r>
              <a:rPr dirty="0" sz="1650" spc="-10">
                <a:solidFill>
                  <a:srgbClr val="339933"/>
                </a:solidFill>
                <a:latin typeface="Arial MT"/>
                <a:cs typeface="Arial MT"/>
              </a:rPr>
              <a:t>Product</a:t>
            </a:r>
            <a:endParaRPr sz="1650">
              <a:latin typeface="Arial MT"/>
              <a:cs typeface="Arial MT"/>
            </a:endParaRPr>
          </a:p>
        </p:txBody>
      </p:sp>
      <p:sp>
        <p:nvSpPr>
          <p:cNvPr id="17" name="object 17" descr=""/>
          <p:cNvSpPr txBox="1"/>
          <p:nvPr/>
        </p:nvSpPr>
        <p:spPr>
          <a:xfrm>
            <a:off x="1509806" y="5213074"/>
            <a:ext cx="2078355" cy="5295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dirty="0" sz="1650">
                <a:solidFill>
                  <a:srgbClr val="339933"/>
                </a:solidFill>
                <a:latin typeface="Arial MT"/>
                <a:cs typeface="Arial MT"/>
              </a:rPr>
              <a:t>Order</a:t>
            </a:r>
            <a:r>
              <a:rPr dirty="0" sz="1650" spc="-45">
                <a:solidFill>
                  <a:srgbClr val="339933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339933"/>
                </a:solidFill>
                <a:latin typeface="Arial MT"/>
                <a:cs typeface="Arial MT"/>
              </a:rPr>
              <a:t>Raw</a:t>
            </a:r>
            <a:r>
              <a:rPr dirty="0" sz="1650" spc="-10">
                <a:solidFill>
                  <a:srgbClr val="339933"/>
                </a:solidFill>
                <a:latin typeface="Arial MT"/>
                <a:cs typeface="Arial MT"/>
              </a:rPr>
              <a:t> Materials </a:t>
            </a:r>
            <a:r>
              <a:rPr dirty="0" sz="1650">
                <a:solidFill>
                  <a:srgbClr val="339933"/>
                </a:solidFill>
                <a:latin typeface="Arial MT"/>
                <a:cs typeface="Arial MT"/>
              </a:rPr>
              <a:t>Pay</a:t>
            </a:r>
            <a:r>
              <a:rPr dirty="0" sz="1650" spc="-20">
                <a:solidFill>
                  <a:srgbClr val="339933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339933"/>
                </a:solidFill>
                <a:latin typeface="Arial MT"/>
                <a:cs typeface="Arial MT"/>
              </a:rPr>
              <a:t>for</a:t>
            </a:r>
            <a:r>
              <a:rPr dirty="0" sz="1650" spc="-25">
                <a:solidFill>
                  <a:srgbClr val="339933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339933"/>
                </a:solidFill>
                <a:latin typeface="Arial MT"/>
                <a:cs typeface="Arial MT"/>
              </a:rPr>
              <a:t>Raw</a:t>
            </a:r>
            <a:r>
              <a:rPr dirty="0" sz="1650" spc="-15">
                <a:solidFill>
                  <a:srgbClr val="339933"/>
                </a:solidFill>
                <a:latin typeface="Arial MT"/>
                <a:cs typeface="Arial MT"/>
              </a:rPr>
              <a:t> </a:t>
            </a:r>
            <a:r>
              <a:rPr dirty="0" sz="1650" spc="-10">
                <a:solidFill>
                  <a:srgbClr val="339933"/>
                </a:solidFill>
                <a:latin typeface="Arial MT"/>
                <a:cs typeface="Arial MT"/>
              </a:rPr>
              <a:t>Materials</a:t>
            </a:r>
            <a:endParaRPr sz="1650">
              <a:latin typeface="Arial MT"/>
              <a:cs typeface="Arial MT"/>
            </a:endParaRPr>
          </a:p>
        </p:txBody>
      </p:sp>
      <p:sp>
        <p:nvSpPr>
          <p:cNvPr id="18" name="object 18" descr=""/>
          <p:cNvSpPr txBox="1"/>
          <p:nvPr/>
        </p:nvSpPr>
        <p:spPr>
          <a:xfrm>
            <a:off x="1509806" y="5967448"/>
            <a:ext cx="1377950" cy="27813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650" b="1">
                <a:latin typeface="Arial"/>
                <a:cs typeface="Arial"/>
              </a:rPr>
              <a:t>Pay</a:t>
            </a:r>
            <a:r>
              <a:rPr dirty="0" sz="1650" spc="-20" b="1">
                <a:latin typeface="Arial"/>
                <a:cs typeface="Arial"/>
              </a:rPr>
              <a:t> </a:t>
            </a:r>
            <a:r>
              <a:rPr dirty="0" sz="1650" b="1">
                <a:latin typeface="Arial"/>
                <a:cs typeface="Arial"/>
              </a:rPr>
              <a:t>for</a:t>
            </a:r>
            <a:r>
              <a:rPr dirty="0" sz="1650" spc="-20" b="1">
                <a:latin typeface="Arial"/>
                <a:cs typeface="Arial"/>
              </a:rPr>
              <a:t> </a:t>
            </a:r>
            <a:r>
              <a:rPr dirty="0" sz="1650" spc="-10" b="1">
                <a:latin typeface="Arial"/>
                <a:cs typeface="Arial"/>
              </a:rPr>
              <a:t>Labor</a:t>
            </a:r>
            <a:endParaRPr sz="1650">
              <a:latin typeface="Arial"/>
              <a:cs typeface="Arial"/>
            </a:endParaRPr>
          </a:p>
        </p:txBody>
      </p:sp>
      <p:sp>
        <p:nvSpPr>
          <p:cNvPr id="19" name="object 19" descr=""/>
          <p:cNvSpPr txBox="1"/>
          <p:nvPr/>
        </p:nvSpPr>
        <p:spPr>
          <a:xfrm>
            <a:off x="5216090" y="3129747"/>
            <a:ext cx="381635" cy="6299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ctr">
              <a:lnSpc>
                <a:spcPts val="1195"/>
              </a:lnSpc>
              <a:spcBef>
                <a:spcPts val="95"/>
              </a:spcBef>
            </a:pPr>
            <a:r>
              <a:rPr dirty="0" u="sng" sz="1000" spc="-25">
                <a:uFill>
                  <a:solidFill>
                    <a:srgbClr val="000000"/>
                  </a:solidFill>
                </a:uFill>
                <a:latin typeface="Microsoft Sans Serif"/>
                <a:cs typeface="Microsoft Sans Serif"/>
              </a:rPr>
              <a:t>4.1</a:t>
            </a:r>
            <a:endParaRPr sz="1000">
              <a:latin typeface="Microsoft Sans Serif"/>
              <a:cs typeface="Microsoft Sans Serif"/>
            </a:endParaRPr>
          </a:p>
          <a:p>
            <a:pPr algn="ctr" marL="12700" marR="5080" indent="-635">
              <a:lnSpc>
                <a:spcPts val="1190"/>
              </a:lnSpc>
              <a:spcBef>
                <a:spcPts val="40"/>
              </a:spcBef>
            </a:pPr>
            <a:r>
              <a:rPr dirty="0" sz="1000" spc="-80">
                <a:latin typeface="Microsoft Sans Serif"/>
                <a:cs typeface="Microsoft Sans Serif"/>
              </a:rPr>
              <a:t>Record</a:t>
            </a:r>
            <a:r>
              <a:rPr dirty="0" sz="1000" spc="-20">
                <a:latin typeface="Microsoft Sans Serif"/>
                <a:cs typeface="Microsoft Sans Serif"/>
              </a:rPr>
              <a:t> Time </a:t>
            </a:r>
            <a:r>
              <a:rPr dirty="0" sz="1000" spc="-120">
                <a:latin typeface="Microsoft Sans Serif"/>
                <a:cs typeface="Microsoft Sans Serif"/>
              </a:rPr>
              <a:t>Worked</a:t>
            </a:r>
            <a:endParaRPr sz="1000">
              <a:latin typeface="Microsoft Sans Serif"/>
              <a:cs typeface="Microsoft Sans Serif"/>
            </a:endParaRPr>
          </a:p>
        </p:txBody>
      </p:sp>
      <p:grpSp>
        <p:nvGrpSpPr>
          <p:cNvPr id="20" name="object 20" descr=""/>
          <p:cNvGrpSpPr/>
          <p:nvPr/>
        </p:nvGrpSpPr>
        <p:grpSpPr>
          <a:xfrm>
            <a:off x="4582667" y="3008361"/>
            <a:ext cx="2705100" cy="1684655"/>
            <a:chOff x="4582667" y="3008361"/>
            <a:chExt cx="2705100" cy="1684655"/>
          </a:xfrm>
        </p:grpSpPr>
        <p:sp>
          <p:nvSpPr>
            <p:cNvPr id="21" name="object 21" descr=""/>
            <p:cNvSpPr/>
            <p:nvPr/>
          </p:nvSpPr>
          <p:spPr>
            <a:xfrm>
              <a:off x="4582667" y="4326635"/>
              <a:ext cx="439420" cy="365760"/>
            </a:xfrm>
            <a:custGeom>
              <a:avLst/>
              <a:gdLst/>
              <a:ahLst/>
              <a:cxnLst/>
              <a:rect l="l" t="t" r="r" b="b"/>
              <a:pathLst>
                <a:path w="439420" h="365760">
                  <a:moveTo>
                    <a:pt x="415798" y="321427"/>
                  </a:moveTo>
                  <a:lnTo>
                    <a:pt x="397763" y="320040"/>
                  </a:lnTo>
                  <a:lnTo>
                    <a:pt x="358139" y="313943"/>
                  </a:lnTo>
                  <a:lnTo>
                    <a:pt x="336804" y="310896"/>
                  </a:lnTo>
                  <a:lnTo>
                    <a:pt x="316991" y="306324"/>
                  </a:lnTo>
                  <a:lnTo>
                    <a:pt x="297180" y="300228"/>
                  </a:lnTo>
                  <a:lnTo>
                    <a:pt x="278892" y="294131"/>
                  </a:lnTo>
                  <a:lnTo>
                    <a:pt x="259080" y="288036"/>
                  </a:lnTo>
                  <a:lnTo>
                    <a:pt x="204216" y="262128"/>
                  </a:lnTo>
                  <a:lnTo>
                    <a:pt x="170688" y="243840"/>
                  </a:lnTo>
                  <a:lnTo>
                    <a:pt x="138684" y="222504"/>
                  </a:lnTo>
                  <a:lnTo>
                    <a:pt x="108204" y="198119"/>
                  </a:lnTo>
                  <a:lnTo>
                    <a:pt x="70104" y="160019"/>
                  </a:lnTo>
                  <a:lnTo>
                    <a:pt x="57912" y="147828"/>
                  </a:lnTo>
                  <a:lnTo>
                    <a:pt x="48768" y="134112"/>
                  </a:lnTo>
                  <a:lnTo>
                    <a:pt x="38100" y="118872"/>
                  </a:lnTo>
                  <a:lnTo>
                    <a:pt x="22860" y="91440"/>
                  </a:lnTo>
                  <a:lnTo>
                    <a:pt x="10668" y="60960"/>
                  </a:lnTo>
                  <a:lnTo>
                    <a:pt x="6096" y="45720"/>
                  </a:lnTo>
                  <a:lnTo>
                    <a:pt x="3048" y="30480"/>
                  </a:lnTo>
                  <a:lnTo>
                    <a:pt x="1524" y="15240"/>
                  </a:lnTo>
                  <a:lnTo>
                    <a:pt x="0" y="1524"/>
                  </a:lnTo>
                  <a:lnTo>
                    <a:pt x="13716" y="0"/>
                  </a:lnTo>
                  <a:lnTo>
                    <a:pt x="13716" y="15240"/>
                  </a:lnTo>
                  <a:lnTo>
                    <a:pt x="16764" y="28956"/>
                  </a:lnTo>
                  <a:lnTo>
                    <a:pt x="41148" y="99060"/>
                  </a:lnTo>
                  <a:lnTo>
                    <a:pt x="68580" y="138684"/>
                  </a:lnTo>
                  <a:lnTo>
                    <a:pt x="103632" y="176784"/>
                  </a:lnTo>
                  <a:lnTo>
                    <a:pt x="176783" y="233172"/>
                  </a:lnTo>
                  <a:lnTo>
                    <a:pt x="210312" y="251460"/>
                  </a:lnTo>
                  <a:lnTo>
                    <a:pt x="228600" y="259080"/>
                  </a:lnTo>
                  <a:lnTo>
                    <a:pt x="245364" y="268224"/>
                  </a:lnTo>
                  <a:lnTo>
                    <a:pt x="263652" y="275843"/>
                  </a:lnTo>
                  <a:lnTo>
                    <a:pt x="283464" y="281940"/>
                  </a:lnTo>
                  <a:lnTo>
                    <a:pt x="301752" y="288036"/>
                  </a:lnTo>
                  <a:lnTo>
                    <a:pt x="321563" y="292607"/>
                  </a:lnTo>
                  <a:lnTo>
                    <a:pt x="339852" y="297180"/>
                  </a:lnTo>
                  <a:lnTo>
                    <a:pt x="359663" y="301752"/>
                  </a:lnTo>
                  <a:lnTo>
                    <a:pt x="379476" y="304800"/>
                  </a:lnTo>
                  <a:lnTo>
                    <a:pt x="416698" y="307663"/>
                  </a:lnTo>
                  <a:lnTo>
                    <a:pt x="418575" y="312571"/>
                  </a:lnTo>
                  <a:lnTo>
                    <a:pt x="418253" y="315467"/>
                  </a:lnTo>
                  <a:lnTo>
                    <a:pt x="418194" y="315996"/>
                  </a:lnTo>
                  <a:lnTo>
                    <a:pt x="415798" y="321427"/>
                  </a:lnTo>
                  <a:close/>
                </a:path>
                <a:path w="439420" h="365760">
                  <a:moveTo>
                    <a:pt x="433739" y="321563"/>
                  </a:moveTo>
                  <a:lnTo>
                    <a:pt x="417576" y="321563"/>
                  </a:lnTo>
                  <a:lnTo>
                    <a:pt x="418194" y="315996"/>
                  </a:lnTo>
                  <a:lnTo>
                    <a:pt x="419100" y="313943"/>
                  </a:lnTo>
                  <a:lnTo>
                    <a:pt x="418575" y="312571"/>
                  </a:lnTo>
                  <a:lnTo>
                    <a:pt x="419100" y="307848"/>
                  </a:lnTo>
                  <a:lnTo>
                    <a:pt x="416698" y="307663"/>
                  </a:lnTo>
                  <a:lnTo>
                    <a:pt x="399287" y="262128"/>
                  </a:lnTo>
                  <a:lnTo>
                    <a:pt x="438912" y="315467"/>
                  </a:lnTo>
                  <a:lnTo>
                    <a:pt x="433855" y="321427"/>
                  </a:lnTo>
                  <a:lnTo>
                    <a:pt x="433739" y="321563"/>
                  </a:lnTo>
                  <a:close/>
                </a:path>
                <a:path w="439420" h="365760">
                  <a:moveTo>
                    <a:pt x="418575" y="312571"/>
                  </a:moveTo>
                  <a:lnTo>
                    <a:pt x="416769" y="307848"/>
                  </a:lnTo>
                  <a:lnTo>
                    <a:pt x="416698" y="307663"/>
                  </a:lnTo>
                  <a:lnTo>
                    <a:pt x="419100" y="307848"/>
                  </a:lnTo>
                  <a:lnTo>
                    <a:pt x="418575" y="312571"/>
                  </a:lnTo>
                  <a:close/>
                </a:path>
                <a:path w="439420" h="365760">
                  <a:moveTo>
                    <a:pt x="417576" y="321563"/>
                  </a:moveTo>
                  <a:lnTo>
                    <a:pt x="415798" y="321427"/>
                  </a:lnTo>
                  <a:lnTo>
                    <a:pt x="418194" y="315996"/>
                  </a:lnTo>
                  <a:lnTo>
                    <a:pt x="417591" y="321427"/>
                  </a:lnTo>
                  <a:lnTo>
                    <a:pt x="417576" y="321563"/>
                  </a:lnTo>
                  <a:close/>
                </a:path>
                <a:path w="439420" h="365760">
                  <a:moveTo>
                    <a:pt x="396239" y="365760"/>
                  </a:moveTo>
                  <a:lnTo>
                    <a:pt x="415738" y="321563"/>
                  </a:lnTo>
                  <a:lnTo>
                    <a:pt x="415798" y="321427"/>
                  </a:lnTo>
                  <a:lnTo>
                    <a:pt x="417576" y="321563"/>
                  </a:lnTo>
                  <a:lnTo>
                    <a:pt x="433739" y="321563"/>
                  </a:lnTo>
                  <a:lnTo>
                    <a:pt x="396239" y="36576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2" name="object 22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475476" y="3008361"/>
              <a:ext cx="811677" cy="309401"/>
            </a:xfrm>
            <a:prstGeom prst="rect">
              <a:avLst/>
            </a:prstGeom>
          </p:spPr>
        </p:pic>
      </p:grpSp>
      <p:sp>
        <p:nvSpPr>
          <p:cNvPr id="23" name="object 23" descr=""/>
          <p:cNvSpPr txBox="1"/>
          <p:nvPr/>
        </p:nvSpPr>
        <p:spPr>
          <a:xfrm>
            <a:off x="6554150" y="3071875"/>
            <a:ext cx="66294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114">
                <a:latin typeface="Microsoft Sans Serif"/>
                <a:cs typeface="Microsoft Sans Serif"/>
              </a:rPr>
              <a:t>TIME</a:t>
            </a:r>
            <a:r>
              <a:rPr dirty="0" sz="1000" spc="-40">
                <a:latin typeface="Microsoft Sans Serif"/>
                <a:cs typeface="Microsoft Sans Serif"/>
              </a:rPr>
              <a:t> </a:t>
            </a:r>
            <a:r>
              <a:rPr dirty="0" sz="1000" spc="-125">
                <a:latin typeface="Microsoft Sans Serif"/>
                <a:cs typeface="Microsoft Sans Serif"/>
              </a:rPr>
              <a:t>CARDS</a:t>
            </a:r>
            <a:endParaRPr sz="1000">
              <a:latin typeface="Microsoft Sans Serif"/>
              <a:cs typeface="Microsoft Sans Serif"/>
            </a:endParaRPr>
          </a:p>
        </p:txBody>
      </p:sp>
      <p:grpSp>
        <p:nvGrpSpPr>
          <p:cNvPr id="24" name="object 24" descr=""/>
          <p:cNvGrpSpPr/>
          <p:nvPr/>
        </p:nvGrpSpPr>
        <p:grpSpPr>
          <a:xfrm>
            <a:off x="4555235" y="3006851"/>
            <a:ext cx="1920239" cy="2019300"/>
            <a:chOff x="4555235" y="3006851"/>
            <a:chExt cx="1920239" cy="2019300"/>
          </a:xfrm>
        </p:grpSpPr>
        <p:sp>
          <p:nvSpPr>
            <p:cNvPr id="25" name="object 25" descr=""/>
            <p:cNvSpPr/>
            <p:nvPr/>
          </p:nvSpPr>
          <p:spPr>
            <a:xfrm>
              <a:off x="4555223" y="3006851"/>
              <a:ext cx="1920875" cy="490855"/>
            </a:xfrm>
            <a:custGeom>
              <a:avLst/>
              <a:gdLst/>
              <a:ahLst/>
              <a:cxnLst/>
              <a:rect l="l" t="t" r="r" b="b"/>
              <a:pathLst>
                <a:path w="1920875" h="490854">
                  <a:moveTo>
                    <a:pt x="466344" y="440436"/>
                  </a:moveTo>
                  <a:lnTo>
                    <a:pt x="426720" y="387096"/>
                  </a:lnTo>
                  <a:lnTo>
                    <a:pt x="443636" y="432612"/>
                  </a:lnTo>
                  <a:lnTo>
                    <a:pt x="443712" y="432816"/>
                  </a:lnTo>
                  <a:lnTo>
                    <a:pt x="445884" y="438683"/>
                  </a:lnTo>
                  <a:lnTo>
                    <a:pt x="446532" y="440436"/>
                  </a:lnTo>
                  <a:lnTo>
                    <a:pt x="445414" y="442912"/>
                  </a:lnTo>
                  <a:lnTo>
                    <a:pt x="445884" y="438683"/>
                  </a:lnTo>
                  <a:lnTo>
                    <a:pt x="443636" y="432612"/>
                  </a:lnTo>
                  <a:lnTo>
                    <a:pt x="403860" y="428244"/>
                  </a:lnTo>
                  <a:lnTo>
                    <a:pt x="361188" y="419100"/>
                  </a:lnTo>
                  <a:lnTo>
                    <a:pt x="321564" y="405384"/>
                  </a:lnTo>
                  <a:lnTo>
                    <a:pt x="280416" y="387096"/>
                  </a:lnTo>
                  <a:lnTo>
                    <a:pt x="262128" y="376428"/>
                  </a:lnTo>
                  <a:lnTo>
                    <a:pt x="242316" y="365760"/>
                  </a:lnTo>
                  <a:lnTo>
                    <a:pt x="205740" y="341376"/>
                  </a:lnTo>
                  <a:lnTo>
                    <a:pt x="188976" y="327660"/>
                  </a:lnTo>
                  <a:lnTo>
                    <a:pt x="172212" y="312420"/>
                  </a:lnTo>
                  <a:lnTo>
                    <a:pt x="155448" y="298704"/>
                  </a:lnTo>
                  <a:lnTo>
                    <a:pt x="124968" y="266700"/>
                  </a:lnTo>
                  <a:lnTo>
                    <a:pt x="97536" y="233172"/>
                  </a:lnTo>
                  <a:lnTo>
                    <a:pt x="73152" y="196596"/>
                  </a:lnTo>
                  <a:lnTo>
                    <a:pt x="53340" y="158496"/>
                  </a:lnTo>
                  <a:lnTo>
                    <a:pt x="44196" y="140208"/>
                  </a:lnTo>
                  <a:lnTo>
                    <a:pt x="28956" y="100584"/>
                  </a:lnTo>
                  <a:lnTo>
                    <a:pt x="19812" y="60960"/>
                  </a:lnTo>
                  <a:lnTo>
                    <a:pt x="13716" y="21336"/>
                  </a:lnTo>
                  <a:lnTo>
                    <a:pt x="13716" y="0"/>
                  </a:lnTo>
                  <a:lnTo>
                    <a:pt x="0" y="0"/>
                  </a:lnTo>
                  <a:lnTo>
                    <a:pt x="3048" y="42672"/>
                  </a:lnTo>
                  <a:lnTo>
                    <a:pt x="10668" y="83820"/>
                  </a:lnTo>
                  <a:lnTo>
                    <a:pt x="32004" y="144780"/>
                  </a:lnTo>
                  <a:lnTo>
                    <a:pt x="50292" y="184404"/>
                  </a:lnTo>
                  <a:lnTo>
                    <a:pt x="62484" y="202692"/>
                  </a:lnTo>
                  <a:lnTo>
                    <a:pt x="73152" y="222504"/>
                  </a:lnTo>
                  <a:lnTo>
                    <a:pt x="114300" y="274320"/>
                  </a:lnTo>
                  <a:lnTo>
                    <a:pt x="146304" y="307848"/>
                  </a:lnTo>
                  <a:lnTo>
                    <a:pt x="179832" y="336804"/>
                  </a:lnTo>
                  <a:lnTo>
                    <a:pt x="198120" y="352044"/>
                  </a:lnTo>
                  <a:lnTo>
                    <a:pt x="216408" y="364236"/>
                  </a:lnTo>
                  <a:lnTo>
                    <a:pt x="236220" y="376428"/>
                  </a:lnTo>
                  <a:lnTo>
                    <a:pt x="254508" y="388620"/>
                  </a:lnTo>
                  <a:lnTo>
                    <a:pt x="274320" y="399288"/>
                  </a:lnTo>
                  <a:lnTo>
                    <a:pt x="295656" y="408432"/>
                  </a:lnTo>
                  <a:lnTo>
                    <a:pt x="315468" y="417576"/>
                  </a:lnTo>
                  <a:lnTo>
                    <a:pt x="336804" y="425196"/>
                  </a:lnTo>
                  <a:lnTo>
                    <a:pt x="379476" y="437388"/>
                  </a:lnTo>
                  <a:lnTo>
                    <a:pt x="400812" y="440436"/>
                  </a:lnTo>
                  <a:lnTo>
                    <a:pt x="422148" y="445008"/>
                  </a:lnTo>
                  <a:lnTo>
                    <a:pt x="443801" y="446455"/>
                  </a:lnTo>
                  <a:lnTo>
                    <a:pt x="423672" y="490728"/>
                  </a:lnTo>
                  <a:lnTo>
                    <a:pt x="461251" y="446455"/>
                  </a:lnTo>
                  <a:lnTo>
                    <a:pt x="466344" y="440436"/>
                  </a:lnTo>
                  <a:close/>
                </a:path>
                <a:path w="1920875" h="490854">
                  <a:moveTo>
                    <a:pt x="1920252" y="155448"/>
                  </a:moveTo>
                  <a:lnTo>
                    <a:pt x="1901964" y="145351"/>
                  </a:lnTo>
                  <a:lnTo>
                    <a:pt x="1901964" y="164592"/>
                  </a:lnTo>
                  <a:lnTo>
                    <a:pt x="1901964" y="166624"/>
                  </a:lnTo>
                  <a:lnTo>
                    <a:pt x="1900707" y="163296"/>
                  </a:lnTo>
                  <a:lnTo>
                    <a:pt x="1901964" y="164592"/>
                  </a:lnTo>
                  <a:lnTo>
                    <a:pt x="1901964" y="145351"/>
                  </a:lnTo>
                  <a:lnTo>
                    <a:pt x="1862340" y="123444"/>
                  </a:lnTo>
                  <a:lnTo>
                    <a:pt x="1896897" y="159334"/>
                  </a:lnTo>
                  <a:lnTo>
                    <a:pt x="1234452" y="434340"/>
                  </a:lnTo>
                  <a:lnTo>
                    <a:pt x="1239024" y="446532"/>
                  </a:lnTo>
                  <a:lnTo>
                    <a:pt x="1901964" y="171323"/>
                  </a:lnTo>
                  <a:lnTo>
                    <a:pt x="1901964" y="220980"/>
                  </a:lnTo>
                  <a:lnTo>
                    <a:pt x="1919401" y="158496"/>
                  </a:lnTo>
                  <a:lnTo>
                    <a:pt x="1920252" y="15544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 descr=""/>
            <p:cNvSpPr/>
            <p:nvPr/>
          </p:nvSpPr>
          <p:spPr>
            <a:xfrm>
              <a:off x="5029200" y="4264151"/>
              <a:ext cx="754380" cy="754380"/>
            </a:xfrm>
            <a:custGeom>
              <a:avLst/>
              <a:gdLst/>
              <a:ahLst/>
              <a:cxnLst/>
              <a:rect l="l" t="t" r="r" b="b"/>
              <a:pathLst>
                <a:path w="754379" h="754379">
                  <a:moveTo>
                    <a:pt x="0" y="377951"/>
                  </a:moveTo>
                  <a:lnTo>
                    <a:pt x="2943" y="330532"/>
                  </a:lnTo>
                  <a:lnTo>
                    <a:pt x="11539" y="284873"/>
                  </a:lnTo>
                  <a:lnTo>
                    <a:pt x="25434" y="241328"/>
                  </a:lnTo>
                  <a:lnTo>
                    <a:pt x="44272" y="200252"/>
                  </a:lnTo>
                  <a:lnTo>
                    <a:pt x="67702" y="161997"/>
                  </a:lnTo>
                  <a:lnTo>
                    <a:pt x="95368" y="126918"/>
                  </a:lnTo>
                  <a:lnTo>
                    <a:pt x="126918" y="95368"/>
                  </a:lnTo>
                  <a:lnTo>
                    <a:pt x="161997" y="67702"/>
                  </a:lnTo>
                  <a:lnTo>
                    <a:pt x="200252" y="44272"/>
                  </a:lnTo>
                  <a:lnTo>
                    <a:pt x="241328" y="25434"/>
                  </a:lnTo>
                  <a:lnTo>
                    <a:pt x="284873" y="11539"/>
                  </a:lnTo>
                  <a:lnTo>
                    <a:pt x="330532" y="2943"/>
                  </a:lnTo>
                  <a:lnTo>
                    <a:pt x="377952" y="0"/>
                  </a:lnTo>
                  <a:lnTo>
                    <a:pt x="425345" y="2943"/>
                  </a:lnTo>
                  <a:lnTo>
                    <a:pt x="470933" y="11539"/>
                  </a:lnTo>
                  <a:lnTo>
                    <a:pt x="514369" y="25434"/>
                  </a:lnTo>
                  <a:lnTo>
                    <a:pt x="555307" y="44272"/>
                  </a:lnTo>
                  <a:lnTo>
                    <a:pt x="593403" y="67702"/>
                  </a:lnTo>
                  <a:lnTo>
                    <a:pt x="628311" y="95368"/>
                  </a:lnTo>
                  <a:lnTo>
                    <a:pt x="659685" y="126918"/>
                  </a:lnTo>
                  <a:lnTo>
                    <a:pt x="687180" y="161997"/>
                  </a:lnTo>
                  <a:lnTo>
                    <a:pt x="710451" y="200252"/>
                  </a:lnTo>
                  <a:lnTo>
                    <a:pt x="729151" y="241328"/>
                  </a:lnTo>
                  <a:lnTo>
                    <a:pt x="742937" y="284873"/>
                  </a:lnTo>
                  <a:lnTo>
                    <a:pt x="751461" y="330532"/>
                  </a:lnTo>
                  <a:lnTo>
                    <a:pt x="754379" y="377951"/>
                  </a:lnTo>
                  <a:lnTo>
                    <a:pt x="751461" y="425046"/>
                  </a:lnTo>
                  <a:lnTo>
                    <a:pt x="742937" y="470429"/>
                  </a:lnTo>
                  <a:lnTo>
                    <a:pt x="729151" y="513744"/>
                  </a:lnTo>
                  <a:lnTo>
                    <a:pt x="710451" y="554633"/>
                  </a:lnTo>
                  <a:lnTo>
                    <a:pt x="687180" y="592737"/>
                  </a:lnTo>
                  <a:lnTo>
                    <a:pt x="659685" y="627699"/>
                  </a:lnTo>
                  <a:lnTo>
                    <a:pt x="628311" y="659160"/>
                  </a:lnTo>
                  <a:lnTo>
                    <a:pt x="593403" y="686764"/>
                  </a:lnTo>
                  <a:lnTo>
                    <a:pt x="555307" y="710151"/>
                  </a:lnTo>
                  <a:lnTo>
                    <a:pt x="514369" y="728964"/>
                  </a:lnTo>
                  <a:lnTo>
                    <a:pt x="470933" y="742845"/>
                  </a:lnTo>
                  <a:lnTo>
                    <a:pt x="425345" y="751436"/>
                  </a:lnTo>
                  <a:lnTo>
                    <a:pt x="377952" y="754379"/>
                  </a:lnTo>
                  <a:lnTo>
                    <a:pt x="330532" y="751436"/>
                  </a:lnTo>
                  <a:lnTo>
                    <a:pt x="284873" y="742845"/>
                  </a:lnTo>
                  <a:lnTo>
                    <a:pt x="241328" y="728964"/>
                  </a:lnTo>
                  <a:lnTo>
                    <a:pt x="200252" y="710151"/>
                  </a:lnTo>
                  <a:lnTo>
                    <a:pt x="161997" y="686764"/>
                  </a:lnTo>
                  <a:lnTo>
                    <a:pt x="126918" y="659160"/>
                  </a:lnTo>
                  <a:lnTo>
                    <a:pt x="95368" y="627699"/>
                  </a:lnTo>
                  <a:lnTo>
                    <a:pt x="67702" y="592737"/>
                  </a:lnTo>
                  <a:lnTo>
                    <a:pt x="44272" y="554633"/>
                  </a:lnTo>
                  <a:lnTo>
                    <a:pt x="25434" y="513744"/>
                  </a:lnTo>
                  <a:lnTo>
                    <a:pt x="11539" y="470429"/>
                  </a:lnTo>
                  <a:lnTo>
                    <a:pt x="2943" y="425046"/>
                  </a:lnTo>
                  <a:lnTo>
                    <a:pt x="0" y="377951"/>
                  </a:lnTo>
                </a:path>
              </a:pathLst>
            </a:custGeom>
            <a:ln w="1524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7" name="object 27" descr=""/>
          <p:cNvSpPr txBox="1"/>
          <p:nvPr/>
        </p:nvSpPr>
        <p:spPr>
          <a:xfrm>
            <a:off x="5179535" y="4400786"/>
            <a:ext cx="457834" cy="47942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ctr">
              <a:lnSpc>
                <a:spcPts val="1195"/>
              </a:lnSpc>
              <a:spcBef>
                <a:spcPts val="95"/>
              </a:spcBef>
            </a:pPr>
            <a:r>
              <a:rPr dirty="0" u="sng" sz="1000" spc="-25">
                <a:uFill>
                  <a:solidFill>
                    <a:srgbClr val="000000"/>
                  </a:solidFill>
                </a:uFill>
                <a:latin typeface="Microsoft Sans Serif"/>
                <a:cs typeface="Microsoft Sans Serif"/>
              </a:rPr>
              <a:t>4.2</a:t>
            </a:r>
            <a:endParaRPr sz="1000">
              <a:latin typeface="Microsoft Sans Serif"/>
              <a:cs typeface="Microsoft Sans Serif"/>
            </a:endParaRPr>
          </a:p>
          <a:p>
            <a:pPr algn="ctr" marL="12700" marR="5080">
              <a:lnSpc>
                <a:spcPts val="1190"/>
              </a:lnSpc>
              <a:spcBef>
                <a:spcPts val="40"/>
              </a:spcBef>
            </a:pPr>
            <a:r>
              <a:rPr dirty="0" sz="1000" spc="-95">
                <a:latin typeface="Microsoft Sans Serif"/>
                <a:cs typeface="Microsoft Sans Serif"/>
              </a:rPr>
              <a:t>Calculate</a:t>
            </a:r>
            <a:r>
              <a:rPr dirty="0" sz="1000" spc="-10">
                <a:latin typeface="Microsoft Sans Serif"/>
                <a:cs typeface="Microsoft Sans Serif"/>
              </a:rPr>
              <a:t> Payroll</a:t>
            </a:r>
            <a:endParaRPr sz="1000">
              <a:latin typeface="Microsoft Sans Serif"/>
              <a:cs typeface="Microsoft Sans Serif"/>
            </a:endParaRPr>
          </a:p>
        </p:txBody>
      </p:sp>
      <p:grpSp>
        <p:nvGrpSpPr>
          <p:cNvPr id="28" name="object 28" descr=""/>
          <p:cNvGrpSpPr/>
          <p:nvPr/>
        </p:nvGrpSpPr>
        <p:grpSpPr>
          <a:xfrm>
            <a:off x="5021579" y="3680459"/>
            <a:ext cx="2397760" cy="2478405"/>
            <a:chOff x="5021579" y="3680459"/>
            <a:chExt cx="2397760" cy="2478405"/>
          </a:xfrm>
        </p:grpSpPr>
        <p:sp>
          <p:nvSpPr>
            <p:cNvPr id="29" name="object 29" descr=""/>
            <p:cNvSpPr/>
            <p:nvPr/>
          </p:nvSpPr>
          <p:spPr>
            <a:xfrm>
              <a:off x="5673852" y="4061459"/>
              <a:ext cx="1306195" cy="347980"/>
            </a:xfrm>
            <a:custGeom>
              <a:avLst/>
              <a:gdLst/>
              <a:ahLst/>
              <a:cxnLst/>
              <a:rect l="l" t="t" r="r" b="b"/>
              <a:pathLst>
                <a:path w="1306195" h="347979">
                  <a:moveTo>
                    <a:pt x="25116" y="305809"/>
                  </a:moveTo>
                  <a:lnTo>
                    <a:pt x="21336" y="300228"/>
                  </a:lnTo>
                  <a:lnTo>
                    <a:pt x="22182" y="294132"/>
                  </a:lnTo>
                  <a:lnTo>
                    <a:pt x="22260" y="293570"/>
                  </a:lnTo>
                  <a:lnTo>
                    <a:pt x="1303019" y="0"/>
                  </a:lnTo>
                  <a:lnTo>
                    <a:pt x="1306068" y="13716"/>
                  </a:lnTo>
                  <a:lnTo>
                    <a:pt x="25116" y="305809"/>
                  </a:lnTo>
                  <a:close/>
                </a:path>
                <a:path w="1306195" h="347979">
                  <a:moveTo>
                    <a:pt x="53340" y="347472"/>
                  </a:moveTo>
                  <a:lnTo>
                    <a:pt x="0" y="304800"/>
                  </a:lnTo>
                  <a:lnTo>
                    <a:pt x="28956" y="245364"/>
                  </a:lnTo>
                  <a:lnTo>
                    <a:pt x="22260" y="293570"/>
                  </a:lnTo>
                  <a:lnTo>
                    <a:pt x="19812" y="294132"/>
                  </a:lnTo>
                  <a:lnTo>
                    <a:pt x="22860" y="306324"/>
                  </a:lnTo>
                  <a:lnTo>
                    <a:pt x="25465" y="306324"/>
                  </a:lnTo>
                  <a:lnTo>
                    <a:pt x="53340" y="347472"/>
                  </a:lnTo>
                  <a:close/>
                </a:path>
                <a:path w="1306195" h="347979">
                  <a:moveTo>
                    <a:pt x="21336" y="300228"/>
                  </a:moveTo>
                  <a:lnTo>
                    <a:pt x="19812" y="294132"/>
                  </a:lnTo>
                  <a:lnTo>
                    <a:pt x="22260" y="293570"/>
                  </a:lnTo>
                  <a:lnTo>
                    <a:pt x="21336" y="300228"/>
                  </a:lnTo>
                  <a:close/>
                </a:path>
                <a:path w="1306195" h="347979">
                  <a:moveTo>
                    <a:pt x="22860" y="306324"/>
                  </a:moveTo>
                  <a:lnTo>
                    <a:pt x="21336" y="300228"/>
                  </a:lnTo>
                  <a:lnTo>
                    <a:pt x="25116" y="305809"/>
                  </a:lnTo>
                  <a:lnTo>
                    <a:pt x="22860" y="306324"/>
                  </a:lnTo>
                  <a:close/>
                </a:path>
                <a:path w="1306195" h="347979">
                  <a:moveTo>
                    <a:pt x="25465" y="306324"/>
                  </a:moveTo>
                  <a:lnTo>
                    <a:pt x="22860" y="306324"/>
                  </a:lnTo>
                  <a:lnTo>
                    <a:pt x="25116" y="305809"/>
                  </a:lnTo>
                  <a:lnTo>
                    <a:pt x="25465" y="30632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0" name="object 30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537960" y="3756659"/>
              <a:ext cx="880871" cy="310895"/>
            </a:xfrm>
            <a:prstGeom prst="rect">
              <a:avLst/>
            </a:prstGeom>
          </p:spPr>
        </p:pic>
        <p:sp>
          <p:nvSpPr>
            <p:cNvPr id="31" name="object 31" descr=""/>
            <p:cNvSpPr/>
            <p:nvPr/>
          </p:nvSpPr>
          <p:spPr>
            <a:xfrm>
              <a:off x="5673852" y="3680459"/>
              <a:ext cx="866140" cy="238125"/>
            </a:xfrm>
            <a:custGeom>
              <a:avLst/>
              <a:gdLst/>
              <a:ahLst/>
              <a:cxnLst/>
              <a:rect l="l" t="t" r="r" b="b"/>
              <a:pathLst>
                <a:path w="866140" h="238125">
                  <a:moveTo>
                    <a:pt x="30480" y="102107"/>
                  </a:moveTo>
                  <a:lnTo>
                    <a:pt x="0" y="41148"/>
                  </a:lnTo>
                  <a:lnTo>
                    <a:pt x="53339" y="0"/>
                  </a:lnTo>
                  <a:lnTo>
                    <a:pt x="25603" y="39624"/>
                  </a:lnTo>
                  <a:lnTo>
                    <a:pt x="22860" y="39624"/>
                  </a:lnTo>
                  <a:lnTo>
                    <a:pt x="21584" y="45365"/>
                  </a:lnTo>
                  <a:lnTo>
                    <a:pt x="21335" y="45719"/>
                  </a:lnTo>
                  <a:lnTo>
                    <a:pt x="21407" y="46160"/>
                  </a:lnTo>
                  <a:lnTo>
                    <a:pt x="19812" y="53339"/>
                  </a:lnTo>
                  <a:lnTo>
                    <a:pt x="22672" y="53964"/>
                  </a:lnTo>
                  <a:lnTo>
                    <a:pt x="30480" y="102107"/>
                  </a:lnTo>
                  <a:close/>
                </a:path>
                <a:path w="866140" h="238125">
                  <a:moveTo>
                    <a:pt x="21584" y="45365"/>
                  </a:moveTo>
                  <a:lnTo>
                    <a:pt x="22743" y="40148"/>
                  </a:lnTo>
                  <a:lnTo>
                    <a:pt x="22860" y="39624"/>
                  </a:lnTo>
                  <a:lnTo>
                    <a:pt x="25236" y="40148"/>
                  </a:lnTo>
                  <a:lnTo>
                    <a:pt x="21584" y="45365"/>
                  </a:lnTo>
                  <a:close/>
                </a:path>
                <a:path w="866140" h="238125">
                  <a:moveTo>
                    <a:pt x="25236" y="40148"/>
                  </a:moveTo>
                  <a:lnTo>
                    <a:pt x="22860" y="39624"/>
                  </a:lnTo>
                  <a:lnTo>
                    <a:pt x="25603" y="39624"/>
                  </a:lnTo>
                  <a:lnTo>
                    <a:pt x="25236" y="40148"/>
                  </a:lnTo>
                  <a:close/>
                </a:path>
                <a:path w="866140" h="238125">
                  <a:moveTo>
                    <a:pt x="864108" y="237743"/>
                  </a:moveTo>
                  <a:lnTo>
                    <a:pt x="22672" y="53964"/>
                  </a:lnTo>
                  <a:lnTo>
                    <a:pt x="21407" y="46160"/>
                  </a:lnTo>
                  <a:lnTo>
                    <a:pt x="21505" y="45719"/>
                  </a:lnTo>
                  <a:lnTo>
                    <a:pt x="21584" y="45365"/>
                  </a:lnTo>
                  <a:lnTo>
                    <a:pt x="25236" y="40148"/>
                  </a:lnTo>
                  <a:lnTo>
                    <a:pt x="865632" y="225551"/>
                  </a:lnTo>
                  <a:lnTo>
                    <a:pt x="864108" y="237743"/>
                  </a:lnTo>
                  <a:close/>
                </a:path>
                <a:path w="866140" h="238125">
                  <a:moveTo>
                    <a:pt x="22672" y="53964"/>
                  </a:moveTo>
                  <a:lnTo>
                    <a:pt x="19812" y="53339"/>
                  </a:lnTo>
                  <a:lnTo>
                    <a:pt x="21407" y="46160"/>
                  </a:lnTo>
                  <a:lnTo>
                    <a:pt x="22571" y="53339"/>
                  </a:lnTo>
                  <a:lnTo>
                    <a:pt x="22672" y="5396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 descr=""/>
            <p:cNvSpPr/>
            <p:nvPr/>
          </p:nvSpPr>
          <p:spPr>
            <a:xfrm>
              <a:off x="5029199" y="5396484"/>
              <a:ext cx="754380" cy="754380"/>
            </a:xfrm>
            <a:custGeom>
              <a:avLst/>
              <a:gdLst/>
              <a:ahLst/>
              <a:cxnLst/>
              <a:rect l="l" t="t" r="r" b="b"/>
              <a:pathLst>
                <a:path w="754379" h="754379">
                  <a:moveTo>
                    <a:pt x="0" y="376427"/>
                  </a:moveTo>
                  <a:lnTo>
                    <a:pt x="2943" y="329333"/>
                  </a:lnTo>
                  <a:lnTo>
                    <a:pt x="11539" y="283950"/>
                  </a:lnTo>
                  <a:lnTo>
                    <a:pt x="25434" y="240635"/>
                  </a:lnTo>
                  <a:lnTo>
                    <a:pt x="44272" y="199746"/>
                  </a:lnTo>
                  <a:lnTo>
                    <a:pt x="67702" y="161642"/>
                  </a:lnTo>
                  <a:lnTo>
                    <a:pt x="95368" y="126680"/>
                  </a:lnTo>
                  <a:lnTo>
                    <a:pt x="126918" y="95219"/>
                  </a:lnTo>
                  <a:lnTo>
                    <a:pt x="161997" y="67615"/>
                  </a:lnTo>
                  <a:lnTo>
                    <a:pt x="200252" y="44228"/>
                  </a:lnTo>
                  <a:lnTo>
                    <a:pt x="241328" y="25415"/>
                  </a:lnTo>
                  <a:lnTo>
                    <a:pt x="284873" y="11534"/>
                  </a:lnTo>
                  <a:lnTo>
                    <a:pt x="330532" y="2943"/>
                  </a:lnTo>
                  <a:lnTo>
                    <a:pt x="377952" y="0"/>
                  </a:lnTo>
                  <a:lnTo>
                    <a:pt x="425345" y="2943"/>
                  </a:lnTo>
                  <a:lnTo>
                    <a:pt x="470933" y="11534"/>
                  </a:lnTo>
                  <a:lnTo>
                    <a:pt x="514369" y="25415"/>
                  </a:lnTo>
                  <a:lnTo>
                    <a:pt x="555307" y="44228"/>
                  </a:lnTo>
                  <a:lnTo>
                    <a:pt x="593403" y="67615"/>
                  </a:lnTo>
                  <a:lnTo>
                    <a:pt x="628311" y="95219"/>
                  </a:lnTo>
                  <a:lnTo>
                    <a:pt x="659685" y="126680"/>
                  </a:lnTo>
                  <a:lnTo>
                    <a:pt x="687180" y="161642"/>
                  </a:lnTo>
                  <a:lnTo>
                    <a:pt x="710451" y="199746"/>
                  </a:lnTo>
                  <a:lnTo>
                    <a:pt x="729151" y="240635"/>
                  </a:lnTo>
                  <a:lnTo>
                    <a:pt x="742937" y="283950"/>
                  </a:lnTo>
                  <a:lnTo>
                    <a:pt x="751461" y="329333"/>
                  </a:lnTo>
                  <a:lnTo>
                    <a:pt x="754379" y="376427"/>
                  </a:lnTo>
                  <a:lnTo>
                    <a:pt x="751461" y="423847"/>
                  </a:lnTo>
                  <a:lnTo>
                    <a:pt x="742937" y="469506"/>
                  </a:lnTo>
                  <a:lnTo>
                    <a:pt x="729151" y="513051"/>
                  </a:lnTo>
                  <a:lnTo>
                    <a:pt x="710451" y="554127"/>
                  </a:lnTo>
                  <a:lnTo>
                    <a:pt x="687180" y="592382"/>
                  </a:lnTo>
                  <a:lnTo>
                    <a:pt x="659685" y="627461"/>
                  </a:lnTo>
                  <a:lnTo>
                    <a:pt x="628311" y="659011"/>
                  </a:lnTo>
                  <a:lnTo>
                    <a:pt x="593403" y="686677"/>
                  </a:lnTo>
                  <a:lnTo>
                    <a:pt x="555307" y="710107"/>
                  </a:lnTo>
                  <a:lnTo>
                    <a:pt x="514369" y="728945"/>
                  </a:lnTo>
                  <a:lnTo>
                    <a:pt x="470933" y="742840"/>
                  </a:lnTo>
                  <a:lnTo>
                    <a:pt x="425345" y="751436"/>
                  </a:lnTo>
                  <a:lnTo>
                    <a:pt x="377952" y="754379"/>
                  </a:lnTo>
                  <a:lnTo>
                    <a:pt x="330532" y="751436"/>
                  </a:lnTo>
                  <a:lnTo>
                    <a:pt x="284873" y="742840"/>
                  </a:lnTo>
                  <a:lnTo>
                    <a:pt x="241328" y="728945"/>
                  </a:lnTo>
                  <a:lnTo>
                    <a:pt x="200252" y="710107"/>
                  </a:lnTo>
                  <a:lnTo>
                    <a:pt x="161997" y="686677"/>
                  </a:lnTo>
                  <a:lnTo>
                    <a:pt x="126918" y="659011"/>
                  </a:lnTo>
                  <a:lnTo>
                    <a:pt x="95368" y="627461"/>
                  </a:lnTo>
                  <a:lnTo>
                    <a:pt x="67702" y="592382"/>
                  </a:lnTo>
                  <a:lnTo>
                    <a:pt x="44272" y="554127"/>
                  </a:lnTo>
                  <a:lnTo>
                    <a:pt x="25434" y="513051"/>
                  </a:lnTo>
                  <a:lnTo>
                    <a:pt x="11539" y="469506"/>
                  </a:lnTo>
                  <a:lnTo>
                    <a:pt x="2943" y="423847"/>
                  </a:lnTo>
                  <a:lnTo>
                    <a:pt x="0" y="376427"/>
                  </a:lnTo>
                </a:path>
              </a:pathLst>
            </a:custGeom>
            <a:ln w="1524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3" name="object 33" descr=""/>
          <p:cNvSpPr txBox="1"/>
          <p:nvPr/>
        </p:nvSpPr>
        <p:spPr>
          <a:xfrm>
            <a:off x="4153892" y="4129532"/>
            <a:ext cx="873760" cy="2012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50" spc="-100">
                <a:latin typeface="Microsoft Sans Serif"/>
                <a:cs typeface="Microsoft Sans Serif"/>
              </a:rPr>
              <a:t>Payroll</a:t>
            </a:r>
            <a:r>
              <a:rPr dirty="0" sz="1150" spc="-15">
                <a:latin typeface="Microsoft Sans Serif"/>
                <a:cs typeface="Microsoft Sans Serif"/>
              </a:rPr>
              <a:t> </a:t>
            </a:r>
            <a:r>
              <a:rPr dirty="0" sz="1150" spc="-100">
                <a:latin typeface="Microsoft Sans Serif"/>
                <a:cs typeface="Microsoft Sans Serif"/>
              </a:rPr>
              <a:t>Request</a:t>
            </a:r>
            <a:endParaRPr sz="1150">
              <a:latin typeface="Microsoft Sans Serif"/>
              <a:cs typeface="Microsoft Sans Serif"/>
            </a:endParaRPr>
          </a:p>
        </p:txBody>
      </p:sp>
      <p:sp>
        <p:nvSpPr>
          <p:cNvPr id="34" name="object 34" descr=""/>
          <p:cNvSpPr txBox="1"/>
          <p:nvPr/>
        </p:nvSpPr>
        <p:spPr>
          <a:xfrm>
            <a:off x="5191694" y="5456858"/>
            <a:ext cx="428625" cy="6299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ctr" marL="635">
              <a:lnSpc>
                <a:spcPts val="1195"/>
              </a:lnSpc>
              <a:spcBef>
                <a:spcPts val="95"/>
              </a:spcBef>
            </a:pPr>
            <a:r>
              <a:rPr dirty="0" u="sng" sz="1000" spc="-25">
                <a:uFill>
                  <a:solidFill>
                    <a:srgbClr val="000000"/>
                  </a:solidFill>
                </a:uFill>
                <a:latin typeface="Microsoft Sans Serif"/>
                <a:cs typeface="Microsoft Sans Serif"/>
              </a:rPr>
              <a:t>4.3</a:t>
            </a:r>
            <a:endParaRPr sz="1000">
              <a:latin typeface="Microsoft Sans Serif"/>
              <a:cs typeface="Microsoft Sans Serif"/>
            </a:endParaRPr>
          </a:p>
          <a:p>
            <a:pPr algn="ctr" marL="12700" marR="5080" indent="635">
              <a:lnSpc>
                <a:spcPts val="1190"/>
              </a:lnSpc>
              <a:spcBef>
                <a:spcPts val="40"/>
              </a:spcBef>
            </a:pPr>
            <a:r>
              <a:rPr dirty="0" sz="1000" spc="-25">
                <a:latin typeface="Microsoft Sans Serif"/>
                <a:cs typeface="Microsoft Sans Serif"/>
              </a:rPr>
              <a:t>Pay </a:t>
            </a:r>
            <a:r>
              <a:rPr dirty="0" sz="1000" spc="-114">
                <a:latin typeface="Microsoft Sans Serif"/>
                <a:cs typeface="Microsoft Sans Serif"/>
              </a:rPr>
              <a:t>Employe</a:t>
            </a:r>
            <a:r>
              <a:rPr dirty="0" sz="1000" spc="-50">
                <a:latin typeface="Microsoft Sans Serif"/>
                <a:cs typeface="Microsoft Sans Serif"/>
              </a:rPr>
              <a:t> e</a:t>
            </a:r>
            <a:endParaRPr sz="1000">
              <a:latin typeface="Microsoft Sans Serif"/>
              <a:cs typeface="Microsoft Sans Serif"/>
            </a:endParaRPr>
          </a:p>
        </p:txBody>
      </p:sp>
      <p:sp>
        <p:nvSpPr>
          <p:cNvPr id="35" name="object 35" descr=""/>
          <p:cNvSpPr/>
          <p:nvPr/>
        </p:nvSpPr>
        <p:spPr>
          <a:xfrm>
            <a:off x="5355336" y="5026151"/>
            <a:ext cx="1120140" cy="1031875"/>
          </a:xfrm>
          <a:custGeom>
            <a:avLst/>
            <a:gdLst/>
            <a:ahLst/>
            <a:cxnLst/>
            <a:rect l="l" t="t" r="r" b="b"/>
            <a:pathLst>
              <a:path w="1120139" h="1031875">
                <a:moveTo>
                  <a:pt x="103632" y="320040"/>
                </a:moveTo>
                <a:lnTo>
                  <a:pt x="57912" y="338874"/>
                </a:lnTo>
                <a:lnTo>
                  <a:pt x="57912" y="0"/>
                </a:lnTo>
                <a:lnTo>
                  <a:pt x="45720" y="0"/>
                </a:lnTo>
                <a:lnTo>
                  <a:pt x="45720" y="338874"/>
                </a:lnTo>
                <a:lnTo>
                  <a:pt x="0" y="320040"/>
                </a:lnTo>
                <a:lnTo>
                  <a:pt x="51816" y="362712"/>
                </a:lnTo>
                <a:lnTo>
                  <a:pt x="77724" y="341376"/>
                </a:lnTo>
                <a:lnTo>
                  <a:pt x="103632" y="320040"/>
                </a:lnTo>
                <a:close/>
              </a:path>
              <a:path w="1120139" h="1031875">
                <a:moveTo>
                  <a:pt x="1120140" y="996708"/>
                </a:moveTo>
                <a:lnTo>
                  <a:pt x="1098804" y="934224"/>
                </a:lnTo>
                <a:lnTo>
                  <a:pt x="1100124" y="983322"/>
                </a:lnTo>
                <a:lnTo>
                  <a:pt x="1100162" y="984516"/>
                </a:lnTo>
                <a:lnTo>
                  <a:pt x="1100328" y="990612"/>
                </a:lnTo>
                <a:lnTo>
                  <a:pt x="1100124" y="983322"/>
                </a:lnTo>
                <a:lnTo>
                  <a:pt x="438912" y="740676"/>
                </a:lnTo>
                <a:lnTo>
                  <a:pt x="434340" y="752868"/>
                </a:lnTo>
                <a:lnTo>
                  <a:pt x="1095857" y="995629"/>
                </a:lnTo>
                <a:lnTo>
                  <a:pt x="1063752" y="1031760"/>
                </a:lnTo>
                <a:lnTo>
                  <a:pt x="1120140" y="99670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6" name="object 36" descr=""/>
          <p:cNvSpPr txBox="1"/>
          <p:nvPr/>
        </p:nvSpPr>
        <p:spPr>
          <a:xfrm>
            <a:off x="6113779" y="3516884"/>
            <a:ext cx="1162685" cy="4826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50" spc="-120">
                <a:latin typeface="Microsoft Sans Serif"/>
                <a:cs typeface="Microsoft Sans Serif"/>
              </a:rPr>
              <a:t>Employee</a:t>
            </a:r>
            <a:r>
              <a:rPr dirty="0" sz="1150" spc="-35">
                <a:latin typeface="Microsoft Sans Serif"/>
                <a:cs typeface="Microsoft Sans Serif"/>
              </a:rPr>
              <a:t> </a:t>
            </a:r>
            <a:r>
              <a:rPr dirty="0" sz="1150" spc="-25">
                <a:latin typeface="Microsoft Sans Serif"/>
                <a:cs typeface="Microsoft Sans Serif"/>
              </a:rPr>
              <a:t>ID</a:t>
            </a:r>
            <a:endParaRPr sz="1150">
              <a:latin typeface="Microsoft Sans Serif"/>
              <a:cs typeface="Microsoft Sans Serif"/>
            </a:endParaRPr>
          </a:p>
          <a:p>
            <a:pPr marL="581025">
              <a:lnSpc>
                <a:spcPct val="100000"/>
              </a:lnSpc>
              <a:spcBef>
                <a:spcPts val="1015"/>
              </a:spcBef>
            </a:pPr>
            <a:r>
              <a:rPr dirty="0" sz="1000" spc="-125">
                <a:latin typeface="Microsoft Sans Serif"/>
                <a:cs typeface="Microsoft Sans Serif"/>
              </a:rPr>
              <a:t>EMPLOYEE</a:t>
            </a:r>
            <a:endParaRPr sz="1000">
              <a:latin typeface="Microsoft Sans Serif"/>
              <a:cs typeface="Microsoft Sans Serif"/>
            </a:endParaRPr>
          </a:p>
        </p:txBody>
      </p:sp>
      <p:pic>
        <p:nvPicPr>
          <p:cNvPr id="37" name="object 37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664452" y="4768581"/>
            <a:ext cx="811677" cy="309401"/>
          </a:xfrm>
          <a:prstGeom prst="rect">
            <a:avLst/>
          </a:prstGeom>
        </p:spPr>
      </p:pic>
      <p:sp>
        <p:nvSpPr>
          <p:cNvPr id="38" name="object 38" descr=""/>
          <p:cNvSpPr txBox="1"/>
          <p:nvPr/>
        </p:nvSpPr>
        <p:spPr>
          <a:xfrm>
            <a:off x="6828495" y="4832047"/>
            <a:ext cx="48704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135">
                <a:latin typeface="Microsoft Sans Serif"/>
                <a:cs typeface="Microsoft Sans Serif"/>
              </a:rPr>
              <a:t>PAYROLL</a:t>
            </a:r>
            <a:endParaRPr sz="1000">
              <a:latin typeface="Microsoft Sans Serif"/>
              <a:cs typeface="Microsoft Sans Serif"/>
            </a:endParaRPr>
          </a:p>
        </p:txBody>
      </p:sp>
      <p:pic>
        <p:nvPicPr>
          <p:cNvPr id="39" name="object 39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475476" y="5899403"/>
            <a:ext cx="754379" cy="248411"/>
          </a:xfrm>
          <a:prstGeom prst="rect">
            <a:avLst/>
          </a:prstGeom>
        </p:spPr>
      </p:pic>
      <p:sp>
        <p:nvSpPr>
          <p:cNvPr id="40" name="object 40" descr=""/>
          <p:cNvSpPr txBox="1"/>
          <p:nvPr/>
        </p:nvSpPr>
        <p:spPr>
          <a:xfrm>
            <a:off x="6564843" y="5932358"/>
            <a:ext cx="57912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140">
                <a:latin typeface="Microsoft Sans Serif"/>
                <a:cs typeface="Microsoft Sans Serif"/>
              </a:rPr>
              <a:t>PAYMENTS</a:t>
            </a:r>
            <a:endParaRPr sz="1000">
              <a:latin typeface="Microsoft Sans Serif"/>
              <a:cs typeface="Microsoft Sans Serif"/>
            </a:endParaRPr>
          </a:p>
        </p:txBody>
      </p:sp>
      <p:sp>
        <p:nvSpPr>
          <p:cNvPr id="41" name="object 41" descr=""/>
          <p:cNvSpPr/>
          <p:nvPr/>
        </p:nvSpPr>
        <p:spPr>
          <a:xfrm>
            <a:off x="5673839" y="3156203"/>
            <a:ext cx="2097405" cy="2367280"/>
          </a:xfrm>
          <a:custGeom>
            <a:avLst/>
            <a:gdLst/>
            <a:ahLst/>
            <a:cxnLst/>
            <a:rect l="l" t="t" r="r" b="b"/>
            <a:pathLst>
              <a:path w="2097404" h="2367279">
                <a:moveTo>
                  <a:pt x="993648" y="1772424"/>
                </a:moveTo>
                <a:lnTo>
                  <a:pt x="990346" y="1766658"/>
                </a:lnTo>
                <a:lnTo>
                  <a:pt x="990600" y="1766328"/>
                </a:lnTo>
                <a:lnTo>
                  <a:pt x="989037" y="1764360"/>
                </a:lnTo>
                <a:lnTo>
                  <a:pt x="987552" y="1761756"/>
                </a:lnTo>
                <a:lnTo>
                  <a:pt x="987145" y="1761998"/>
                </a:lnTo>
                <a:lnTo>
                  <a:pt x="985748" y="1760207"/>
                </a:lnTo>
                <a:lnTo>
                  <a:pt x="949452" y="1714512"/>
                </a:lnTo>
                <a:lnTo>
                  <a:pt x="966914" y="1760207"/>
                </a:lnTo>
                <a:lnTo>
                  <a:pt x="0" y="1754136"/>
                </a:lnTo>
                <a:lnTo>
                  <a:pt x="0" y="1766328"/>
                </a:lnTo>
                <a:lnTo>
                  <a:pt x="966216" y="1773923"/>
                </a:lnTo>
                <a:lnTo>
                  <a:pt x="966114" y="1774190"/>
                </a:lnTo>
                <a:lnTo>
                  <a:pt x="17310" y="2324430"/>
                </a:lnTo>
                <a:lnTo>
                  <a:pt x="10668" y="2275344"/>
                </a:lnTo>
                <a:lnTo>
                  <a:pt x="0" y="2342400"/>
                </a:lnTo>
                <a:lnTo>
                  <a:pt x="62484" y="2366784"/>
                </a:lnTo>
                <a:lnTo>
                  <a:pt x="25984" y="2337828"/>
                </a:lnTo>
                <a:lnTo>
                  <a:pt x="24015" y="2336266"/>
                </a:lnTo>
                <a:lnTo>
                  <a:pt x="958684" y="1792757"/>
                </a:lnTo>
                <a:lnTo>
                  <a:pt x="947928" y="1819668"/>
                </a:lnTo>
                <a:lnTo>
                  <a:pt x="978827" y="1781048"/>
                </a:lnTo>
                <a:lnTo>
                  <a:pt x="993648" y="1772424"/>
                </a:lnTo>
                <a:close/>
              </a:path>
              <a:path w="2097404" h="2367279">
                <a:moveTo>
                  <a:pt x="2097024" y="0"/>
                </a:moveTo>
                <a:lnTo>
                  <a:pt x="1618488" y="0"/>
                </a:lnTo>
                <a:lnTo>
                  <a:pt x="1618488" y="13716"/>
                </a:lnTo>
                <a:lnTo>
                  <a:pt x="2084832" y="13716"/>
                </a:lnTo>
                <a:lnTo>
                  <a:pt x="2084832" y="1478280"/>
                </a:lnTo>
                <a:lnTo>
                  <a:pt x="141732" y="1478280"/>
                </a:lnTo>
                <a:lnTo>
                  <a:pt x="160020" y="1432560"/>
                </a:lnTo>
                <a:lnTo>
                  <a:pt x="118872" y="1485900"/>
                </a:lnTo>
                <a:lnTo>
                  <a:pt x="160020" y="1537716"/>
                </a:lnTo>
                <a:lnTo>
                  <a:pt x="141198" y="1491996"/>
                </a:lnTo>
                <a:lnTo>
                  <a:pt x="2097024" y="1491996"/>
                </a:lnTo>
                <a:lnTo>
                  <a:pt x="2097024" y="1485900"/>
                </a:lnTo>
                <a:lnTo>
                  <a:pt x="2097024" y="1478280"/>
                </a:lnTo>
                <a:lnTo>
                  <a:pt x="2097024" y="13716"/>
                </a:lnTo>
                <a:lnTo>
                  <a:pt x="2097024" y="6096"/>
                </a:lnTo>
                <a:lnTo>
                  <a:pt x="209702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2" name="object 42" descr=""/>
          <p:cNvSpPr txBox="1"/>
          <p:nvPr/>
        </p:nvSpPr>
        <p:spPr>
          <a:xfrm>
            <a:off x="4893047" y="5079016"/>
            <a:ext cx="1036955" cy="2012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50" spc="-105">
                <a:latin typeface="Microsoft Sans Serif"/>
                <a:cs typeface="Microsoft Sans Serif"/>
              </a:rPr>
              <a:t>Payment</a:t>
            </a:r>
            <a:r>
              <a:rPr dirty="0" sz="1150" spc="65">
                <a:latin typeface="Microsoft Sans Serif"/>
                <a:cs typeface="Microsoft Sans Serif"/>
              </a:rPr>
              <a:t> </a:t>
            </a:r>
            <a:r>
              <a:rPr dirty="0" sz="1150" spc="-95">
                <a:latin typeface="Microsoft Sans Serif"/>
                <a:cs typeface="Microsoft Sans Serif"/>
              </a:rPr>
              <a:t>Approval</a:t>
            </a:r>
            <a:endParaRPr sz="1150">
              <a:latin typeface="Microsoft Sans Serif"/>
              <a:cs typeface="Microsoft Sans Serif"/>
            </a:endParaRPr>
          </a:p>
        </p:txBody>
      </p:sp>
      <p:sp>
        <p:nvSpPr>
          <p:cNvPr id="43" name="object 43" descr=""/>
          <p:cNvSpPr txBox="1"/>
          <p:nvPr/>
        </p:nvSpPr>
        <p:spPr>
          <a:xfrm>
            <a:off x="4379491" y="6272290"/>
            <a:ext cx="501015" cy="2012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50" spc="-114">
                <a:latin typeface="Microsoft Sans Serif"/>
                <a:cs typeface="Microsoft Sans Serif"/>
              </a:rPr>
              <a:t>Payment</a:t>
            </a:r>
            <a:endParaRPr sz="1150">
              <a:latin typeface="Microsoft Sans Serif"/>
              <a:cs typeface="Microsoft Sans Serif"/>
            </a:endParaRPr>
          </a:p>
        </p:txBody>
      </p:sp>
      <p:sp>
        <p:nvSpPr>
          <p:cNvPr id="44" name="object 44" descr=""/>
          <p:cNvSpPr/>
          <p:nvPr/>
        </p:nvSpPr>
        <p:spPr>
          <a:xfrm>
            <a:off x="4904232" y="6158484"/>
            <a:ext cx="509270" cy="268605"/>
          </a:xfrm>
          <a:custGeom>
            <a:avLst/>
            <a:gdLst/>
            <a:ahLst/>
            <a:cxnLst/>
            <a:rect l="l" t="t" r="r" b="b"/>
            <a:pathLst>
              <a:path w="509270" h="268604">
                <a:moveTo>
                  <a:pt x="24383" y="224028"/>
                </a:moveTo>
                <a:lnTo>
                  <a:pt x="23846" y="222504"/>
                </a:lnTo>
                <a:lnTo>
                  <a:pt x="21335" y="216407"/>
                </a:lnTo>
                <a:lnTo>
                  <a:pt x="23686" y="210260"/>
                </a:lnTo>
                <a:lnTo>
                  <a:pt x="92963" y="205740"/>
                </a:lnTo>
                <a:lnTo>
                  <a:pt x="138683" y="199643"/>
                </a:lnTo>
                <a:lnTo>
                  <a:pt x="182879" y="192024"/>
                </a:lnTo>
                <a:lnTo>
                  <a:pt x="225551" y="182880"/>
                </a:lnTo>
                <a:lnTo>
                  <a:pt x="268223" y="170688"/>
                </a:lnTo>
                <a:lnTo>
                  <a:pt x="306323" y="158495"/>
                </a:lnTo>
                <a:lnTo>
                  <a:pt x="342899" y="143256"/>
                </a:lnTo>
                <a:lnTo>
                  <a:pt x="391668" y="118872"/>
                </a:lnTo>
                <a:lnTo>
                  <a:pt x="406908" y="111252"/>
                </a:lnTo>
                <a:lnTo>
                  <a:pt x="445008" y="83820"/>
                </a:lnTo>
                <a:lnTo>
                  <a:pt x="480060" y="47244"/>
                </a:lnTo>
                <a:lnTo>
                  <a:pt x="496824" y="0"/>
                </a:lnTo>
                <a:lnTo>
                  <a:pt x="509016" y="0"/>
                </a:lnTo>
                <a:lnTo>
                  <a:pt x="509016" y="10668"/>
                </a:lnTo>
                <a:lnTo>
                  <a:pt x="502920" y="32004"/>
                </a:lnTo>
                <a:lnTo>
                  <a:pt x="473964" y="74676"/>
                </a:lnTo>
                <a:lnTo>
                  <a:pt x="428244" y="112776"/>
                </a:lnTo>
                <a:lnTo>
                  <a:pt x="413004" y="121920"/>
                </a:lnTo>
                <a:lnTo>
                  <a:pt x="399288" y="131064"/>
                </a:lnTo>
                <a:lnTo>
                  <a:pt x="382524" y="138684"/>
                </a:lnTo>
                <a:lnTo>
                  <a:pt x="365760" y="147828"/>
                </a:lnTo>
                <a:lnTo>
                  <a:pt x="348996" y="155448"/>
                </a:lnTo>
                <a:lnTo>
                  <a:pt x="310896" y="170688"/>
                </a:lnTo>
                <a:lnTo>
                  <a:pt x="271272" y="182880"/>
                </a:lnTo>
                <a:lnTo>
                  <a:pt x="230123" y="195072"/>
                </a:lnTo>
                <a:lnTo>
                  <a:pt x="140207" y="213360"/>
                </a:lnTo>
                <a:lnTo>
                  <a:pt x="94487" y="219456"/>
                </a:lnTo>
                <a:lnTo>
                  <a:pt x="24383" y="224028"/>
                </a:lnTo>
                <a:close/>
              </a:path>
              <a:path w="509270" h="268604">
                <a:moveTo>
                  <a:pt x="42672" y="268224"/>
                </a:moveTo>
                <a:lnTo>
                  <a:pt x="0" y="217931"/>
                </a:lnTo>
                <a:lnTo>
                  <a:pt x="41148" y="164592"/>
                </a:lnTo>
                <a:lnTo>
                  <a:pt x="23686" y="210260"/>
                </a:lnTo>
                <a:lnTo>
                  <a:pt x="21335" y="210260"/>
                </a:lnTo>
                <a:lnTo>
                  <a:pt x="21335" y="224028"/>
                </a:lnTo>
                <a:lnTo>
                  <a:pt x="24473" y="224028"/>
                </a:lnTo>
                <a:lnTo>
                  <a:pt x="42672" y="268224"/>
                </a:lnTo>
                <a:close/>
              </a:path>
              <a:path w="509270" h="268604">
                <a:moveTo>
                  <a:pt x="21335" y="216407"/>
                </a:moveTo>
                <a:lnTo>
                  <a:pt x="21335" y="210260"/>
                </a:lnTo>
                <a:lnTo>
                  <a:pt x="23686" y="210260"/>
                </a:lnTo>
                <a:lnTo>
                  <a:pt x="21335" y="216407"/>
                </a:lnTo>
                <a:close/>
              </a:path>
              <a:path w="509270" h="268604">
                <a:moveTo>
                  <a:pt x="24473" y="224028"/>
                </a:moveTo>
                <a:lnTo>
                  <a:pt x="21335" y="224028"/>
                </a:lnTo>
                <a:lnTo>
                  <a:pt x="21335" y="216407"/>
                </a:lnTo>
                <a:lnTo>
                  <a:pt x="24473" y="22402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5" name="object 45" descr=""/>
          <p:cNvSpPr txBox="1"/>
          <p:nvPr/>
        </p:nvSpPr>
        <p:spPr>
          <a:xfrm>
            <a:off x="6482620" y="4443490"/>
            <a:ext cx="994410" cy="2012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50" spc="-114">
                <a:latin typeface="Microsoft Sans Serif"/>
                <a:cs typeface="Microsoft Sans Serif"/>
              </a:rPr>
              <a:t>Unpaid</a:t>
            </a:r>
            <a:r>
              <a:rPr dirty="0" sz="1150" spc="-45">
                <a:latin typeface="Microsoft Sans Serif"/>
                <a:cs typeface="Microsoft Sans Serif"/>
              </a:rPr>
              <a:t> </a:t>
            </a:r>
            <a:r>
              <a:rPr dirty="0" sz="1150" spc="-105">
                <a:latin typeface="Microsoft Sans Serif"/>
                <a:cs typeface="Microsoft Sans Serif"/>
              </a:rPr>
              <a:t>time</a:t>
            </a:r>
            <a:r>
              <a:rPr dirty="0" sz="1150" spc="-40">
                <a:latin typeface="Microsoft Sans Serif"/>
                <a:cs typeface="Microsoft Sans Serif"/>
              </a:rPr>
              <a:t> </a:t>
            </a:r>
            <a:r>
              <a:rPr dirty="0" sz="1150" spc="-80">
                <a:latin typeface="Microsoft Sans Serif"/>
                <a:cs typeface="Microsoft Sans Serif"/>
              </a:rPr>
              <a:t>cards</a:t>
            </a:r>
            <a:endParaRPr sz="115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613147" y="1680972"/>
            <a:ext cx="1110995" cy="1205618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442459" y="3945635"/>
            <a:ext cx="1456943" cy="1077467"/>
          </a:xfrm>
          <a:prstGeom prst="rect">
            <a:avLst/>
          </a:prstGeom>
        </p:spPr>
      </p:pic>
      <p:grpSp>
        <p:nvGrpSpPr>
          <p:cNvPr id="4" name="object 4" descr=""/>
          <p:cNvGrpSpPr/>
          <p:nvPr/>
        </p:nvGrpSpPr>
        <p:grpSpPr>
          <a:xfrm>
            <a:off x="1429512" y="1680972"/>
            <a:ext cx="4991100" cy="4814570"/>
            <a:chOff x="1429512" y="1680972"/>
            <a:chExt cx="4991100" cy="4814570"/>
          </a:xfrm>
        </p:grpSpPr>
        <p:pic>
          <p:nvPicPr>
            <p:cNvPr id="5" name="object 5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425696" y="5138928"/>
              <a:ext cx="1488948" cy="1356359"/>
            </a:xfrm>
            <a:prstGeom prst="rect">
              <a:avLst/>
            </a:prstGeom>
          </p:spPr>
        </p:pic>
        <p:pic>
          <p:nvPicPr>
            <p:cNvPr id="6" name="object 6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429512" y="1680972"/>
              <a:ext cx="2083307" cy="3218688"/>
            </a:xfrm>
            <a:prstGeom prst="rect">
              <a:avLst/>
            </a:prstGeom>
          </p:spPr>
        </p:pic>
        <p:sp>
          <p:nvSpPr>
            <p:cNvPr id="7" name="object 7" descr=""/>
            <p:cNvSpPr/>
            <p:nvPr/>
          </p:nvSpPr>
          <p:spPr>
            <a:xfrm>
              <a:off x="5658612" y="5269992"/>
              <a:ext cx="754380" cy="754380"/>
            </a:xfrm>
            <a:custGeom>
              <a:avLst/>
              <a:gdLst/>
              <a:ahLst/>
              <a:cxnLst/>
              <a:rect l="l" t="t" r="r" b="b"/>
              <a:pathLst>
                <a:path w="754379" h="754379">
                  <a:moveTo>
                    <a:pt x="0" y="377951"/>
                  </a:moveTo>
                  <a:lnTo>
                    <a:pt x="2943" y="330532"/>
                  </a:lnTo>
                  <a:lnTo>
                    <a:pt x="11534" y="284873"/>
                  </a:lnTo>
                  <a:lnTo>
                    <a:pt x="25415" y="241328"/>
                  </a:lnTo>
                  <a:lnTo>
                    <a:pt x="44228" y="200252"/>
                  </a:lnTo>
                  <a:lnTo>
                    <a:pt x="67615" y="161997"/>
                  </a:lnTo>
                  <a:lnTo>
                    <a:pt x="95219" y="126918"/>
                  </a:lnTo>
                  <a:lnTo>
                    <a:pt x="126680" y="95368"/>
                  </a:lnTo>
                  <a:lnTo>
                    <a:pt x="161642" y="67702"/>
                  </a:lnTo>
                  <a:lnTo>
                    <a:pt x="199746" y="44272"/>
                  </a:lnTo>
                  <a:lnTo>
                    <a:pt x="240635" y="25434"/>
                  </a:lnTo>
                  <a:lnTo>
                    <a:pt x="283950" y="11539"/>
                  </a:lnTo>
                  <a:lnTo>
                    <a:pt x="329333" y="2943"/>
                  </a:lnTo>
                  <a:lnTo>
                    <a:pt x="376428" y="0"/>
                  </a:lnTo>
                  <a:lnTo>
                    <a:pt x="423847" y="2943"/>
                  </a:lnTo>
                  <a:lnTo>
                    <a:pt x="469506" y="11539"/>
                  </a:lnTo>
                  <a:lnTo>
                    <a:pt x="513051" y="25434"/>
                  </a:lnTo>
                  <a:lnTo>
                    <a:pt x="554127" y="44272"/>
                  </a:lnTo>
                  <a:lnTo>
                    <a:pt x="592382" y="67702"/>
                  </a:lnTo>
                  <a:lnTo>
                    <a:pt x="627461" y="95368"/>
                  </a:lnTo>
                  <a:lnTo>
                    <a:pt x="659011" y="126918"/>
                  </a:lnTo>
                  <a:lnTo>
                    <a:pt x="686677" y="161997"/>
                  </a:lnTo>
                  <a:lnTo>
                    <a:pt x="710106" y="200252"/>
                  </a:lnTo>
                  <a:lnTo>
                    <a:pt x="728945" y="241328"/>
                  </a:lnTo>
                  <a:lnTo>
                    <a:pt x="742840" y="284873"/>
                  </a:lnTo>
                  <a:lnTo>
                    <a:pt x="751436" y="330532"/>
                  </a:lnTo>
                  <a:lnTo>
                    <a:pt x="754379" y="377951"/>
                  </a:lnTo>
                  <a:lnTo>
                    <a:pt x="751436" y="425046"/>
                  </a:lnTo>
                  <a:lnTo>
                    <a:pt x="742840" y="470429"/>
                  </a:lnTo>
                  <a:lnTo>
                    <a:pt x="728945" y="513744"/>
                  </a:lnTo>
                  <a:lnTo>
                    <a:pt x="710106" y="554633"/>
                  </a:lnTo>
                  <a:lnTo>
                    <a:pt x="686677" y="592737"/>
                  </a:lnTo>
                  <a:lnTo>
                    <a:pt x="659011" y="627699"/>
                  </a:lnTo>
                  <a:lnTo>
                    <a:pt x="627461" y="659160"/>
                  </a:lnTo>
                  <a:lnTo>
                    <a:pt x="592382" y="686764"/>
                  </a:lnTo>
                  <a:lnTo>
                    <a:pt x="554127" y="710151"/>
                  </a:lnTo>
                  <a:lnTo>
                    <a:pt x="513051" y="728964"/>
                  </a:lnTo>
                  <a:lnTo>
                    <a:pt x="469506" y="742845"/>
                  </a:lnTo>
                  <a:lnTo>
                    <a:pt x="423847" y="751436"/>
                  </a:lnTo>
                  <a:lnTo>
                    <a:pt x="376428" y="754379"/>
                  </a:lnTo>
                  <a:lnTo>
                    <a:pt x="329333" y="751436"/>
                  </a:lnTo>
                  <a:lnTo>
                    <a:pt x="283950" y="742845"/>
                  </a:lnTo>
                  <a:lnTo>
                    <a:pt x="240635" y="728964"/>
                  </a:lnTo>
                  <a:lnTo>
                    <a:pt x="199746" y="710151"/>
                  </a:lnTo>
                  <a:lnTo>
                    <a:pt x="161642" y="686764"/>
                  </a:lnTo>
                  <a:lnTo>
                    <a:pt x="126680" y="659160"/>
                  </a:lnTo>
                  <a:lnTo>
                    <a:pt x="95219" y="627699"/>
                  </a:lnTo>
                  <a:lnTo>
                    <a:pt x="67615" y="592737"/>
                  </a:lnTo>
                  <a:lnTo>
                    <a:pt x="44228" y="554633"/>
                  </a:lnTo>
                  <a:lnTo>
                    <a:pt x="25415" y="513744"/>
                  </a:lnTo>
                  <a:lnTo>
                    <a:pt x="11534" y="470429"/>
                  </a:lnTo>
                  <a:lnTo>
                    <a:pt x="2943" y="425046"/>
                  </a:lnTo>
                  <a:lnTo>
                    <a:pt x="0" y="377951"/>
                  </a:lnTo>
                </a:path>
              </a:pathLst>
            </a:custGeom>
            <a:ln w="1524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509270">
              <a:lnSpc>
                <a:spcPct val="100000"/>
              </a:lnSpc>
              <a:spcBef>
                <a:spcPts val="125"/>
              </a:spcBef>
            </a:pPr>
            <a:r>
              <a:rPr dirty="0"/>
              <a:t>Process</a:t>
            </a:r>
            <a:r>
              <a:rPr dirty="0" spc="15"/>
              <a:t> </a:t>
            </a:r>
            <a:r>
              <a:rPr dirty="0" spc="-10"/>
              <a:t>Decomposition</a:t>
            </a:r>
          </a:p>
        </p:txBody>
      </p:sp>
      <p:sp>
        <p:nvSpPr>
          <p:cNvPr id="9" name="object 9" descr=""/>
          <p:cNvSpPr txBox="1"/>
          <p:nvPr/>
        </p:nvSpPr>
        <p:spPr>
          <a:xfrm>
            <a:off x="5845534" y="5330360"/>
            <a:ext cx="381635" cy="6299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ctr">
              <a:lnSpc>
                <a:spcPts val="1195"/>
              </a:lnSpc>
              <a:spcBef>
                <a:spcPts val="95"/>
              </a:spcBef>
            </a:pPr>
            <a:r>
              <a:rPr dirty="0" u="sng" sz="1000" spc="-25">
                <a:uFill>
                  <a:solidFill>
                    <a:srgbClr val="000000"/>
                  </a:solidFill>
                </a:uFill>
                <a:latin typeface="Microsoft Sans Serif"/>
                <a:cs typeface="Microsoft Sans Serif"/>
              </a:rPr>
              <a:t>4.1</a:t>
            </a:r>
            <a:endParaRPr sz="1000">
              <a:latin typeface="Microsoft Sans Serif"/>
              <a:cs typeface="Microsoft Sans Serif"/>
            </a:endParaRPr>
          </a:p>
          <a:p>
            <a:pPr algn="ctr" marL="12700" marR="5080" indent="-635">
              <a:lnSpc>
                <a:spcPts val="1190"/>
              </a:lnSpc>
              <a:spcBef>
                <a:spcPts val="40"/>
              </a:spcBef>
            </a:pPr>
            <a:r>
              <a:rPr dirty="0" sz="1000" spc="-80">
                <a:latin typeface="Microsoft Sans Serif"/>
                <a:cs typeface="Microsoft Sans Serif"/>
              </a:rPr>
              <a:t>Record</a:t>
            </a:r>
            <a:r>
              <a:rPr dirty="0" sz="1000" spc="-20">
                <a:latin typeface="Microsoft Sans Serif"/>
                <a:cs typeface="Microsoft Sans Serif"/>
              </a:rPr>
              <a:t> Time </a:t>
            </a:r>
            <a:r>
              <a:rPr dirty="0" sz="1000" spc="-120">
                <a:latin typeface="Microsoft Sans Serif"/>
                <a:cs typeface="Microsoft Sans Serif"/>
              </a:rPr>
              <a:t>Worked</a:t>
            </a:r>
            <a:endParaRPr sz="1000">
              <a:latin typeface="Microsoft Sans Serif"/>
              <a:cs typeface="Microsoft Sans Serif"/>
            </a:endParaRPr>
          </a:p>
        </p:txBody>
      </p:sp>
      <p:sp>
        <p:nvSpPr>
          <p:cNvPr id="10" name="object 10" descr=""/>
          <p:cNvSpPr/>
          <p:nvPr/>
        </p:nvSpPr>
        <p:spPr>
          <a:xfrm>
            <a:off x="6537959" y="5269992"/>
            <a:ext cx="754380" cy="754380"/>
          </a:xfrm>
          <a:custGeom>
            <a:avLst/>
            <a:gdLst/>
            <a:ahLst/>
            <a:cxnLst/>
            <a:rect l="l" t="t" r="r" b="b"/>
            <a:pathLst>
              <a:path w="754379" h="754379">
                <a:moveTo>
                  <a:pt x="0" y="377951"/>
                </a:moveTo>
                <a:lnTo>
                  <a:pt x="2943" y="330532"/>
                </a:lnTo>
                <a:lnTo>
                  <a:pt x="11539" y="284873"/>
                </a:lnTo>
                <a:lnTo>
                  <a:pt x="25434" y="241328"/>
                </a:lnTo>
                <a:lnTo>
                  <a:pt x="44272" y="200252"/>
                </a:lnTo>
                <a:lnTo>
                  <a:pt x="67702" y="161997"/>
                </a:lnTo>
                <a:lnTo>
                  <a:pt x="95368" y="126918"/>
                </a:lnTo>
                <a:lnTo>
                  <a:pt x="126918" y="95368"/>
                </a:lnTo>
                <a:lnTo>
                  <a:pt x="161997" y="67702"/>
                </a:lnTo>
                <a:lnTo>
                  <a:pt x="200252" y="44272"/>
                </a:lnTo>
                <a:lnTo>
                  <a:pt x="241328" y="25434"/>
                </a:lnTo>
                <a:lnTo>
                  <a:pt x="284873" y="11539"/>
                </a:lnTo>
                <a:lnTo>
                  <a:pt x="330532" y="2943"/>
                </a:lnTo>
                <a:lnTo>
                  <a:pt x="377952" y="0"/>
                </a:lnTo>
                <a:lnTo>
                  <a:pt x="425345" y="2943"/>
                </a:lnTo>
                <a:lnTo>
                  <a:pt x="470933" y="11539"/>
                </a:lnTo>
                <a:lnTo>
                  <a:pt x="514369" y="25434"/>
                </a:lnTo>
                <a:lnTo>
                  <a:pt x="555307" y="44272"/>
                </a:lnTo>
                <a:lnTo>
                  <a:pt x="593403" y="67702"/>
                </a:lnTo>
                <a:lnTo>
                  <a:pt x="628311" y="95368"/>
                </a:lnTo>
                <a:lnTo>
                  <a:pt x="659685" y="126918"/>
                </a:lnTo>
                <a:lnTo>
                  <a:pt x="687180" y="161997"/>
                </a:lnTo>
                <a:lnTo>
                  <a:pt x="710451" y="200252"/>
                </a:lnTo>
                <a:lnTo>
                  <a:pt x="729151" y="241328"/>
                </a:lnTo>
                <a:lnTo>
                  <a:pt x="742937" y="284873"/>
                </a:lnTo>
                <a:lnTo>
                  <a:pt x="751461" y="330532"/>
                </a:lnTo>
                <a:lnTo>
                  <a:pt x="754379" y="377951"/>
                </a:lnTo>
                <a:lnTo>
                  <a:pt x="751461" y="425046"/>
                </a:lnTo>
                <a:lnTo>
                  <a:pt x="742937" y="470429"/>
                </a:lnTo>
                <a:lnTo>
                  <a:pt x="729151" y="513744"/>
                </a:lnTo>
                <a:lnTo>
                  <a:pt x="710451" y="554633"/>
                </a:lnTo>
                <a:lnTo>
                  <a:pt x="687180" y="592737"/>
                </a:lnTo>
                <a:lnTo>
                  <a:pt x="659685" y="627699"/>
                </a:lnTo>
                <a:lnTo>
                  <a:pt x="628311" y="659160"/>
                </a:lnTo>
                <a:lnTo>
                  <a:pt x="593403" y="686764"/>
                </a:lnTo>
                <a:lnTo>
                  <a:pt x="555307" y="710151"/>
                </a:lnTo>
                <a:lnTo>
                  <a:pt x="514369" y="728964"/>
                </a:lnTo>
                <a:lnTo>
                  <a:pt x="470933" y="742845"/>
                </a:lnTo>
                <a:lnTo>
                  <a:pt x="425345" y="751436"/>
                </a:lnTo>
                <a:lnTo>
                  <a:pt x="377952" y="754379"/>
                </a:lnTo>
                <a:lnTo>
                  <a:pt x="330532" y="751436"/>
                </a:lnTo>
                <a:lnTo>
                  <a:pt x="284873" y="742845"/>
                </a:lnTo>
                <a:lnTo>
                  <a:pt x="241328" y="728964"/>
                </a:lnTo>
                <a:lnTo>
                  <a:pt x="200252" y="710151"/>
                </a:lnTo>
                <a:lnTo>
                  <a:pt x="161997" y="686764"/>
                </a:lnTo>
                <a:lnTo>
                  <a:pt x="126918" y="659160"/>
                </a:lnTo>
                <a:lnTo>
                  <a:pt x="95368" y="627699"/>
                </a:lnTo>
                <a:lnTo>
                  <a:pt x="67702" y="592737"/>
                </a:lnTo>
                <a:lnTo>
                  <a:pt x="44272" y="554633"/>
                </a:lnTo>
                <a:lnTo>
                  <a:pt x="25434" y="513744"/>
                </a:lnTo>
                <a:lnTo>
                  <a:pt x="11539" y="470429"/>
                </a:lnTo>
                <a:lnTo>
                  <a:pt x="2943" y="425046"/>
                </a:lnTo>
                <a:lnTo>
                  <a:pt x="0" y="377951"/>
                </a:lnTo>
              </a:path>
            </a:pathLst>
          </a:custGeom>
          <a:ln w="1524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 descr=""/>
          <p:cNvSpPr txBox="1"/>
          <p:nvPr/>
        </p:nvSpPr>
        <p:spPr>
          <a:xfrm>
            <a:off x="6688292" y="5406599"/>
            <a:ext cx="457834" cy="47942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ctr">
              <a:lnSpc>
                <a:spcPts val="1195"/>
              </a:lnSpc>
              <a:spcBef>
                <a:spcPts val="95"/>
              </a:spcBef>
            </a:pPr>
            <a:r>
              <a:rPr dirty="0" u="sng" sz="1000" spc="-25">
                <a:uFill>
                  <a:solidFill>
                    <a:srgbClr val="000000"/>
                  </a:solidFill>
                </a:uFill>
                <a:latin typeface="Microsoft Sans Serif"/>
                <a:cs typeface="Microsoft Sans Serif"/>
              </a:rPr>
              <a:t>4.2</a:t>
            </a:r>
            <a:endParaRPr sz="1000">
              <a:latin typeface="Microsoft Sans Serif"/>
              <a:cs typeface="Microsoft Sans Serif"/>
            </a:endParaRPr>
          </a:p>
          <a:p>
            <a:pPr algn="ctr" marL="12700" marR="5080">
              <a:lnSpc>
                <a:spcPts val="1190"/>
              </a:lnSpc>
              <a:spcBef>
                <a:spcPts val="40"/>
              </a:spcBef>
            </a:pPr>
            <a:r>
              <a:rPr dirty="0" sz="1000" spc="-95">
                <a:latin typeface="Microsoft Sans Serif"/>
                <a:cs typeface="Microsoft Sans Serif"/>
              </a:rPr>
              <a:t>Calculate</a:t>
            </a:r>
            <a:r>
              <a:rPr dirty="0" sz="1000" spc="-10">
                <a:latin typeface="Microsoft Sans Serif"/>
                <a:cs typeface="Microsoft Sans Serif"/>
              </a:rPr>
              <a:t> Payroll</a:t>
            </a:r>
            <a:endParaRPr sz="1000">
              <a:latin typeface="Microsoft Sans Serif"/>
              <a:cs typeface="Microsoft Sans Serif"/>
            </a:endParaRPr>
          </a:p>
        </p:txBody>
      </p:sp>
      <p:sp>
        <p:nvSpPr>
          <p:cNvPr id="12" name="object 12" descr=""/>
          <p:cNvSpPr/>
          <p:nvPr/>
        </p:nvSpPr>
        <p:spPr>
          <a:xfrm>
            <a:off x="7418832" y="5269992"/>
            <a:ext cx="754380" cy="754380"/>
          </a:xfrm>
          <a:custGeom>
            <a:avLst/>
            <a:gdLst/>
            <a:ahLst/>
            <a:cxnLst/>
            <a:rect l="l" t="t" r="r" b="b"/>
            <a:pathLst>
              <a:path w="754379" h="754379">
                <a:moveTo>
                  <a:pt x="0" y="377951"/>
                </a:moveTo>
                <a:lnTo>
                  <a:pt x="2943" y="330532"/>
                </a:lnTo>
                <a:lnTo>
                  <a:pt x="11534" y="284873"/>
                </a:lnTo>
                <a:lnTo>
                  <a:pt x="25415" y="241328"/>
                </a:lnTo>
                <a:lnTo>
                  <a:pt x="44228" y="200252"/>
                </a:lnTo>
                <a:lnTo>
                  <a:pt x="67615" y="161997"/>
                </a:lnTo>
                <a:lnTo>
                  <a:pt x="95219" y="126918"/>
                </a:lnTo>
                <a:lnTo>
                  <a:pt x="126680" y="95368"/>
                </a:lnTo>
                <a:lnTo>
                  <a:pt x="161642" y="67702"/>
                </a:lnTo>
                <a:lnTo>
                  <a:pt x="199746" y="44272"/>
                </a:lnTo>
                <a:lnTo>
                  <a:pt x="240635" y="25434"/>
                </a:lnTo>
                <a:lnTo>
                  <a:pt x="283950" y="11539"/>
                </a:lnTo>
                <a:lnTo>
                  <a:pt x="329333" y="2943"/>
                </a:lnTo>
                <a:lnTo>
                  <a:pt x="376428" y="0"/>
                </a:lnTo>
                <a:lnTo>
                  <a:pt x="423847" y="2943"/>
                </a:lnTo>
                <a:lnTo>
                  <a:pt x="469506" y="11539"/>
                </a:lnTo>
                <a:lnTo>
                  <a:pt x="513051" y="25434"/>
                </a:lnTo>
                <a:lnTo>
                  <a:pt x="554127" y="44272"/>
                </a:lnTo>
                <a:lnTo>
                  <a:pt x="592382" y="67702"/>
                </a:lnTo>
                <a:lnTo>
                  <a:pt x="627461" y="95368"/>
                </a:lnTo>
                <a:lnTo>
                  <a:pt x="659011" y="126918"/>
                </a:lnTo>
                <a:lnTo>
                  <a:pt x="686677" y="161997"/>
                </a:lnTo>
                <a:lnTo>
                  <a:pt x="710106" y="200252"/>
                </a:lnTo>
                <a:lnTo>
                  <a:pt x="728945" y="241328"/>
                </a:lnTo>
                <a:lnTo>
                  <a:pt x="742840" y="284873"/>
                </a:lnTo>
                <a:lnTo>
                  <a:pt x="751436" y="330532"/>
                </a:lnTo>
                <a:lnTo>
                  <a:pt x="754379" y="377951"/>
                </a:lnTo>
                <a:lnTo>
                  <a:pt x="751436" y="425046"/>
                </a:lnTo>
                <a:lnTo>
                  <a:pt x="742840" y="470429"/>
                </a:lnTo>
                <a:lnTo>
                  <a:pt x="728945" y="513744"/>
                </a:lnTo>
                <a:lnTo>
                  <a:pt x="710106" y="554633"/>
                </a:lnTo>
                <a:lnTo>
                  <a:pt x="686677" y="592737"/>
                </a:lnTo>
                <a:lnTo>
                  <a:pt x="659011" y="627699"/>
                </a:lnTo>
                <a:lnTo>
                  <a:pt x="627461" y="659160"/>
                </a:lnTo>
                <a:lnTo>
                  <a:pt x="592382" y="686764"/>
                </a:lnTo>
                <a:lnTo>
                  <a:pt x="554127" y="710151"/>
                </a:lnTo>
                <a:lnTo>
                  <a:pt x="513051" y="728964"/>
                </a:lnTo>
                <a:lnTo>
                  <a:pt x="469506" y="742845"/>
                </a:lnTo>
                <a:lnTo>
                  <a:pt x="423847" y="751436"/>
                </a:lnTo>
                <a:lnTo>
                  <a:pt x="376428" y="754379"/>
                </a:lnTo>
                <a:lnTo>
                  <a:pt x="329333" y="751436"/>
                </a:lnTo>
                <a:lnTo>
                  <a:pt x="283950" y="742845"/>
                </a:lnTo>
                <a:lnTo>
                  <a:pt x="240635" y="728964"/>
                </a:lnTo>
                <a:lnTo>
                  <a:pt x="199746" y="710151"/>
                </a:lnTo>
                <a:lnTo>
                  <a:pt x="161642" y="686764"/>
                </a:lnTo>
                <a:lnTo>
                  <a:pt x="126680" y="659160"/>
                </a:lnTo>
                <a:lnTo>
                  <a:pt x="95219" y="627699"/>
                </a:lnTo>
                <a:lnTo>
                  <a:pt x="67615" y="592737"/>
                </a:lnTo>
                <a:lnTo>
                  <a:pt x="44228" y="554633"/>
                </a:lnTo>
                <a:lnTo>
                  <a:pt x="25415" y="513744"/>
                </a:lnTo>
                <a:lnTo>
                  <a:pt x="11534" y="470429"/>
                </a:lnTo>
                <a:lnTo>
                  <a:pt x="2943" y="425046"/>
                </a:lnTo>
                <a:lnTo>
                  <a:pt x="0" y="377951"/>
                </a:lnTo>
              </a:path>
            </a:pathLst>
          </a:custGeom>
          <a:ln w="1524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 descr=""/>
          <p:cNvSpPr txBox="1"/>
          <p:nvPr/>
        </p:nvSpPr>
        <p:spPr>
          <a:xfrm>
            <a:off x="7581310" y="5330360"/>
            <a:ext cx="428625" cy="6299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ctr" marL="635">
              <a:lnSpc>
                <a:spcPts val="1195"/>
              </a:lnSpc>
              <a:spcBef>
                <a:spcPts val="95"/>
              </a:spcBef>
            </a:pPr>
            <a:r>
              <a:rPr dirty="0" u="sng" sz="1000" spc="-25">
                <a:uFill>
                  <a:solidFill>
                    <a:srgbClr val="000000"/>
                  </a:solidFill>
                </a:uFill>
                <a:latin typeface="Microsoft Sans Serif"/>
                <a:cs typeface="Microsoft Sans Serif"/>
              </a:rPr>
              <a:t>4.3</a:t>
            </a:r>
            <a:endParaRPr sz="1000">
              <a:latin typeface="Microsoft Sans Serif"/>
              <a:cs typeface="Microsoft Sans Serif"/>
            </a:endParaRPr>
          </a:p>
          <a:p>
            <a:pPr algn="ctr" marL="12065" marR="5080" indent="635">
              <a:lnSpc>
                <a:spcPts val="1190"/>
              </a:lnSpc>
              <a:spcBef>
                <a:spcPts val="40"/>
              </a:spcBef>
            </a:pPr>
            <a:r>
              <a:rPr dirty="0" sz="1000" spc="-25">
                <a:latin typeface="Microsoft Sans Serif"/>
                <a:cs typeface="Microsoft Sans Serif"/>
              </a:rPr>
              <a:t>Pay </a:t>
            </a:r>
            <a:r>
              <a:rPr dirty="0" sz="1000" spc="-105">
                <a:latin typeface="Microsoft Sans Serif"/>
                <a:cs typeface="Microsoft Sans Serif"/>
              </a:rPr>
              <a:t>Employe</a:t>
            </a:r>
            <a:r>
              <a:rPr dirty="0" sz="1000" spc="-50">
                <a:latin typeface="Microsoft Sans Serif"/>
                <a:cs typeface="Microsoft Sans Serif"/>
              </a:rPr>
              <a:t> e</a:t>
            </a:r>
            <a:endParaRPr sz="1000">
              <a:latin typeface="Microsoft Sans Serif"/>
              <a:cs typeface="Microsoft Sans Serif"/>
            </a:endParaRPr>
          </a:p>
        </p:txBody>
      </p:sp>
      <p:sp>
        <p:nvSpPr>
          <p:cNvPr id="14" name="object 14" descr=""/>
          <p:cNvSpPr/>
          <p:nvPr/>
        </p:nvSpPr>
        <p:spPr>
          <a:xfrm>
            <a:off x="5658611" y="4075176"/>
            <a:ext cx="754380" cy="754380"/>
          </a:xfrm>
          <a:custGeom>
            <a:avLst/>
            <a:gdLst/>
            <a:ahLst/>
            <a:cxnLst/>
            <a:rect l="l" t="t" r="r" b="b"/>
            <a:pathLst>
              <a:path w="754379" h="754379">
                <a:moveTo>
                  <a:pt x="0" y="377951"/>
                </a:moveTo>
                <a:lnTo>
                  <a:pt x="2943" y="330532"/>
                </a:lnTo>
                <a:lnTo>
                  <a:pt x="11534" y="284873"/>
                </a:lnTo>
                <a:lnTo>
                  <a:pt x="25415" y="241328"/>
                </a:lnTo>
                <a:lnTo>
                  <a:pt x="44228" y="200252"/>
                </a:lnTo>
                <a:lnTo>
                  <a:pt x="67615" y="161997"/>
                </a:lnTo>
                <a:lnTo>
                  <a:pt x="95219" y="126918"/>
                </a:lnTo>
                <a:lnTo>
                  <a:pt x="126680" y="95368"/>
                </a:lnTo>
                <a:lnTo>
                  <a:pt x="161642" y="67702"/>
                </a:lnTo>
                <a:lnTo>
                  <a:pt x="199746" y="44272"/>
                </a:lnTo>
                <a:lnTo>
                  <a:pt x="240635" y="25434"/>
                </a:lnTo>
                <a:lnTo>
                  <a:pt x="283950" y="11539"/>
                </a:lnTo>
                <a:lnTo>
                  <a:pt x="329333" y="2943"/>
                </a:lnTo>
                <a:lnTo>
                  <a:pt x="376428" y="0"/>
                </a:lnTo>
                <a:lnTo>
                  <a:pt x="423847" y="2943"/>
                </a:lnTo>
                <a:lnTo>
                  <a:pt x="469506" y="11539"/>
                </a:lnTo>
                <a:lnTo>
                  <a:pt x="513051" y="25434"/>
                </a:lnTo>
                <a:lnTo>
                  <a:pt x="554127" y="44272"/>
                </a:lnTo>
                <a:lnTo>
                  <a:pt x="592382" y="67702"/>
                </a:lnTo>
                <a:lnTo>
                  <a:pt x="627461" y="95368"/>
                </a:lnTo>
                <a:lnTo>
                  <a:pt x="659011" y="126918"/>
                </a:lnTo>
                <a:lnTo>
                  <a:pt x="686677" y="161997"/>
                </a:lnTo>
                <a:lnTo>
                  <a:pt x="710106" y="200252"/>
                </a:lnTo>
                <a:lnTo>
                  <a:pt x="728945" y="241328"/>
                </a:lnTo>
                <a:lnTo>
                  <a:pt x="742840" y="284873"/>
                </a:lnTo>
                <a:lnTo>
                  <a:pt x="751436" y="330532"/>
                </a:lnTo>
                <a:lnTo>
                  <a:pt x="754379" y="377951"/>
                </a:lnTo>
                <a:lnTo>
                  <a:pt x="751436" y="425345"/>
                </a:lnTo>
                <a:lnTo>
                  <a:pt x="742840" y="470933"/>
                </a:lnTo>
                <a:lnTo>
                  <a:pt x="728945" y="514369"/>
                </a:lnTo>
                <a:lnTo>
                  <a:pt x="710106" y="555307"/>
                </a:lnTo>
                <a:lnTo>
                  <a:pt x="686677" y="593403"/>
                </a:lnTo>
                <a:lnTo>
                  <a:pt x="659011" y="628311"/>
                </a:lnTo>
                <a:lnTo>
                  <a:pt x="627461" y="659685"/>
                </a:lnTo>
                <a:lnTo>
                  <a:pt x="592382" y="687180"/>
                </a:lnTo>
                <a:lnTo>
                  <a:pt x="554127" y="710451"/>
                </a:lnTo>
                <a:lnTo>
                  <a:pt x="513051" y="729151"/>
                </a:lnTo>
                <a:lnTo>
                  <a:pt x="469506" y="742937"/>
                </a:lnTo>
                <a:lnTo>
                  <a:pt x="423847" y="751461"/>
                </a:lnTo>
                <a:lnTo>
                  <a:pt x="376428" y="754379"/>
                </a:lnTo>
                <a:lnTo>
                  <a:pt x="329333" y="751461"/>
                </a:lnTo>
                <a:lnTo>
                  <a:pt x="283950" y="742937"/>
                </a:lnTo>
                <a:lnTo>
                  <a:pt x="240635" y="729151"/>
                </a:lnTo>
                <a:lnTo>
                  <a:pt x="199746" y="710451"/>
                </a:lnTo>
                <a:lnTo>
                  <a:pt x="161642" y="687180"/>
                </a:lnTo>
                <a:lnTo>
                  <a:pt x="126680" y="659685"/>
                </a:lnTo>
                <a:lnTo>
                  <a:pt x="95219" y="628311"/>
                </a:lnTo>
                <a:lnTo>
                  <a:pt x="67615" y="593403"/>
                </a:lnTo>
                <a:lnTo>
                  <a:pt x="44228" y="555307"/>
                </a:lnTo>
                <a:lnTo>
                  <a:pt x="25415" y="514369"/>
                </a:lnTo>
                <a:lnTo>
                  <a:pt x="11534" y="470933"/>
                </a:lnTo>
                <a:lnTo>
                  <a:pt x="2943" y="425345"/>
                </a:lnTo>
                <a:lnTo>
                  <a:pt x="0" y="377951"/>
                </a:lnTo>
              </a:path>
            </a:pathLst>
          </a:custGeom>
          <a:ln w="1524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 descr=""/>
          <p:cNvSpPr txBox="1"/>
          <p:nvPr/>
        </p:nvSpPr>
        <p:spPr>
          <a:xfrm>
            <a:off x="5804346" y="4135629"/>
            <a:ext cx="464184" cy="6299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ctr">
              <a:lnSpc>
                <a:spcPts val="1195"/>
              </a:lnSpc>
              <a:spcBef>
                <a:spcPts val="95"/>
              </a:spcBef>
            </a:pPr>
            <a:r>
              <a:rPr dirty="0" u="sng" sz="1000" spc="-25">
                <a:uFill>
                  <a:solidFill>
                    <a:srgbClr val="000000"/>
                  </a:solidFill>
                </a:uFill>
                <a:latin typeface="Microsoft Sans Serif"/>
                <a:cs typeface="Microsoft Sans Serif"/>
              </a:rPr>
              <a:t>3.1</a:t>
            </a:r>
            <a:endParaRPr sz="1000">
              <a:latin typeface="Microsoft Sans Serif"/>
              <a:cs typeface="Microsoft Sans Serif"/>
            </a:endParaRPr>
          </a:p>
          <a:p>
            <a:pPr algn="ctr" marL="12065" marR="5080">
              <a:lnSpc>
                <a:spcPts val="1190"/>
              </a:lnSpc>
              <a:spcBef>
                <a:spcPts val="40"/>
              </a:spcBef>
            </a:pPr>
            <a:r>
              <a:rPr dirty="0" sz="1000" spc="-50">
                <a:latin typeface="Microsoft Sans Serif"/>
                <a:cs typeface="Microsoft Sans Serif"/>
              </a:rPr>
              <a:t>Produce </a:t>
            </a:r>
            <a:r>
              <a:rPr dirty="0" sz="1000" spc="-105">
                <a:latin typeface="Microsoft Sans Serif"/>
                <a:cs typeface="Microsoft Sans Serif"/>
              </a:rPr>
              <a:t>Purchase</a:t>
            </a:r>
            <a:r>
              <a:rPr dirty="0" sz="1000" spc="-10">
                <a:latin typeface="Microsoft Sans Serif"/>
                <a:cs typeface="Microsoft Sans Serif"/>
              </a:rPr>
              <a:t> Order</a:t>
            </a:r>
            <a:endParaRPr sz="1000">
              <a:latin typeface="Microsoft Sans Serif"/>
              <a:cs typeface="Microsoft Sans Serif"/>
            </a:endParaRPr>
          </a:p>
        </p:txBody>
      </p:sp>
      <p:sp>
        <p:nvSpPr>
          <p:cNvPr id="16" name="object 16" descr=""/>
          <p:cNvSpPr/>
          <p:nvPr/>
        </p:nvSpPr>
        <p:spPr>
          <a:xfrm>
            <a:off x="6537959" y="4075176"/>
            <a:ext cx="754380" cy="754380"/>
          </a:xfrm>
          <a:custGeom>
            <a:avLst/>
            <a:gdLst/>
            <a:ahLst/>
            <a:cxnLst/>
            <a:rect l="l" t="t" r="r" b="b"/>
            <a:pathLst>
              <a:path w="754379" h="754379">
                <a:moveTo>
                  <a:pt x="0" y="377951"/>
                </a:moveTo>
                <a:lnTo>
                  <a:pt x="2943" y="330532"/>
                </a:lnTo>
                <a:lnTo>
                  <a:pt x="11539" y="284873"/>
                </a:lnTo>
                <a:lnTo>
                  <a:pt x="25434" y="241328"/>
                </a:lnTo>
                <a:lnTo>
                  <a:pt x="44272" y="200252"/>
                </a:lnTo>
                <a:lnTo>
                  <a:pt x="67702" y="161997"/>
                </a:lnTo>
                <a:lnTo>
                  <a:pt x="95368" y="126918"/>
                </a:lnTo>
                <a:lnTo>
                  <a:pt x="126918" y="95368"/>
                </a:lnTo>
                <a:lnTo>
                  <a:pt x="161997" y="67702"/>
                </a:lnTo>
                <a:lnTo>
                  <a:pt x="200252" y="44272"/>
                </a:lnTo>
                <a:lnTo>
                  <a:pt x="241328" y="25434"/>
                </a:lnTo>
                <a:lnTo>
                  <a:pt x="284873" y="11539"/>
                </a:lnTo>
                <a:lnTo>
                  <a:pt x="330532" y="2943"/>
                </a:lnTo>
                <a:lnTo>
                  <a:pt x="377952" y="0"/>
                </a:lnTo>
                <a:lnTo>
                  <a:pt x="425345" y="2943"/>
                </a:lnTo>
                <a:lnTo>
                  <a:pt x="470933" y="11539"/>
                </a:lnTo>
                <a:lnTo>
                  <a:pt x="514369" y="25434"/>
                </a:lnTo>
                <a:lnTo>
                  <a:pt x="555307" y="44272"/>
                </a:lnTo>
                <a:lnTo>
                  <a:pt x="593403" y="67702"/>
                </a:lnTo>
                <a:lnTo>
                  <a:pt x="628311" y="95368"/>
                </a:lnTo>
                <a:lnTo>
                  <a:pt x="659685" y="126918"/>
                </a:lnTo>
                <a:lnTo>
                  <a:pt x="687180" y="161997"/>
                </a:lnTo>
                <a:lnTo>
                  <a:pt x="710451" y="200252"/>
                </a:lnTo>
                <a:lnTo>
                  <a:pt x="729151" y="241328"/>
                </a:lnTo>
                <a:lnTo>
                  <a:pt x="742937" y="284873"/>
                </a:lnTo>
                <a:lnTo>
                  <a:pt x="751461" y="330532"/>
                </a:lnTo>
                <a:lnTo>
                  <a:pt x="754379" y="377951"/>
                </a:lnTo>
                <a:lnTo>
                  <a:pt x="751461" y="425345"/>
                </a:lnTo>
                <a:lnTo>
                  <a:pt x="742937" y="470933"/>
                </a:lnTo>
                <a:lnTo>
                  <a:pt x="729151" y="514369"/>
                </a:lnTo>
                <a:lnTo>
                  <a:pt x="710451" y="555307"/>
                </a:lnTo>
                <a:lnTo>
                  <a:pt x="687180" y="593403"/>
                </a:lnTo>
                <a:lnTo>
                  <a:pt x="659685" y="628311"/>
                </a:lnTo>
                <a:lnTo>
                  <a:pt x="628311" y="659685"/>
                </a:lnTo>
                <a:lnTo>
                  <a:pt x="593403" y="687180"/>
                </a:lnTo>
                <a:lnTo>
                  <a:pt x="555307" y="710451"/>
                </a:lnTo>
                <a:lnTo>
                  <a:pt x="514369" y="729151"/>
                </a:lnTo>
                <a:lnTo>
                  <a:pt x="470933" y="742937"/>
                </a:lnTo>
                <a:lnTo>
                  <a:pt x="425345" y="751461"/>
                </a:lnTo>
                <a:lnTo>
                  <a:pt x="377952" y="754379"/>
                </a:lnTo>
                <a:lnTo>
                  <a:pt x="330532" y="751461"/>
                </a:lnTo>
                <a:lnTo>
                  <a:pt x="284873" y="742937"/>
                </a:lnTo>
                <a:lnTo>
                  <a:pt x="241328" y="729151"/>
                </a:lnTo>
                <a:lnTo>
                  <a:pt x="200252" y="710451"/>
                </a:lnTo>
                <a:lnTo>
                  <a:pt x="161997" y="687180"/>
                </a:lnTo>
                <a:lnTo>
                  <a:pt x="126918" y="659685"/>
                </a:lnTo>
                <a:lnTo>
                  <a:pt x="95368" y="628311"/>
                </a:lnTo>
                <a:lnTo>
                  <a:pt x="67702" y="593403"/>
                </a:lnTo>
                <a:lnTo>
                  <a:pt x="44272" y="555307"/>
                </a:lnTo>
                <a:lnTo>
                  <a:pt x="25434" y="514369"/>
                </a:lnTo>
                <a:lnTo>
                  <a:pt x="11539" y="470933"/>
                </a:lnTo>
                <a:lnTo>
                  <a:pt x="2943" y="425345"/>
                </a:lnTo>
                <a:lnTo>
                  <a:pt x="0" y="377951"/>
                </a:lnTo>
              </a:path>
            </a:pathLst>
          </a:custGeom>
          <a:ln w="1524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 descr=""/>
          <p:cNvSpPr txBox="1"/>
          <p:nvPr/>
        </p:nvSpPr>
        <p:spPr>
          <a:xfrm>
            <a:off x="6717205" y="4211791"/>
            <a:ext cx="400685" cy="47942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ctr">
              <a:lnSpc>
                <a:spcPts val="1195"/>
              </a:lnSpc>
              <a:spcBef>
                <a:spcPts val="95"/>
              </a:spcBef>
            </a:pPr>
            <a:r>
              <a:rPr dirty="0" u="sng" sz="1000" spc="-25">
                <a:uFill>
                  <a:solidFill>
                    <a:srgbClr val="000000"/>
                  </a:solidFill>
                </a:uFill>
                <a:latin typeface="Microsoft Sans Serif"/>
                <a:cs typeface="Microsoft Sans Serif"/>
              </a:rPr>
              <a:t>3.2</a:t>
            </a:r>
            <a:endParaRPr sz="1000">
              <a:latin typeface="Microsoft Sans Serif"/>
              <a:cs typeface="Microsoft Sans Serif"/>
            </a:endParaRPr>
          </a:p>
          <a:p>
            <a:pPr algn="ctr" marL="12065" marR="5080">
              <a:lnSpc>
                <a:spcPts val="1190"/>
              </a:lnSpc>
              <a:spcBef>
                <a:spcPts val="40"/>
              </a:spcBef>
            </a:pPr>
            <a:r>
              <a:rPr dirty="0" sz="1000" spc="-105">
                <a:latin typeface="Microsoft Sans Serif"/>
                <a:cs typeface="Microsoft Sans Serif"/>
              </a:rPr>
              <a:t>Receive</a:t>
            </a:r>
            <a:r>
              <a:rPr dirty="0" sz="1000" spc="-10">
                <a:latin typeface="Microsoft Sans Serif"/>
                <a:cs typeface="Microsoft Sans Serif"/>
              </a:rPr>
              <a:t> Items</a:t>
            </a:r>
            <a:endParaRPr sz="1000">
              <a:latin typeface="Microsoft Sans Serif"/>
              <a:cs typeface="Microsoft Sans Serif"/>
            </a:endParaRPr>
          </a:p>
        </p:txBody>
      </p:sp>
      <p:sp>
        <p:nvSpPr>
          <p:cNvPr id="18" name="object 18" descr=""/>
          <p:cNvSpPr/>
          <p:nvPr/>
        </p:nvSpPr>
        <p:spPr>
          <a:xfrm>
            <a:off x="7418832" y="4075176"/>
            <a:ext cx="754380" cy="754380"/>
          </a:xfrm>
          <a:custGeom>
            <a:avLst/>
            <a:gdLst/>
            <a:ahLst/>
            <a:cxnLst/>
            <a:rect l="l" t="t" r="r" b="b"/>
            <a:pathLst>
              <a:path w="754379" h="754379">
                <a:moveTo>
                  <a:pt x="0" y="377951"/>
                </a:moveTo>
                <a:lnTo>
                  <a:pt x="2943" y="330532"/>
                </a:lnTo>
                <a:lnTo>
                  <a:pt x="11534" y="284873"/>
                </a:lnTo>
                <a:lnTo>
                  <a:pt x="25415" y="241328"/>
                </a:lnTo>
                <a:lnTo>
                  <a:pt x="44228" y="200252"/>
                </a:lnTo>
                <a:lnTo>
                  <a:pt x="67615" y="161997"/>
                </a:lnTo>
                <a:lnTo>
                  <a:pt x="95219" y="126918"/>
                </a:lnTo>
                <a:lnTo>
                  <a:pt x="126680" y="95368"/>
                </a:lnTo>
                <a:lnTo>
                  <a:pt x="161642" y="67702"/>
                </a:lnTo>
                <a:lnTo>
                  <a:pt x="199746" y="44272"/>
                </a:lnTo>
                <a:lnTo>
                  <a:pt x="240635" y="25434"/>
                </a:lnTo>
                <a:lnTo>
                  <a:pt x="283950" y="11539"/>
                </a:lnTo>
                <a:lnTo>
                  <a:pt x="329333" y="2943"/>
                </a:lnTo>
                <a:lnTo>
                  <a:pt x="376428" y="0"/>
                </a:lnTo>
                <a:lnTo>
                  <a:pt x="423847" y="2943"/>
                </a:lnTo>
                <a:lnTo>
                  <a:pt x="469506" y="11539"/>
                </a:lnTo>
                <a:lnTo>
                  <a:pt x="513051" y="25434"/>
                </a:lnTo>
                <a:lnTo>
                  <a:pt x="554127" y="44272"/>
                </a:lnTo>
                <a:lnTo>
                  <a:pt x="592382" y="67702"/>
                </a:lnTo>
                <a:lnTo>
                  <a:pt x="627461" y="95368"/>
                </a:lnTo>
                <a:lnTo>
                  <a:pt x="659011" y="126918"/>
                </a:lnTo>
                <a:lnTo>
                  <a:pt x="686677" y="161997"/>
                </a:lnTo>
                <a:lnTo>
                  <a:pt x="710106" y="200252"/>
                </a:lnTo>
                <a:lnTo>
                  <a:pt x="728945" y="241328"/>
                </a:lnTo>
                <a:lnTo>
                  <a:pt x="742840" y="284873"/>
                </a:lnTo>
                <a:lnTo>
                  <a:pt x="751436" y="330532"/>
                </a:lnTo>
                <a:lnTo>
                  <a:pt x="754379" y="377951"/>
                </a:lnTo>
                <a:lnTo>
                  <a:pt x="751436" y="425345"/>
                </a:lnTo>
                <a:lnTo>
                  <a:pt x="742840" y="470933"/>
                </a:lnTo>
                <a:lnTo>
                  <a:pt x="728945" y="514369"/>
                </a:lnTo>
                <a:lnTo>
                  <a:pt x="710106" y="555307"/>
                </a:lnTo>
                <a:lnTo>
                  <a:pt x="686677" y="593403"/>
                </a:lnTo>
                <a:lnTo>
                  <a:pt x="659011" y="628311"/>
                </a:lnTo>
                <a:lnTo>
                  <a:pt x="627461" y="659685"/>
                </a:lnTo>
                <a:lnTo>
                  <a:pt x="592382" y="687180"/>
                </a:lnTo>
                <a:lnTo>
                  <a:pt x="554127" y="710451"/>
                </a:lnTo>
                <a:lnTo>
                  <a:pt x="513051" y="729151"/>
                </a:lnTo>
                <a:lnTo>
                  <a:pt x="469506" y="742937"/>
                </a:lnTo>
                <a:lnTo>
                  <a:pt x="423847" y="751461"/>
                </a:lnTo>
                <a:lnTo>
                  <a:pt x="376428" y="754379"/>
                </a:lnTo>
                <a:lnTo>
                  <a:pt x="329333" y="751461"/>
                </a:lnTo>
                <a:lnTo>
                  <a:pt x="283950" y="742937"/>
                </a:lnTo>
                <a:lnTo>
                  <a:pt x="240635" y="729151"/>
                </a:lnTo>
                <a:lnTo>
                  <a:pt x="199746" y="710451"/>
                </a:lnTo>
                <a:lnTo>
                  <a:pt x="161642" y="687180"/>
                </a:lnTo>
                <a:lnTo>
                  <a:pt x="126680" y="659685"/>
                </a:lnTo>
                <a:lnTo>
                  <a:pt x="95219" y="628311"/>
                </a:lnTo>
                <a:lnTo>
                  <a:pt x="67615" y="593403"/>
                </a:lnTo>
                <a:lnTo>
                  <a:pt x="44228" y="555307"/>
                </a:lnTo>
                <a:lnTo>
                  <a:pt x="25415" y="514369"/>
                </a:lnTo>
                <a:lnTo>
                  <a:pt x="11534" y="470933"/>
                </a:lnTo>
                <a:lnTo>
                  <a:pt x="2943" y="425345"/>
                </a:lnTo>
                <a:lnTo>
                  <a:pt x="0" y="377951"/>
                </a:lnTo>
              </a:path>
            </a:pathLst>
          </a:custGeom>
          <a:ln w="1524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 descr=""/>
          <p:cNvSpPr txBox="1"/>
          <p:nvPr/>
        </p:nvSpPr>
        <p:spPr>
          <a:xfrm>
            <a:off x="7619449" y="4211791"/>
            <a:ext cx="354965" cy="47942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ctr">
              <a:lnSpc>
                <a:spcPts val="1195"/>
              </a:lnSpc>
              <a:spcBef>
                <a:spcPts val="95"/>
              </a:spcBef>
            </a:pPr>
            <a:r>
              <a:rPr dirty="0" u="sng" sz="1000" spc="-25">
                <a:uFill>
                  <a:solidFill>
                    <a:srgbClr val="000000"/>
                  </a:solidFill>
                </a:uFill>
                <a:latin typeface="Microsoft Sans Serif"/>
                <a:cs typeface="Microsoft Sans Serif"/>
              </a:rPr>
              <a:t>3.3</a:t>
            </a:r>
            <a:endParaRPr sz="1000">
              <a:latin typeface="Microsoft Sans Serif"/>
              <a:cs typeface="Microsoft Sans Serif"/>
            </a:endParaRPr>
          </a:p>
          <a:p>
            <a:pPr algn="ctr" marL="12700" marR="5080" indent="-1905">
              <a:lnSpc>
                <a:spcPts val="1190"/>
              </a:lnSpc>
              <a:spcBef>
                <a:spcPts val="40"/>
              </a:spcBef>
            </a:pPr>
            <a:r>
              <a:rPr dirty="0" sz="1000" spc="-25">
                <a:latin typeface="Microsoft Sans Serif"/>
                <a:cs typeface="Microsoft Sans Serif"/>
              </a:rPr>
              <a:t>Pay </a:t>
            </a:r>
            <a:r>
              <a:rPr dirty="0" sz="1000" spc="-114">
                <a:latin typeface="Microsoft Sans Serif"/>
                <a:cs typeface="Microsoft Sans Serif"/>
              </a:rPr>
              <a:t>Vendor</a:t>
            </a:r>
            <a:endParaRPr sz="1000">
              <a:latin typeface="Microsoft Sans Serif"/>
              <a:cs typeface="Microsoft Sans Serif"/>
            </a:endParaRPr>
          </a:p>
        </p:txBody>
      </p:sp>
      <p:sp>
        <p:nvSpPr>
          <p:cNvPr id="20" name="object 20" descr=""/>
          <p:cNvSpPr/>
          <p:nvPr/>
        </p:nvSpPr>
        <p:spPr>
          <a:xfrm>
            <a:off x="5658611" y="2944368"/>
            <a:ext cx="754380" cy="754380"/>
          </a:xfrm>
          <a:custGeom>
            <a:avLst/>
            <a:gdLst/>
            <a:ahLst/>
            <a:cxnLst/>
            <a:rect l="l" t="t" r="r" b="b"/>
            <a:pathLst>
              <a:path w="754379" h="754379">
                <a:moveTo>
                  <a:pt x="0" y="376427"/>
                </a:moveTo>
                <a:lnTo>
                  <a:pt x="2943" y="329333"/>
                </a:lnTo>
                <a:lnTo>
                  <a:pt x="11534" y="283950"/>
                </a:lnTo>
                <a:lnTo>
                  <a:pt x="25415" y="240635"/>
                </a:lnTo>
                <a:lnTo>
                  <a:pt x="44228" y="199746"/>
                </a:lnTo>
                <a:lnTo>
                  <a:pt x="67615" y="161642"/>
                </a:lnTo>
                <a:lnTo>
                  <a:pt x="95219" y="126680"/>
                </a:lnTo>
                <a:lnTo>
                  <a:pt x="126680" y="95219"/>
                </a:lnTo>
                <a:lnTo>
                  <a:pt x="161642" y="67615"/>
                </a:lnTo>
                <a:lnTo>
                  <a:pt x="199746" y="44228"/>
                </a:lnTo>
                <a:lnTo>
                  <a:pt x="240635" y="25415"/>
                </a:lnTo>
                <a:lnTo>
                  <a:pt x="283950" y="11534"/>
                </a:lnTo>
                <a:lnTo>
                  <a:pt x="329333" y="2943"/>
                </a:lnTo>
                <a:lnTo>
                  <a:pt x="376428" y="0"/>
                </a:lnTo>
                <a:lnTo>
                  <a:pt x="423847" y="2943"/>
                </a:lnTo>
                <a:lnTo>
                  <a:pt x="469506" y="11534"/>
                </a:lnTo>
                <a:lnTo>
                  <a:pt x="513051" y="25415"/>
                </a:lnTo>
                <a:lnTo>
                  <a:pt x="554127" y="44228"/>
                </a:lnTo>
                <a:lnTo>
                  <a:pt x="592382" y="67615"/>
                </a:lnTo>
                <a:lnTo>
                  <a:pt x="627461" y="95219"/>
                </a:lnTo>
                <a:lnTo>
                  <a:pt x="659011" y="126680"/>
                </a:lnTo>
                <a:lnTo>
                  <a:pt x="686677" y="161642"/>
                </a:lnTo>
                <a:lnTo>
                  <a:pt x="710106" y="199746"/>
                </a:lnTo>
                <a:lnTo>
                  <a:pt x="728945" y="240635"/>
                </a:lnTo>
                <a:lnTo>
                  <a:pt x="742840" y="283950"/>
                </a:lnTo>
                <a:lnTo>
                  <a:pt x="751436" y="329333"/>
                </a:lnTo>
                <a:lnTo>
                  <a:pt x="754379" y="376427"/>
                </a:lnTo>
                <a:lnTo>
                  <a:pt x="751436" y="423847"/>
                </a:lnTo>
                <a:lnTo>
                  <a:pt x="742840" y="469506"/>
                </a:lnTo>
                <a:lnTo>
                  <a:pt x="728945" y="513051"/>
                </a:lnTo>
                <a:lnTo>
                  <a:pt x="710106" y="554127"/>
                </a:lnTo>
                <a:lnTo>
                  <a:pt x="686677" y="592382"/>
                </a:lnTo>
                <a:lnTo>
                  <a:pt x="659011" y="627461"/>
                </a:lnTo>
                <a:lnTo>
                  <a:pt x="627461" y="659011"/>
                </a:lnTo>
                <a:lnTo>
                  <a:pt x="592382" y="686677"/>
                </a:lnTo>
                <a:lnTo>
                  <a:pt x="554127" y="710107"/>
                </a:lnTo>
                <a:lnTo>
                  <a:pt x="513051" y="728945"/>
                </a:lnTo>
                <a:lnTo>
                  <a:pt x="469506" y="742840"/>
                </a:lnTo>
                <a:lnTo>
                  <a:pt x="423847" y="751436"/>
                </a:lnTo>
                <a:lnTo>
                  <a:pt x="376428" y="754379"/>
                </a:lnTo>
                <a:lnTo>
                  <a:pt x="329333" y="751436"/>
                </a:lnTo>
                <a:lnTo>
                  <a:pt x="283950" y="742840"/>
                </a:lnTo>
                <a:lnTo>
                  <a:pt x="240635" y="728945"/>
                </a:lnTo>
                <a:lnTo>
                  <a:pt x="199746" y="710107"/>
                </a:lnTo>
                <a:lnTo>
                  <a:pt x="161642" y="686677"/>
                </a:lnTo>
                <a:lnTo>
                  <a:pt x="126680" y="659011"/>
                </a:lnTo>
                <a:lnTo>
                  <a:pt x="95219" y="627461"/>
                </a:lnTo>
                <a:lnTo>
                  <a:pt x="67615" y="592382"/>
                </a:lnTo>
                <a:lnTo>
                  <a:pt x="44228" y="554127"/>
                </a:lnTo>
                <a:lnTo>
                  <a:pt x="25415" y="513051"/>
                </a:lnTo>
                <a:lnTo>
                  <a:pt x="11534" y="469506"/>
                </a:lnTo>
                <a:lnTo>
                  <a:pt x="2943" y="423847"/>
                </a:lnTo>
                <a:lnTo>
                  <a:pt x="0" y="376427"/>
                </a:lnTo>
              </a:path>
            </a:pathLst>
          </a:custGeom>
          <a:ln w="1524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object 21" descr=""/>
          <p:cNvSpPr txBox="1"/>
          <p:nvPr/>
        </p:nvSpPr>
        <p:spPr>
          <a:xfrm>
            <a:off x="5843990" y="3079471"/>
            <a:ext cx="383540" cy="47942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18745">
              <a:lnSpc>
                <a:spcPts val="1195"/>
              </a:lnSpc>
              <a:spcBef>
                <a:spcPts val="95"/>
              </a:spcBef>
            </a:pPr>
            <a:r>
              <a:rPr dirty="0" u="sng" sz="1000" spc="-25">
                <a:uFill>
                  <a:solidFill>
                    <a:srgbClr val="000000"/>
                  </a:solidFill>
                </a:uFill>
                <a:latin typeface="Microsoft Sans Serif"/>
                <a:cs typeface="Microsoft Sans Serif"/>
              </a:rPr>
              <a:t>2.1</a:t>
            </a:r>
            <a:endParaRPr sz="1000">
              <a:latin typeface="Microsoft Sans Serif"/>
              <a:cs typeface="Microsoft Sans Serif"/>
            </a:endParaRPr>
          </a:p>
          <a:p>
            <a:pPr marL="12700" marR="5080" indent="43815">
              <a:lnSpc>
                <a:spcPts val="1190"/>
              </a:lnSpc>
              <a:spcBef>
                <a:spcPts val="40"/>
              </a:spcBef>
            </a:pPr>
            <a:r>
              <a:rPr dirty="0" sz="1000" spc="-40">
                <a:latin typeface="Microsoft Sans Serif"/>
                <a:cs typeface="Microsoft Sans Serif"/>
              </a:rPr>
              <a:t>Serve </a:t>
            </a:r>
            <a:r>
              <a:rPr dirty="0" sz="1000" spc="-100">
                <a:latin typeface="Microsoft Sans Serif"/>
                <a:cs typeface="Microsoft Sans Serif"/>
              </a:rPr>
              <a:t>Product</a:t>
            </a:r>
            <a:endParaRPr sz="1000">
              <a:latin typeface="Microsoft Sans Serif"/>
              <a:cs typeface="Microsoft Sans Serif"/>
            </a:endParaRPr>
          </a:p>
        </p:txBody>
      </p:sp>
      <p:sp>
        <p:nvSpPr>
          <p:cNvPr id="22" name="object 22" descr=""/>
          <p:cNvSpPr/>
          <p:nvPr/>
        </p:nvSpPr>
        <p:spPr>
          <a:xfrm>
            <a:off x="6537959" y="2944368"/>
            <a:ext cx="754380" cy="754380"/>
          </a:xfrm>
          <a:custGeom>
            <a:avLst/>
            <a:gdLst/>
            <a:ahLst/>
            <a:cxnLst/>
            <a:rect l="l" t="t" r="r" b="b"/>
            <a:pathLst>
              <a:path w="754379" h="754379">
                <a:moveTo>
                  <a:pt x="0" y="376427"/>
                </a:moveTo>
                <a:lnTo>
                  <a:pt x="2943" y="329333"/>
                </a:lnTo>
                <a:lnTo>
                  <a:pt x="11539" y="283950"/>
                </a:lnTo>
                <a:lnTo>
                  <a:pt x="25434" y="240635"/>
                </a:lnTo>
                <a:lnTo>
                  <a:pt x="44272" y="199746"/>
                </a:lnTo>
                <a:lnTo>
                  <a:pt x="67702" y="161642"/>
                </a:lnTo>
                <a:lnTo>
                  <a:pt x="95368" y="126680"/>
                </a:lnTo>
                <a:lnTo>
                  <a:pt x="126918" y="95219"/>
                </a:lnTo>
                <a:lnTo>
                  <a:pt x="161997" y="67615"/>
                </a:lnTo>
                <a:lnTo>
                  <a:pt x="200252" y="44228"/>
                </a:lnTo>
                <a:lnTo>
                  <a:pt x="241328" y="25415"/>
                </a:lnTo>
                <a:lnTo>
                  <a:pt x="284873" y="11534"/>
                </a:lnTo>
                <a:lnTo>
                  <a:pt x="330532" y="2943"/>
                </a:lnTo>
                <a:lnTo>
                  <a:pt x="377952" y="0"/>
                </a:lnTo>
                <a:lnTo>
                  <a:pt x="425345" y="2943"/>
                </a:lnTo>
                <a:lnTo>
                  <a:pt x="470933" y="11534"/>
                </a:lnTo>
                <a:lnTo>
                  <a:pt x="514369" y="25415"/>
                </a:lnTo>
                <a:lnTo>
                  <a:pt x="555307" y="44228"/>
                </a:lnTo>
                <a:lnTo>
                  <a:pt x="593403" y="67615"/>
                </a:lnTo>
                <a:lnTo>
                  <a:pt x="628311" y="95219"/>
                </a:lnTo>
                <a:lnTo>
                  <a:pt x="659685" y="126680"/>
                </a:lnTo>
                <a:lnTo>
                  <a:pt x="687180" y="161642"/>
                </a:lnTo>
                <a:lnTo>
                  <a:pt x="710451" y="199746"/>
                </a:lnTo>
                <a:lnTo>
                  <a:pt x="729151" y="240635"/>
                </a:lnTo>
                <a:lnTo>
                  <a:pt x="742937" y="283950"/>
                </a:lnTo>
                <a:lnTo>
                  <a:pt x="751461" y="329333"/>
                </a:lnTo>
                <a:lnTo>
                  <a:pt x="754379" y="376427"/>
                </a:lnTo>
                <a:lnTo>
                  <a:pt x="751461" y="423847"/>
                </a:lnTo>
                <a:lnTo>
                  <a:pt x="742937" y="469506"/>
                </a:lnTo>
                <a:lnTo>
                  <a:pt x="729151" y="513051"/>
                </a:lnTo>
                <a:lnTo>
                  <a:pt x="710451" y="554127"/>
                </a:lnTo>
                <a:lnTo>
                  <a:pt x="687180" y="592382"/>
                </a:lnTo>
                <a:lnTo>
                  <a:pt x="659685" y="627461"/>
                </a:lnTo>
                <a:lnTo>
                  <a:pt x="628311" y="659011"/>
                </a:lnTo>
                <a:lnTo>
                  <a:pt x="593403" y="686677"/>
                </a:lnTo>
                <a:lnTo>
                  <a:pt x="555307" y="710107"/>
                </a:lnTo>
                <a:lnTo>
                  <a:pt x="514369" y="728945"/>
                </a:lnTo>
                <a:lnTo>
                  <a:pt x="470933" y="742840"/>
                </a:lnTo>
                <a:lnTo>
                  <a:pt x="425345" y="751436"/>
                </a:lnTo>
                <a:lnTo>
                  <a:pt x="377952" y="754379"/>
                </a:lnTo>
                <a:lnTo>
                  <a:pt x="330532" y="751436"/>
                </a:lnTo>
                <a:lnTo>
                  <a:pt x="284873" y="742840"/>
                </a:lnTo>
                <a:lnTo>
                  <a:pt x="241328" y="728945"/>
                </a:lnTo>
                <a:lnTo>
                  <a:pt x="200252" y="710107"/>
                </a:lnTo>
                <a:lnTo>
                  <a:pt x="161997" y="686677"/>
                </a:lnTo>
                <a:lnTo>
                  <a:pt x="126918" y="659011"/>
                </a:lnTo>
                <a:lnTo>
                  <a:pt x="95368" y="627461"/>
                </a:lnTo>
                <a:lnTo>
                  <a:pt x="67702" y="592382"/>
                </a:lnTo>
                <a:lnTo>
                  <a:pt x="44272" y="554127"/>
                </a:lnTo>
                <a:lnTo>
                  <a:pt x="25434" y="513051"/>
                </a:lnTo>
                <a:lnTo>
                  <a:pt x="11539" y="469506"/>
                </a:lnTo>
                <a:lnTo>
                  <a:pt x="2943" y="423847"/>
                </a:lnTo>
                <a:lnTo>
                  <a:pt x="0" y="376427"/>
                </a:lnTo>
              </a:path>
            </a:pathLst>
          </a:custGeom>
          <a:ln w="1524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" name="object 23" descr=""/>
          <p:cNvSpPr txBox="1"/>
          <p:nvPr/>
        </p:nvSpPr>
        <p:spPr>
          <a:xfrm>
            <a:off x="6711145" y="3079471"/>
            <a:ext cx="412115" cy="47942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ctr">
              <a:lnSpc>
                <a:spcPts val="1195"/>
              </a:lnSpc>
              <a:spcBef>
                <a:spcPts val="95"/>
              </a:spcBef>
            </a:pPr>
            <a:r>
              <a:rPr dirty="0" u="sng" sz="1000" spc="-25">
                <a:uFill>
                  <a:solidFill>
                    <a:srgbClr val="000000"/>
                  </a:solidFill>
                </a:uFill>
                <a:latin typeface="Microsoft Sans Serif"/>
                <a:cs typeface="Microsoft Sans Serif"/>
              </a:rPr>
              <a:t>2.2</a:t>
            </a:r>
            <a:endParaRPr sz="1000">
              <a:latin typeface="Microsoft Sans Serif"/>
              <a:cs typeface="Microsoft Sans Serif"/>
            </a:endParaRPr>
          </a:p>
          <a:p>
            <a:pPr algn="ctr" marL="12700" marR="5080">
              <a:lnSpc>
                <a:spcPts val="1190"/>
              </a:lnSpc>
              <a:spcBef>
                <a:spcPts val="40"/>
              </a:spcBef>
            </a:pPr>
            <a:r>
              <a:rPr dirty="0" sz="1000" spc="-105">
                <a:latin typeface="Microsoft Sans Serif"/>
                <a:cs typeface="Microsoft Sans Serif"/>
              </a:rPr>
              <a:t>Produce</a:t>
            </a:r>
            <a:r>
              <a:rPr dirty="0" sz="1000" spc="-60">
                <a:latin typeface="Microsoft Sans Serif"/>
                <a:cs typeface="Microsoft Sans Serif"/>
              </a:rPr>
              <a:t> Product</a:t>
            </a:r>
            <a:endParaRPr sz="1000">
              <a:latin typeface="Microsoft Sans Serif"/>
              <a:cs typeface="Microsoft Sans Serif"/>
            </a:endParaRPr>
          </a:p>
        </p:txBody>
      </p:sp>
      <p:sp>
        <p:nvSpPr>
          <p:cNvPr id="24" name="object 24" descr=""/>
          <p:cNvSpPr/>
          <p:nvPr/>
        </p:nvSpPr>
        <p:spPr>
          <a:xfrm>
            <a:off x="7418832" y="2944368"/>
            <a:ext cx="754380" cy="754380"/>
          </a:xfrm>
          <a:custGeom>
            <a:avLst/>
            <a:gdLst/>
            <a:ahLst/>
            <a:cxnLst/>
            <a:rect l="l" t="t" r="r" b="b"/>
            <a:pathLst>
              <a:path w="754379" h="754379">
                <a:moveTo>
                  <a:pt x="0" y="376427"/>
                </a:moveTo>
                <a:lnTo>
                  <a:pt x="2943" y="329333"/>
                </a:lnTo>
                <a:lnTo>
                  <a:pt x="11534" y="283950"/>
                </a:lnTo>
                <a:lnTo>
                  <a:pt x="25415" y="240635"/>
                </a:lnTo>
                <a:lnTo>
                  <a:pt x="44228" y="199746"/>
                </a:lnTo>
                <a:lnTo>
                  <a:pt x="67615" y="161642"/>
                </a:lnTo>
                <a:lnTo>
                  <a:pt x="95219" y="126680"/>
                </a:lnTo>
                <a:lnTo>
                  <a:pt x="126680" y="95219"/>
                </a:lnTo>
                <a:lnTo>
                  <a:pt x="161642" y="67615"/>
                </a:lnTo>
                <a:lnTo>
                  <a:pt x="199746" y="44228"/>
                </a:lnTo>
                <a:lnTo>
                  <a:pt x="240635" y="25415"/>
                </a:lnTo>
                <a:lnTo>
                  <a:pt x="283950" y="11534"/>
                </a:lnTo>
                <a:lnTo>
                  <a:pt x="329333" y="2943"/>
                </a:lnTo>
                <a:lnTo>
                  <a:pt x="376428" y="0"/>
                </a:lnTo>
                <a:lnTo>
                  <a:pt x="423847" y="2943"/>
                </a:lnTo>
                <a:lnTo>
                  <a:pt x="469506" y="11534"/>
                </a:lnTo>
                <a:lnTo>
                  <a:pt x="513051" y="25415"/>
                </a:lnTo>
                <a:lnTo>
                  <a:pt x="554127" y="44228"/>
                </a:lnTo>
                <a:lnTo>
                  <a:pt x="592382" y="67615"/>
                </a:lnTo>
                <a:lnTo>
                  <a:pt x="627461" y="95219"/>
                </a:lnTo>
                <a:lnTo>
                  <a:pt x="659011" y="126680"/>
                </a:lnTo>
                <a:lnTo>
                  <a:pt x="686677" y="161642"/>
                </a:lnTo>
                <a:lnTo>
                  <a:pt x="710106" y="199746"/>
                </a:lnTo>
                <a:lnTo>
                  <a:pt x="728945" y="240635"/>
                </a:lnTo>
                <a:lnTo>
                  <a:pt x="742840" y="283950"/>
                </a:lnTo>
                <a:lnTo>
                  <a:pt x="751436" y="329333"/>
                </a:lnTo>
                <a:lnTo>
                  <a:pt x="754379" y="376427"/>
                </a:lnTo>
                <a:lnTo>
                  <a:pt x="751436" y="423847"/>
                </a:lnTo>
                <a:lnTo>
                  <a:pt x="742840" y="469506"/>
                </a:lnTo>
                <a:lnTo>
                  <a:pt x="728945" y="513051"/>
                </a:lnTo>
                <a:lnTo>
                  <a:pt x="710106" y="554127"/>
                </a:lnTo>
                <a:lnTo>
                  <a:pt x="686677" y="592382"/>
                </a:lnTo>
                <a:lnTo>
                  <a:pt x="659011" y="627461"/>
                </a:lnTo>
                <a:lnTo>
                  <a:pt x="627461" y="659011"/>
                </a:lnTo>
                <a:lnTo>
                  <a:pt x="592382" y="686677"/>
                </a:lnTo>
                <a:lnTo>
                  <a:pt x="554127" y="710107"/>
                </a:lnTo>
                <a:lnTo>
                  <a:pt x="513051" y="728945"/>
                </a:lnTo>
                <a:lnTo>
                  <a:pt x="469506" y="742840"/>
                </a:lnTo>
                <a:lnTo>
                  <a:pt x="423847" y="751436"/>
                </a:lnTo>
                <a:lnTo>
                  <a:pt x="376428" y="754379"/>
                </a:lnTo>
                <a:lnTo>
                  <a:pt x="329333" y="751436"/>
                </a:lnTo>
                <a:lnTo>
                  <a:pt x="283950" y="742840"/>
                </a:lnTo>
                <a:lnTo>
                  <a:pt x="240635" y="728945"/>
                </a:lnTo>
                <a:lnTo>
                  <a:pt x="199746" y="710107"/>
                </a:lnTo>
                <a:lnTo>
                  <a:pt x="161642" y="686677"/>
                </a:lnTo>
                <a:lnTo>
                  <a:pt x="126680" y="659011"/>
                </a:lnTo>
                <a:lnTo>
                  <a:pt x="95219" y="627461"/>
                </a:lnTo>
                <a:lnTo>
                  <a:pt x="67615" y="592382"/>
                </a:lnTo>
                <a:lnTo>
                  <a:pt x="44228" y="554127"/>
                </a:lnTo>
                <a:lnTo>
                  <a:pt x="25415" y="513051"/>
                </a:lnTo>
                <a:lnTo>
                  <a:pt x="11534" y="469506"/>
                </a:lnTo>
                <a:lnTo>
                  <a:pt x="2943" y="423847"/>
                </a:lnTo>
                <a:lnTo>
                  <a:pt x="0" y="376427"/>
                </a:lnTo>
              </a:path>
            </a:pathLst>
          </a:custGeom>
          <a:ln w="1524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5" name="object 25" descr=""/>
          <p:cNvSpPr txBox="1"/>
          <p:nvPr/>
        </p:nvSpPr>
        <p:spPr>
          <a:xfrm>
            <a:off x="7604162" y="3079471"/>
            <a:ext cx="383540" cy="47942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19380">
              <a:lnSpc>
                <a:spcPts val="1195"/>
              </a:lnSpc>
              <a:spcBef>
                <a:spcPts val="95"/>
              </a:spcBef>
            </a:pPr>
            <a:r>
              <a:rPr dirty="0" u="sng" sz="1000" spc="-25">
                <a:uFill>
                  <a:solidFill>
                    <a:srgbClr val="000000"/>
                  </a:solidFill>
                </a:uFill>
                <a:latin typeface="Microsoft Sans Serif"/>
                <a:cs typeface="Microsoft Sans Serif"/>
              </a:rPr>
              <a:t>2.3</a:t>
            </a:r>
            <a:endParaRPr sz="1000">
              <a:latin typeface="Microsoft Sans Serif"/>
              <a:cs typeface="Microsoft Sans Serif"/>
            </a:endParaRPr>
          </a:p>
          <a:p>
            <a:pPr marL="12700" marR="5080" indent="54610">
              <a:lnSpc>
                <a:spcPts val="1190"/>
              </a:lnSpc>
              <a:spcBef>
                <a:spcPts val="40"/>
              </a:spcBef>
            </a:pPr>
            <a:r>
              <a:rPr dirty="0" sz="1000" spc="-10">
                <a:latin typeface="Microsoft Sans Serif"/>
                <a:cs typeface="Microsoft Sans Serif"/>
              </a:rPr>
              <a:t>Store </a:t>
            </a:r>
            <a:r>
              <a:rPr dirty="0" sz="1000" spc="-100">
                <a:latin typeface="Microsoft Sans Serif"/>
                <a:cs typeface="Microsoft Sans Serif"/>
              </a:rPr>
              <a:t>Product</a:t>
            </a:r>
            <a:endParaRPr sz="1000">
              <a:latin typeface="Microsoft Sans Serif"/>
              <a:cs typeface="Microsoft Sans Serif"/>
            </a:endParaRPr>
          </a:p>
        </p:txBody>
      </p:sp>
      <p:sp>
        <p:nvSpPr>
          <p:cNvPr id="26" name="object 26" descr=""/>
          <p:cNvSpPr/>
          <p:nvPr/>
        </p:nvSpPr>
        <p:spPr>
          <a:xfrm>
            <a:off x="5658611" y="1876044"/>
            <a:ext cx="754380" cy="754380"/>
          </a:xfrm>
          <a:custGeom>
            <a:avLst/>
            <a:gdLst/>
            <a:ahLst/>
            <a:cxnLst/>
            <a:rect l="l" t="t" r="r" b="b"/>
            <a:pathLst>
              <a:path w="754379" h="754380">
                <a:moveTo>
                  <a:pt x="0" y="376427"/>
                </a:moveTo>
                <a:lnTo>
                  <a:pt x="2943" y="329333"/>
                </a:lnTo>
                <a:lnTo>
                  <a:pt x="11534" y="283950"/>
                </a:lnTo>
                <a:lnTo>
                  <a:pt x="25415" y="240635"/>
                </a:lnTo>
                <a:lnTo>
                  <a:pt x="44228" y="199746"/>
                </a:lnTo>
                <a:lnTo>
                  <a:pt x="67615" y="161642"/>
                </a:lnTo>
                <a:lnTo>
                  <a:pt x="95219" y="126680"/>
                </a:lnTo>
                <a:lnTo>
                  <a:pt x="126680" y="95219"/>
                </a:lnTo>
                <a:lnTo>
                  <a:pt x="161642" y="67615"/>
                </a:lnTo>
                <a:lnTo>
                  <a:pt x="199746" y="44228"/>
                </a:lnTo>
                <a:lnTo>
                  <a:pt x="240635" y="25415"/>
                </a:lnTo>
                <a:lnTo>
                  <a:pt x="283950" y="11534"/>
                </a:lnTo>
                <a:lnTo>
                  <a:pt x="329333" y="2943"/>
                </a:lnTo>
                <a:lnTo>
                  <a:pt x="376428" y="0"/>
                </a:lnTo>
                <a:lnTo>
                  <a:pt x="423847" y="2943"/>
                </a:lnTo>
                <a:lnTo>
                  <a:pt x="469506" y="11534"/>
                </a:lnTo>
                <a:lnTo>
                  <a:pt x="513051" y="25415"/>
                </a:lnTo>
                <a:lnTo>
                  <a:pt x="554127" y="44228"/>
                </a:lnTo>
                <a:lnTo>
                  <a:pt x="592382" y="67615"/>
                </a:lnTo>
                <a:lnTo>
                  <a:pt x="627461" y="95219"/>
                </a:lnTo>
                <a:lnTo>
                  <a:pt x="659011" y="126680"/>
                </a:lnTo>
                <a:lnTo>
                  <a:pt x="686677" y="161642"/>
                </a:lnTo>
                <a:lnTo>
                  <a:pt x="710106" y="199746"/>
                </a:lnTo>
                <a:lnTo>
                  <a:pt x="728945" y="240635"/>
                </a:lnTo>
                <a:lnTo>
                  <a:pt x="742840" y="283950"/>
                </a:lnTo>
                <a:lnTo>
                  <a:pt x="751436" y="329333"/>
                </a:lnTo>
                <a:lnTo>
                  <a:pt x="754379" y="376427"/>
                </a:lnTo>
                <a:lnTo>
                  <a:pt x="751436" y="423847"/>
                </a:lnTo>
                <a:lnTo>
                  <a:pt x="742840" y="469506"/>
                </a:lnTo>
                <a:lnTo>
                  <a:pt x="728945" y="513051"/>
                </a:lnTo>
                <a:lnTo>
                  <a:pt x="710106" y="554127"/>
                </a:lnTo>
                <a:lnTo>
                  <a:pt x="686677" y="592382"/>
                </a:lnTo>
                <a:lnTo>
                  <a:pt x="659011" y="627461"/>
                </a:lnTo>
                <a:lnTo>
                  <a:pt x="627461" y="659011"/>
                </a:lnTo>
                <a:lnTo>
                  <a:pt x="592382" y="686677"/>
                </a:lnTo>
                <a:lnTo>
                  <a:pt x="554127" y="710107"/>
                </a:lnTo>
                <a:lnTo>
                  <a:pt x="513051" y="728945"/>
                </a:lnTo>
                <a:lnTo>
                  <a:pt x="469506" y="742840"/>
                </a:lnTo>
                <a:lnTo>
                  <a:pt x="423847" y="751436"/>
                </a:lnTo>
                <a:lnTo>
                  <a:pt x="376428" y="754379"/>
                </a:lnTo>
                <a:lnTo>
                  <a:pt x="329333" y="751436"/>
                </a:lnTo>
                <a:lnTo>
                  <a:pt x="283950" y="742840"/>
                </a:lnTo>
                <a:lnTo>
                  <a:pt x="240635" y="728945"/>
                </a:lnTo>
                <a:lnTo>
                  <a:pt x="199746" y="710107"/>
                </a:lnTo>
                <a:lnTo>
                  <a:pt x="161642" y="686677"/>
                </a:lnTo>
                <a:lnTo>
                  <a:pt x="126680" y="659011"/>
                </a:lnTo>
                <a:lnTo>
                  <a:pt x="95219" y="627461"/>
                </a:lnTo>
                <a:lnTo>
                  <a:pt x="67615" y="592382"/>
                </a:lnTo>
                <a:lnTo>
                  <a:pt x="44228" y="554127"/>
                </a:lnTo>
                <a:lnTo>
                  <a:pt x="25415" y="513051"/>
                </a:lnTo>
                <a:lnTo>
                  <a:pt x="11534" y="469506"/>
                </a:lnTo>
                <a:lnTo>
                  <a:pt x="2943" y="423847"/>
                </a:lnTo>
                <a:lnTo>
                  <a:pt x="0" y="376427"/>
                </a:lnTo>
              </a:path>
            </a:pathLst>
          </a:custGeom>
          <a:ln w="1524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7" name="object 27" descr=""/>
          <p:cNvSpPr txBox="1"/>
          <p:nvPr/>
        </p:nvSpPr>
        <p:spPr>
          <a:xfrm>
            <a:off x="5856150" y="2011154"/>
            <a:ext cx="360680" cy="47942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ctr">
              <a:lnSpc>
                <a:spcPts val="1195"/>
              </a:lnSpc>
              <a:spcBef>
                <a:spcPts val="95"/>
              </a:spcBef>
            </a:pPr>
            <a:r>
              <a:rPr dirty="0" u="sng" sz="1000" spc="-25">
                <a:uFill>
                  <a:solidFill>
                    <a:srgbClr val="000000"/>
                  </a:solidFill>
                </a:uFill>
                <a:latin typeface="Microsoft Sans Serif"/>
                <a:cs typeface="Microsoft Sans Serif"/>
              </a:rPr>
              <a:t>1.1</a:t>
            </a:r>
            <a:endParaRPr sz="1000">
              <a:latin typeface="Microsoft Sans Serif"/>
              <a:cs typeface="Microsoft Sans Serif"/>
            </a:endParaRPr>
          </a:p>
          <a:p>
            <a:pPr algn="ctr" marL="12700" marR="5080">
              <a:lnSpc>
                <a:spcPts val="1190"/>
              </a:lnSpc>
              <a:spcBef>
                <a:spcPts val="40"/>
              </a:spcBef>
            </a:pPr>
            <a:r>
              <a:rPr dirty="0" sz="1000" spc="-110">
                <a:latin typeface="Microsoft Sans Serif"/>
                <a:cs typeface="Microsoft Sans Serif"/>
              </a:rPr>
              <a:t>Record</a:t>
            </a:r>
            <a:r>
              <a:rPr dirty="0" sz="1000" spc="-10">
                <a:latin typeface="Microsoft Sans Serif"/>
                <a:cs typeface="Microsoft Sans Serif"/>
              </a:rPr>
              <a:t> Order</a:t>
            </a:r>
            <a:endParaRPr sz="1000">
              <a:latin typeface="Microsoft Sans Serif"/>
              <a:cs typeface="Microsoft Sans Serif"/>
            </a:endParaRPr>
          </a:p>
        </p:txBody>
      </p:sp>
      <p:sp>
        <p:nvSpPr>
          <p:cNvPr id="28" name="object 28" descr=""/>
          <p:cNvSpPr/>
          <p:nvPr/>
        </p:nvSpPr>
        <p:spPr>
          <a:xfrm>
            <a:off x="6537959" y="1876044"/>
            <a:ext cx="754380" cy="754380"/>
          </a:xfrm>
          <a:custGeom>
            <a:avLst/>
            <a:gdLst/>
            <a:ahLst/>
            <a:cxnLst/>
            <a:rect l="l" t="t" r="r" b="b"/>
            <a:pathLst>
              <a:path w="754379" h="754380">
                <a:moveTo>
                  <a:pt x="0" y="376427"/>
                </a:moveTo>
                <a:lnTo>
                  <a:pt x="2943" y="329333"/>
                </a:lnTo>
                <a:lnTo>
                  <a:pt x="11539" y="283950"/>
                </a:lnTo>
                <a:lnTo>
                  <a:pt x="25434" y="240635"/>
                </a:lnTo>
                <a:lnTo>
                  <a:pt x="44272" y="199746"/>
                </a:lnTo>
                <a:lnTo>
                  <a:pt x="67702" y="161642"/>
                </a:lnTo>
                <a:lnTo>
                  <a:pt x="95368" y="126680"/>
                </a:lnTo>
                <a:lnTo>
                  <a:pt x="126918" y="95219"/>
                </a:lnTo>
                <a:lnTo>
                  <a:pt x="161997" y="67615"/>
                </a:lnTo>
                <a:lnTo>
                  <a:pt x="200252" y="44228"/>
                </a:lnTo>
                <a:lnTo>
                  <a:pt x="241328" y="25415"/>
                </a:lnTo>
                <a:lnTo>
                  <a:pt x="284873" y="11534"/>
                </a:lnTo>
                <a:lnTo>
                  <a:pt x="330532" y="2943"/>
                </a:lnTo>
                <a:lnTo>
                  <a:pt x="377952" y="0"/>
                </a:lnTo>
                <a:lnTo>
                  <a:pt x="425345" y="2943"/>
                </a:lnTo>
                <a:lnTo>
                  <a:pt x="470933" y="11534"/>
                </a:lnTo>
                <a:lnTo>
                  <a:pt x="514369" y="25415"/>
                </a:lnTo>
                <a:lnTo>
                  <a:pt x="555307" y="44228"/>
                </a:lnTo>
                <a:lnTo>
                  <a:pt x="593403" y="67615"/>
                </a:lnTo>
                <a:lnTo>
                  <a:pt x="628311" y="95219"/>
                </a:lnTo>
                <a:lnTo>
                  <a:pt x="659685" y="126680"/>
                </a:lnTo>
                <a:lnTo>
                  <a:pt x="687180" y="161642"/>
                </a:lnTo>
                <a:lnTo>
                  <a:pt x="710451" y="199746"/>
                </a:lnTo>
                <a:lnTo>
                  <a:pt x="729151" y="240635"/>
                </a:lnTo>
                <a:lnTo>
                  <a:pt x="742937" y="283950"/>
                </a:lnTo>
                <a:lnTo>
                  <a:pt x="751461" y="329333"/>
                </a:lnTo>
                <a:lnTo>
                  <a:pt x="754379" y="376427"/>
                </a:lnTo>
                <a:lnTo>
                  <a:pt x="751461" y="423847"/>
                </a:lnTo>
                <a:lnTo>
                  <a:pt x="742937" y="469506"/>
                </a:lnTo>
                <a:lnTo>
                  <a:pt x="729151" y="513051"/>
                </a:lnTo>
                <a:lnTo>
                  <a:pt x="710451" y="554127"/>
                </a:lnTo>
                <a:lnTo>
                  <a:pt x="687180" y="592382"/>
                </a:lnTo>
                <a:lnTo>
                  <a:pt x="659685" y="627461"/>
                </a:lnTo>
                <a:lnTo>
                  <a:pt x="628311" y="659011"/>
                </a:lnTo>
                <a:lnTo>
                  <a:pt x="593403" y="686677"/>
                </a:lnTo>
                <a:lnTo>
                  <a:pt x="555307" y="710107"/>
                </a:lnTo>
                <a:lnTo>
                  <a:pt x="514369" y="728945"/>
                </a:lnTo>
                <a:lnTo>
                  <a:pt x="470933" y="742840"/>
                </a:lnTo>
                <a:lnTo>
                  <a:pt x="425345" y="751436"/>
                </a:lnTo>
                <a:lnTo>
                  <a:pt x="377952" y="754379"/>
                </a:lnTo>
                <a:lnTo>
                  <a:pt x="330532" y="751436"/>
                </a:lnTo>
                <a:lnTo>
                  <a:pt x="284873" y="742840"/>
                </a:lnTo>
                <a:lnTo>
                  <a:pt x="241328" y="728945"/>
                </a:lnTo>
                <a:lnTo>
                  <a:pt x="200252" y="710107"/>
                </a:lnTo>
                <a:lnTo>
                  <a:pt x="161997" y="686677"/>
                </a:lnTo>
                <a:lnTo>
                  <a:pt x="126918" y="659011"/>
                </a:lnTo>
                <a:lnTo>
                  <a:pt x="95368" y="627461"/>
                </a:lnTo>
                <a:lnTo>
                  <a:pt x="67702" y="592382"/>
                </a:lnTo>
                <a:lnTo>
                  <a:pt x="44272" y="554127"/>
                </a:lnTo>
                <a:lnTo>
                  <a:pt x="25434" y="513051"/>
                </a:lnTo>
                <a:lnTo>
                  <a:pt x="11539" y="469506"/>
                </a:lnTo>
                <a:lnTo>
                  <a:pt x="2943" y="423847"/>
                </a:lnTo>
                <a:lnTo>
                  <a:pt x="0" y="376427"/>
                </a:lnTo>
              </a:path>
            </a:pathLst>
          </a:custGeom>
          <a:ln w="1524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9" name="object 29" descr=""/>
          <p:cNvSpPr txBox="1"/>
          <p:nvPr/>
        </p:nvSpPr>
        <p:spPr>
          <a:xfrm>
            <a:off x="6698908" y="2011154"/>
            <a:ext cx="434975" cy="47942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ctr">
              <a:lnSpc>
                <a:spcPts val="1195"/>
              </a:lnSpc>
              <a:spcBef>
                <a:spcPts val="95"/>
              </a:spcBef>
            </a:pPr>
            <a:r>
              <a:rPr dirty="0" u="sng" sz="1000" spc="-25">
                <a:uFill>
                  <a:solidFill>
                    <a:srgbClr val="000000"/>
                  </a:solidFill>
                </a:uFill>
                <a:latin typeface="Microsoft Sans Serif"/>
                <a:cs typeface="Microsoft Sans Serif"/>
              </a:rPr>
              <a:t>1.2</a:t>
            </a:r>
            <a:endParaRPr sz="1000">
              <a:latin typeface="Microsoft Sans Serif"/>
              <a:cs typeface="Microsoft Sans Serif"/>
            </a:endParaRPr>
          </a:p>
          <a:p>
            <a:pPr algn="ctr" marL="12700" marR="5080" indent="1905">
              <a:lnSpc>
                <a:spcPts val="1190"/>
              </a:lnSpc>
              <a:spcBef>
                <a:spcPts val="40"/>
              </a:spcBef>
            </a:pPr>
            <a:r>
              <a:rPr dirty="0" sz="1000" spc="-70">
                <a:latin typeface="Microsoft Sans Serif"/>
                <a:cs typeface="Microsoft Sans Serif"/>
              </a:rPr>
              <a:t>Receive</a:t>
            </a:r>
            <a:r>
              <a:rPr dirty="0" sz="1000" spc="500">
                <a:latin typeface="Microsoft Sans Serif"/>
                <a:cs typeface="Microsoft Sans Serif"/>
              </a:rPr>
              <a:t> </a:t>
            </a:r>
            <a:r>
              <a:rPr dirty="0" sz="1000" spc="-114">
                <a:latin typeface="Microsoft Sans Serif"/>
                <a:cs typeface="Microsoft Sans Serif"/>
              </a:rPr>
              <a:t>Payment</a:t>
            </a:r>
            <a:endParaRPr sz="1000">
              <a:latin typeface="Microsoft Sans Serif"/>
              <a:cs typeface="Microsoft Sans Serif"/>
            </a:endParaRPr>
          </a:p>
        </p:txBody>
      </p:sp>
      <p:sp>
        <p:nvSpPr>
          <p:cNvPr id="30" name="object 30" descr=""/>
          <p:cNvSpPr/>
          <p:nvPr/>
        </p:nvSpPr>
        <p:spPr>
          <a:xfrm>
            <a:off x="3898391" y="2944368"/>
            <a:ext cx="754380" cy="754380"/>
          </a:xfrm>
          <a:custGeom>
            <a:avLst/>
            <a:gdLst/>
            <a:ahLst/>
            <a:cxnLst/>
            <a:rect l="l" t="t" r="r" b="b"/>
            <a:pathLst>
              <a:path w="754379" h="754379">
                <a:moveTo>
                  <a:pt x="0" y="376427"/>
                </a:moveTo>
                <a:lnTo>
                  <a:pt x="2943" y="329333"/>
                </a:lnTo>
                <a:lnTo>
                  <a:pt x="11534" y="283950"/>
                </a:lnTo>
                <a:lnTo>
                  <a:pt x="25415" y="240635"/>
                </a:lnTo>
                <a:lnTo>
                  <a:pt x="44228" y="199746"/>
                </a:lnTo>
                <a:lnTo>
                  <a:pt x="67615" y="161642"/>
                </a:lnTo>
                <a:lnTo>
                  <a:pt x="95219" y="126680"/>
                </a:lnTo>
                <a:lnTo>
                  <a:pt x="126680" y="95219"/>
                </a:lnTo>
                <a:lnTo>
                  <a:pt x="161642" y="67615"/>
                </a:lnTo>
                <a:lnTo>
                  <a:pt x="199746" y="44228"/>
                </a:lnTo>
                <a:lnTo>
                  <a:pt x="240635" y="25415"/>
                </a:lnTo>
                <a:lnTo>
                  <a:pt x="283950" y="11534"/>
                </a:lnTo>
                <a:lnTo>
                  <a:pt x="329333" y="2943"/>
                </a:lnTo>
                <a:lnTo>
                  <a:pt x="376428" y="0"/>
                </a:lnTo>
                <a:lnTo>
                  <a:pt x="423847" y="2943"/>
                </a:lnTo>
                <a:lnTo>
                  <a:pt x="469506" y="11534"/>
                </a:lnTo>
                <a:lnTo>
                  <a:pt x="513051" y="25415"/>
                </a:lnTo>
                <a:lnTo>
                  <a:pt x="554127" y="44228"/>
                </a:lnTo>
                <a:lnTo>
                  <a:pt x="592382" y="67615"/>
                </a:lnTo>
                <a:lnTo>
                  <a:pt x="627461" y="95219"/>
                </a:lnTo>
                <a:lnTo>
                  <a:pt x="659011" y="126680"/>
                </a:lnTo>
                <a:lnTo>
                  <a:pt x="686677" y="161642"/>
                </a:lnTo>
                <a:lnTo>
                  <a:pt x="710106" y="199746"/>
                </a:lnTo>
                <a:lnTo>
                  <a:pt x="728945" y="240635"/>
                </a:lnTo>
                <a:lnTo>
                  <a:pt x="742840" y="283950"/>
                </a:lnTo>
                <a:lnTo>
                  <a:pt x="751436" y="329333"/>
                </a:lnTo>
                <a:lnTo>
                  <a:pt x="754379" y="376427"/>
                </a:lnTo>
                <a:lnTo>
                  <a:pt x="751436" y="423847"/>
                </a:lnTo>
                <a:lnTo>
                  <a:pt x="742840" y="469506"/>
                </a:lnTo>
                <a:lnTo>
                  <a:pt x="728945" y="513051"/>
                </a:lnTo>
                <a:lnTo>
                  <a:pt x="710106" y="554127"/>
                </a:lnTo>
                <a:lnTo>
                  <a:pt x="686677" y="592382"/>
                </a:lnTo>
                <a:lnTo>
                  <a:pt x="659011" y="627461"/>
                </a:lnTo>
                <a:lnTo>
                  <a:pt x="627461" y="659011"/>
                </a:lnTo>
                <a:lnTo>
                  <a:pt x="592382" y="686677"/>
                </a:lnTo>
                <a:lnTo>
                  <a:pt x="554127" y="710107"/>
                </a:lnTo>
                <a:lnTo>
                  <a:pt x="513051" y="728945"/>
                </a:lnTo>
                <a:lnTo>
                  <a:pt x="469506" y="742840"/>
                </a:lnTo>
                <a:lnTo>
                  <a:pt x="423847" y="751436"/>
                </a:lnTo>
                <a:lnTo>
                  <a:pt x="376428" y="754379"/>
                </a:lnTo>
                <a:lnTo>
                  <a:pt x="329333" y="751436"/>
                </a:lnTo>
                <a:lnTo>
                  <a:pt x="283950" y="742840"/>
                </a:lnTo>
                <a:lnTo>
                  <a:pt x="240635" y="728945"/>
                </a:lnTo>
                <a:lnTo>
                  <a:pt x="199746" y="710107"/>
                </a:lnTo>
                <a:lnTo>
                  <a:pt x="161642" y="686677"/>
                </a:lnTo>
                <a:lnTo>
                  <a:pt x="126680" y="659011"/>
                </a:lnTo>
                <a:lnTo>
                  <a:pt x="95219" y="627461"/>
                </a:lnTo>
                <a:lnTo>
                  <a:pt x="67615" y="592382"/>
                </a:lnTo>
                <a:lnTo>
                  <a:pt x="44228" y="554127"/>
                </a:lnTo>
                <a:lnTo>
                  <a:pt x="25415" y="513051"/>
                </a:lnTo>
                <a:lnTo>
                  <a:pt x="11534" y="469506"/>
                </a:lnTo>
                <a:lnTo>
                  <a:pt x="2943" y="423847"/>
                </a:lnTo>
                <a:lnTo>
                  <a:pt x="0" y="376427"/>
                </a:lnTo>
              </a:path>
            </a:pathLst>
          </a:custGeom>
          <a:ln w="1524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1" name="object 31" descr=""/>
          <p:cNvSpPr txBox="1"/>
          <p:nvPr/>
        </p:nvSpPr>
        <p:spPr>
          <a:xfrm>
            <a:off x="4015183" y="3155687"/>
            <a:ext cx="522605" cy="32829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ctr">
              <a:lnSpc>
                <a:spcPts val="1195"/>
              </a:lnSpc>
              <a:spcBef>
                <a:spcPts val="95"/>
              </a:spcBef>
            </a:pPr>
            <a:r>
              <a:rPr dirty="0" u="sng" sz="1000" spc="-25">
                <a:uFill>
                  <a:solidFill>
                    <a:srgbClr val="000000"/>
                  </a:solidFill>
                </a:uFill>
                <a:latin typeface="Microsoft Sans Serif"/>
                <a:cs typeface="Microsoft Sans Serif"/>
              </a:rPr>
              <a:t>2.0</a:t>
            </a:r>
            <a:endParaRPr sz="1000">
              <a:latin typeface="Microsoft Sans Serif"/>
              <a:cs typeface="Microsoft Sans Serif"/>
            </a:endParaRPr>
          </a:p>
          <a:p>
            <a:pPr algn="ctr">
              <a:lnSpc>
                <a:spcPts val="1195"/>
              </a:lnSpc>
            </a:pPr>
            <a:r>
              <a:rPr dirty="0" sz="1000" spc="-75">
                <a:latin typeface="Microsoft Sans Serif"/>
                <a:cs typeface="Microsoft Sans Serif"/>
              </a:rPr>
              <a:t>Production</a:t>
            </a:r>
            <a:endParaRPr sz="1000">
              <a:latin typeface="Microsoft Sans Serif"/>
              <a:cs typeface="Microsoft Sans Serif"/>
            </a:endParaRPr>
          </a:p>
        </p:txBody>
      </p:sp>
      <p:sp>
        <p:nvSpPr>
          <p:cNvPr id="32" name="object 32" descr=""/>
          <p:cNvSpPr/>
          <p:nvPr/>
        </p:nvSpPr>
        <p:spPr>
          <a:xfrm>
            <a:off x="3898391" y="1876044"/>
            <a:ext cx="754380" cy="754380"/>
          </a:xfrm>
          <a:custGeom>
            <a:avLst/>
            <a:gdLst/>
            <a:ahLst/>
            <a:cxnLst/>
            <a:rect l="l" t="t" r="r" b="b"/>
            <a:pathLst>
              <a:path w="754379" h="754380">
                <a:moveTo>
                  <a:pt x="0" y="376427"/>
                </a:moveTo>
                <a:lnTo>
                  <a:pt x="2943" y="329333"/>
                </a:lnTo>
                <a:lnTo>
                  <a:pt x="11534" y="283950"/>
                </a:lnTo>
                <a:lnTo>
                  <a:pt x="25415" y="240635"/>
                </a:lnTo>
                <a:lnTo>
                  <a:pt x="44228" y="199746"/>
                </a:lnTo>
                <a:lnTo>
                  <a:pt x="67615" y="161642"/>
                </a:lnTo>
                <a:lnTo>
                  <a:pt x="95219" y="126680"/>
                </a:lnTo>
                <a:lnTo>
                  <a:pt x="126680" y="95219"/>
                </a:lnTo>
                <a:lnTo>
                  <a:pt x="161642" y="67615"/>
                </a:lnTo>
                <a:lnTo>
                  <a:pt x="199746" y="44228"/>
                </a:lnTo>
                <a:lnTo>
                  <a:pt x="240635" y="25415"/>
                </a:lnTo>
                <a:lnTo>
                  <a:pt x="283950" y="11534"/>
                </a:lnTo>
                <a:lnTo>
                  <a:pt x="329333" y="2943"/>
                </a:lnTo>
                <a:lnTo>
                  <a:pt x="376428" y="0"/>
                </a:lnTo>
                <a:lnTo>
                  <a:pt x="423847" y="2943"/>
                </a:lnTo>
                <a:lnTo>
                  <a:pt x="469506" y="11534"/>
                </a:lnTo>
                <a:lnTo>
                  <a:pt x="513051" y="25415"/>
                </a:lnTo>
                <a:lnTo>
                  <a:pt x="554127" y="44228"/>
                </a:lnTo>
                <a:lnTo>
                  <a:pt x="592382" y="67615"/>
                </a:lnTo>
                <a:lnTo>
                  <a:pt x="627461" y="95219"/>
                </a:lnTo>
                <a:lnTo>
                  <a:pt x="659011" y="126680"/>
                </a:lnTo>
                <a:lnTo>
                  <a:pt x="686677" y="161642"/>
                </a:lnTo>
                <a:lnTo>
                  <a:pt x="710106" y="199746"/>
                </a:lnTo>
                <a:lnTo>
                  <a:pt x="728945" y="240635"/>
                </a:lnTo>
                <a:lnTo>
                  <a:pt x="742840" y="283950"/>
                </a:lnTo>
                <a:lnTo>
                  <a:pt x="751436" y="329333"/>
                </a:lnTo>
                <a:lnTo>
                  <a:pt x="754379" y="376427"/>
                </a:lnTo>
                <a:lnTo>
                  <a:pt x="751436" y="423847"/>
                </a:lnTo>
                <a:lnTo>
                  <a:pt x="742840" y="469506"/>
                </a:lnTo>
                <a:lnTo>
                  <a:pt x="728945" y="513051"/>
                </a:lnTo>
                <a:lnTo>
                  <a:pt x="710106" y="554127"/>
                </a:lnTo>
                <a:lnTo>
                  <a:pt x="686677" y="592382"/>
                </a:lnTo>
                <a:lnTo>
                  <a:pt x="659011" y="627461"/>
                </a:lnTo>
                <a:lnTo>
                  <a:pt x="627461" y="659011"/>
                </a:lnTo>
                <a:lnTo>
                  <a:pt x="592382" y="686677"/>
                </a:lnTo>
                <a:lnTo>
                  <a:pt x="554127" y="710107"/>
                </a:lnTo>
                <a:lnTo>
                  <a:pt x="513051" y="728945"/>
                </a:lnTo>
                <a:lnTo>
                  <a:pt x="469506" y="742840"/>
                </a:lnTo>
                <a:lnTo>
                  <a:pt x="423847" y="751436"/>
                </a:lnTo>
                <a:lnTo>
                  <a:pt x="376428" y="754379"/>
                </a:lnTo>
                <a:lnTo>
                  <a:pt x="329333" y="751436"/>
                </a:lnTo>
                <a:lnTo>
                  <a:pt x="283950" y="742840"/>
                </a:lnTo>
                <a:lnTo>
                  <a:pt x="240635" y="728945"/>
                </a:lnTo>
                <a:lnTo>
                  <a:pt x="199746" y="710107"/>
                </a:lnTo>
                <a:lnTo>
                  <a:pt x="161642" y="686677"/>
                </a:lnTo>
                <a:lnTo>
                  <a:pt x="126680" y="659011"/>
                </a:lnTo>
                <a:lnTo>
                  <a:pt x="95219" y="627461"/>
                </a:lnTo>
                <a:lnTo>
                  <a:pt x="67615" y="592382"/>
                </a:lnTo>
                <a:lnTo>
                  <a:pt x="44228" y="554127"/>
                </a:lnTo>
                <a:lnTo>
                  <a:pt x="25415" y="513051"/>
                </a:lnTo>
                <a:lnTo>
                  <a:pt x="11534" y="469506"/>
                </a:lnTo>
                <a:lnTo>
                  <a:pt x="2943" y="423847"/>
                </a:lnTo>
                <a:lnTo>
                  <a:pt x="0" y="376427"/>
                </a:lnTo>
              </a:path>
            </a:pathLst>
          </a:custGeom>
          <a:ln w="1524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3" name="object 33" descr=""/>
          <p:cNvSpPr txBox="1"/>
          <p:nvPr/>
        </p:nvSpPr>
        <p:spPr>
          <a:xfrm>
            <a:off x="4159941" y="2087370"/>
            <a:ext cx="232410" cy="32829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43180">
              <a:lnSpc>
                <a:spcPts val="1195"/>
              </a:lnSpc>
              <a:spcBef>
                <a:spcPts val="95"/>
              </a:spcBef>
            </a:pPr>
            <a:r>
              <a:rPr dirty="0" u="sng" sz="1000" spc="-25">
                <a:uFill>
                  <a:solidFill>
                    <a:srgbClr val="000000"/>
                  </a:solidFill>
                </a:uFill>
                <a:latin typeface="Microsoft Sans Serif"/>
                <a:cs typeface="Microsoft Sans Serif"/>
              </a:rPr>
              <a:t>1.0</a:t>
            </a:r>
            <a:endParaRPr sz="1000">
              <a:latin typeface="Microsoft Sans Serif"/>
              <a:cs typeface="Microsoft Sans Serif"/>
            </a:endParaRPr>
          </a:p>
          <a:p>
            <a:pPr marL="12700">
              <a:lnSpc>
                <a:spcPts val="1195"/>
              </a:lnSpc>
            </a:pPr>
            <a:r>
              <a:rPr dirty="0" sz="1000" spc="-85">
                <a:latin typeface="Microsoft Sans Serif"/>
                <a:cs typeface="Microsoft Sans Serif"/>
              </a:rPr>
              <a:t>Sale</a:t>
            </a:r>
            <a:endParaRPr sz="1000">
              <a:latin typeface="Microsoft Sans Serif"/>
              <a:cs typeface="Microsoft Sans Serif"/>
            </a:endParaRPr>
          </a:p>
        </p:txBody>
      </p:sp>
      <p:sp>
        <p:nvSpPr>
          <p:cNvPr id="34" name="object 34" descr=""/>
          <p:cNvSpPr/>
          <p:nvPr/>
        </p:nvSpPr>
        <p:spPr>
          <a:xfrm>
            <a:off x="3898391" y="4075176"/>
            <a:ext cx="754380" cy="754380"/>
          </a:xfrm>
          <a:custGeom>
            <a:avLst/>
            <a:gdLst/>
            <a:ahLst/>
            <a:cxnLst/>
            <a:rect l="l" t="t" r="r" b="b"/>
            <a:pathLst>
              <a:path w="754379" h="754379">
                <a:moveTo>
                  <a:pt x="0" y="377951"/>
                </a:moveTo>
                <a:lnTo>
                  <a:pt x="2943" y="330532"/>
                </a:lnTo>
                <a:lnTo>
                  <a:pt x="11534" y="284873"/>
                </a:lnTo>
                <a:lnTo>
                  <a:pt x="25415" y="241328"/>
                </a:lnTo>
                <a:lnTo>
                  <a:pt x="44228" y="200252"/>
                </a:lnTo>
                <a:lnTo>
                  <a:pt x="67615" y="161997"/>
                </a:lnTo>
                <a:lnTo>
                  <a:pt x="95219" y="126918"/>
                </a:lnTo>
                <a:lnTo>
                  <a:pt x="126680" y="95368"/>
                </a:lnTo>
                <a:lnTo>
                  <a:pt x="161642" y="67702"/>
                </a:lnTo>
                <a:lnTo>
                  <a:pt x="199746" y="44272"/>
                </a:lnTo>
                <a:lnTo>
                  <a:pt x="240635" y="25434"/>
                </a:lnTo>
                <a:lnTo>
                  <a:pt x="283950" y="11539"/>
                </a:lnTo>
                <a:lnTo>
                  <a:pt x="329333" y="2943"/>
                </a:lnTo>
                <a:lnTo>
                  <a:pt x="376428" y="0"/>
                </a:lnTo>
                <a:lnTo>
                  <a:pt x="423847" y="2943"/>
                </a:lnTo>
                <a:lnTo>
                  <a:pt x="469506" y="11539"/>
                </a:lnTo>
                <a:lnTo>
                  <a:pt x="513051" y="25434"/>
                </a:lnTo>
                <a:lnTo>
                  <a:pt x="554127" y="44272"/>
                </a:lnTo>
                <a:lnTo>
                  <a:pt x="592382" y="67702"/>
                </a:lnTo>
                <a:lnTo>
                  <a:pt x="627461" y="95368"/>
                </a:lnTo>
                <a:lnTo>
                  <a:pt x="659011" y="126918"/>
                </a:lnTo>
                <a:lnTo>
                  <a:pt x="686677" y="161997"/>
                </a:lnTo>
                <a:lnTo>
                  <a:pt x="710106" y="200252"/>
                </a:lnTo>
                <a:lnTo>
                  <a:pt x="728945" y="241328"/>
                </a:lnTo>
                <a:lnTo>
                  <a:pt x="742840" y="284873"/>
                </a:lnTo>
                <a:lnTo>
                  <a:pt x="751436" y="330532"/>
                </a:lnTo>
                <a:lnTo>
                  <a:pt x="754379" y="377951"/>
                </a:lnTo>
                <a:lnTo>
                  <a:pt x="751436" y="425345"/>
                </a:lnTo>
                <a:lnTo>
                  <a:pt x="742840" y="470933"/>
                </a:lnTo>
                <a:lnTo>
                  <a:pt x="728945" y="514369"/>
                </a:lnTo>
                <a:lnTo>
                  <a:pt x="710106" y="555307"/>
                </a:lnTo>
                <a:lnTo>
                  <a:pt x="686677" y="593403"/>
                </a:lnTo>
                <a:lnTo>
                  <a:pt x="659011" y="628311"/>
                </a:lnTo>
                <a:lnTo>
                  <a:pt x="627461" y="659685"/>
                </a:lnTo>
                <a:lnTo>
                  <a:pt x="592382" y="687180"/>
                </a:lnTo>
                <a:lnTo>
                  <a:pt x="554127" y="710451"/>
                </a:lnTo>
                <a:lnTo>
                  <a:pt x="513051" y="729151"/>
                </a:lnTo>
                <a:lnTo>
                  <a:pt x="469506" y="742937"/>
                </a:lnTo>
                <a:lnTo>
                  <a:pt x="423847" y="751461"/>
                </a:lnTo>
                <a:lnTo>
                  <a:pt x="376428" y="754379"/>
                </a:lnTo>
                <a:lnTo>
                  <a:pt x="329333" y="751461"/>
                </a:lnTo>
                <a:lnTo>
                  <a:pt x="283950" y="742937"/>
                </a:lnTo>
                <a:lnTo>
                  <a:pt x="240635" y="729151"/>
                </a:lnTo>
                <a:lnTo>
                  <a:pt x="199746" y="710451"/>
                </a:lnTo>
                <a:lnTo>
                  <a:pt x="161642" y="687180"/>
                </a:lnTo>
                <a:lnTo>
                  <a:pt x="126680" y="659685"/>
                </a:lnTo>
                <a:lnTo>
                  <a:pt x="95219" y="628311"/>
                </a:lnTo>
                <a:lnTo>
                  <a:pt x="67615" y="593403"/>
                </a:lnTo>
                <a:lnTo>
                  <a:pt x="44228" y="555307"/>
                </a:lnTo>
                <a:lnTo>
                  <a:pt x="25415" y="514369"/>
                </a:lnTo>
                <a:lnTo>
                  <a:pt x="11534" y="470933"/>
                </a:lnTo>
                <a:lnTo>
                  <a:pt x="2943" y="425345"/>
                </a:lnTo>
                <a:lnTo>
                  <a:pt x="0" y="377951"/>
                </a:lnTo>
              </a:path>
            </a:pathLst>
          </a:custGeom>
          <a:ln w="1524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5" name="object 35" descr=""/>
          <p:cNvSpPr txBox="1"/>
          <p:nvPr/>
        </p:nvSpPr>
        <p:spPr>
          <a:xfrm>
            <a:off x="4063976" y="4211791"/>
            <a:ext cx="424815" cy="47942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ctr">
              <a:lnSpc>
                <a:spcPts val="1195"/>
              </a:lnSpc>
              <a:spcBef>
                <a:spcPts val="95"/>
              </a:spcBef>
            </a:pPr>
            <a:r>
              <a:rPr dirty="0" u="sng" sz="1000" spc="-25">
                <a:uFill>
                  <a:solidFill>
                    <a:srgbClr val="000000"/>
                  </a:solidFill>
                </a:uFill>
                <a:latin typeface="Microsoft Sans Serif"/>
                <a:cs typeface="Microsoft Sans Serif"/>
              </a:rPr>
              <a:t>3.0</a:t>
            </a:r>
            <a:endParaRPr sz="1000">
              <a:latin typeface="Microsoft Sans Serif"/>
              <a:cs typeface="Microsoft Sans Serif"/>
            </a:endParaRPr>
          </a:p>
          <a:p>
            <a:pPr algn="ctr" marL="12700" marR="5080">
              <a:lnSpc>
                <a:spcPts val="1190"/>
              </a:lnSpc>
              <a:spcBef>
                <a:spcPts val="40"/>
              </a:spcBef>
            </a:pPr>
            <a:r>
              <a:rPr dirty="0" sz="1000" spc="-90">
                <a:latin typeface="Microsoft Sans Serif"/>
                <a:cs typeface="Microsoft Sans Serif"/>
              </a:rPr>
              <a:t>Procure-</a:t>
            </a:r>
            <a:r>
              <a:rPr dirty="0" sz="1000" spc="-20">
                <a:latin typeface="Microsoft Sans Serif"/>
                <a:cs typeface="Microsoft Sans Serif"/>
              </a:rPr>
              <a:t> ment</a:t>
            </a:r>
            <a:endParaRPr sz="1000">
              <a:latin typeface="Microsoft Sans Serif"/>
              <a:cs typeface="Microsoft Sans Serif"/>
            </a:endParaRPr>
          </a:p>
        </p:txBody>
      </p:sp>
      <p:sp>
        <p:nvSpPr>
          <p:cNvPr id="36" name="object 36" descr=""/>
          <p:cNvSpPr/>
          <p:nvPr/>
        </p:nvSpPr>
        <p:spPr>
          <a:xfrm>
            <a:off x="3906011" y="5269992"/>
            <a:ext cx="754380" cy="754380"/>
          </a:xfrm>
          <a:custGeom>
            <a:avLst/>
            <a:gdLst/>
            <a:ahLst/>
            <a:cxnLst/>
            <a:rect l="l" t="t" r="r" b="b"/>
            <a:pathLst>
              <a:path w="754379" h="754379">
                <a:moveTo>
                  <a:pt x="0" y="377951"/>
                </a:moveTo>
                <a:lnTo>
                  <a:pt x="2943" y="330532"/>
                </a:lnTo>
                <a:lnTo>
                  <a:pt x="11539" y="284873"/>
                </a:lnTo>
                <a:lnTo>
                  <a:pt x="25434" y="241328"/>
                </a:lnTo>
                <a:lnTo>
                  <a:pt x="44272" y="200252"/>
                </a:lnTo>
                <a:lnTo>
                  <a:pt x="67702" y="161997"/>
                </a:lnTo>
                <a:lnTo>
                  <a:pt x="95368" y="126918"/>
                </a:lnTo>
                <a:lnTo>
                  <a:pt x="126918" y="95368"/>
                </a:lnTo>
                <a:lnTo>
                  <a:pt x="161997" y="67702"/>
                </a:lnTo>
                <a:lnTo>
                  <a:pt x="200252" y="44272"/>
                </a:lnTo>
                <a:lnTo>
                  <a:pt x="241328" y="25434"/>
                </a:lnTo>
                <a:lnTo>
                  <a:pt x="284873" y="11539"/>
                </a:lnTo>
                <a:lnTo>
                  <a:pt x="330532" y="2943"/>
                </a:lnTo>
                <a:lnTo>
                  <a:pt x="377952" y="0"/>
                </a:lnTo>
                <a:lnTo>
                  <a:pt x="425046" y="2943"/>
                </a:lnTo>
                <a:lnTo>
                  <a:pt x="470429" y="11539"/>
                </a:lnTo>
                <a:lnTo>
                  <a:pt x="513744" y="25434"/>
                </a:lnTo>
                <a:lnTo>
                  <a:pt x="554633" y="44272"/>
                </a:lnTo>
                <a:lnTo>
                  <a:pt x="592737" y="67702"/>
                </a:lnTo>
                <a:lnTo>
                  <a:pt x="627699" y="95368"/>
                </a:lnTo>
                <a:lnTo>
                  <a:pt x="659160" y="126918"/>
                </a:lnTo>
                <a:lnTo>
                  <a:pt x="686764" y="161997"/>
                </a:lnTo>
                <a:lnTo>
                  <a:pt x="710151" y="200252"/>
                </a:lnTo>
                <a:lnTo>
                  <a:pt x="728964" y="241328"/>
                </a:lnTo>
                <a:lnTo>
                  <a:pt x="742845" y="284873"/>
                </a:lnTo>
                <a:lnTo>
                  <a:pt x="751436" y="330532"/>
                </a:lnTo>
                <a:lnTo>
                  <a:pt x="754379" y="377951"/>
                </a:lnTo>
                <a:lnTo>
                  <a:pt x="751436" y="425046"/>
                </a:lnTo>
                <a:lnTo>
                  <a:pt x="742845" y="470429"/>
                </a:lnTo>
                <a:lnTo>
                  <a:pt x="728964" y="513744"/>
                </a:lnTo>
                <a:lnTo>
                  <a:pt x="710151" y="554633"/>
                </a:lnTo>
                <a:lnTo>
                  <a:pt x="686764" y="592737"/>
                </a:lnTo>
                <a:lnTo>
                  <a:pt x="659160" y="627699"/>
                </a:lnTo>
                <a:lnTo>
                  <a:pt x="627699" y="659160"/>
                </a:lnTo>
                <a:lnTo>
                  <a:pt x="592737" y="686764"/>
                </a:lnTo>
                <a:lnTo>
                  <a:pt x="554633" y="710151"/>
                </a:lnTo>
                <a:lnTo>
                  <a:pt x="513744" y="728964"/>
                </a:lnTo>
                <a:lnTo>
                  <a:pt x="470429" y="742845"/>
                </a:lnTo>
                <a:lnTo>
                  <a:pt x="425046" y="751436"/>
                </a:lnTo>
                <a:lnTo>
                  <a:pt x="377952" y="754379"/>
                </a:lnTo>
                <a:lnTo>
                  <a:pt x="330532" y="751436"/>
                </a:lnTo>
                <a:lnTo>
                  <a:pt x="284873" y="742845"/>
                </a:lnTo>
                <a:lnTo>
                  <a:pt x="241328" y="728964"/>
                </a:lnTo>
                <a:lnTo>
                  <a:pt x="200252" y="710151"/>
                </a:lnTo>
                <a:lnTo>
                  <a:pt x="161997" y="686764"/>
                </a:lnTo>
                <a:lnTo>
                  <a:pt x="126918" y="659160"/>
                </a:lnTo>
                <a:lnTo>
                  <a:pt x="95368" y="627699"/>
                </a:lnTo>
                <a:lnTo>
                  <a:pt x="67702" y="592737"/>
                </a:lnTo>
                <a:lnTo>
                  <a:pt x="44272" y="554633"/>
                </a:lnTo>
                <a:lnTo>
                  <a:pt x="25434" y="513744"/>
                </a:lnTo>
                <a:lnTo>
                  <a:pt x="11539" y="470429"/>
                </a:lnTo>
                <a:lnTo>
                  <a:pt x="2943" y="425046"/>
                </a:lnTo>
                <a:lnTo>
                  <a:pt x="0" y="377951"/>
                </a:lnTo>
              </a:path>
            </a:pathLst>
          </a:custGeom>
          <a:ln w="1524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7" name="object 37" descr=""/>
          <p:cNvSpPr txBox="1"/>
          <p:nvPr/>
        </p:nvSpPr>
        <p:spPr>
          <a:xfrm>
            <a:off x="4112692" y="5481255"/>
            <a:ext cx="343535" cy="32829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ctr">
              <a:lnSpc>
                <a:spcPts val="1195"/>
              </a:lnSpc>
              <a:spcBef>
                <a:spcPts val="95"/>
              </a:spcBef>
            </a:pPr>
            <a:r>
              <a:rPr dirty="0" u="sng" sz="1000" spc="-25">
                <a:uFill>
                  <a:solidFill>
                    <a:srgbClr val="000000"/>
                  </a:solidFill>
                </a:uFill>
                <a:latin typeface="Microsoft Sans Serif"/>
                <a:cs typeface="Microsoft Sans Serif"/>
              </a:rPr>
              <a:t>4.0</a:t>
            </a:r>
            <a:endParaRPr sz="1000">
              <a:latin typeface="Microsoft Sans Serif"/>
              <a:cs typeface="Microsoft Sans Serif"/>
            </a:endParaRPr>
          </a:p>
          <a:p>
            <a:pPr algn="ctr">
              <a:lnSpc>
                <a:spcPts val="1195"/>
              </a:lnSpc>
            </a:pPr>
            <a:r>
              <a:rPr dirty="0" sz="1000" spc="-65">
                <a:latin typeface="Microsoft Sans Serif"/>
                <a:cs typeface="Microsoft Sans Serif"/>
              </a:rPr>
              <a:t>Payroll</a:t>
            </a:r>
            <a:endParaRPr sz="1000">
              <a:latin typeface="Microsoft Sans Serif"/>
              <a:cs typeface="Microsoft Sans Serif"/>
            </a:endParaRPr>
          </a:p>
        </p:txBody>
      </p:sp>
      <p:sp>
        <p:nvSpPr>
          <p:cNvPr id="38" name="object 38" descr=""/>
          <p:cNvSpPr/>
          <p:nvPr/>
        </p:nvSpPr>
        <p:spPr>
          <a:xfrm>
            <a:off x="2138172" y="3636264"/>
            <a:ext cx="754380" cy="754380"/>
          </a:xfrm>
          <a:custGeom>
            <a:avLst/>
            <a:gdLst/>
            <a:ahLst/>
            <a:cxnLst/>
            <a:rect l="l" t="t" r="r" b="b"/>
            <a:pathLst>
              <a:path w="754380" h="754379">
                <a:moveTo>
                  <a:pt x="0" y="376427"/>
                </a:moveTo>
                <a:lnTo>
                  <a:pt x="2943" y="329333"/>
                </a:lnTo>
                <a:lnTo>
                  <a:pt x="11534" y="283950"/>
                </a:lnTo>
                <a:lnTo>
                  <a:pt x="25415" y="240635"/>
                </a:lnTo>
                <a:lnTo>
                  <a:pt x="44228" y="199746"/>
                </a:lnTo>
                <a:lnTo>
                  <a:pt x="67615" y="161642"/>
                </a:lnTo>
                <a:lnTo>
                  <a:pt x="95219" y="126680"/>
                </a:lnTo>
                <a:lnTo>
                  <a:pt x="126680" y="95219"/>
                </a:lnTo>
                <a:lnTo>
                  <a:pt x="161642" y="67615"/>
                </a:lnTo>
                <a:lnTo>
                  <a:pt x="199746" y="44228"/>
                </a:lnTo>
                <a:lnTo>
                  <a:pt x="240635" y="25415"/>
                </a:lnTo>
                <a:lnTo>
                  <a:pt x="283950" y="11534"/>
                </a:lnTo>
                <a:lnTo>
                  <a:pt x="329333" y="2943"/>
                </a:lnTo>
                <a:lnTo>
                  <a:pt x="376428" y="0"/>
                </a:lnTo>
                <a:lnTo>
                  <a:pt x="423847" y="2943"/>
                </a:lnTo>
                <a:lnTo>
                  <a:pt x="469506" y="11534"/>
                </a:lnTo>
                <a:lnTo>
                  <a:pt x="513051" y="25415"/>
                </a:lnTo>
                <a:lnTo>
                  <a:pt x="554127" y="44228"/>
                </a:lnTo>
                <a:lnTo>
                  <a:pt x="592382" y="67615"/>
                </a:lnTo>
                <a:lnTo>
                  <a:pt x="627461" y="95219"/>
                </a:lnTo>
                <a:lnTo>
                  <a:pt x="659011" y="126680"/>
                </a:lnTo>
                <a:lnTo>
                  <a:pt x="686677" y="161642"/>
                </a:lnTo>
                <a:lnTo>
                  <a:pt x="710106" y="199746"/>
                </a:lnTo>
                <a:lnTo>
                  <a:pt x="728945" y="240635"/>
                </a:lnTo>
                <a:lnTo>
                  <a:pt x="742840" y="283950"/>
                </a:lnTo>
                <a:lnTo>
                  <a:pt x="751436" y="329333"/>
                </a:lnTo>
                <a:lnTo>
                  <a:pt x="754379" y="376427"/>
                </a:lnTo>
                <a:lnTo>
                  <a:pt x="751436" y="423847"/>
                </a:lnTo>
                <a:lnTo>
                  <a:pt x="742840" y="469506"/>
                </a:lnTo>
                <a:lnTo>
                  <a:pt x="728945" y="513051"/>
                </a:lnTo>
                <a:lnTo>
                  <a:pt x="710106" y="554127"/>
                </a:lnTo>
                <a:lnTo>
                  <a:pt x="686677" y="592382"/>
                </a:lnTo>
                <a:lnTo>
                  <a:pt x="659011" y="627461"/>
                </a:lnTo>
                <a:lnTo>
                  <a:pt x="627461" y="659011"/>
                </a:lnTo>
                <a:lnTo>
                  <a:pt x="592382" y="686677"/>
                </a:lnTo>
                <a:lnTo>
                  <a:pt x="554127" y="710107"/>
                </a:lnTo>
                <a:lnTo>
                  <a:pt x="513051" y="728945"/>
                </a:lnTo>
                <a:lnTo>
                  <a:pt x="469506" y="742840"/>
                </a:lnTo>
                <a:lnTo>
                  <a:pt x="423847" y="751436"/>
                </a:lnTo>
                <a:lnTo>
                  <a:pt x="376428" y="754379"/>
                </a:lnTo>
                <a:lnTo>
                  <a:pt x="329333" y="751436"/>
                </a:lnTo>
                <a:lnTo>
                  <a:pt x="283950" y="742840"/>
                </a:lnTo>
                <a:lnTo>
                  <a:pt x="240635" y="728945"/>
                </a:lnTo>
                <a:lnTo>
                  <a:pt x="199746" y="710107"/>
                </a:lnTo>
                <a:lnTo>
                  <a:pt x="161642" y="686677"/>
                </a:lnTo>
                <a:lnTo>
                  <a:pt x="126680" y="659011"/>
                </a:lnTo>
                <a:lnTo>
                  <a:pt x="95219" y="627461"/>
                </a:lnTo>
                <a:lnTo>
                  <a:pt x="67615" y="592382"/>
                </a:lnTo>
                <a:lnTo>
                  <a:pt x="44228" y="554127"/>
                </a:lnTo>
                <a:lnTo>
                  <a:pt x="25415" y="513051"/>
                </a:lnTo>
                <a:lnTo>
                  <a:pt x="11534" y="469506"/>
                </a:lnTo>
                <a:lnTo>
                  <a:pt x="2943" y="423847"/>
                </a:lnTo>
                <a:lnTo>
                  <a:pt x="0" y="376427"/>
                </a:lnTo>
              </a:path>
            </a:pathLst>
          </a:custGeom>
          <a:ln w="1524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9" name="object 39" descr=""/>
          <p:cNvSpPr txBox="1"/>
          <p:nvPr/>
        </p:nvSpPr>
        <p:spPr>
          <a:xfrm>
            <a:off x="2256539" y="3771342"/>
            <a:ext cx="517525" cy="47942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ctr" marL="635">
              <a:lnSpc>
                <a:spcPts val="1195"/>
              </a:lnSpc>
              <a:spcBef>
                <a:spcPts val="95"/>
              </a:spcBef>
            </a:pPr>
            <a:r>
              <a:rPr dirty="0" u="sng" sz="1000" spc="-25">
                <a:uFill>
                  <a:solidFill>
                    <a:srgbClr val="000000"/>
                  </a:solidFill>
                </a:uFill>
                <a:latin typeface="Microsoft Sans Serif"/>
                <a:cs typeface="Microsoft Sans Serif"/>
              </a:rPr>
              <a:t>0.0</a:t>
            </a:r>
            <a:endParaRPr sz="1000">
              <a:latin typeface="Microsoft Sans Serif"/>
              <a:cs typeface="Microsoft Sans Serif"/>
            </a:endParaRPr>
          </a:p>
          <a:p>
            <a:pPr algn="ctr" marL="12700" marR="5080">
              <a:lnSpc>
                <a:spcPts val="1190"/>
              </a:lnSpc>
              <a:spcBef>
                <a:spcPts val="40"/>
              </a:spcBef>
            </a:pPr>
            <a:r>
              <a:rPr dirty="0" sz="1000" spc="-114">
                <a:latin typeface="Microsoft Sans Serif"/>
                <a:cs typeface="Microsoft Sans Serif"/>
              </a:rPr>
              <a:t>Lemonade</a:t>
            </a:r>
            <a:r>
              <a:rPr dirty="0" sz="1000" spc="-10">
                <a:latin typeface="Microsoft Sans Serif"/>
                <a:cs typeface="Microsoft Sans Serif"/>
              </a:rPr>
              <a:t> System</a:t>
            </a:r>
            <a:endParaRPr sz="1000">
              <a:latin typeface="Microsoft Sans Serif"/>
              <a:cs typeface="Microsoft Sans Serif"/>
            </a:endParaRPr>
          </a:p>
        </p:txBody>
      </p:sp>
      <p:grpSp>
        <p:nvGrpSpPr>
          <p:cNvPr id="40" name="object 40" descr=""/>
          <p:cNvGrpSpPr/>
          <p:nvPr/>
        </p:nvGrpSpPr>
        <p:grpSpPr>
          <a:xfrm>
            <a:off x="2513076" y="2252472"/>
            <a:ext cx="5282565" cy="3965575"/>
            <a:chOff x="2513076" y="2252472"/>
            <a:chExt cx="5282565" cy="3965575"/>
          </a:xfrm>
        </p:grpSpPr>
        <p:pic>
          <p:nvPicPr>
            <p:cNvPr id="41" name="object 41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654296" y="2810256"/>
              <a:ext cx="1031748" cy="1207008"/>
            </a:xfrm>
            <a:prstGeom prst="rect">
              <a:avLst/>
            </a:prstGeom>
          </p:spPr>
        </p:pic>
        <p:sp>
          <p:nvSpPr>
            <p:cNvPr id="42" name="object 42" descr=""/>
            <p:cNvSpPr/>
            <p:nvPr/>
          </p:nvSpPr>
          <p:spPr>
            <a:xfrm>
              <a:off x="2513076" y="2252471"/>
              <a:ext cx="5282565" cy="3965575"/>
            </a:xfrm>
            <a:custGeom>
              <a:avLst/>
              <a:gdLst/>
              <a:ahLst/>
              <a:cxnLst/>
              <a:rect l="l" t="t" r="r" b="b"/>
              <a:pathLst>
                <a:path w="5282565" h="3965575">
                  <a:moveTo>
                    <a:pt x="1377696" y="2200668"/>
                  </a:moveTo>
                  <a:lnTo>
                    <a:pt x="1371257" y="2196096"/>
                  </a:lnTo>
                  <a:lnTo>
                    <a:pt x="1319784" y="2159520"/>
                  </a:lnTo>
                  <a:lnTo>
                    <a:pt x="1315758" y="2186965"/>
                  </a:lnTo>
                  <a:lnTo>
                    <a:pt x="269748" y="2031504"/>
                  </a:lnTo>
                  <a:lnTo>
                    <a:pt x="268224" y="2039124"/>
                  </a:lnTo>
                  <a:lnTo>
                    <a:pt x="1314640" y="2194649"/>
                  </a:lnTo>
                  <a:lnTo>
                    <a:pt x="1310640" y="2222004"/>
                  </a:lnTo>
                  <a:lnTo>
                    <a:pt x="1377696" y="2200668"/>
                  </a:lnTo>
                  <a:close/>
                </a:path>
                <a:path w="5282565" h="3965575">
                  <a:moveTo>
                    <a:pt x="1377696" y="1068324"/>
                  </a:moveTo>
                  <a:lnTo>
                    <a:pt x="1307592" y="1062228"/>
                  </a:lnTo>
                  <a:lnTo>
                    <a:pt x="1316901" y="1087513"/>
                  </a:lnTo>
                  <a:lnTo>
                    <a:pt x="268224" y="1481328"/>
                  </a:lnTo>
                  <a:lnTo>
                    <a:pt x="271272" y="1488948"/>
                  </a:lnTo>
                  <a:lnTo>
                    <a:pt x="1319733" y="1095209"/>
                  </a:lnTo>
                  <a:lnTo>
                    <a:pt x="1328928" y="1120140"/>
                  </a:lnTo>
                  <a:lnTo>
                    <a:pt x="1363345" y="1083564"/>
                  </a:lnTo>
                  <a:lnTo>
                    <a:pt x="1377696" y="1068324"/>
                  </a:lnTo>
                  <a:close/>
                </a:path>
                <a:path w="5282565" h="3965575">
                  <a:moveTo>
                    <a:pt x="1377696" y="0"/>
                  </a:moveTo>
                  <a:lnTo>
                    <a:pt x="1310640" y="22860"/>
                  </a:lnTo>
                  <a:lnTo>
                    <a:pt x="1330452" y="42672"/>
                  </a:lnTo>
                  <a:lnTo>
                    <a:pt x="0" y="1373124"/>
                  </a:lnTo>
                  <a:lnTo>
                    <a:pt x="4572" y="1377696"/>
                  </a:lnTo>
                  <a:lnTo>
                    <a:pt x="1335024" y="47244"/>
                  </a:lnTo>
                  <a:lnTo>
                    <a:pt x="1354836" y="67056"/>
                  </a:lnTo>
                  <a:lnTo>
                    <a:pt x="1365745" y="35052"/>
                  </a:lnTo>
                  <a:lnTo>
                    <a:pt x="1377696" y="0"/>
                  </a:lnTo>
                  <a:close/>
                </a:path>
                <a:path w="5282565" h="3965575">
                  <a:moveTo>
                    <a:pt x="1385316" y="3395484"/>
                  </a:moveTo>
                  <a:lnTo>
                    <a:pt x="1372654" y="3363480"/>
                  </a:lnTo>
                  <a:lnTo>
                    <a:pt x="1359408" y="3329952"/>
                  </a:lnTo>
                  <a:lnTo>
                    <a:pt x="1341005" y="3350387"/>
                  </a:lnTo>
                  <a:lnTo>
                    <a:pt x="4572" y="2142756"/>
                  </a:lnTo>
                  <a:lnTo>
                    <a:pt x="0" y="2148852"/>
                  </a:lnTo>
                  <a:lnTo>
                    <a:pt x="1335925" y="3356025"/>
                  </a:lnTo>
                  <a:lnTo>
                    <a:pt x="1318260" y="3375672"/>
                  </a:lnTo>
                  <a:lnTo>
                    <a:pt x="1385316" y="3395484"/>
                  </a:lnTo>
                  <a:close/>
                </a:path>
                <a:path w="5282565" h="3965575">
                  <a:moveTo>
                    <a:pt x="4402836" y="387096"/>
                  </a:moveTo>
                  <a:lnTo>
                    <a:pt x="4335780" y="405384"/>
                  </a:lnTo>
                  <a:lnTo>
                    <a:pt x="4352696" y="424827"/>
                  </a:lnTo>
                  <a:lnTo>
                    <a:pt x="4344924" y="429768"/>
                  </a:lnTo>
                  <a:lnTo>
                    <a:pt x="4346448" y="428244"/>
                  </a:lnTo>
                  <a:lnTo>
                    <a:pt x="4325112" y="437388"/>
                  </a:lnTo>
                  <a:lnTo>
                    <a:pt x="4314444" y="440436"/>
                  </a:lnTo>
                  <a:lnTo>
                    <a:pt x="4300728" y="445008"/>
                  </a:lnTo>
                  <a:lnTo>
                    <a:pt x="4288536" y="449580"/>
                  </a:lnTo>
                  <a:lnTo>
                    <a:pt x="4274820" y="452628"/>
                  </a:lnTo>
                  <a:lnTo>
                    <a:pt x="4259580" y="457200"/>
                  </a:lnTo>
                  <a:lnTo>
                    <a:pt x="4244340" y="460248"/>
                  </a:lnTo>
                  <a:lnTo>
                    <a:pt x="4229100" y="464820"/>
                  </a:lnTo>
                  <a:lnTo>
                    <a:pt x="4212336" y="467868"/>
                  </a:lnTo>
                  <a:lnTo>
                    <a:pt x="4195572" y="472440"/>
                  </a:lnTo>
                  <a:lnTo>
                    <a:pt x="4158996" y="478536"/>
                  </a:lnTo>
                  <a:lnTo>
                    <a:pt x="4139184" y="483108"/>
                  </a:lnTo>
                  <a:lnTo>
                    <a:pt x="4099560" y="489204"/>
                  </a:lnTo>
                  <a:lnTo>
                    <a:pt x="4078224" y="493776"/>
                  </a:lnTo>
                  <a:lnTo>
                    <a:pt x="3893820" y="518160"/>
                  </a:lnTo>
                  <a:lnTo>
                    <a:pt x="3842004" y="524256"/>
                  </a:lnTo>
                  <a:lnTo>
                    <a:pt x="3736848" y="533400"/>
                  </a:lnTo>
                  <a:lnTo>
                    <a:pt x="3680460" y="539496"/>
                  </a:lnTo>
                  <a:lnTo>
                    <a:pt x="3624072" y="542544"/>
                  </a:lnTo>
                  <a:lnTo>
                    <a:pt x="3567684" y="547116"/>
                  </a:lnTo>
                  <a:lnTo>
                    <a:pt x="3389376" y="556260"/>
                  </a:lnTo>
                  <a:lnTo>
                    <a:pt x="3206496" y="560832"/>
                  </a:lnTo>
                  <a:lnTo>
                    <a:pt x="3083052" y="562356"/>
                  </a:lnTo>
                  <a:lnTo>
                    <a:pt x="2959608" y="560832"/>
                  </a:lnTo>
                  <a:lnTo>
                    <a:pt x="2904820" y="559485"/>
                  </a:lnTo>
                  <a:lnTo>
                    <a:pt x="2965704" y="554736"/>
                  </a:lnTo>
                  <a:lnTo>
                    <a:pt x="3003804" y="550164"/>
                  </a:lnTo>
                  <a:lnTo>
                    <a:pt x="3041904" y="547116"/>
                  </a:lnTo>
                  <a:lnTo>
                    <a:pt x="3078480" y="542544"/>
                  </a:lnTo>
                  <a:lnTo>
                    <a:pt x="3115056" y="536448"/>
                  </a:lnTo>
                  <a:lnTo>
                    <a:pt x="3150108" y="531876"/>
                  </a:lnTo>
                  <a:lnTo>
                    <a:pt x="3249168" y="513588"/>
                  </a:lnTo>
                  <a:lnTo>
                    <a:pt x="3307080" y="501396"/>
                  </a:lnTo>
                  <a:lnTo>
                    <a:pt x="3361944" y="486156"/>
                  </a:lnTo>
                  <a:lnTo>
                    <a:pt x="3386328" y="480060"/>
                  </a:lnTo>
                  <a:lnTo>
                    <a:pt x="3429000" y="464820"/>
                  </a:lnTo>
                  <a:lnTo>
                    <a:pt x="3465576" y="448056"/>
                  </a:lnTo>
                  <a:lnTo>
                    <a:pt x="3480816" y="440436"/>
                  </a:lnTo>
                  <a:lnTo>
                    <a:pt x="3484397" y="436854"/>
                  </a:lnTo>
                  <a:lnTo>
                    <a:pt x="3506724" y="455676"/>
                  </a:lnTo>
                  <a:lnTo>
                    <a:pt x="3513836" y="423672"/>
                  </a:lnTo>
                  <a:lnTo>
                    <a:pt x="3521964" y="387096"/>
                  </a:lnTo>
                  <a:lnTo>
                    <a:pt x="3457956" y="414528"/>
                  </a:lnTo>
                  <a:lnTo>
                    <a:pt x="3478415" y="431800"/>
                  </a:lnTo>
                  <a:lnTo>
                    <a:pt x="3477387" y="433006"/>
                  </a:lnTo>
                  <a:lnTo>
                    <a:pt x="3462528" y="440436"/>
                  </a:lnTo>
                  <a:lnTo>
                    <a:pt x="3445764" y="449580"/>
                  </a:lnTo>
                  <a:lnTo>
                    <a:pt x="3406140" y="464820"/>
                  </a:lnTo>
                  <a:lnTo>
                    <a:pt x="3383280" y="472440"/>
                  </a:lnTo>
                  <a:lnTo>
                    <a:pt x="3358896" y="478536"/>
                  </a:lnTo>
                  <a:lnTo>
                    <a:pt x="3332988" y="486156"/>
                  </a:lnTo>
                  <a:lnTo>
                    <a:pt x="3305556" y="493776"/>
                  </a:lnTo>
                  <a:lnTo>
                    <a:pt x="3247644" y="505968"/>
                  </a:lnTo>
                  <a:lnTo>
                    <a:pt x="3148584" y="524256"/>
                  </a:lnTo>
                  <a:lnTo>
                    <a:pt x="3078480" y="533400"/>
                  </a:lnTo>
                  <a:lnTo>
                    <a:pt x="3041904" y="539496"/>
                  </a:lnTo>
                  <a:lnTo>
                    <a:pt x="3003804" y="542544"/>
                  </a:lnTo>
                  <a:lnTo>
                    <a:pt x="2965704" y="547116"/>
                  </a:lnTo>
                  <a:lnTo>
                    <a:pt x="2886456" y="553212"/>
                  </a:lnTo>
                  <a:lnTo>
                    <a:pt x="2816060" y="557276"/>
                  </a:lnTo>
                  <a:lnTo>
                    <a:pt x="2775204" y="556260"/>
                  </a:lnTo>
                  <a:lnTo>
                    <a:pt x="2718193" y="553313"/>
                  </a:lnTo>
                  <a:lnTo>
                    <a:pt x="2718193" y="560959"/>
                  </a:lnTo>
                  <a:lnTo>
                    <a:pt x="2642616" y="562356"/>
                  </a:lnTo>
                  <a:lnTo>
                    <a:pt x="2560320" y="560832"/>
                  </a:lnTo>
                  <a:lnTo>
                    <a:pt x="2478024" y="557784"/>
                  </a:lnTo>
                  <a:lnTo>
                    <a:pt x="2398776" y="553212"/>
                  </a:lnTo>
                  <a:lnTo>
                    <a:pt x="2319528" y="547116"/>
                  </a:lnTo>
                  <a:lnTo>
                    <a:pt x="2136648" y="524256"/>
                  </a:lnTo>
                  <a:lnTo>
                    <a:pt x="2037588" y="505968"/>
                  </a:lnTo>
                  <a:lnTo>
                    <a:pt x="1979676" y="492252"/>
                  </a:lnTo>
                  <a:lnTo>
                    <a:pt x="1952244" y="486156"/>
                  </a:lnTo>
                  <a:lnTo>
                    <a:pt x="1901952" y="470916"/>
                  </a:lnTo>
                  <a:lnTo>
                    <a:pt x="1839468" y="448056"/>
                  </a:lnTo>
                  <a:lnTo>
                    <a:pt x="1803400" y="429768"/>
                  </a:lnTo>
                  <a:lnTo>
                    <a:pt x="1805940" y="431292"/>
                  </a:lnTo>
                  <a:lnTo>
                    <a:pt x="1816608" y="435864"/>
                  </a:lnTo>
                  <a:lnTo>
                    <a:pt x="1825752" y="438912"/>
                  </a:lnTo>
                  <a:lnTo>
                    <a:pt x="1837944" y="443484"/>
                  </a:lnTo>
                  <a:lnTo>
                    <a:pt x="1848612" y="448056"/>
                  </a:lnTo>
                  <a:lnTo>
                    <a:pt x="1862328" y="451104"/>
                  </a:lnTo>
                  <a:lnTo>
                    <a:pt x="1874520" y="455676"/>
                  </a:lnTo>
                  <a:lnTo>
                    <a:pt x="1888236" y="460248"/>
                  </a:lnTo>
                  <a:lnTo>
                    <a:pt x="1903476" y="463296"/>
                  </a:lnTo>
                  <a:lnTo>
                    <a:pt x="1918716" y="467868"/>
                  </a:lnTo>
                  <a:lnTo>
                    <a:pt x="1935480" y="470916"/>
                  </a:lnTo>
                  <a:lnTo>
                    <a:pt x="1950720" y="475488"/>
                  </a:lnTo>
                  <a:lnTo>
                    <a:pt x="1969008" y="478536"/>
                  </a:lnTo>
                  <a:lnTo>
                    <a:pt x="1987296" y="483108"/>
                  </a:lnTo>
                  <a:lnTo>
                    <a:pt x="2023872" y="489204"/>
                  </a:lnTo>
                  <a:lnTo>
                    <a:pt x="2043684" y="493776"/>
                  </a:lnTo>
                  <a:lnTo>
                    <a:pt x="2086356" y="499872"/>
                  </a:lnTo>
                  <a:lnTo>
                    <a:pt x="2129028" y="507492"/>
                  </a:lnTo>
                  <a:lnTo>
                    <a:pt x="2270760" y="525780"/>
                  </a:lnTo>
                  <a:lnTo>
                    <a:pt x="2322576" y="531876"/>
                  </a:lnTo>
                  <a:lnTo>
                    <a:pt x="2427732" y="541020"/>
                  </a:lnTo>
                  <a:lnTo>
                    <a:pt x="2484120" y="547116"/>
                  </a:lnTo>
                  <a:lnTo>
                    <a:pt x="2540508" y="550164"/>
                  </a:lnTo>
                  <a:lnTo>
                    <a:pt x="2596896" y="554736"/>
                  </a:lnTo>
                  <a:lnTo>
                    <a:pt x="2718193" y="560959"/>
                  </a:lnTo>
                  <a:lnTo>
                    <a:pt x="2718193" y="553313"/>
                  </a:lnTo>
                  <a:lnTo>
                    <a:pt x="2598420" y="547116"/>
                  </a:lnTo>
                  <a:lnTo>
                    <a:pt x="2322576" y="524256"/>
                  </a:lnTo>
                  <a:lnTo>
                    <a:pt x="2130552" y="499872"/>
                  </a:lnTo>
                  <a:lnTo>
                    <a:pt x="2086356" y="492252"/>
                  </a:lnTo>
                  <a:lnTo>
                    <a:pt x="2066544" y="489204"/>
                  </a:lnTo>
                  <a:lnTo>
                    <a:pt x="2045208" y="486156"/>
                  </a:lnTo>
                  <a:lnTo>
                    <a:pt x="2025396" y="481584"/>
                  </a:lnTo>
                  <a:lnTo>
                    <a:pt x="1988820" y="475488"/>
                  </a:lnTo>
                  <a:lnTo>
                    <a:pt x="1970532" y="470916"/>
                  </a:lnTo>
                  <a:lnTo>
                    <a:pt x="1953768" y="467868"/>
                  </a:lnTo>
                  <a:lnTo>
                    <a:pt x="1937004" y="463296"/>
                  </a:lnTo>
                  <a:lnTo>
                    <a:pt x="1920240" y="460248"/>
                  </a:lnTo>
                  <a:lnTo>
                    <a:pt x="1905000" y="455676"/>
                  </a:lnTo>
                  <a:lnTo>
                    <a:pt x="1891284" y="452628"/>
                  </a:lnTo>
                  <a:lnTo>
                    <a:pt x="1863852" y="443484"/>
                  </a:lnTo>
                  <a:lnTo>
                    <a:pt x="1851660" y="440436"/>
                  </a:lnTo>
                  <a:lnTo>
                    <a:pt x="1839468" y="435864"/>
                  </a:lnTo>
                  <a:lnTo>
                    <a:pt x="1828800" y="432816"/>
                  </a:lnTo>
                  <a:lnTo>
                    <a:pt x="1810512" y="423672"/>
                  </a:lnTo>
                  <a:lnTo>
                    <a:pt x="1801368" y="420624"/>
                  </a:lnTo>
                  <a:lnTo>
                    <a:pt x="1793748" y="416052"/>
                  </a:lnTo>
                  <a:lnTo>
                    <a:pt x="1787652" y="411480"/>
                  </a:lnTo>
                  <a:lnTo>
                    <a:pt x="1781556" y="408432"/>
                  </a:lnTo>
                  <a:lnTo>
                    <a:pt x="1776984" y="403860"/>
                  </a:lnTo>
                  <a:lnTo>
                    <a:pt x="1773936" y="399288"/>
                  </a:lnTo>
                  <a:lnTo>
                    <a:pt x="1769364" y="396240"/>
                  </a:lnTo>
                  <a:lnTo>
                    <a:pt x="1770888" y="396240"/>
                  </a:lnTo>
                  <a:lnTo>
                    <a:pt x="1768856" y="393192"/>
                  </a:lnTo>
                  <a:lnTo>
                    <a:pt x="1767840" y="391668"/>
                  </a:lnTo>
                  <a:lnTo>
                    <a:pt x="1767840" y="393192"/>
                  </a:lnTo>
                  <a:lnTo>
                    <a:pt x="1766824" y="390144"/>
                  </a:lnTo>
                  <a:lnTo>
                    <a:pt x="1766316" y="388620"/>
                  </a:lnTo>
                  <a:lnTo>
                    <a:pt x="1766316" y="385572"/>
                  </a:lnTo>
                  <a:lnTo>
                    <a:pt x="1758696" y="385572"/>
                  </a:lnTo>
                  <a:lnTo>
                    <a:pt x="1758696" y="390144"/>
                  </a:lnTo>
                  <a:lnTo>
                    <a:pt x="1760220" y="394716"/>
                  </a:lnTo>
                  <a:lnTo>
                    <a:pt x="1761744" y="399288"/>
                  </a:lnTo>
                  <a:lnTo>
                    <a:pt x="1764792" y="403860"/>
                  </a:lnTo>
                  <a:lnTo>
                    <a:pt x="1766316" y="408432"/>
                  </a:lnTo>
                  <a:lnTo>
                    <a:pt x="1780032" y="422148"/>
                  </a:lnTo>
                  <a:lnTo>
                    <a:pt x="1790700" y="431292"/>
                  </a:lnTo>
                  <a:lnTo>
                    <a:pt x="1804416" y="438912"/>
                  </a:lnTo>
                  <a:lnTo>
                    <a:pt x="1819656" y="448056"/>
                  </a:lnTo>
                  <a:lnTo>
                    <a:pt x="1876044" y="470916"/>
                  </a:lnTo>
                  <a:lnTo>
                    <a:pt x="1923288" y="486156"/>
                  </a:lnTo>
                  <a:lnTo>
                    <a:pt x="1976628" y="499872"/>
                  </a:lnTo>
                  <a:lnTo>
                    <a:pt x="2005584" y="507492"/>
                  </a:lnTo>
                  <a:lnTo>
                    <a:pt x="2068068" y="519684"/>
                  </a:lnTo>
                  <a:lnTo>
                    <a:pt x="2135124" y="531876"/>
                  </a:lnTo>
                  <a:lnTo>
                    <a:pt x="2206752" y="541020"/>
                  </a:lnTo>
                  <a:lnTo>
                    <a:pt x="2243328" y="547116"/>
                  </a:lnTo>
                  <a:lnTo>
                    <a:pt x="2279904" y="550164"/>
                  </a:lnTo>
                  <a:lnTo>
                    <a:pt x="2319528" y="554736"/>
                  </a:lnTo>
                  <a:lnTo>
                    <a:pt x="2397252" y="560832"/>
                  </a:lnTo>
                  <a:lnTo>
                    <a:pt x="2478024" y="565404"/>
                  </a:lnTo>
                  <a:lnTo>
                    <a:pt x="2560320" y="568452"/>
                  </a:lnTo>
                  <a:lnTo>
                    <a:pt x="2642616" y="569976"/>
                  </a:lnTo>
                  <a:lnTo>
                    <a:pt x="2807208" y="566928"/>
                  </a:lnTo>
                  <a:lnTo>
                    <a:pt x="2829572" y="565251"/>
                  </a:lnTo>
                  <a:lnTo>
                    <a:pt x="2958084" y="568452"/>
                  </a:lnTo>
                  <a:lnTo>
                    <a:pt x="3083052" y="569976"/>
                  </a:lnTo>
                  <a:lnTo>
                    <a:pt x="3328416" y="566928"/>
                  </a:lnTo>
                  <a:lnTo>
                    <a:pt x="3419856" y="562356"/>
                  </a:lnTo>
                  <a:lnTo>
                    <a:pt x="3567684" y="554736"/>
                  </a:lnTo>
                  <a:lnTo>
                    <a:pt x="3625596" y="550164"/>
                  </a:lnTo>
                  <a:lnTo>
                    <a:pt x="3681984" y="547116"/>
                  </a:lnTo>
                  <a:lnTo>
                    <a:pt x="3736848" y="542544"/>
                  </a:lnTo>
                  <a:lnTo>
                    <a:pt x="3790188" y="536448"/>
                  </a:lnTo>
                  <a:lnTo>
                    <a:pt x="3843528" y="531876"/>
                  </a:lnTo>
                  <a:lnTo>
                    <a:pt x="3944112" y="519684"/>
                  </a:lnTo>
                  <a:lnTo>
                    <a:pt x="4079748" y="501396"/>
                  </a:lnTo>
                  <a:lnTo>
                    <a:pt x="4101084" y="496824"/>
                  </a:lnTo>
                  <a:lnTo>
                    <a:pt x="4140708" y="490728"/>
                  </a:lnTo>
                  <a:lnTo>
                    <a:pt x="4160520" y="486156"/>
                  </a:lnTo>
                  <a:lnTo>
                    <a:pt x="4197096" y="480060"/>
                  </a:lnTo>
                  <a:lnTo>
                    <a:pt x="4213860" y="475488"/>
                  </a:lnTo>
                  <a:lnTo>
                    <a:pt x="4230624" y="472440"/>
                  </a:lnTo>
                  <a:lnTo>
                    <a:pt x="4245864" y="467868"/>
                  </a:lnTo>
                  <a:lnTo>
                    <a:pt x="4261104" y="464820"/>
                  </a:lnTo>
                  <a:lnTo>
                    <a:pt x="4276344" y="460248"/>
                  </a:lnTo>
                  <a:lnTo>
                    <a:pt x="4290060" y="457200"/>
                  </a:lnTo>
                  <a:lnTo>
                    <a:pt x="4303776" y="452628"/>
                  </a:lnTo>
                  <a:lnTo>
                    <a:pt x="4315968" y="448056"/>
                  </a:lnTo>
                  <a:lnTo>
                    <a:pt x="4328160" y="445008"/>
                  </a:lnTo>
                  <a:lnTo>
                    <a:pt x="4349496" y="435864"/>
                  </a:lnTo>
                  <a:lnTo>
                    <a:pt x="4357751" y="430618"/>
                  </a:lnTo>
                  <a:lnTo>
                    <a:pt x="4376928" y="452628"/>
                  </a:lnTo>
                  <a:lnTo>
                    <a:pt x="4390174" y="419100"/>
                  </a:lnTo>
                  <a:lnTo>
                    <a:pt x="4402836" y="387096"/>
                  </a:lnTo>
                  <a:close/>
                </a:path>
                <a:path w="5282565" h="3965575">
                  <a:moveTo>
                    <a:pt x="5282184" y="3781056"/>
                  </a:moveTo>
                  <a:lnTo>
                    <a:pt x="5213604" y="3793248"/>
                  </a:lnTo>
                  <a:lnTo>
                    <a:pt x="5229364" y="3814686"/>
                  </a:lnTo>
                  <a:lnTo>
                    <a:pt x="5219700" y="3819156"/>
                  </a:lnTo>
                  <a:lnTo>
                    <a:pt x="5221224" y="3819156"/>
                  </a:lnTo>
                  <a:lnTo>
                    <a:pt x="5195316" y="3828300"/>
                  </a:lnTo>
                  <a:lnTo>
                    <a:pt x="5131308" y="3843540"/>
                  </a:lnTo>
                  <a:lnTo>
                    <a:pt x="5093208" y="3851160"/>
                  </a:lnTo>
                  <a:lnTo>
                    <a:pt x="5052060" y="3858780"/>
                  </a:lnTo>
                  <a:lnTo>
                    <a:pt x="5006340" y="3866400"/>
                  </a:lnTo>
                  <a:lnTo>
                    <a:pt x="4907280" y="3881640"/>
                  </a:lnTo>
                  <a:lnTo>
                    <a:pt x="4794504" y="3893832"/>
                  </a:lnTo>
                  <a:lnTo>
                    <a:pt x="4733531" y="3901452"/>
                  </a:lnTo>
                  <a:lnTo>
                    <a:pt x="4605515" y="3913644"/>
                  </a:lnTo>
                  <a:lnTo>
                    <a:pt x="4538472" y="3918216"/>
                  </a:lnTo>
                  <a:lnTo>
                    <a:pt x="4468368" y="3924312"/>
                  </a:lnTo>
                  <a:lnTo>
                    <a:pt x="4247388" y="3938028"/>
                  </a:lnTo>
                  <a:lnTo>
                    <a:pt x="4014216" y="3948696"/>
                  </a:lnTo>
                  <a:lnTo>
                    <a:pt x="3691128" y="3956316"/>
                  </a:lnTo>
                  <a:lnTo>
                    <a:pt x="3453371" y="3956316"/>
                  </a:lnTo>
                  <a:lnTo>
                    <a:pt x="3570732" y="3950220"/>
                  </a:lnTo>
                  <a:lnTo>
                    <a:pt x="3793236" y="3931932"/>
                  </a:lnTo>
                  <a:lnTo>
                    <a:pt x="3845052" y="3925836"/>
                  </a:lnTo>
                  <a:lnTo>
                    <a:pt x="3895344" y="3921264"/>
                  </a:lnTo>
                  <a:lnTo>
                    <a:pt x="4037076" y="3902976"/>
                  </a:lnTo>
                  <a:lnTo>
                    <a:pt x="4081259" y="3895356"/>
                  </a:lnTo>
                  <a:lnTo>
                    <a:pt x="4101084" y="3892308"/>
                  </a:lnTo>
                  <a:lnTo>
                    <a:pt x="4122420" y="3889260"/>
                  </a:lnTo>
                  <a:lnTo>
                    <a:pt x="4142232" y="3884688"/>
                  </a:lnTo>
                  <a:lnTo>
                    <a:pt x="4178808" y="3878592"/>
                  </a:lnTo>
                  <a:lnTo>
                    <a:pt x="4197096" y="3874020"/>
                  </a:lnTo>
                  <a:lnTo>
                    <a:pt x="4213847" y="3870972"/>
                  </a:lnTo>
                  <a:lnTo>
                    <a:pt x="4230624" y="3866400"/>
                  </a:lnTo>
                  <a:lnTo>
                    <a:pt x="4247388" y="3863352"/>
                  </a:lnTo>
                  <a:lnTo>
                    <a:pt x="4262615" y="3858780"/>
                  </a:lnTo>
                  <a:lnTo>
                    <a:pt x="4276331" y="3855732"/>
                  </a:lnTo>
                  <a:lnTo>
                    <a:pt x="4303776" y="3846588"/>
                  </a:lnTo>
                  <a:lnTo>
                    <a:pt x="4315955" y="3843540"/>
                  </a:lnTo>
                  <a:lnTo>
                    <a:pt x="4328147" y="3838968"/>
                  </a:lnTo>
                  <a:lnTo>
                    <a:pt x="4338815" y="3834396"/>
                  </a:lnTo>
                  <a:lnTo>
                    <a:pt x="4349496" y="3831348"/>
                  </a:lnTo>
                  <a:lnTo>
                    <a:pt x="4357776" y="3825329"/>
                  </a:lnTo>
                  <a:lnTo>
                    <a:pt x="4376915" y="3846588"/>
                  </a:lnTo>
                  <a:lnTo>
                    <a:pt x="4385361" y="3825252"/>
                  </a:lnTo>
                  <a:lnTo>
                    <a:pt x="4390174" y="3813060"/>
                  </a:lnTo>
                  <a:lnTo>
                    <a:pt x="4402823" y="3781056"/>
                  </a:lnTo>
                  <a:lnTo>
                    <a:pt x="4335780" y="3800868"/>
                  </a:lnTo>
                  <a:lnTo>
                    <a:pt x="4352518" y="3819474"/>
                  </a:lnTo>
                  <a:lnTo>
                    <a:pt x="4346448" y="3823728"/>
                  </a:lnTo>
                  <a:lnTo>
                    <a:pt x="4335780" y="3828300"/>
                  </a:lnTo>
                  <a:lnTo>
                    <a:pt x="4325112" y="3831348"/>
                  </a:lnTo>
                  <a:lnTo>
                    <a:pt x="4314431" y="3835920"/>
                  </a:lnTo>
                  <a:lnTo>
                    <a:pt x="4302239" y="3838968"/>
                  </a:lnTo>
                  <a:lnTo>
                    <a:pt x="4274807" y="3848112"/>
                  </a:lnTo>
                  <a:lnTo>
                    <a:pt x="4259580" y="3851160"/>
                  </a:lnTo>
                  <a:lnTo>
                    <a:pt x="4245864" y="3855732"/>
                  </a:lnTo>
                  <a:lnTo>
                    <a:pt x="4229100" y="3858780"/>
                  </a:lnTo>
                  <a:lnTo>
                    <a:pt x="4212323" y="3863352"/>
                  </a:lnTo>
                  <a:lnTo>
                    <a:pt x="4195559" y="3866400"/>
                  </a:lnTo>
                  <a:lnTo>
                    <a:pt x="4177284" y="3870972"/>
                  </a:lnTo>
                  <a:lnTo>
                    <a:pt x="4140708" y="3877068"/>
                  </a:lnTo>
                  <a:lnTo>
                    <a:pt x="4120896" y="3881640"/>
                  </a:lnTo>
                  <a:lnTo>
                    <a:pt x="4099560" y="3884688"/>
                  </a:lnTo>
                  <a:lnTo>
                    <a:pt x="4079748" y="3887736"/>
                  </a:lnTo>
                  <a:lnTo>
                    <a:pt x="4035552" y="3895356"/>
                  </a:lnTo>
                  <a:lnTo>
                    <a:pt x="3895344" y="3913644"/>
                  </a:lnTo>
                  <a:lnTo>
                    <a:pt x="3843528" y="3918216"/>
                  </a:lnTo>
                  <a:lnTo>
                    <a:pt x="3791712" y="3924312"/>
                  </a:lnTo>
                  <a:lnTo>
                    <a:pt x="3627120" y="3938028"/>
                  </a:lnTo>
                  <a:lnTo>
                    <a:pt x="3569208" y="3941076"/>
                  </a:lnTo>
                  <a:lnTo>
                    <a:pt x="3511296" y="3945648"/>
                  </a:lnTo>
                  <a:lnTo>
                    <a:pt x="3451860" y="3948696"/>
                  </a:lnTo>
                  <a:lnTo>
                    <a:pt x="3392424" y="3950220"/>
                  </a:lnTo>
                  <a:lnTo>
                    <a:pt x="3331464" y="3953268"/>
                  </a:lnTo>
                  <a:lnTo>
                    <a:pt x="3283521" y="3954475"/>
                  </a:lnTo>
                  <a:lnTo>
                    <a:pt x="3038856" y="3948696"/>
                  </a:lnTo>
                  <a:lnTo>
                    <a:pt x="3038856" y="3956316"/>
                  </a:lnTo>
                  <a:lnTo>
                    <a:pt x="2962656" y="3956316"/>
                  </a:lnTo>
                  <a:lnTo>
                    <a:pt x="2908071" y="3954957"/>
                  </a:lnTo>
                  <a:lnTo>
                    <a:pt x="2929128" y="3953268"/>
                  </a:lnTo>
                  <a:lnTo>
                    <a:pt x="2941358" y="3951859"/>
                  </a:lnTo>
                  <a:lnTo>
                    <a:pt x="3038856" y="3956316"/>
                  </a:lnTo>
                  <a:lnTo>
                    <a:pt x="3038856" y="3948696"/>
                  </a:lnTo>
                  <a:lnTo>
                    <a:pt x="2994253" y="3946664"/>
                  </a:lnTo>
                  <a:lnTo>
                    <a:pt x="3006852" y="3945648"/>
                  </a:lnTo>
                  <a:lnTo>
                    <a:pt x="3116567" y="3931932"/>
                  </a:lnTo>
                  <a:lnTo>
                    <a:pt x="3151632" y="3925836"/>
                  </a:lnTo>
                  <a:lnTo>
                    <a:pt x="3185160" y="3921264"/>
                  </a:lnTo>
                  <a:lnTo>
                    <a:pt x="3218675" y="3915168"/>
                  </a:lnTo>
                  <a:lnTo>
                    <a:pt x="3279648" y="3902976"/>
                  </a:lnTo>
                  <a:lnTo>
                    <a:pt x="3308604" y="3895356"/>
                  </a:lnTo>
                  <a:lnTo>
                    <a:pt x="3336036" y="3889260"/>
                  </a:lnTo>
                  <a:lnTo>
                    <a:pt x="3386328" y="3874020"/>
                  </a:lnTo>
                  <a:lnTo>
                    <a:pt x="3430524" y="3858780"/>
                  </a:lnTo>
                  <a:lnTo>
                    <a:pt x="3465563" y="3843540"/>
                  </a:lnTo>
                  <a:lnTo>
                    <a:pt x="3480816" y="3834396"/>
                  </a:lnTo>
                  <a:lnTo>
                    <a:pt x="3482340" y="3834396"/>
                  </a:lnTo>
                  <a:lnTo>
                    <a:pt x="3484638" y="3831691"/>
                  </a:lnTo>
                  <a:lnTo>
                    <a:pt x="3506724" y="3849636"/>
                  </a:lnTo>
                  <a:lnTo>
                    <a:pt x="3513493" y="3819156"/>
                  </a:lnTo>
                  <a:lnTo>
                    <a:pt x="3521964" y="3781056"/>
                  </a:lnTo>
                  <a:lnTo>
                    <a:pt x="3457956" y="3810012"/>
                  </a:lnTo>
                  <a:lnTo>
                    <a:pt x="3478288" y="3826535"/>
                  </a:lnTo>
                  <a:lnTo>
                    <a:pt x="3476244" y="3828300"/>
                  </a:lnTo>
                  <a:lnTo>
                    <a:pt x="3477755" y="3828300"/>
                  </a:lnTo>
                  <a:lnTo>
                    <a:pt x="3462528" y="3835920"/>
                  </a:lnTo>
                  <a:lnTo>
                    <a:pt x="3427463" y="3851160"/>
                  </a:lnTo>
                  <a:lnTo>
                    <a:pt x="3360420" y="3874020"/>
                  </a:lnTo>
                  <a:lnTo>
                    <a:pt x="3307067" y="3887736"/>
                  </a:lnTo>
                  <a:lnTo>
                    <a:pt x="3278124" y="3895356"/>
                  </a:lnTo>
                  <a:lnTo>
                    <a:pt x="3217164" y="3907548"/>
                  </a:lnTo>
                  <a:lnTo>
                    <a:pt x="3183636" y="3913644"/>
                  </a:lnTo>
                  <a:lnTo>
                    <a:pt x="3150108" y="3918216"/>
                  </a:lnTo>
                  <a:lnTo>
                    <a:pt x="3115056" y="3924312"/>
                  </a:lnTo>
                  <a:lnTo>
                    <a:pt x="3005328" y="3938028"/>
                  </a:lnTo>
                  <a:lnTo>
                    <a:pt x="2967228" y="3941076"/>
                  </a:lnTo>
                  <a:lnTo>
                    <a:pt x="2941015" y="3944226"/>
                  </a:lnTo>
                  <a:lnTo>
                    <a:pt x="2881896" y="3941521"/>
                  </a:lnTo>
                  <a:lnTo>
                    <a:pt x="2881896" y="3949141"/>
                  </a:lnTo>
                  <a:lnTo>
                    <a:pt x="2824594" y="3952443"/>
                  </a:lnTo>
                  <a:lnTo>
                    <a:pt x="2781300" y="3950220"/>
                  </a:lnTo>
                  <a:lnTo>
                    <a:pt x="2720340" y="3948696"/>
                  </a:lnTo>
                  <a:lnTo>
                    <a:pt x="2720327" y="3956316"/>
                  </a:lnTo>
                  <a:lnTo>
                    <a:pt x="2564879" y="3956316"/>
                  </a:lnTo>
                  <a:lnTo>
                    <a:pt x="2482583" y="3953268"/>
                  </a:lnTo>
                  <a:lnTo>
                    <a:pt x="2403335" y="3948696"/>
                  </a:lnTo>
                  <a:lnTo>
                    <a:pt x="2363724" y="3945648"/>
                  </a:lnTo>
                  <a:lnTo>
                    <a:pt x="2325624" y="3941076"/>
                  </a:lnTo>
                  <a:lnTo>
                    <a:pt x="2287524" y="3938028"/>
                  </a:lnTo>
                  <a:lnTo>
                    <a:pt x="2177796" y="3924312"/>
                  </a:lnTo>
                  <a:lnTo>
                    <a:pt x="2109216" y="3912120"/>
                  </a:lnTo>
                  <a:lnTo>
                    <a:pt x="2075675" y="3907548"/>
                  </a:lnTo>
                  <a:lnTo>
                    <a:pt x="2045208" y="3899928"/>
                  </a:lnTo>
                  <a:lnTo>
                    <a:pt x="2014715" y="3893832"/>
                  </a:lnTo>
                  <a:lnTo>
                    <a:pt x="1985772" y="3887736"/>
                  </a:lnTo>
                  <a:lnTo>
                    <a:pt x="1958327" y="3880116"/>
                  </a:lnTo>
                  <a:lnTo>
                    <a:pt x="1932432" y="3874020"/>
                  </a:lnTo>
                  <a:lnTo>
                    <a:pt x="1886699" y="3858780"/>
                  </a:lnTo>
                  <a:lnTo>
                    <a:pt x="1865363" y="3851160"/>
                  </a:lnTo>
                  <a:lnTo>
                    <a:pt x="1847075" y="3843540"/>
                  </a:lnTo>
                  <a:lnTo>
                    <a:pt x="1830311" y="3834396"/>
                  </a:lnTo>
                  <a:lnTo>
                    <a:pt x="1812023" y="3824236"/>
                  </a:lnTo>
                  <a:lnTo>
                    <a:pt x="1815071" y="3825252"/>
                  </a:lnTo>
                  <a:lnTo>
                    <a:pt x="1833359" y="3834396"/>
                  </a:lnTo>
                  <a:lnTo>
                    <a:pt x="1845551" y="3837444"/>
                  </a:lnTo>
                  <a:lnTo>
                    <a:pt x="1856219" y="3842016"/>
                  </a:lnTo>
                  <a:lnTo>
                    <a:pt x="1869935" y="3846588"/>
                  </a:lnTo>
                  <a:lnTo>
                    <a:pt x="1882127" y="3849636"/>
                  </a:lnTo>
                  <a:lnTo>
                    <a:pt x="1895843" y="3854208"/>
                  </a:lnTo>
                  <a:lnTo>
                    <a:pt x="1911083" y="3858780"/>
                  </a:lnTo>
                  <a:lnTo>
                    <a:pt x="1926323" y="3861828"/>
                  </a:lnTo>
                  <a:lnTo>
                    <a:pt x="1941563" y="3866400"/>
                  </a:lnTo>
                  <a:lnTo>
                    <a:pt x="1958327" y="3869448"/>
                  </a:lnTo>
                  <a:lnTo>
                    <a:pt x="1976615" y="3874020"/>
                  </a:lnTo>
                  <a:lnTo>
                    <a:pt x="1993379" y="3877068"/>
                  </a:lnTo>
                  <a:lnTo>
                    <a:pt x="2013191" y="3881640"/>
                  </a:lnTo>
                  <a:lnTo>
                    <a:pt x="2031479" y="3884688"/>
                  </a:lnTo>
                  <a:lnTo>
                    <a:pt x="2051291" y="3887736"/>
                  </a:lnTo>
                  <a:lnTo>
                    <a:pt x="2071103" y="3892308"/>
                  </a:lnTo>
                  <a:lnTo>
                    <a:pt x="2135124" y="3901452"/>
                  </a:lnTo>
                  <a:lnTo>
                    <a:pt x="2180844" y="3909072"/>
                  </a:lnTo>
                  <a:lnTo>
                    <a:pt x="2228088" y="3915168"/>
                  </a:lnTo>
                  <a:lnTo>
                    <a:pt x="2276843" y="3919740"/>
                  </a:lnTo>
                  <a:lnTo>
                    <a:pt x="2380488" y="3931932"/>
                  </a:lnTo>
                  <a:lnTo>
                    <a:pt x="2545080" y="3945648"/>
                  </a:lnTo>
                  <a:lnTo>
                    <a:pt x="2602979" y="3948696"/>
                  </a:lnTo>
                  <a:lnTo>
                    <a:pt x="2660891" y="3953268"/>
                  </a:lnTo>
                  <a:lnTo>
                    <a:pt x="2720327" y="3956316"/>
                  </a:lnTo>
                  <a:lnTo>
                    <a:pt x="2720327" y="3948696"/>
                  </a:lnTo>
                  <a:lnTo>
                    <a:pt x="2662428" y="3945648"/>
                  </a:lnTo>
                  <a:lnTo>
                    <a:pt x="2602979" y="3941076"/>
                  </a:lnTo>
                  <a:lnTo>
                    <a:pt x="2546591" y="3938028"/>
                  </a:lnTo>
                  <a:lnTo>
                    <a:pt x="2381999" y="3924312"/>
                  </a:lnTo>
                  <a:lnTo>
                    <a:pt x="2229599" y="3906024"/>
                  </a:lnTo>
                  <a:lnTo>
                    <a:pt x="2072627" y="3884688"/>
                  </a:lnTo>
                  <a:lnTo>
                    <a:pt x="2052815" y="3880116"/>
                  </a:lnTo>
                  <a:lnTo>
                    <a:pt x="2033003" y="3877068"/>
                  </a:lnTo>
                  <a:lnTo>
                    <a:pt x="2014715" y="3874020"/>
                  </a:lnTo>
                  <a:lnTo>
                    <a:pt x="1994903" y="3869448"/>
                  </a:lnTo>
                  <a:lnTo>
                    <a:pt x="1978139" y="3866400"/>
                  </a:lnTo>
                  <a:lnTo>
                    <a:pt x="1959851" y="3861828"/>
                  </a:lnTo>
                  <a:lnTo>
                    <a:pt x="1944611" y="3858780"/>
                  </a:lnTo>
                  <a:lnTo>
                    <a:pt x="1927847" y="3854208"/>
                  </a:lnTo>
                  <a:lnTo>
                    <a:pt x="1912607" y="3851160"/>
                  </a:lnTo>
                  <a:lnTo>
                    <a:pt x="1898891" y="3846588"/>
                  </a:lnTo>
                  <a:lnTo>
                    <a:pt x="1885175" y="3843540"/>
                  </a:lnTo>
                  <a:lnTo>
                    <a:pt x="1871459" y="3838968"/>
                  </a:lnTo>
                  <a:lnTo>
                    <a:pt x="1865363" y="3836682"/>
                  </a:lnTo>
                  <a:lnTo>
                    <a:pt x="1886699" y="3842016"/>
                  </a:lnTo>
                  <a:lnTo>
                    <a:pt x="1920227" y="3851160"/>
                  </a:lnTo>
                  <a:lnTo>
                    <a:pt x="1958327" y="3858780"/>
                  </a:lnTo>
                  <a:lnTo>
                    <a:pt x="1999475" y="3866400"/>
                  </a:lnTo>
                  <a:lnTo>
                    <a:pt x="2045208" y="3874020"/>
                  </a:lnTo>
                  <a:lnTo>
                    <a:pt x="2093976" y="3881640"/>
                  </a:lnTo>
                  <a:lnTo>
                    <a:pt x="2145792" y="3887736"/>
                  </a:lnTo>
                  <a:lnTo>
                    <a:pt x="2200643" y="3895356"/>
                  </a:lnTo>
                  <a:lnTo>
                    <a:pt x="2258568" y="3901452"/>
                  </a:lnTo>
                  <a:lnTo>
                    <a:pt x="2319528" y="3909072"/>
                  </a:lnTo>
                  <a:lnTo>
                    <a:pt x="2447531" y="3921264"/>
                  </a:lnTo>
                  <a:lnTo>
                    <a:pt x="2514587" y="3925836"/>
                  </a:lnTo>
                  <a:lnTo>
                    <a:pt x="2584691" y="3931932"/>
                  </a:lnTo>
                  <a:lnTo>
                    <a:pt x="2805684" y="3945648"/>
                  </a:lnTo>
                  <a:lnTo>
                    <a:pt x="2881896" y="3949141"/>
                  </a:lnTo>
                  <a:lnTo>
                    <a:pt x="2881896" y="3941521"/>
                  </a:lnTo>
                  <a:lnTo>
                    <a:pt x="2805684" y="3938028"/>
                  </a:lnTo>
                  <a:lnTo>
                    <a:pt x="2584691" y="3924312"/>
                  </a:lnTo>
                  <a:lnTo>
                    <a:pt x="2447531" y="3912120"/>
                  </a:lnTo>
                  <a:lnTo>
                    <a:pt x="2202167" y="3887736"/>
                  </a:lnTo>
                  <a:lnTo>
                    <a:pt x="2147316" y="3880116"/>
                  </a:lnTo>
                  <a:lnTo>
                    <a:pt x="2095500" y="3874020"/>
                  </a:lnTo>
                  <a:lnTo>
                    <a:pt x="2046732" y="3866400"/>
                  </a:lnTo>
                  <a:lnTo>
                    <a:pt x="2000999" y="3858780"/>
                  </a:lnTo>
                  <a:lnTo>
                    <a:pt x="1959851" y="3851160"/>
                  </a:lnTo>
                  <a:lnTo>
                    <a:pt x="1921751" y="3842016"/>
                  </a:lnTo>
                  <a:lnTo>
                    <a:pt x="1888223" y="3834396"/>
                  </a:lnTo>
                  <a:lnTo>
                    <a:pt x="1857743" y="3826776"/>
                  </a:lnTo>
                  <a:lnTo>
                    <a:pt x="1848815" y="3823995"/>
                  </a:lnTo>
                  <a:lnTo>
                    <a:pt x="1848815" y="3831793"/>
                  </a:lnTo>
                  <a:lnTo>
                    <a:pt x="1847075" y="3831348"/>
                  </a:lnTo>
                  <a:lnTo>
                    <a:pt x="1844700" y="3830332"/>
                  </a:lnTo>
                  <a:lnTo>
                    <a:pt x="1848815" y="3831793"/>
                  </a:lnTo>
                  <a:lnTo>
                    <a:pt x="1848815" y="3823995"/>
                  </a:lnTo>
                  <a:lnTo>
                    <a:pt x="1833359" y="3819156"/>
                  </a:lnTo>
                  <a:lnTo>
                    <a:pt x="1812023" y="3810012"/>
                  </a:lnTo>
                  <a:lnTo>
                    <a:pt x="1795259" y="3802392"/>
                  </a:lnTo>
                  <a:lnTo>
                    <a:pt x="1785099" y="3794772"/>
                  </a:lnTo>
                  <a:lnTo>
                    <a:pt x="1783067" y="3793248"/>
                  </a:lnTo>
                  <a:lnTo>
                    <a:pt x="1783067" y="3794772"/>
                  </a:lnTo>
                  <a:lnTo>
                    <a:pt x="1775447" y="3785628"/>
                  </a:lnTo>
                  <a:lnTo>
                    <a:pt x="1776971" y="3787152"/>
                  </a:lnTo>
                  <a:lnTo>
                    <a:pt x="1776361" y="3785628"/>
                  </a:lnTo>
                  <a:lnTo>
                    <a:pt x="1773923" y="3779532"/>
                  </a:lnTo>
                  <a:lnTo>
                    <a:pt x="1766303" y="3781056"/>
                  </a:lnTo>
                  <a:lnTo>
                    <a:pt x="1766303" y="3784104"/>
                  </a:lnTo>
                  <a:lnTo>
                    <a:pt x="1766303" y="3785628"/>
                  </a:lnTo>
                  <a:lnTo>
                    <a:pt x="1767827" y="3790200"/>
                  </a:lnTo>
                  <a:lnTo>
                    <a:pt x="1769351" y="3794772"/>
                  </a:lnTo>
                  <a:lnTo>
                    <a:pt x="1778495" y="3808488"/>
                  </a:lnTo>
                  <a:lnTo>
                    <a:pt x="1783067" y="3813060"/>
                  </a:lnTo>
                  <a:lnTo>
                    <a:pt x="1787639" y="3816108"/>
                  </a:lnTo>
                  <a:lnTo>
                    <a:pt x="1798307" y="3825252"/>
                  </a:lnTo>
                  <a:lnTo>
                    <a:pt x="1812023" y="3834396"/>
                  </a:lnTo>
                  <a:lnTo>
                    <a:pt x="1827263" y="3842016"/>
                  </a:lnTo>
                  <a:lnTo>
                    <a:pt x="1844027" y="3849636"/>
                  </a:lnTo>
                  <a:lnTo>
                    <a:pt x="1862315" y="3858780"/>
                  </a:lnTo>
                  <a:lnTo>
                    <a:pt x="1883651" y="3866400"/>
                  </a:lnTo>
                  <a:lnTo>
                    <a:pt x="1906511" y="3874020"/>
                  </a:lnTo>
                  <a:lnTo>
                    <a:pt x="1930908" y="3881640"/>
                  </a:lnTo>
                  <a:lnTo>
                    <a:pt x="1956803" y="3887736"/>
                  </a:lnTo>
                  <a:lnTo>
                    <a:pt x="1984235" y="3895356"/>
                  </a:lnTo>
                  <a:lnTo>
                    <a:pt x="2013191" y="3901452"/>
                  </a:lnTo>
                  <a:lnTo>
                    <a:pt x="2043684" y="3909072"/>
                  </a:lnTo>
                  <a:lnTo>
                    <a:pt x="2074151" y="3915168"/>
                  </a:lnTo>
                  <a:lnTo>
                    <a:pt x="2107692" y="3919740"/>
                  </a:lnTo>
                  <a:lnTo>
                    <a:pt x="2176272" y="3931932"/>
                  </a:lnTo>
                  <a:lnTo>
                    <a:pt x="2286000" y="3945648"/>
                  </a:lnTo>
                  <a:lnTo>
                    <a:pt x="2324100" y="3948696"/>
                  </a:lnTo>
                  <a:lnTo>
                    <a:pt x="2363724" y="3953268"/>
                  </a:lnTo>
                  <a:lnTo>
                    <a:pt x="2401824" y="3956316"/>
                  </a:lnTo>
                  <a:lnTo>
                    <a:pt x="2482583" y="3960888"/>
                  </a:lnTo>
                  <a:lnTo>
                    <a:pt x="2563368" y="3963936"/>
                  </a:lnTo>
                  <a:lnTo>
                    <a:pt x="2645664" y="3965460"/>
                  </a:lnTo>
                  <a:lnTo>
                    <a:pt x="2727960" y="3963936"/>
                  </a:lnTo>
                  <a:lnTo>
                    <a:pt x="2810256" y="3960888"/>
                  </a:lnTo>
                  <a:lnTo>
                    <a:pt x="2819590" y="3960368"/>
                  </a:lnTo>
                  <a:lnTo>
                    <a:pt x="2962656" y="3963936"/>
                  </a:lnTo>
                  <a:lnTo>
                    <a:pt x="3086100" y="3965460"/>
                  </a:lnTo>
                  <a:lnTo>
                    <a:pt x="3209544" y="3963936"/>
                  </a:lnTo>
                  <a:lnTo>
                    <a:pt x="3283521" y="3962095"/>
                  </a:lnTo>
                  <a:lnTo>
                    <a:pt x="3361944" y="3963936"/>
                  </a:lnTo>
                  <a:lnTo>
                    <a:pt x="3526536" y="3965460"/>
                  </a:lnTo>
                  <a:lnTo>
                    <a:pt x="3691128" y="3963936"/>
                  </a:lnTo>
                  <a:lnTo>
                    <a:pt x="4015740" y="3956316"/>
                  </a:lnTo>
                  <a:lnTo>
                    <a:pt x="4171188" y="3950220"/>
                  </a:lnTo>
                  <a:lnTo>
                    <a:pt x="4468368" y="3931932"/>
                  </a:lnTo>
                  <a:lnTo>
                    <a:pt x="4538472" y="3925836"/>
                  </a:lnTo>
                  <a:lnTo>
                    <a:pt x="4605515" y="3921264"/>
                  </a:lnTo>
                  <a:lnTo>
                    <a:pt x="4794504" y="3902976"/>
                  </a:lnTo>
                  <a:lnTo>
                    <a:pt x="4852416" y="3895356"/>
                  </a:lnTo>
                  <a:lnTo>
                    <a:pt x="4907280" y="3889260"/>
                  </a:lnTo>
                  <a:lnTo>
                    <a:pt x="5007864" y="3874020"/>
                  </a:lnTo>
                  <a:lnTo>
                    <a:pt x="5053584" y="3866400"/>
                  </a:lnTo>
                  <a:lnTo>
                    <a:pt x="5094732" y="3858780"/>
                  </a:lnTo>
                  <a:lnTo>
                    <a:pt x="5132832" y="3851160"/>
                  </a:lnTo>
                  <a:lnTo>
                    <a:pt x="5196840" y="3835920"/>
                  </a:lnTo>
                  <a:lnTo>
                    <a:pt x="5222748" y="3826776"/>
                  </a:lnTo>
                  <a:lnTo>
                    <a:pt x="5224272" y="3826776"/>
                  </a:lnTo>
                  <a:lnTo>
                    <a:pt x="5234051" y="3821061"/>
                  </a:lnTo>
                  <a:lnTo>
                    <a:pt x="5251704" y="3845064"/>
                  </a:lnTo>
                  <a:lnTo>
                    <a:pt x="5268392" y="3810012"/>
                  </a:lnTo>
                  <a:lnTo>
                    <a:pt x="5282184" y="3781056"/>
                  </a:lnTo>
                  <a:close/>
                </a:path>
                <a:path w="5282565" h="3965575">
                  <a:moveTo>
                    <a:pt x="5282184" y="2587764"/>
                  </a:moveTo>
                  <a:lnTo>
                    <a:pt x="5213604" y="2599956"/>
                  </a:lnTo>
                  <a:lnTo>
                    <a:pt x="5229301" y="2620683"/>
                  </a:lnTo>
                  <a:lnTo>
                    <a:pt x="5219700" y="2625864"/>
                  </a:lnTo>
                  <a:lnTo>
                    <a:pt x="5221224" y="2624340"/>
                  </a:lnTo>
                  <a:lnTo>
                    <a:pt x="5195316" y="2633484"/>
                  </a:lnTo>
                  <a:lnTo>
                    <a:pt x="5164836" y="2641104"/>
                  </a:lnTo>
                  <a:lnTo>
                    <a:pt x="5093208" y="2656344"/>
                  </a:lnTo>
                  <a:lnTo>
                    <a:pt x="5052060" y="2663964"/>
                  </a:lnTo>
                  <a:lnTo>
                    <a:pt x="5006340" y="2671584"/>
                  </a:lnTo>
                  <a:lnTo>
                    <a:pt x="4905756" y="2686824"/>
                  </a:lnTo>
                  <a:lnTo>
                    <a:pt x="4850892" y="2692920"/>
                  </a:lnTo>
                  <a:lnTo>
                    <a:pt x="4792980" y="2700540"/>
                  </a:lnTo>
                  <a:lnTo>
                    <a:pt x="4535424" y="2724924"/>
                  </a:lnTo>
                  <a:lnTo>
                    <a:pt x="4169664" y="2747772"/>
                  </a:lnTo>
                  <a:lnTo>
                    <a:pt x="3851148" y="2758452"/>
                  </a:lnTo>
                  <a:lnTo>
                    <a:pt x="3523488" y="2763012"/>
                  </a:lnTo>
                  <a:lnTo>
                    <a:pt x="3441827" y="2761881"/>
                  </a:lnTo>
                  <a:lnTo>
                    <a:pt x="3567684" y="2755404"/>
                  </a:lnTo>
                  <a:lnTo>
                    <a:pt x="3843528" y="2732544"/>
                  </a:lnTo>
                  <a:lnTo>
                    <a:pt x="3944112" y="2720352"/>
                  </a:lnTo>
                  <a:lnTo>
                    <a:pt x="4035552" y="2708160"/>
                  </a:lnTo>
                  <a:lnTo>
                    <a:pt x="4079748" y="2700540"/>
                  </a:lnTo>
                  <a:lnTo>
                    <a:pt x="4101084" y="2697492"/>
                  </a:lnTo>
                  <a:lnTo>
                    <a:pt x="4140708" y="2691396"/>
                  </a:lnTo>
                  <a:lnTo>
                    <a:pt x="4160520" y="2686824"/>
                  </a:lnTo>
                  <a:lnTo>
                    <a:pt x="4178808" y="2683776"/>
                  </a:lnTo>
                  <a:lnTo>
                    <a:pt x="4197096" y="2679204"/>
                  </a:lnTo>
                  <a:lnTo>
                    <a:pt x="4213860" y="2676156"/>
                  </a:lnTo>
                  <a:lnTo>
                    <a:pt x="4230624" y="2671584"/>
                  </a:lnTo>
                  <a:lnTo>
                    <a:pt x="4245864" y="2668536"/>
                  </a:lnTo>
                  <a:lnTo>
                    <a:pt x="4261104" y="2663964"/>
                  </a:lnTo>
                  <a:lnTo>
                    <a:pt x="4276344" y="2660916"/>
                  </a:lnTo>
                  <a:lnTo>
                    <a:pt x="4290060" y="2656344"/>
                  </a:lnTo>
                  <a:lnTo>
                    <a:pt x="4303776" y="2653296"/>
                  </a:lnTo>
                  <a:lnTo>
                    <a:pt x="4328160" y="2644152"/>
                  </a:lnTo>
                  <a:lnTo>
                    <a:pt x="4338828" y="2641104"/>
                  </a:lnTo>
                  <a:lnTo>
                    <a:pt x="4349496" y="2636532"/>
                  </a:lnTo>
                  <a:lnTo>
                    <a:pt x="4358208" y="2630982"/>
                  </a:lnTo>
                  <a:lnTo>
                    <a:pt x="4376928" y="2651772"/>
                  </a:lnTo>
                  <a:lnTo>
                    <a:pt x="4390491" y="2618244"/>
                  </a:lnTo>
                  <a:lnTo>
                    <a:pt x="4402836" y="2587764"/>
                  </a:lnTo>
                  <a:lnTo>
                    <a:pt x="4335780" y="2606052"/>
                  </a:lnTo>
                  <a:lnTo>
                    <a:pt x="4352188" y="2624277"/>
                  </a:lnTo>
                  <a:lnTo>
                    <a:pt x="4344924" y="2628912"/>
                  </a:lnTo>
                  <a:lnTo>
                    <a:pt x="4346448" y="2628912"/>
                  </a:lnTo>
                  <a:lnTo>
                    <a:pt x="4335780" y="2633484"/>
                  </a:lnTo>
                  <a:lnTo>
                    <a:pt x="4325112" y="2636532"/>
                  </a:lnTo>
                  <a:lnTo>
                    <a:pt x="4314444" y="2641104"/>
                  </a:lnTo>
                  <a:lnTo>
                    <a:pt x="4300728" y="2645676"/>
                  </a:lnTo>
                  <a:lnTo>
                    <a:pt x="4288536" y="2648724"/>
                  </a:lnTo>
                  <a:lnTo>
                    <a:pt x="4274820" y="2653296"/>
                  </a:lnTo>
                  <a:lnTo>
                    <a:pt x="4259580" y="2656344"/>
                  </a:lnTo>
                  <a:lnTo>
                    <a:pt x="4244340" y="2660916"/>
                  </a:lnTo>
                  <a:lnTo>
                    <a:pt x="4229100" y="2663964"/>
                  </a:lnTo>
                  <a:lnTo>
                    <a:pt x="4212336" y="2668536"/>
                  </a:lnTo>
                  <a:lnTo>
                    <a:pt x="4195572" y="2671584"/>
                  </a:lnTo>
                  <a:lnTo>
                    <a:pt x="4177284" y="2676156"/>
                  </a:lnTo>
                  <a:lnTo>
                    <a:pt x="4158996" y="2679204"/>
                  </a:lnTo>
                  <a:lnTo>
                    <a:pt x="4139184" y="2683776"/>
                  </a:lnTo>
                  <a:lnTo>
                    <a:pt x="4099560" y="2689872"/>
                  </a:lnTo>
                  <a:lnTo>
                    <a:pt x="4078224" y="2692920"/>
                  </a:lnTo>
                  <a:lnTo>
                    <a:pt x="4035552" y="2700540"/>
                  </a:lnTo>
                  <a:lnTo>
                    <a:pt x="3893820" y="2718828"/>
                  </a:lnTo>
                  <a:lnTo>
                    <a:pt x="3842004" y="2724924"/>
                  </a:lnTo>
                  <a:lnTo>
                    <a:pt x="3567684" y="2747772"/>
                  </a:lnTo>
                  <a:lnTo>
                    <a:pt x="3389376" y="2756928"/>
                  </a:lnTo>
                  <a:lnTo>
                    <a:pt x="3280600" y="2759659"/>
                  </a:lnTo>
                  <a:lnTo>
                    <a:pt x="3194304" y="2758452"/>
                  </a:lnTo>
                  <a:lnTo>
                    <a:pt x="3092310" y="2755036"/>
                  </a:lnTo>
                  <a:lnTo>
                    <a:pt x="3092310" y="2762910"/>
                  </a:lnTo>
                  <a:lnTo>
                    <a:pt x="3083052" y="2763012"/>
                  </a:lnTo>
                  <a:lnTo>
                    <a:pt x="2959608" y="2761500"/>
                  </a:lnTo>
                  <a:lnTo>
                    <a:pt x="2905175" y="2760154"/>
                  </a:lnTo>
                  <a:lnTo>
                    <a:pt x="2935935" y="2757741"/>
                  </a:lnTo>
                  <a:lnTo>
                    <a:pt x="3032760" y="2761500"/>
                  </a:lnTo>
                  <a:lnTo>
                    <a:pt x="3092310" y="2762910"/>
                  </a:lnTo>
                  <a:lnTo>
                    <a:pt x="3092310" y="2755036"/>
                  </a:lnTo>
                  <a:lnTo>
                    <a:pt x="2995015" y="2751772"/>
                  </a:lnTo>
                  <a:lnTo>
                    <a:pt x="3150108" y="2732544"/>
                  </a:lnTo>
                  <a:lnTo>
                    <a:pt x="3249168" y="2714256"/>
                  </a:lnTo>
                  <a:lnTo>
                    <a:pt x="3278124" y="2708160"/>
                  </a:lnTo>
                  <a:lnTo>
                    <a:pt x="3307080" y="2700540"/>
                  </a:lnTo>
                  <a:lnTo>
                    <a:pt x="3334512" y="2694444"/>
                  </a:lnTo>
                  <a:lnTo>
                    <a:pt x="3386328" y="2679204"/>
                  </a:lnTo>
                  <a:lnTo>
                    <a:pt x="3429000" y="2663964"/>
                  </a:lnTo>
                  <a:lnTo>
                    <a:pt x="3465576" y="2648724"/>
                  </a:lnTo>
                  <a:lnTo>
                    <a:pt x="3484854" y="2637053"/>
                  </a:lnTo>
                  <a:lnTo>
                    <a:pt x="3506724" y="2654820"/>
                  </a:lnTo>
                  <a:lnTo>
                    <a:pt x="3513645" y="2624340"/>
                  </a:lnTo>
                  <a:lnTo>
                    <a:pt x="3521964" y="2587764"/>
                  </a:lnTo>
                  <a:lnTo>
                    <a:pt x="3457956" y="2615196"/>
                  </a:lnTo>
                  <a:lnTo>
                    <a:pt x="3478123" y="2631592"/>
                  </a:lnTo>
                  <a:lnTo>
                    <a:pt x="3476244" y="2633484"/>
                  </a:lnTo>
                  <a:lnTo>
                    <a:pt x="3477768" y="2633484"/>
                  </a:lnTo>
                  <a:lnTo>
                    <a:pt x="3462528" y="2641104"/>
                  </a:lnTo>
                  <a:lnTo>
                    <a:pt x="3425952" y="2657868"/>
                  </a:lnTo>
                  <a:lnTo>
                    <a:pt x="3406140" y="2663964"/>
                  </a:lnTo>
                  <a:lnTo>
                    <a:pt x="3383280" y="2671584"/>
                  </a:lnTo>
                  <a:lnTo>
                    <a:pt x="3358896" y="2679204"/>
                  </a:lnTo>
                  <a:lnTo>
                    <a:pt x="3332988" y="2686824"/>
                  </a:lnTo>
                  <a:lnTo>
                    <a:pt x="3305556" y="2692920"/>
                  </a:lnTo>
                  <a:lnTo>
                    <a:pt x="3276600" y="2700540"/>
                  </a:lnTo>
                  <a:lnTo>
                    <a:pt x="3247644" y="2706636"/>
                  </a:lnTo>
                  <a:lnTo>
                    <a:pt x="3148584" y="2724924"/>
                  </a:lnTo>
                  <a:lnTo>
                    <a:pt x="2965704" y="2747772"/>
                  </a:lnTo>
                  <a:lnTo>
                    <a:pt x="2938437" y="2749880"/>
                  </a:lnTo>
                  <a:lnTo>
                    <a:pt x="2875788" y="2747772"/>
                  </a:lnTo>
                  <a:lnTo>
                    <a:pt x="2868168" y="2747314"/>
                  </a:lnTo>
                  <a:lnTo>
                    <a:pt x="2868168" y="2754947"/>
                  </a:lnTo>
                  <a:lnTo>
                    <a:pt x="2816060" y="2757944"/>
                  </a:lnTo>
                  <a:lnTo>
                    <a:pt x="2775204" y="2756928"/>
                  </a:lnTo>
                  <a:lnTo>
                    <a:pt x="2718295" y="2753982"/>
                  </a:lnTo>
                  <a:lnTo>
                    <a:pt x="2718295" y="2761627"/>
                  </a:lnTo>
                  <a:lnTo>
                    <a:pt x="2642616" y="2763012"/>
                  </a:lnTo>
                  <a:lnTo>
                    <a:pt x="2560320" y="2761500"/>
                  </a:lnTo>
                  <a:lnTo>
                    <a:pt x="2478024" y="2758452"/>
                  </a:lnTo>
                  <a:lnTo>
                    <a:pt x="2398776" y="2753880"/>
                  </a:lnTo>
                  <a:lnTo>
                    <a:pt x="2319528" y="2747772"/>
                  </a:lnTo>
                  <a:lnTo>
                    <a:pt x="2171700" y="2729496"/>
                  </a:lnTo>
                  <a:lnTo>
                    <a:pt x="2136648" y="2723400"/>
                  </a:lnTo>
                  <a:lnTo>
                    <a:pt x="2103120" y="2718828"/>
                  </a:lnTo>
                  <a:lnTo>
                    <a:pt x="2037588" y="2706636"/>
                  </a:lnTo>
                  <a:lnTo>
                    <a:pt x="2008632" y="2699016"/>
                  </a:lnTo>
                  <a:lnTo>
                    <a:pt x="1979676" y="2692920"/>
                  </a:lnTo>
                  <a:lnTo>
                    <a:pt x="1926336" y="2679204"/>
                  </a:lnTo>
                  <a:lnTo>
                    <a:pt x="1879092" y="2663964"/>
                  </a:lnTo>
                  <a:lnTo>
                    <a:pt x="1839468" y="2648724"/>
                  </a:lnTo>
                  <a:lnTo>
                    <a:pt x="1803400" y="2630436"/>
                  </a:lnTo>
                  <a:lnTo>
                    <a:pt x="1805940" y="2631960"/>
                  </a:lnTo>
                  <a:lnTo>
                    <a:pt x="1816608" y="2635008"/>
                  </a:lnTo>
                  <a:lnTo>
                    <a:pt x="1825752" y="2639580"/>
                  </a:lnTo>
                  <a:lnTo>
                    <a:pt x="1837944" y="2644152"/>
                  </a:lnTo>
                  <a:lnTo>
                    <a:pt x="1848612" y="2647200"/>
                  </a:lnTo>
                  <a:lnTo>
                    <a:pt x="1862328" y="2651772"/>
                  </a:lnTo>
                  <a:lnTo>
                    <a:pt x="1874520" y="2656344"/>
                  </a:lnTo>
                  <a:lnTo>
                    <a:pt x="1888236" y="2659392"/>
                  </a:lnTo>
                  <a:lnTo>
                    <a:pt x="1903476" y="2663964"/>
                  </a:lnTo>
                  <a:lnTo>
                    <a:pt x="1918716" y="2667012"/>
                  </a:lnTo>
                  <a:lnTo>
                    <a:pt x="1935480" y="2671584"/>
                  </a:lnTo>
                  <a:lnTo>
                    <a:pt x="1950720" y="2676156"/>
                  </a:lnTo>
                  <a:lnTo>
                    <a:pt x="1987296" y="2682252"/>
                  </a:lnTo>
                  <a:lnTo>
                    <a:pt x="2005584" y="2686824"/>
                  </a:lnTo>
                  <a:lnTo>
                    <a:pt x="2023872" y="2689872"/>
                  </a:lnTo>
                  <a:lnTo>
                    <a:pt x="2043684" y="2694444"/>
                  </a:lnTo>
                  <a:lnTo>
                    <a:pt x="2086356" y="2700540"/>
                  </a:lnTo>
                  <a:lnTo>
                    <a:pt x="2129028" y="2708160"/>
                  </a:lnTo>
                  <a:lnTo>
                    <a:pt x="2270760" y="2726448"/>
                  </a:lnTo>
                  <a:lnTo>
                    <a:pt x="2322576" y="2731020"/>
                  </a:lnTo>
                  <a:lnTo>
                    <a:pt x="2374392" y="2737116"/>
                  </a:lnTo>
                  <a:lnTo>
                    <a:pt x="2596896" y="2755404"/>
                  </a:lnTo>
                  <a:lnTo>
                    <a:pt x="2718295" y="2761627"/>
                  </a:lnTo>
                  <a:lnTo>
                    <a:pt x="2718295" y="2753982"/>
                  </a:lnTo>
                  <a:lnTo>
                    <a:pt x="2598420" y="2747772"/>
                  </a:lnTo>
                  <a:lnTo>
                    <a:pt x="2375916" y="2729496"/>
                  </a:lnTo>
                  <a:lnTo>
                    <a:pt x="2322576" y="2723400"/>
                  </a:lnTo>
                  <a:lnTo>
                    <a:pt x="2272284" y="2718828"/>
                  </a:lnTo>
                  <a:lnTo>
                    <a:pt x="2176272" y="2706636"/>
                  </a:lnTo>
                  <a:lnTo>
                    <a:pt x="2130552" y="2699016"/>
                  </a:lnTo>
                  <a:lnTo>
                    <a:pt x="2086356" y="2692920"/>
                  </a:lnTo>
                  <a:lnTo>
                    <a:pt x="2066544" y="2689872"/>
                  </a:lnTo>
                  <a:lnTo>
                    <a:pt x="2045208" y="2685300"/>
                  </a:lnTo>
                  <a:lnTo>
                    <a:pt x="2025396" y="2682252"/>
                  </a:lnTo>
                  <a:lnTo>
                    <a:pt x="2007108" y="2679204"/>
                  </a:lnTo>
                  <a:lnTo>
                    <a:pt x="1988820" y="2674632"/>
                  </a:lnTo>
                  <a:lnTo>
                    <a:pt x="1970532" y="2671584"/>
                  </a:lnTo>
                  <a:lnTo>
                    <a:pt x="1953768" y="2667012"/>
                  </a:lnTo>
                  <a:lnTo>
                    <a:pt x="1937004" y="2663964"/>
                  </a:lnTo>
                  <a:lnTo>
                    <a:pt x="1920240" y="2659392"/>
                  </a:lnTo>
                  <a:lnTo>
                    <a:pt x="1905000" y="2656344"/>
                  </a:lnTo>
                  <a:lnTo>
                    <a:pt x="1891284" y="2651772"/>
                  </a:lnTo>
                  <a:lnTo>
                    <a:pt x="1877568" y="2648724"/>
                  </a:lnTo>
                  <a:lnTo>
                    <a:pt x="1863852" y="2644152"/>
                  </a:lnTo>
                  <a:lnTo>
                    <a:pt x="1851660" y="2641104"/>
                  </a:lnTo>
                  <a:lnTo>
                    <a:pt x="1843900" y="2638196"/>
                  </a:lnTo>
                  <a:lnTo>
                    <a:pt x="1848612" y="2639580"/>
                  </a:lnTo>
                  <a:lnTo>
                    <a:pt x="1879092" y="2647200"/>
                  </a:lnTo>
                  <a:lnTo>
                    <a:pt x="1950720" y="2663964"/>
                  </a:lnTo>
                  <a:lnTo>
                    <a:pt x="2037588" y="2679204"/>
                  </a:lnTo>
                  <a:lnTo>
                    <a:pt x="2138172" y="2694444"/>
                  </a:lnTo>
                  <a:lnTo>
                    <a:pt x="2193036" y="2700540"/>
                  </a:lnTo>
                  <a:lnTo>
                    <a:pt x="2250948" y="2708160"/>
                  </a:lnTo>
                  <a:lnTo>
                    <a:pt x="2441448" y="2726448"/>
                  </a:lnTo>
                  <a:lnTo>
                    <a:pt x="2508504" y="2731020"/>
                  </a:lnTo>
                  <a:lnTo>
                    <a:pt x="2578608" y="2737116"/>
                  </a:lnTo>
                  <a:lnTo>
                    <a:pt x="2868168" y="2754947"/>
                  </a:lnTo>
                  <a:lnTo>
                    <a:pt x="2868168" y="2747314"/>
                  </a:lnTo>
                  <a:lnTo>
                    <a:pt x="2578608" y="2729496"/>
                  </a:lnTo>
                  <a:lnTo>
                    <a:pt x="2510028" y="2723400"/>
                  </a:lnTo>
                  <a:lnTo>
                    <a:pt x="2441448" y="2718828"/>
                  </a:lnTo>
                  <a:lnTo>
                    <a:pt x="2313432" y="2706636"/>
                  </a:lnTo>
                  <a:lnTo>
                    <a:pt x="2252472" y="2699016"/>
                  </a:lnTo>
                  <a:lnTo>
                    <a:pt x="2194560" y="2692920"/>
                  </a:lnTo>
                  <a:lnTo>
                    <a:pt x="2139696" y="2685300"/>
                  </a:lnTo>
                  <a:lnTo>
                    <a:pt x="2087880" y="2679204"/>
                  </a:lnTo>
                  <a:lnTo>
                    <a:pt x="2039112" y="2671584"/>
                  </a:lnTo>
                  <a:lnTo>
                    <a:pt x="1952244" y="2656344"/>
                  </a:lnTo>
                  <a:lnTo>
                    <a:pt x="1914144" y="2648724"/>
                  </a:lnTo>
                  <a:lnTo>
                    <a:pt x="1850136" y="2631960"/>
                  </a:lnTo>
                  <a:lnTo>
                    <a:pt x="1804416" y="2615196"/>
                  </a:lnTo>
                  <a:lnTo>
                    <a:pt x="1767840" y="2592336"/>
                  </a:lnTo>
                  <a:lnTo>
                    <a:pt x="1769364" y="2592336"/>
                  </a:lnTo>
                  <a:lnTo>
                    <a:pt x="1766316" y="2584704"/>
                  </a:lnTo>
                  <a:lnTo>
                    <a:pt x="1758696" y="2586228"/>
                  </a:lnTo>
                  <a:lnTo>
                    <a:pt x="1758696" y="2590812"/>
                  </a:lnTo>
                  <a:lnTo>
                    <a:pt x="1760220" y="2595384"/>
                  </a:lnTo>
                  <a:lnTo>
                    <a:pt x="1761744" y="2599956"/>
                  </a:lnTo>
                  <a:lnTo>
                    <a:pt x="1764792" y="2604528"/>
                  </a:lnTo>
                  <a:lnTo>
                    <a:pt x="1766316" y="2609100"/>
                  </a:lnTo>
                  <a:lnTo>
                    <a:pt x="1780032" y="2622816"/>
                  </a:lnTo>
                  <a:lnTo>
                    <a:pt x="1790700" y="2630436"/>
                  </a:lnTo>
                  <a:lnTo>
                    <a:pt x="1804416" y="2639580"/>
                  </a:lnTo>
                  <a:lnTo>
                    <a:pt x="1819656" y="2647200"/>
                  </a:lnTo>
                  <a:lnTo>
                    <a:pt x="1836420" y="2656344"/>
                  </a:lnTo>
                  <a:lnTo>
                    <a:pt x="1876044" y="2671584"/>
                  </a:lnTo>
                  <a:lnTo>
                    <a:pt x="1898904" y="2679204"/>
                  </a:lnTo>
                  <a:lnTo>
                    <a:pt x="1923288" y="2686824"/>
                  </a:lnTo>
                  <a:lnTo>
                    <a:pt x="1949196" y="2692920"/>
                  </a:lnTo>
                  <a:lnTo>
                    <a:pt x="1976628" y="2700540"/>
                  </a:lnTo>
                  <a:lnTo>
                    <a:pt x="2005584" y="2708160"/>
                  </a:lnTo>
                  <a:lnTo>
                    <a:pt x="2068068" y="2720352"/>
                  </a:lnTo>
                  <a:lnTo>
                    <a:pt x="2101596" y="2726448"/>
                  </a:lnTo>
                  <a:lnTo>
                    <a:pt x="2135124" y="2731020"/>
                  </a:lnTo>
                  <a:lnTo>
                    <a:pt x="2170176" y="2737116"/>
                  </a:lnTo>
                  <a:lnTo>
                    <a:pt x="2319528" y="2755404"/>
                  </a:lnTo>
                  <a:lnTo>
                    <a:pt x="2397252" y="2761500"/>
                  </a:lnTo>
                  <a:lnTo>
                    <a:pt x="2478024" y="2766060"/>
                  </a:lnTo>
                  <a:lnTo>
                    <a:pt x="2560320" y="2769120"/>
                  </a:lnTo>
                  <a:lnTo>
                    <a:pt x="2642616" y="2770644"/>
                  </a:lnTo>
                  <a:lnTo>
                    <a:pt x="2724912" y="2769120"/>
                  </a:lnTo>
                  <a:lnTo>
                    <a:pt x="2807208" y="2766060"/>
                  </a:lnTo>
                  <a:lnTo>
                    <a:pt x="2816034" y="2765564"/>
                  </a:lnTo>
                  <a:lnTo>
                    <a:pt x="2958084" y="2769120"/>
                  </a:lnTo>
                  <a:lnTo>
                    <a:pt x="3083052" y="2770644"/>
                  </a:lnTo>
                  <a:lnTo>
                    <a:pt x="3206496" y="2769120"/>
                  </a:lnTo>
                  <a:lnTo>
                    <a:pt x="3279444" y="2767292"/>
                  </a:lnTo>
                  <a:lnTo>
                    <a:pt x="3357372" y="2769120"/>
                  </a:lnTo>
                  <a:lnTo>
                    <a:pt x="3521964" y="2770644"/>
                  </a:lnTo>
                  <a:lnTo>
                    <a:pt x="3688080" y="2769120"/>
                  </a:lnTo>
                  <a:lnTo>
                    <a:pt x="3958844" y="2763012"/>
                  </a:lnTo>
                  <a:lnTo>
                    <a:pt x="4012692" y="2761500"/>
                  </a:lnTo>
                  <a:lnTo>
                    <a:pt x="4169664" y="2755404"/>
                  </a:lnTo>
                  <a:lnTo>
                    <a:pt x="4536948" y="2732544"/>
                  </a:lnTo>
                  <a:lnTo>
                    <a:pt x="4794504" y="2708160"/>
                  </a:lnTo>
                  <a:lnTo>
                    <a:pt x="4852416" y="2700540"/>
                  </a:lnTo>
                  <a:lnTo>
                    <a:pt x="4907280" y="2694444"/>
                  </a:lnTo>
                  <a:lnTo>
                    <a:pt x="5007864" y="2679204"/>
                  </a:lnTo>
                  <a:lnTo>
                    <a:pt x="5094732" y="2663964"/>
                  </a:lnTo>
                  <a:lnTo>
                    <a:pt x="5132832" y="2656344"/>
                  </a:lnTo>
                  <a:lnTo>
                    <a:pt x="5196840" y="2641104"/>
                  </a:lnTo>
                  <a:lnTo>
                    <a:pt x="5222748" y="2631960"/>
                  </a:lnTo>
                  <a:lnTo>
                    <a:pt x="5224272" y="2631960"/>
                  </a:lnTo>
                  <a:lnTo>
                    <a:pt x="5233682" y="2626461"/>
                  </a:lnTo>
                  <a:lnTo>
                    <a:pt x="5251704" y="2650248"/>
                  </a:lnTo>
                  <a:lnTo>
                    <a:pt x="5268798" y="2615196"/>
                  </a:lnTo>
                  <a:lnTo>
                    <a:pt x="5282184" y="2587764"/>
                  </a:lnTo>
                  <a:close/>
                </a:path>
                <a:path w="5282565" h="3965575">
                  <a:moveTo>
                    <a:pt x="5282184" y="1455420"/>
                  </a:moveTo>
                  <a:lnTo>
                    <a:pt x="5213604" y="1467612"/>
                  </a:lnTo>
                  <a:lnTo>
                    <a:pt x="5229301" y="1488351"/>
                  </a:lnTo>
                  <a:lnTo>
                    <a:pt x="5219700" y="1493520"/>
                  </a:lnTo>
                  <a:lnTo>
                    <a:pt x="5221224" y="1493520"/>
                  </a:lnTo>
                  <a:lnTo>
                    <a:pt x="5164836" y="1510284"/>
                  </a:lnTo>
                  <a:lnTo>
                    <a:pt x="5093208" y="1525524"/>
                  </a:lnTo>
                  <a:lnTo>
                    <a:pt x="5052060" y="1533144"/>
                  </a:lnTo>
                  <a:lnTo>
                    <a:pt x="5006340" y="1540764"/>
                  </a:lnTo>
                  <a:lnTo>
                    <a:pt x="4957572" y="1548384"/>
                  </a:lnTo>
                  <a:lnTo>
                    <a:pt x="4905756" y="1554480"/>
                  </a:lnTo>
                  <a:lnTo>
                    <a:pt x="4850892" y="1562100"/>
                  </a:lnTo>
                  <a:lnTo>
                    <a:pt x="4535424" y="1592580"/>
                  </a:lnTo>
                  <a:lnTo>
                    <a:pt x="4466844" y="1597152"/>
                  </a:lnTo>
                  <a:lnTo>
                    <a:pt x="4393692" y="1603248"/>
                  </a:lnTo>
                  <a:lnTo>
                    <a:pt x="4245864" y="1612392"/>
                  </a:lnTo>
                  <a:lnTo>
                    <a:pt x="3851148" y="1627632"/>
                  </a:lnTo>
                  <a:lnTo>
                    <a:pt x="3688080" y="1630680"/>
                  </a:lnTo>
                  <a:lnTo>
                    <a:pt x="3450336" y="1630680"/>
                  </a:lnTo>
                  <a:lnTo>
                    <a:pt x="3509772" y="1627632"/>
                  </a:lnTo>
                  <a:lnTo>
                    <a:pt x="3567684" y="1623060"/>
                  </a:lnTo>
                  <a:lnTo>
                    <a:pt x="3625596" y="1620012"/>
                  </a:lnTo>
                  <a:lnTo>
                    <a:pt x="3790188" y="1606296"/>
                  </a:lnTo>
                  <a:lnTo>
                    <a:pt x="3893820" y="1594104"/>
                  </a:lnTo>
                  <a:lnTo>
                    <a:pt x="3944112" y="1589532"/>
                  </a:lnTo>
                  <a:lnTo>
                    <a:pt x="3991356" y="1583436"/>
                  </a:lnTo>
                  <a:lnTo>
                    <a:pt x="4035552" y="1575816"/>
                  </a:lnTo>
                  <a:lnTo>
                    <a:pt x="4101084" y="1566672"/>
                  </a:lnTo>
                  <a:lnTo>
                    <a:pt x="4120896" y="1562100"/>
                  </a:lnTo>
                  <a:lnTo>
                    <a:pt x="4160520" y="1556004"/>
                  </a:lnTo>
                  <a:lnTo>
                    <a:pt x="4178808" y="1551432"/>
                  </a:lnTo>
                  <a:lnTo>
                    <a:pt x="4197096" y="1548384"/>
                  </a:lnTo>
                  <a:lnTo>
                    <a:pt x="4213860" y="1543812"/>
                  </a:lnTo>
                  <a:lnTo>
                    <a:pt x="4230624" y="1540764"/>
                  </a:lnTo>
                  <a:lnTo>
                    <a:pt x="4245864" y="1536192"/>
                  </a:lnTo>
                  <a:lnTo>
                    <a:pt x="4261104" y="1533144"/>
                  </a:lnTo>
                  <a:lnTo>
                    <a:pt x="4276344" y="1528572"/>
                  </a:lnTo>
                  <a:lnTo>
                    <a:pt x="4290060" y="1525524"/>
                  </a:lnTo>
                  <a:lnTo>
                    <a:pt x="4303776" y="1520952"/>
                  </a:lnTo>
                  <a:lnTo>
                    <a:pt x="4315968" y="1517904"/>
                  </a:lnTo>
                  <a:lnTo>
                    <a:pt x="4328160" y="1513332"/>
                  </a:lnTo>
                  <a:lnTo>
                    <a:pt x="4338828" y="1508760"/>
                  </a:lnTo>
                  <a:lnTo>
                    <a:pt x="4349496" y="1505712"/>
                  </a:lnTo>
                  <a:lnTo>
                    <a:pt x="4349496" y="1504188"/>
                  </a:lnTo>
                  <a:lnTo>
                    <a:pt x="4357751" y="1498942"/>
                  </a:lnTo>
                  <a:lnTo>
                    <a:pt x="4376928" y="1520952"/>
                  </a:lnTo>
                  <a:lnTo>
                    <a:pt x="4390174" y="1487424"/>
                  </a:lnTo>
                  <a:lnTo>
                    <a:pt x="4402836" y="1455420"/>
                  </a:lnTo>
                  <a:lnTo>
                    <a:pt x="4335780" y="1473708"/>
                  </a:lnTo>
                  <a:lnTo>
                    <a:pt x="4352696" y="1493151"/>
                  </a:lnTo>
                  <a:lnTo>
                    <a:pt x="4344924" y="1498092"/>
                  </a:lnTo>
                  <a:lnTo>
                    <a:pt x="4346448" y="1498092"/>
                  </a:lnTo>
                  <a:lnTo>
                    <a:pt x="4335780" y="1501140"/>
                  </a:lnTo>
                  <a:lnTo>
                    <a:pt x="4314444" y="1510284"/>
                  </a:lnTo>
                  <a:lnTo>
                    <a:pt x="4300728" y="1513332"/>
                  </a:lnTo>
                  <a:lnTo>
                    <a:pt x="4288536" y="1517904"/>
                  </a:lnTo>
                  <a:lnTo>
                    <a:pt x="4274820" y="1520952"/>
                  </a:lnTo>
                  <a:lnTo>
                    <a:pt x="4259580" y="1525524"/>
                  </a:lnTo>
                  <a:lnTo>
                    <a:pt x="4244340" y="1528572"/>
                  </a:lnTo>
                  <a:lnTo>
                    <a:pt x="4229100" y="1533144"/>
                  </a:lnTo>
                  <a:lnTo>
                    <a:pt x="4212336" y="1536192"/>
                  </a:lnTo>
                  <a:lnTo>
                    <a:pt x="4195572" y="1540764"/>
                  </a:lnTo>
                  <a:lnTo>
                    <a:pt x="4177284" y="1543812"/>
                  </a:lnTo>
                  <a:lnTo>
                    <a:pt x="4158996" y="1548384"/>
                  </a:lnTo>
                  <a:lnTo>
                    <a:pt x="4119372" y="1554480"/>
                  </a:lnTo>
                  <a:lnTo>
                    <a:pt x="4099560" y="1559052"/>
                  </a:lnTo>
                  <a:lnTo>
                    <a:pt x="3942588" y="1580388"/>
                  </a:lnTo>
                  <a:lnTo>
                    <a:pt x="3842004" y="1592580"/>
                  </a:lnTo>
                  <a:lnTo>
                    <a:pt x="3790188" y="1597152"/>
                  </a:lnTo>
                  <a:lnTo>
                    <a:pt x="3736848" y="1603248"/>
                  </a:lnTo>
                  <a:lnTo>
                    <a:pt x="3624072" y="1612392"/>
                  </a:lnTo>
                  <a:lnTo>
                    <a:pt x="3328416" y="1627632"/>
                  </a:lnTo>
                  <a:lnTo>
                    <a:pt x="3271037" y="1629067"/>
                  </a:lnTo>
                  <a:lnTo>
                    <a:pt x="3194304" y="1627632"/>
                  </a:lnTo>
                  <a:lnTo>
                    <a:pt x="3032760" y="1621459"/>
                  </a:lnTo>
                  <a:lnTo>
                    <a:pt x="3032760" y="1630680"/>
                  </a:lnTo>
                  <a:lnTo>
                    <a:pt x="2959608" y="1630680"/>
                  </a:lnTo>
                  <a:lnTo>
                    <a:pt x="2905379" y="1629346"/>
                  </a:lnTo>
                  <a:lnTo>
                    <a:pt x="2927604" y="1627632"/>
                  </a:lnTo>
                  <a:lnTo>
                    <a:pt x="2938208" y="1626362"/>
                  </a:lnTo>
                  <a:lnTo>
                    <a:pt x="3032760" y="1630680"/>
                  </a:lnTo>
                  <a:lnTo>
                    <a:pt x="3032760" y="1621459"/>
                  </a:lnTo>
                  <a:lnTo>
                    <a:pt x="3001022" y="1620240"/>
                  </a:lnTo>
                  <a:lnTo>
                    <a:pt x="3003804" y="1620012"/>
                  </a:lnTo>
                  <a:lnTo>
                    <a:pt x="3115056" y="1606296"/>
                  </a:lnTo>
                  <a:lnTo>
                    <a:pt x="3183636" y="1594104"/>
                  </a:lnTo>
                  <a:lnTo>
                    <a:pt x="3217164" y="1589532"/>
                  </a:lnTo>
                  <a:lnTo>
                    <a:pt x="3249168" y="1583436"/>
                  </a:lnTo>
                  <a:lnTo>
                    <a:pt x="3278124" y="1575816"/>
                  </a:lnTo>
                  <a:lnTo>
                    <a:pt x="3307080" y="1569720"/>
                  </a:lnTo>
                  <a:lnTo>
                    <a:pt x="3334512" y="1562100"/>
                  </a:lnTo>
                  <a:lnTo>
                    <a:pt x="3361944" y="1556004"/>
                  </a:lnTo>
                  <a:lnTo>
                    <a:pt x="3386328" y="1548384"/>
                  </a:lnTo>
                  <a:lnTo>
                    <a:pt x="3429000" y="1533144"/>
                  </a:lnTo>
                  <a:lnTo>
                    <a:pt x="3448812" y="1525524"/>
                  </a:lnTo>
                  <a:lnTo>
                    <a:pt x="3465576" y="1516380"/>
                  </a:lnTo>
                  <a:lnTo>
                    <a:pt x="3480816" y="1508760"/>
                  </a:lnTo>
                  <a:lnTo>
                    <a:pt x="3482340" y="1508760"/>
                  </a:lnTo>
                  <a:lnTo>
                    <a:pt x="3484981" y="1505673"/>
                  </a:lnTo>
                  <a:lnTo>
                    <a:pt x="3506724" y="1524000"/>
                  </a:lnTo>
                  <a:lnTo>
                    <a:pt x="3513493" y="1493520"/>
                  </a:lnTo>
                  <a:lnTo>
                    <a:pt x="3521964" y="1455420"/>
                  </a:lnTo>
                  <a:lnTo>
                    <a:pt x="3457956" y="1482852"/>
                  </a:lnTo>
                  <a:lnTo>
                    <a:pt x="3478619" y="1500289"/>
                  </a:lnTo>
                  <a:lnTo>
                    <a:pt x="3476244" y="1502664"/>
                  </a:lnTo>
                  <a:lnTo>
                    <a:pt x="3477768" y="1502664"/>
                  </a:lnTo>
                  <a:lnTo>
                    <a:pt x="3406140" y="1533144"/>
                  </a:lnTo>
                  <a:lnTo>
                    <a:pt x="3358896" y="1548384"/>
                  </a:lnTo>
                  <a:lnTo>
                    <a:pt x="3332988" y="1554480"/>
                  </a:lnTo>
                  <a:lnTo>
                    <a:pt x="3305556" y="1562100"/>
                  </a:lnTo>
                  <a:lnTo>
                    <a:pt x="3247644" y="1574292"/>
                  </a:lnTo>
                  <a:lnTo>
                    <a:pt x="3215640" y="1581912"/>
                  </a:lnTo>
                  <a:lnTo>
                    <a:pt x="3182112" y="1586484"/>
                  </a:lnTo>
                  <a:lnTo>
                    <a:pt x="3113532" y="1598676"/>
                  </a:lnTo>
                  <a:lnTo>
                    <a:pt x="3003804" y="1612392"/>
                  </a:lnTo>
                  <a:lnTo>
                    <a:pt x="2935173" y="1617726"/>
                  </a:lnTo>
                  <a:lnTo>
                    <a:pt x="2875788" y="1615440"/>
                  </a:lnTo>
                  <a:lnTo>
                    <a:pt x="2866136" y="1614868"/>
                  </a:lnTo>
                  <a:lnTo>
                    <a:pt x="2866136" y="1623072"/>
                  </a:lnTo>
                  <a:lnTo>
                    <a:pt x="2818727" y="1626743"/>
                  </a:lnTo>
                  <a:lnTo>
                    <a:pt x="2715768" y="1621472"/>
                  </a:lnTo>
                  <a:lnTo>
                    <a:pt x="2715768" y="1630680"/>
                  </a:lnTo>
                  <a:lnTo>
                    <a:pt x="2560320" y="1630680"/>
                  </a:lnTo>
                  <a:lnTo>
                    <a:pt x="2478024" y="1627632"/>
                  </a:lnTo>
                  <a:lnTo>
                    <a:pt x="2319528" y="1615440"/>
                  </a:lnTo>
                  <a:lnTo>
                    <a:pt x="2281428" y="1610868"/>
                  </a:lnTo>
                  <a:lnTo>
                    <a:pt x="2243328" y="1607820"/>
                  </a:lnTo>
                  <a:lnTo>
                    <a:pt x="2206752" y="1603248"/>
                  </a:lnTo>
                  <a:lnTo>
                    <a:pt x="2171700" y="1597152"/>
                  </a:lnTo>
                  <a:lnTo>
                    <a:pt x="2136648" y="1592580"/>
                  </a:lnTo>
                  <a:lnTo>
                    <a:pt x="2037588" y="1574292"/>
                  </a:lnTo>
                  <a:lnTo>
                    <a:pt x="1979676" y="1562100"/>
                  </a:lnTo>
                  <a:lnTo>
                    <a:pt x="1926336" y="1546860"/>
                  </a:lnTo>
                  <a:lnTo>
                    <a:pt x="1901952" y="1539240"/>
                  </a:lnTo>
                  <a:lnTo>
                    <a:pt x="1879092" y="1533144"/>
                  </a:lnTo>
                  <a:lnTo>
                    <a:pt x="1822704" y="1508760"/>
                  </a:lnTo>
                  <a:lnTo>
                    <a:pt x="1794078" y="1492504"/>
                  </a:lnTo>
                  <a:lnTo>
                    <a:pt x="1805940" y="1499616"/>
                  </a:lnTo>
                  <a:lnTo>
                    <a:pt x="1816608" y="1504188"/>
                  </a:lnTo>
                  <a:lnTo>
                    <a:pt x="1825752" y="1508760"/>
                  </a:lnTo>
                  <a:lnTo>
                    <a:pt x="1837944" y="1511808"/>
                  </a:lnTo>
                  <a:lnTo>
                    <a:pt x="1848612" y="1516380"/>
                  </a:lnTo>
                  <a:lnTo>
                    <a:pt x="1862328" y="1520952"/>
                  </a:lnTo>
                  <a:lnTo>
                    <a:pt x="1874520" y="1524000"/>
                  </a:lnTo>
                  <a:lnTo>
                    <a:pt x="1888236" y="1528572"/>
                  </a:lnTo>
                  <a:lnTo>
                    <a:pt x="1903476" y="1531620"/>
                  </a:lnTo>
                  <a:lnTo>
                    <a:pt x="1918716" y="1536192"/>
                  </a:lnTo>
                  <a:lnTo>
                    <a:pt x="1935480" y="1539240"/>
                  </a:lnTo>
                  <a:lnTo>
                    <a:pt x="1950720" y="1543812"/>
                  </a:lnTo>
                  <a:lnTo>
                    <a:pt x="1969008" y="1546860"/>
                  </a:lnTo>
                  <a:lnTo>
                    <a:pt x="1987296" y="1551432"/>
                  </a:lnTo>
                  <a:lnTo>
                    <a:pt x="2005584" y="1554480"/>
                  </a:lnTo>
                  <a:lnTo>
                    <a:pt x="2023872" y="1559052"/>
                  </a:lnTo>
                  <a:lnTo>
                    <a:pt x="2043684" y="1562100"/>
                  </a:lnTo>
                  <a:lnTo>
                    <a:pt x="2065020" y="1565148"/>
                  </a:lnTo>
                  <a:lnTo>
                    <a:pt x="2086356" y="1569720"/>
                  </a:lnTo>
                  <a:lnTo>
                    <a:pt x="2270760" y="1594104"/>
                  </a:lnTo>
                  <a:lnTo>
                    <a:pt x="2322576" y="1600200"/>
                  </a:lnTo>
                  <a:lnTo>
                    <a:pt x="2374392" y="1604772"/>
                  </a:lnTo>
                  <a:lnTo>
                    <a:pt x="2427732" y="1610868"/>
                  </a:lnTo>
                  <a:lnTo>
                    <a:pt x="2540508" y="1620012"/>
                  </a:lnTo>
                  <a:lnTo>
                    <a:pt x="2596896" y="1623060"/>
                  </a:lnTo>
                  <a:lnTo>
                    <a:pt x="2656332" y="1627632"/>
                  </a:lnTo>
                  <a:lnTo>
                    <a:pt x="2715768" y="1630680"/>
                  </a:lnTo>
                  <a:lnTo>
                    <a:pt x="2715768" y="1621472"/>
                  </a:lnTo>
                  <a:lnTo>
                    <a:pt x="2598420" y="1615440"/>
                  </a:lnTo>
                  <a:lnTo>
                    <a:pt x="2540508" y="1610868"/>
                  </a:lnTo>
                  <a:lnTo>
                    <a:pt x="2484120" y="1607820"/>
                  </a:lnTo>
                  <a:lnTo>
                    <a:pt x="2429256" y="1603248"/>
                  </a:lnTo>
                  <a:lnTo>
                    <a:pt x="2375916" y="1597152"/>
                  </a:lnTo>
                  <a:lnTo>
                    <a:pt x="2322576" y="1592580"/>
                  </a:lnTo>
                  <a:lnTo>
                    <a:pt x="2086356" y="1562100"/>
                  </a:lnTo>
                  <a:lnTo>
                    <a:pt x="2066544" y="1557528"/>
                  </a:lnTo>
                  <a:lnTo>
                    <a:pt x="2045208" y="1554480"/>
                  </a:lnTo>
                  <a:lnTo>
                    <a:pt x="2025396" y="1551432"/>
                  </a:lnTo>
                  <a:lnTo>
                    <a:pt x="2007108" y="1546860"/>
                  </a:lnTo>
                  <a:lnTo>
                    <a:pt x="1988820" y="1543812"/>
                  </a:lnTo>
                  <a:lnTo>
                    <a:pt x="1970532" y="1539240"/>
                  </a:lnTo>
                  <a:lnTo>
                    <a:pt x="1953768" y="1536192"/>
                  </a:lnTo>
                  <a:lnTo>
                    <a:pt x="1937004" y="1531620"/>
                  </a:lnTo>
                  <a:lnTo>
                    <a:pt x="1920240" y="1528572"/>
                  </a:lnTo>
                  <a:lnTo>
                    <a:pt x="1905000" y="1524000"/>
                  </a:lnTo>
                  <a:lnTo>
                    <a:pt x="1891284" y="1520952"/>
                  </a:lnTo>
                  <a:lnTo>
                    <a:pt x="1877568" y="1516380"/>
                  </a:lnTo>
                  <a:lnTo>
                    <a:pt x="1863852" y="1513332"/>
                  </a:lnTo>
                  <a:lnTo>
                    <a:pt x="1857756" y="1511046"/>
                  </a:lnTo>
                  <a:lnTo>
                    <a:pt x="1879092" y="1516380"/>
                  </a:lnTo>
                  <a:lnTo>
                    <a:pt x="1912620" y="1524000"/>
                  </a:lnTo>
                  <a:lnTo>
                    <a:pt x="1950720" y="1531620"/>
                  </a:lnTo>
                  <a:lnTo>
                    <a:pt x="1993392" y="1540764"/>
                  </a:lnTo>
                  <a:lnTo>
                    <a:pt x="2037588" y="1546860"/>
                  </a:lnTo>
                  <a:lnTo>
                    <a:pt x="2138172" y="1562100"/>
                  </a:lnTo>
                  <a:lnTo>
                    <a:pt x="2193036" y="1569720"/>
                  </a:lnTo>
                  <a:lnTo>
                    <a:pt x="2578608" y="1606296"/>
                  </a:lnTo>
                  <a:lnTo>
                    <a:pt x="2799588" y="1620024"/>
                  </a:lnTo>
                  <a:lnTo>
                    <a:pt x="2866136" y="1623072"/>
                  </a:lnTo>
                  <a:lnTo>
                    <a:pt x="2866136" y="1614868"/>
                  </a:lnTo>
                  <a:lnTo>
                    <a:pt x="2799588" y="1610868"/>
                  </a:lnTo>
                  <a:lnTo>
                    <a:pt x="2724912" y="1607820"/>
                  </a:lnTo>
                  <a:lnTo>
                    <a:pt x="2651760" y="1603248"/>
                  </a:lnTo>
                  <a:lnTo>
                    <a:pt x="2578608" y="1597152"/>
                  </a:lnTo>
                  <a:lnTo>
                    <a:pt x="2510028" y="1592580"/>
                  </a:lnTo>
                  <a:lnTo>
                    <a:pt x="2252472" y="1568196"/>
                  </a:lnTo>
                  <a:lnTo>
                    <a:pt x="2194560" y="1560576"/>
                  </a:lnTo>
                  <a:lnTo>
                    <a:pt x="2139696" y="1554480"/>
                  </a:lnTo>
                  <a:lnTo>
                    <a:pt x="2039112" y="1539240"/>
                  </a:lnTo>
                  <a:lnTo>
                    <a:pt x="1952244" y="1524000"/>
                  </a:lnTo>
                  <a:lnTo>
                    <a:pt x="1914144" y="1516380"/>
                  </a:lnTo>
                  <a:lnTo>
                    <a:pt x="1850136" y="1501140"/>
                  </a:lnTo>
                  <a:lnTo>
                    <a:pt x="1825752" y="1491996"/>
                  </a:lnTo>
                  <a:lnTo>
                    <a:pt x="1804416" y="1484376"/>
                  </a:lnTo>
                  <a:lnTo>
                    <a:pt x="1787652" y="1476756"/>
                  </a:lnTo>
                  <a:lnTo>
                    <a:pt x="1777492" y="1469136"/>
                  </a:lnTo>
                  <a:lnTo>
                    <a:pt x="1775460" y="1467612"/>
                  </a:lnTo>
                  <a:lnTo>
                    <a:pt x="1775460" y="1469136"/>
                  </a:lnTo>
                  <a:lnTo>
                    <a:pt x="1767840" y="1459992"/>
                  </a:lnTo>
                  <a:lnTo>
                    <a:pt x="1769364" y="1461516"/>
                  </a:lnTo>
                  <a:lnTo>
                    <a:pt x="1768856" y="1459992"/>
                  </a:lnTo>
                  <a:lnTo>
                    <a:pt x="1766316" y="1452372"/>
                  </a:lnTo>
                  <a:lnTo>
                    <a:pt x="1762506" y="1453896"/>
                  </a:lnTo>
                  <a:lnTo>
                    <a:pt x="1758696" y="1453896"/>
                  </a:lnTo>
                  <a:lnTo>
                    <a:pt x="1758696" y="1455420"/>
                  </a:lnTo>
                  <a:lnTo>
                    <a:pt x="1758696" y="1458468"/>
                  </a:lnTo>
                  <a:lnTo>
                    <a:pt x="1758696" y="1459992"/>
                  </a:lnTo>
                  <a:lnTo>
                    <a:pt x="1760220" y="1464564"/>
                  </a:lnTo>
                  <a:lnTo>
                    <a:pt x="1761744" y="1467612"/>
                  </a:lnTo>
                  <a:lnTo>
                    <a:pt x="1764792" y="1472184"/>
                  </a:lnTo>
                  <a:lnTo>
                    <a:pt x="1766316" y="1476756"/>
                  </a:lnTo>
                  <a:lnTo>
                    <a:pt x="1780032" y="1490472"/>
                  </a:lnTo>
                  <a:lnTo>
                    <a:pt x="1790700" y="1499616"/>
                  </a:lnTo>
                  <a:lnTo>
                    <a:pt x="1804416" y="1507236"/>
                  </a:lnTo>
                  <a:lnTo>
                    <a:pt x="1819656" y="1516380"/>
                  </a:lnTo>
                  <a:lnTo>
                    <a:pt x="1876044" y="1539240"/>
                  </a:lnTo>
                  <a:lnTo>
                    <a:pt x="1923288" y="1554480"/>
                  </a:lnTo>
                  <a:lnTo>
                    <a:pt x="1976628" y="1569720"/>
                  </a:lnTo>
                  <a:lnTo>
                    <a:pt x="2068068" y="1588008"/>
                  </a:lnTo>
                  <a:lnTo>
                    <a:pt x="2135124" y="1600200"/>
                  </a:lnTo>
                  <a:lnTo>
                    <a:pt x="2170176" y="1604772"/>
                  </a:lnTo>
                  <a:lnTo>
                    <a:pt x="2206752" y="1610868"/>
                  </a:lnTo>
                  <a:lnTo>
                    <a:pt x="2279904" y="1620012"/>
                  </a:lnTo>
                  <a:lnTo>
                    <a:pt x="2357628" y="1626108"/>
                  </a:lnTo>
                  <a:lnTo>
                    <a:pt x="2397252" y="1630680"/>
                  </a:lnTo>
                  <a:lnTo>
                    <a:pt x="2478024" y="1635252"/>
                  </a:lnTo>
                  <a:lnTo>
                    <a:pt x="2560320" y="1638300"/>
                  </a:lnTo>
                  <a:lnTo>
                    <a:pt x="2724912" y="1638300"/>
                  </a:lnTo>
                  <a:lnTo>
                    <a:pt x="2807208" y="1635252"/>
                  </a:lnTo>
                  <a:lnTo>
                    <a:pt x="2820784" y="1634490"/>
                  </a:lnTo>
                  <a:lnTo>
                    <a:pt x="2836164" y="1635252"/>
                  </a:lnTo>
                  <a:lnTo>
                    <a:pt x="2958084" y="1638300"/>
                  </a:lnTo>
                  <a:lnTo>
                    <a:pt x="3206496" y="1638300"/>
                  </a:lnTo>
                  <a:lnTo>
                    <a:pt x="3279356" y="1636483"/>
                  </a:lnTo>
                  <a:lnTo>
                    <a:pt x="3357372" y="1638312"/>
                  </a:lnTo>
                  <a:lnTo>
                    <a:pt x="3688080" y="1638312"/>
                  </a:lnTo>
                  <a:lnTo>
                    <a:pt x="4012692" y="1630680"/>
                  </a:lnTo>
                  <a:lnTo>
                    <a:pt x="4245864" y="1620024"/>
                  </a:lnTo>
                  <a:lnTo>
                    <a:pt x="4466844" y="1606296"/>
                  </a:lnTo>
                  <a:lnTo>
                    <a:pt x="4604004" y="1594104"/>
                  </a:lnTo>
                  <a:lnTo>
                    <a:pt x="4669536" y="1589532"/>
                  </a:lnTo>
                  <a:lnTo>
                    <a:pt x="4733544" y="1583436"/>
                  </a:lnTo>
                  <a:lnTo>
                    <a:pt x="4794504" y="1575816"/>
                  </a:lnTo>
                  <a:lnTo>
                    <a:pt x="4852416" y="1569720"/>
                  </a:lnTo>
                  <a:lnTo>
                    <a:pt x="4907280" y="1562100"/>
                  </a:lnTo>
                  <a:lnTo>
                    <a:pt x="4959096" y="1556004"/>
                  </a:lnTo>
                  <a:lnTo>
                    <a:pt x="5007864" y="1548384"/>
                  </a:lnTo>
                  <a:lnTo>
                    <a:pt x="5094732" y="1533144"/>
                  </a:lnTo>
                  <a:lnTo>
                    <a:pt x="5132832" y="1525524"/>
                  </a:lnTo>
                  <a:lnTo>
                    <a:pt x="5166360" y="1517904"/>
                  </a:lnTo>
                  <a:lnTo>
                    <a:pt x="5222748" y="1501140"/>
                  </a:lnTo>
                  <a:lnTo>
                    <a:pt x="5224272" y="1501140"/>
                  </a:lnTo>
                  <a:lnTo>
                    <a:pt x="5234483" y="1495183"/>
                  </a:lnTo>
                  <a:lnTo>
                    <a:pt x="5251704" y="1517904"/>
                  </a:lnTo>
                  <a:lnTo>
                    <a:pt x="5268798" y="1482852"/>
                  </a:lnTo>
                  <a:lnTo>
                    <a:pt x="5282184" y="145542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3" name="object 43" descr=""/>
          <p:cNvSpPr txBox="1"/>
          <p:nvPr/>
        </p:nvSpPr>
        <p:spPr>
          <a:xfrm>
            <a:off x="3826220" y="6231039"/>
            <a:ext cx="836930" cy="3276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950">
                <a:solidFill>
                  <a:srgbClr val="ED7C31"/>
                </a:solidFill>
                <a:latin typeface="Arial MT"/>
                <a:cs typeface="Arial MT"/>
              </a:rPr>
              <a:t>Level</a:t>
            </a:r>
            <a:r>
              <a:rPr dirty="0" sz="1950" spc="40">
                <a:solidFill>
                  <a:srgbClr val="ED7C31"/>
                </a:solidFill>
                <a:latin typeface="Arial MT"/>
                <a:cs typeface="Arial MT"/>
              </a:rPr>
              <a:t> </a:t>
            </a:r>
            <a:r>
              <a:rPr dirty="0" sz="1950" spc="-50">
                <a:solidFill>
                  <a:srgbClr val="ED7C31"/>
                </a:solidFill>
                <a:latin typeface="Arial MT"/>
                <a:cs typeface="Arial MT"/>
              </a:rPr>
              <a:t>0</a:t>
            </a:r>
            <a:endParaRPr sz="1950">
              <a:latin typeface="Arial MT"/>
              <a:cs typeface="Arial MT"/>
            </a:endParaRPr>
          </a:p>
        </p:txBody>
      </p:sp>
      <p:sp>
        <p:nvSpPr>
          <p:cNvPr id="44" name="object 44" descr=""/>
          <p:cNvSpPr txBox="1"/>
          <p:nvPr/>
        </p:nvSpPr>
        <p:spPr>
          <a:xfrm>
            <a:off x="5722219" y="6231039"/>
            <a:ext cx="836930" cy="3276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950">
                <a:solidFill>
                  <a:srgbClr val="ED7C31"/>
                </a:solidFill>
                <a:latin typeface="Arial MT"/>
                <a:cs typeface="Arial MT"/>
              </a:rPr>
              <a:t>Level</a:t>
            </a:r>
            <a:r>
              <a:rPr dirty="0" sz="1950" spc="35">
                <a:solidFill>
                  <a:srgbClr val="ED7C31"/>
                </a:solidFill>
                <a:latin typeface="Arial MT"/>
                <a:cs typeface="Arial MT"/>
              </a:rPr>
              <a:t> </a:t>
            </a:r>
            <a:r>
              <a:rPr dirty="0" sz="1950" spc="-50">
                <a:solidFill>
                  <a:srgbClr val="ED7C31"/>
                </a:solidFill>
                <a:latin typeface="Arial MT"/>
                <a:cs typeface="Arial MT"/>
              </a:rPr>
              <a:t>1</a:t>
            </a:r>
            <a:endParaRPr sz="1950">
              <a:latin typeface="Arial MT"/>
              <a:cs typeface="Arial MT"/>
            </a:endParaRPr>
          </a:p>
        </p:txBody>
      </p:sp>
      <p:sp>
        <p:nvSpPr>
          <p:cNvPr id="45" name="object 45" descr=""/>
          <p:cNvSpPr txBox="1"/>
          <p:nvPr/>
        </p:nvSpPr>
        <p:spPr>
          <a:xfrm>
            <a:off x="1733759" y="6231039"/>
            <a:ext cx="1565275" cy="3276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950">
                <a:solidFill>
                  <a:srgbClr val="ED7C31"/>
                </a:solidFill>
                <a:latin typeface="Arial MT"/>
                <a:cs typeface="Arial MT"/>
              </a:rPr>
              <a:t>Context</a:t>
            </a:r>
            <a:r>
              <a:rPr dirty="0" sz="1950" spc="55">
                <a:solidFill>
                  <a:srgbClr val="ED7C31"/>
                </a:solidFill>
                <a:latin typeface="Arial MT"/>
                <a:cs typeface="Arial MT"/>
              </a:rPr>
              <a:t> </a:t>
            </a:r>
            <a:r>
              <a:rPr dirty="0" sz="1950" spc="-20">
                <a:solidFill>
                  <a:srgbClr val="ED7C31"/>
                </a:solidFill>
                <a:latin typeface="Arial MT"/>
                <a:cs typeface="Arial MT"/>
              </a:rPr>
              <a:t>Level</a:t>
            </a:r>
            <a:endParaRPr sz="1950">
              <a:latin typeface="Arial MT"/>
              <a:cs typeface="Arial MT"/>
            </a:endParaRPr>
          </a:p>
        </p:txBody>
      </p:sp>
      <p:grpSp>
        <p:nvGrpSpPr>
          <p:cNvPr id="46" name="object 46" descr=""/>
          <p:cNvGrpSpPr/>
          <p:nvPr/>
        </p:nvGrpSpPr>
        <p:grpSpPr>
          <a:xfrm>
            <a:off x="3512820" y="1687067"/>
            <a:ext cx="1713230" cy="4840605"/>
            <a:chOff x="3512820" y="1687067"/>
            <a:chExt cx="1713230" cy="4840605"/>
          </a:xfrm>
        </p:grpSpPr>
        <p:sp>
          <p:nvSpPr>
            <p:cNvPr id="47" name="object 47" descr=""/>
            <p:cNvSpPr/>
            <p:nvPr/>
          </p:nvSpPr>
          <p:spPr>
            <a:xfrm>
              <a:off x="3512807" y="1687067"/>
              <a:ext cx="1713230" cy="4840605"/>
            </a:xfrm>
            <a:custGeom>
              <a:avLst/>
              <a:gdLst/>
              <a:ahLst/>
              <a:cxnLst/>
              <a:rect l="l" t="t" r="r" b="b"/>
              <a:pathLst>
                <a:path w="1713229" h="4840605">
                  <a:moveTo>
                    <a:pt x="16764" y="4715268"/>
                  </a:moveTo>
                  <a:lnTo>
                    <a:pt x="0" y="4715268"/>
                  </a:lnTo>
                  <a:lnTo>
                    <a:pt x="0" y="4840236"/>
                  </a:lnTo>
                  <a:lnTo>
                    <a:pt x="16764" y="4840236"/>
                  </a:lnTo>
                  <a:lnTo>
                    <a:pt x="16764" y="4715268"/>
                  </a:lnTo>
                  <a:close/>
                </a:path>
                <a:path w="1713229" h="4840605">
                  <a:moveTo>
                    <a:pt x="16764" y="4651260"/>
                  </a:moveTo>
                  <a:lnTo>
                    <a:pt x="0" y="4651260"/>
                  </a:lnTo>
                  <a:lnTo>
                    <a:pt x="0" y="4668024"/>
                  </a:lnTo>
                  <a:lnTo>
                    <a:pt x="16764" y="4668024"/>
                  </a:lnTo>
                  <a:lnTo>
                    <a:pt x="16764" y="4651260"/>
                  </a:lnTo>
                  <a:close/>
                </a:path>
                <a:path w="1713229" h="4840605">
                  <a:moveTo>
                    <a:pt x="16764" y="4479048"/>
                  </a:moveTo>
                  <a:lnTo>
                    <a:pt x="0" y="4479048"/>
                  </a:lnTo>
                  <a:lnTo>
                    <a:pt x="0" y="4605540"/>
                  </a:lnTo>
                  <a:lnTo>
                    <a:pt x="16764" y="4605540"/>
                  </a:lnTo>
                  <a:lnTo>
                    <a:pt x="16764" y="4479048"/>
                  </a:lnTo>
                  <a:close/>
                </a:path>
                <a:path w="1713229" h="4840605">
                  <a:moveTo>
                    <a:pt x="16764" y="4416552"/>
                  </a:moveTo>
                  <a:lnTo>
                    <a:pt x="0" y="4416552"/>
                  </a:lnTo>
                  <a:lnTo>
                    <a:pt x="0" y="4431804"/>
                  </a:lnTo>
                  <a:lnTo>
                    <a:pt x="16764" y="4431804"/>
                  </a:lnTo>
                  <a:lnTo>
                    <a:pt x="16764" y="4416552"/>
                  </a:lnTo>
                  <a:close/>
                </a:path>
                <a:path w="1713229" h="4840605">
                  <a:moveTo>
                    <a:pt x="16764" y="4242828"/>
                  </a:moveTo>
                  <a:lnTo>
                    <a:pt x="0" y="4242828"/>
                  </a:lnTo>
                  <a:lnTo>
                    <a:pt x="0" y="4369320"/>
                  </a:lnTo>
                  <a:lnTo>
                    <a:pt x="16764" y="4369320"/>
                  </a:lnTo>
                  <a:lnTo>
                    <a:pt x="16764" y="4242828"/>
                  </a:lnTo>
                  <a:close/>
                </a:path>
                <a:path w="1713229" h="4840605">
                  <a:moveTo>
                    <a:pt x="16764" y="4180332"/>
                  </a:moveTo>
                  <a:lnTo>
                    <a:pt x="0" y="4180332"/>
                  </a:lnTo>
                  <a:lnTo>
                    <a:pt x="0" y="4195584"/>
                  </a:lnTo>
                  <a:lnTo>
                    <a:pt x="16764" y="4195584"/>
                  </a:lnTo>
                  <a:lnTo>
                    <a:pt x="16764" y="4180332"/>
                  </a:lnTo>
                  <a:close/>
                </a:path>
                <a:path w="1713229" h="4840605">
                  <a:moveTo>
                    <a:pt x="16764" y="4008132"/>
                  </a:moveTo>
                  <a:lnTo>
                    <a:pt x="0" y="4008132"/>
                  </a:lnTo>
                  <a:lnTo>
                    <a:pt x="0" y="4133100"/>
                  </a:lnTo>
                  <a:lnTo>
                    <a:pt x="16764" y="4133100"/>
                  </a:lnTo>
                  <a:lnTo>
                    <a:pt x="16764" y="4008132"/>
                  </a:lnTo>
                  <a:close/>
                </a:path>
                <a:path w="1713229" h="4840605">
                  <a:moveTo>
                    <a:pt x="16764" y="3944124"/>
                  </a:moveTo>
                  <a:lnTo>
                    <a:pt x="0" y="3944124"/>
                  </a:lnTo>
                  <a:lnTo>
                    <a:pt x="0" y="3960888"/>
                  </a:lnTo>
                  <a:lnTo>
                    <a:pt x="16764" y="3960888"/>
                  </a:lnTo>
                  <a:lnTo>
                    <a:pt x="16764" y="3944124"/>
                  </a:lnTo>
                  <a:close/>
                </a:path>
                <a:path w="1713229" h="4840605">
                  <a:moveTo>
                    <a:pt x="16764" y="3771912"/>
                  </a:moveTo>
                  <a:lnTo>
                    <a:pt x="0" y="3771912"/>
                  </a:lnTo>
                  <a:lnTo>
                    <a:pt x="0" y="3896880"/>
                  </a:lnTo>
                  <a:lnTo>
                    <a:pt x="16764" y="3896880"/>
                  </a:lnTo>
                  <a:lnTo>
                    <a:pt x="16764" y="3771912"/>
                  </a:lnTo>
                  <a:close/>
                </a:path>
                <a:path w="1713229" h="4840605">
                  <a:moveTo>
                    <a:pt x="16764" y="3709428"/>
                  </a:moveTo>
                  <a:lnTo>
                    <a:pt x="0" y="3709428"/>
                  </a:lnTo>
                  <a:lnTo>
                    <a:pt x="0" y="3724668"/>
                  </a:lnTo>
                  <a:lnTo>
                    <a:pt x="16764" y="3724668"/>
                  </a:lnTo>
                  <a:lnTo>
                    <a:pt x="16764" y="3709428"/>
                  </a:lnTo>
                  <a:close/>
                </a:path>
                <a:path w="1713229" h="4840605">
                  <a:moveTo>
                    <a:pt x="16764" y="3535692"/>
                  </a:moveTo>
                  <a:lnTo>
                    <a:pt x="0" y="3535692"/>
                  </a:lnTo>
                  <a:lnTo>
                    <a:pt x="0" y="3662184"/>
                  </a:lnTo>
                  <a:lnTo>
                    <a:pt x="16764" y="3662184"/>
                  </a:lnTo>
                  <a:lnTo>
                    <a:pt x="16764" y="3535692"/>
                  </a:lnTo>
                  <a:close/>
                </a:path>
                <a:path w="1713229" h="4840605">
                  <a:moveTo>
                    <a:pt x="16764" y="3473208"/>
                  </a:moveTo>
                  <a:lnTo>
                    <a:pt x="0" y="3473208"/>
                  </a:lnTo>
                  <a:lnTo>
                    <a:pt x="0" y="3488448"/>
                  </a:lnTo>
                  <a:lnTo>
                    <a:pt x="16764" y="3488448"/>
                  </a:lnTo>
                  <a:lnTo>
                    <a:pt x="16764" y="3473208"/>
                  </a:lnTo>
                  <a:close/>
                </a:path>
                <a:path w="1713229" h="4840605">
                  <a:moveTo>
                    <a:pt x="16764" y="3300996"/>
                  </a:moveTo>
                  <a:lnTo>
                    <a:pt x="0" y="3300996"/>
                  </a:lnTo>
                  <a:lnTo>
                    <a:pt x="0" y="3425964"/>
                  </a:lnTo>
                  <a:lnTo>
                    <a:pt x="16764" y="3425964"/>
                  </a:lnTo>
                  <a:lnTo>
                    <a:pt x="16764" y="3300996"/>
                  </a:lnTo>
                  <a:close/>
                </a:path>
                <a:path w="1713229" h="4840605">
                  <a:moveTo>
                    <a:pt x="16764" y="3236988"/>
                  </a:moveTo>
                  <a:lnTo>
                    <a:pt x="0" y="3236988"/>
                  </a:lnTo>
                  <a:lnTo>
                    <a:pt x="0" y="3253752"/>
                  </a:lnTo>
                  <a:lnTo>
                    <a:pt x="16764" y="3253752"/>
                  </a:lnTo>
                  <a:lnTo>
                    <a:pt x="16764" y="3236988"/>
                  </a:lnTo>
                  <a:close/>
                </a:path>
                <a:path w="1713229" h="4840605">
                  <a:moveTo>
                    <a:pt x="16764" y="3064776"/>
                  </a:moveTo>
                  <a:lnTo>
                    <a:pt x="0" y="3064776"/>
                  </a:lnTo>
                  <a:lnTo>
                    <a:pt x="0" y="3189744"/>
                  </a:lnTo>
                  <a:lnTo>
                    <a:pt x="16764" y="3189744"/>
                  </a:lnTo>
                  <a:lnTo>
                    <a:pt x="16764" y="3064776"/>
                  </a:lnTo>
                  <a:close/>
                </a:path>
                <a:path w="1713229" h="4840605">
                  <a:moveTo>
                    <a:pt x="16764" y="3002292"/>
                  </a:moveTo>
                  <a:lnTo>
                    <a:pt x="0" y="3002292"/>
                  </a:lnTo>
                  <a:lnTo>
                    <a:pt x="0" y="3017532"/>
                  </a:lnTo>
                  <a:lnTo>
                    <a:pt x="16764" y="3017532"/>
                  </a:lnTo>
                  <a:lnTo>
                    <a:pt x="16764" y="3002292"/>
                  </a:lnTo>
                  <a:close/>
                </a:path>
                <a:path w="1713229" h="4840605">
                  <a:moveTo>
                    <a:pt x="16764" y="2828556"/>
                  </a:moveTo>
                  <a:lnTo>
                    <a:pt x="0" y="2828556"/>
                  </a:lnTo>
                  <a:lnTo>
                    <a:pt x="0" y="2955048"/>
                  </a:lnTo>
                  <a:lnTo>
                    <a:pt x="16764" y="2955048"/>
                  </a:lnTo>
                  <a:lnTo>
                    <a:pt x="16764" y="2828556"/>
                  </a:lnTo>
                  <a:close/>
                </a:path>
                <a:path w="1713229" h="4840605">
                  <a:moveTo>
                    <a:pt x="16764" y="2766072"/>
                  </a:moveTo>
                  <a:lnTo>
                    <a:pt x="0" y="2766072"/>
                  </a:lnTo>
                  <a:lnTo>
                    <a:pt x="0" y="2781312"/>
                  </a:lnTo>
                  <a:lnTo>
                    <a:pt x="16764" y="2781312"/>
                  </a:lnTo>
                  <a:lnTo>
                    <a:pt x="16764" y="2766072"/>
                  </a:lnTo>
                  <a:close/>
                </a:path>
                <a:path w="1713229" h="4840605">
                  <a:moveTo>
                    <a:pt x="16764" y="2593860"/>
                  </a:moveTo>
                  <a:lnTo>
                    <a:pt x="0" y="2593860"/>
                  </a:lnTo>
                  <a:lnTo>
                    <a:pt x="0" y="2718828"/>
                  </a:lnTo>
                  <a:lnTo>
                    <a:pt x="16764" y="2718828"/>
                  </a:lnTo>
                  <a:lnTo>
                    <a:pt x="16764" y="2593860"/>
                  </a:lnTo>
                  <a:close/>
                </a:path>
                <a:path w="1713229" h="4840605">
                  <a:moveTo>
                    <a:pt x="16764" y="2529852"/>
                  </a:moveTo>
                  <a:lnTo>
                    <a:pt x="0" y="2529852"/>
                  </a:lnTo>
                  <a:lnTo>
                    <a:pt x="0" y="2546616"/>
                  </a:lnTo>
                  <a:lnTo>
                    <a:pt x="16764" y="2546616"/>
                  </a:lnTo>
                  <a:lnTo>
                    <a:pt x="16764" y="2529852"/>
                  </a:lnTo>
                  <a:close/>
                </a:path>
                <a:path w="1713229" h="4840605">
                  <a:moveTo>
                    <a:pt x="16764" y="2357640"/>
                  </a:moveTo>
                  <a:lnTo>
                    <a:pt x="0" y="2357640"/>
                  </a:lnTo>
                  <a:lnTo>
                    <a:pt x="0" y="2482608"/>
                  </a:lnTo>
                  <a:lnTo>
                    <a:pt x="16764" y="2482608"/>
                  </a:lnTo>
                  <a:lnTo>
                    <a:pt x="16764" y="2357640"/>
                  </a:lnTo>
                  <a:close/>
                </a:path>
                <a:path w="1713229" h="4840605">
                  <a:moveTo>
                    <a:pt x="16764" y="2295156"/>
                  </a:moveTo>
                  <a:lnTo>
                    <a:pt x="0" y="2295156"/>
                  </a:lnTo>
                  <a:lnTo>
                    <a:pt x="0" y="2310396"/>
                  </a:lnTo>
                  <a:lnTo>
                    <a:pt x="16764" y="2310396"/>
                  </a:lnTo>
                  <a:lnTo>
                    <a:pt x="16764" y="2295156"/>
                  </a:lnTo>
                  <a:close/>
                </a:path>
                <a:path w="1713229" h="4840605">
                  <a:moveTo>
                    <a:pt x="16764" y="2121420"/>
                  </a:moveTo>
                  <a:lnTo>
                    <a:pt x="0" y="2121420"/>
                  </a:lnTo>
                  <a:lnTo>
                    <a:pt x="0" y="2247912"/>
                  </a:lnTo>
                  <a:lnTo>
                    <a:pt x="16764" y="2247912"/>
                  </a:lnTo>
                  <a:lnTo>
                    <a:pt x="16764" y="2121420"/>
                  </a:lnTo>
                  <a:close/>
                </a:path>
                <a:path w="1713229" h="4840605">
                  <a:moveTo>
                    <a:pt x="16764" y="2058936"/>
                  </a:moveTo>
                  <a:lnTo>
                    <a:pt x="0" y="2058936"/>
                  </a:lnTo>
                  <a:lnTo>
                    <a:pt x="0" y="2074176"/>
                  </a:lnTo>
                  <a:lnTo>
                    <a:pt x="16764" y="2074176"/>
                  </a:lnTo>
                  <a:lnTo>
                    <a:pt x="16764" y="2058936"/>
                  </a:lnTo>
                  <a:close/>
                </a:path>
                <a:path w="1713229" h="4840605">
                  <a:moveTo>
                    <a:pt x="16764" y="1885200"/>
                  </a:moveTo>
                  <a:lnTo>
                    <a:pt x="0" y="1885200"/>
                  </a:lnTo>
                  <a:lnTo>
                    <a:pt x="0" y="2011692"/>
                  </a:lnTo>
                  <a:lnTo>
                    <a:pt x="16764" y="2011692"/>
                  </a:lnTo>
                  <a:lnTo>
                    <a:pt x="16764" y="1885200"/>
                  </a:lnTo>
                  <a:close/>
                </a:path>
                <a:path w="1713229" h="4840605">
                  <a:moveTo>
                    <a:pt x="16764" y="1822716"/>
                  </a:moveTo>
                  <a:lnTo>
                    <a:pt x="0" y="1822716"/>
                  </a:lnTo>
                  <a:lnTo>
                    <a:pt x="0" y="1839480"/>
                  </a:lnTo>
                  <a:lnTo>
                    <a:pt x="16764" y="1839480"/>
                  </a:lnTo>
                  <a:lnTo>
                    <a:pt x="16764" y="1822716"/>
                  </a:lnTo>
                  <a:close/>
                </a:path>
                <a:path w="1713229" h="4840605">
                  <a:moveTo>
                    <a:pt x="16764" y="1650492"/>
                  </a:moveTo>
                  <a:lnTo>
                    <a:pt x="0" y="1650492"/>
                  </a:lnTo>
                  <a:lnTo>
                    <a:pt x="0" y="1775460"/>
                  </a:lnTo>
                  <a:lnTo>
                    <a:pt x="16764" y="1775460"/>
                  </a:lnTo>
                  <a:lnTo>
                    <a:pt x="16764" y="1650492"/>
                  </a:lnTo>
                  <a:close/>
                </a:path>
                <a:path w="1713229" h="4840605">
                  <a:moveTo>
                    <a:pt x="16764" y="1588008"/>
                  </a:moveTo>
                  <a:lnTo>
                    <a:pt x="0" y="1588008"/>
                  </a:lnTo>
                  <a:lnTo>
                    <a:pt x="0" y="1603248"/>
                  </a:lnTo>
                  <a:lnTo>
                    <a:pt x="16764" y="1603248"/>
                  </a:lnTo>
                  <a:lnTo>
                    <a:pt x="16764" y="1588008"/>
                  </a:lnTo>
                  <a:close/>
                </a:path>
                <a:path w="1713229" h="4840605">
                  <a:moveTo>
                    <a:pt x="16764" y="1414272"/>
                  </a:moveTo>
                  <a:lnTo>
                    <a:pt x="0" y="1414272"/>
                  </a:lnTo>
                  <a:lnTo>
                    <a:pt x="0" y="1540764"/>
                  </a:lnTo>
                  <a:lnTo>
                    <a:pt x="16764" y="1540764"/>
                  </a:lnTo>
                  <a:lnTo>
                    <a:pt x="16764" y="1414272"/>
                  </a:lnTo>
                  <a:close/>
                </a:path>
                <a:path w="1713229" h="4840605">
                  <a:moveTo>
                    <a:pt x="16764" y="1351788"/>
                  </a:moveTo>
                  <a:lnTo>
                    <a:pt x="0" y="1351788"/>
                  </a:lnTo>
                  <a:lnTo>
                    <a:pt x="0" y="1367028"/>
                  </a:lnTo>
                  <a:lnTo>
                    <a:pt x="16764" y="1367028"/>
                  </a:lnTo>
                  <a:lnTo>
                    <a:pt x="16764" y="1351788"/>
                  </a:lnTo>
                  <a:close/>
                </a:path>
                <a:path w="1713229" h="4840605">
                  <a:moveTo>
                    <a:pt x="16764" y="1178052"/>
                  </a:moveTo>
                  <a:lnTo>
                    <a:pt x="0" y="1178052"/>
                  </a:lnTo>
                  <a:lnTo>
                    <a:pt x="0" y="1304544"/>
                  </a:lnTo>
                  <a:lnTo>
                    <a:pt x="16764" y="1304544"/>
                  </a:lnTo>
                  <a:lnTo>
                    <a:pt x="16764" y="1178052"/>
                  </a:lnTo>
                  <a:close/>
                </a:path>
                <a:path w="1713229" h="4840605">
                  <a:moveTo>
                    <a:pt x="16764" y="1115580"/>
                  </a:moveTo>
                  <a:lnTo>
                    <a:pt x="0" y="1115580"/>
                  </a:lnTo>
                  <a:lnTo>
                    <a:pt x="0" y="1130820"/>
                  </a:lnTo>
                  <a:lnTo>
                    <a:pt x="16764" y="1130820"/>
                  </a:lnTo>
                  <a:lnTo>
                    <a:pt x="16764" y="1115580"/>
                  </a:lnTo>
                  <a:close/>
                </a:path>
                <a:path w="1713229" h="4840605">
                  <a:moveTo>
                    <a:pt x="16764" y="943368"/>
                  </a:moveTo>
                  <a:lnTo>
                    <a:pt x="0" y="943368"/>
                  </a:lnTo>
                  <a:lnTo>
                    <a:pt x="0" y="1068336"/>
                  </a:lnTo>
                  <a:lnTo>
                    <a:pt x="16764" y="1068336"/>
                  </a:lnTo>
                  <a:lnTo>
                    <a:pt x="16764" y="943368"/>
                  </a:lnTo>
                  <a:close/>
                </a:path>
                <a:path w="1713229" h="4840605">
                  <a:moveTo>
                    <a:pt x="16764" y="879360"/>
                  </a:moveTo>
                  <a:lnTo>
                    <a:pt x="0" y="879360"/>
                  </a:lnTo>
                  <a:lnTo>
                    <a:pt x="0" y="896124"/>
                  </a:lnTo>
                  <a:lnTo>
                    <a:pt x="16764" y="896124"/>
                  </a:lnTo>
                  <a:lnTo>
                    <a:pt x="16764" y="879360"/>
                  </a:lnTo>
                  <a:close/>
                </a:path>
                <a:path w="1713229" h="4840605">
                  <a:moveTo>
                    <a:pt x="16764" y="707148"/>
                  </a:moveTo>
                  <a:lnTo>
                    <a:pt x="0" y="707148"/>
                  </a:lnTo>
                  <a:lnTo>
                    <a:pt x="0" y="833640"/>
                  </a:lnTo>
                  <a:lnTo>
                    <a:pt x="16764" y="833640"/>
                  </a:lnTo>
                  <a:lnTo>
                    <a:pt x="16764" y="707148"/>
                  </a:lnTo>
                  <a:close/>
                </a:path>
                <a:path w="1713229" h="4840605">
                  <a:moveTo>
                    <a:pt x="16764" y="644664"/>
                  </a:moveTo>
                  <a:lnTo>
                    <a:pt x="0" y="644664"/>
                  </a:lnTo>
                  <a:lnTo>
                    <a:pt x="0" y="659904"/>
                  </a:lnTo>
                  <a:lnTo>
                    <a:pt x="16764" y="659904"/>
                  </a:lnTo>
                  <a:lnTo>
                    <a:pt x="16764" y="644664"/>
                  </a:lnTo>
                  <a:close/>
                </a:path>
                <a:path w="1713229" h="4840605">
                  <a:moveTo>
                    <a:pt x="16764" y="470916"/>
                  </a:moveTo>
                  <a:lnTo>
                    <a:pt x="0" y="470916"/>
                  </a:lnTo>
                  <a:lnTo>
                    <a:pt x="0" y="597408"/>
                  </a:lnTo>
                  <a:lnTo>
                    <a:pt x="16764" y="597408"/>
                  </a:lnTo>
                  <a:lnTo>
                    <a:pt x="16764" y="470916"/>
                  </a:lnTo>
                  <a:close/>
                </a:path>
                <a:path w="1713229" h="4840605">
                  <a:moveTo>
                    <a:pt x="16764" y="408432"/>
                  </a:moveTo>
                  <a:lnTo>
                    <a:pt x="0" y="408432"/>
                  </a:lnTo>
                  <a:lnTo>
                    <a:pt x="0" y="423672"/>
                  </a:lnTo>
                  <a:lnTo>
                    <a:pt x="16764" y="423672"/>
                  </a:lnTo>
                  <a:lnTo>
                    <a:pt x="16764" y="408432"/>
                  </a:lnTo>
                  <a:close/>
                </a:path>
                <a:path w="1713229" h="4840605">
                  <a:moveTo>
                    <a:pt x="16764" y="236220"/>
                  </a:moveTo>
                  <a:lnTo>
                    <a:pt x="0" y="236220"/>
                  </a:lnTo>
                  <a:lnTo>
                    <a:pt x="0" y="361188"/>
                  </a:lnTo>
                  <a:lnTo>
                    <a:pt x="16764" y="361188"/>
                  </a:lnTo>
                  <a:lnTo>
                    <a:pt x="16764" y="236220"/>
                  </a:lnTo>
                  <a:close/>
                </a:path>
                <a:path w="1713229" h="4840605">
                  <a:moveTo>
                    <a:pt x="16764" y="172212"/>
                  </a:moveTo>
                  <a:lnTo>
                    <a:pt x="0" y="172212"/>
                  </a:lnTo>
                  <a:lnTo>
                    <a:pt x="0" y="188976"/>
                  </a:lnTo>
                  <a:lnTo>
                    <a:pt x="16764" y="188976"/>
                  </a:lnTo>
                  <a:lnTo>
                    <a:pt x="16764" y="172212"/>
                  </a:lnTo>
                  <a:close/>
                </a:path>
                <a:path w="1713229" h="4840605">
                  <a:moveTo>
                    <a:pt x="16764" y="0"/>
                  </a:moveTo>
                  <a:lnTo>
                    <a:pt x="0" y="0"/>
                  </a:lnTo>
                  <a:lnTo>
                    <a:pt x="0" y="124968"/>
                  </a:lnTo>
                  <a:lnTo>
                    <a:pt x="16764" y="124968"/>
                  </a:lnTo>
                  <a:lnTo>
                    <a:pt x="16764" y="0"/>
                  </a:lnTo>
                  <a:close/>
                </a:path>
                <a:path w="1713229" h="4840605">
                  <a:moveTo>
                    <a:pt x="1712988" y="3473208"/>
                  </a:moveTo>
                  <a:lnTo>
                    <a:pt x="1697748" y="3473208"/>
                  </a:lnTo>
                  <a:lnTo>
                    <a:pt x="1697748" y="3488448"/>
                  </a:lnTo>
                  <a:lnTo>
                    <a:pt x="1712988" y="3488448"/>
                  </a:lnTo>
                  <a:lnTo>
                    <a:pt x="1712988" y="3473208"/>
                  </a:lnTo>
                  <a:close/>
                </a:path>
                <a:path w="1713229" h="4840605">
                  <a:moveTo>
                    <a:pt x="1712988" y="3300996"/>
                  </a:moveTo>
                  <a:lnTo>
                    <a:pt x="1697748" y="3300996"/>
                  </a:lnTo>
                  <a:lnTo>
                    <a:pt x="1697748" y="3425964"/>
                  </a:lnTo>
                  <a:lnTo>
                    <a:pt x="1712988" y="3425964"/>
                  </a:lnTo>
                  <a:lnTo>
                    <a:pt x="1712988" y="3300996"/>
                  </a:lnTo>
                  <a:close/>
                </a:path>
                <a:path w="1713229" h="4840605">
                  <a:moveTo>
                    <a:pt x="1712988" y="3236988"/>
                  </a:moveTo>
                  <a:lnTo>
                    <a:pt x="1697748" y="3236988"/>
                  </a:lnTo>
                  <a:lnTo>
                    <a:pt x="1697748" y="3253752"/>
                  </a:lnTo>
                  <a:lnTo>
                    <a:pt x="1712988" y="3253752"/>
                  </a:lnTo>
                  <a:lnTo>
                    <a:pt x="1712988" y="3236988"/>
                  </a:lnTo>
                  <a:close/>
                </a:path>
                <a:path w="1713229" h="4840605">
                  <a:moveTo>
                    <a:pt x="1712988" y="3064776"/>
                  </a:moveTo>
                  <a:lnTo>
                    <a:pt x="1697748" y="3064776"/>
                  </a:lnTo>
                  <a:lnTo>
                    <a:pt x="1697748" y="3189744"/>
                  </a:lnTo>
                  <a:lnTo>
                    <a:pt x="1712988" y="3189744"/>
                  </a:lnTo>
                  <a:lnTo>
                    <a:pt x="1712988" y="3064776"/>
                  </a:lnTo>
                  <a:close/>
                </a:path>
                <a:path w="1713229" h="4840605">
                  <a:moveTo>
                    <a:pt x="1712988" y="3002292"/>
                  </a:moveTo>
                  <a:lnTo>
                    <a:pt x="1697748" y="3002292"/>
                  </a:lnTo>
                  <a:lnTo>
                    <a:pt x="1697748" y="3017532"/>
                  </a:lnTo>
                  <a:lnTo>
                    <a:pt x="1712988" y="3017532"/>
                  </a:lnTo>
                  <a:lnTo>
                    <a:pt x="1712988" y="3002292"/>
                  </a:lnTo>
                  <a:close/>
                </a:path>
                <a:path w="1713229" h="4840605">
                  <a:moveTo>
                    <a:pt x="1712988" y="2828556"/>
                  </a:moveTo>
                  <a:lnTo>
                    <a:pt x="1697748" y="2828556"/>
                  </a:lnTo>
                  <a:lnTo>
                    <a:pt x="1697748" y="2955048"/>
                  </a:lnTo>
                  <a:lnTo>
                    <a:pt x="1712988" y="2955048"/>
                  </a:lnTo>
                  <a:lnTo>
                    <a:pt x="1712988" y="2828556"/>
                  </a:lnTo>
                  <a:close/>
                </a:path>
                <a:path w="1713229" h="4840605">
                  <a:moveTo>
                    <a:pt x="1712988" y="2766072"/>
                  </a:moveTo>
                  <a:lnTo>
                    <a:pt x="1697748" y="2766072"/>
                  </a:lnTo>
                  <a:lnTo>
                    <a:pt x="1697748" y="2781312"/>
                  </a:lnTo>
                  <a:lnTo>
                    <a:pt x="1712988" y="2781312"/>
                  </a:lnTo>
                  <a:lnTo>
                    <a:pt x="1712988" y="2766072"/>
                  </a:lnTo>
                  <a:close/>
                </a:path>
                <a:path w="1713229" h="4840605">
                  <a:moveTo>
                    <a:pt x="1712988" y="2593860"/>
                  </a:moveTo>
                  <a:lnTo>
                    <a:pt x="1697748" y="2593860"/>
                  </a:lnTo>
                  <a:lnTo>
                    <a:pt x="1697748" y="2718828"/>
                  </a:lnTo>
                  <a:lnTo>
                    <a:pt x="1712988" y="2718828"/>
                  </a:lnTo>
                  <a:lnTo>
                    <a:pt x="1712988" y="2593860"/>
                  </a:lnTo>
                  <a:close/>
                </a:path>
                <a:path w="1713229" h="4840605">
                  <a:moveTo>
                    <a:pt x="1712988" y="2529852"/>
                  </a:moveTo>
                  <a:lnTo>
                    <a:pt x="1697748" y="2529852"/>
                  </a:lnTo>
                  <a:lnTo>
                    <a:pt x="1697748" y="2546616"/>
                  </a:lnTo>
                  <a:lnTo>
                    <a:pt x="1712988" y="2546616"/>
                  </a:lnTo>
                  <a:lnTo>
                    <a:pt x="1712988" y="2529852"/>
                  </a:lnTo>
                  <a:close/>
                </a:path>
                <a:path w="1713229" h="4840605">
                  <a:moveTo>
                    <a:pt x="1712988" y="2357640"/>
                  </a:moveTo>
                  <a:lnTo>
                    <a:pt x="1697748" y="2357640"/>
                  </a:lnTo>
                  <a:lnTo>
                    <a:pt x="1697748" y="2482608"/>
                  </a:lnTo>
                  <a:lnTo>
                    <a:pt x="1712988" y="2482608"/>
                  </a:lnTo>
                  <a:lnTo>
                    <a:pt x="1712988" y="2357640"/>
                  </a:lnTo>
                  <a:close/>
                </a:path>
                <a:path w="1713229" h="4840605">
                  <a:moveTo>
                    <a:pt x="1712988" y="2295156"/>
                  </a:moveTo>
                  <a:lnTo>
                    <a:pt x="1697748" y="2295156"/>
                  </a:lnTo>
                  <a:lnTo>
                    <a:pt x="1697748" y="2310396"/>
                  </a:lnTo>
                  <a:lnTo>
                    <a:pt x="1712988" y="2310396"/>
                  </a:lnTo>
                  <a:lnTo>
                    <a:pt x="1712988" y="2295156"/>
                  </a:lnTo>
                  <a:close/>
                </a:path>
                <a:path w="1713229" h="4840605">
                  <a:moveTo>
                    <a:pt x="1712988" y="2121420"/>
                  </a:moveTo>
                  <a:lnTo>
                    <a:pt x="1697748" y="2121420"/>
                  </a:lnTo>
                  <a:lnTo>
                    <a:pt x="1697748" y="2247912"/>
                  </a:lnTo>
                  <a:lnTo>
                    <a:pt x="1712988" y="2247912"/>
                  </a:lnTo>
                  <a:lnTo>
                    <a:pt x="1712988" y="2121420"/>
                  </a:lnTo>
                  <a:close/>
                </a:path>
                <a:path w="1713229" h="4840605">
                  <a:moveTo>
                    <a:pt x="1712988" y="2058936"/>
                  </a:moveTo>
                  <a:lnTo>
                    <a:pt x="1697748" y="2058936"/>
                  </a:lnTo>
                  <a:lnTo>
                    <a:pt x="1697748" y="2074176"/>
                  </a:lnTo>
                  <a:lnTo>
                    <a:pt x="1712988" y="2074176"/>
                  </a:lnTo>
                  <a:lnTo>
                    <a:pt x="1712988" y="2058936"/>
                  </a:lnTo>
                  <a:close/>
                </a:path>
                <a:path w="1713229" h="4840605">
                  <a:moveTo>
                    <a:pt x="1712988" y="1885200"/>
                  </a:moveTo>
                  <a:lnTo>
                    <a:pt x="1697748" y="1885200"/>
                  </a:lnTo>
                  <a:lnTo>
                    <a:pt x="1697748" y="2011692"/>
                  </a:lnTo>
                  <a:lnTo>
                    <a:pt x="1712988" y="2011692"/>
                  </a:lnTo>
                  <a:lnTo>
                    <a:pt x="1712988" y="1885200"/>
                  </a:lnTo>
                  <a:close/>
                </a:path>
                <a:path w="1713229" h="4840605">
                  <a:moveTo>
                    <a:pt x="1712988" y="1822716"/>
                  </a:moveTo>
                  <a:lnTo>
                    <a:pt x="1697748" y="1822716"/>
                  </a:lnTo>
                  <a:lnTo>
                    <a:pt x="1697748" y="1839480"/>
                  </a:lnTo>
                  <a:lnTo>
                    <a:pt x="1712988" y="1839480"/>
                  </a:lnTo>
                  <a:lnTo>
                    <a:pt x="1712988" y="1822716"/>
                  </a:lnTo>
                  <a:close/>
                </a:path>
                <a:path w="1713229" h="4840605">
                  <a:moveTo>
                    <a:pt x="1712988" y="1650492"/>
                  </a:moveTo>
                  <a:lnTo>
                    <a:pt x="1697748" y="1650492"/>
                  </a:lnTo>
                  <a:lnTo>
                    <a:pt x="1697748" y="1775460"/>
                  </a:lnTo>
                  <a:lnTo>
                    <a:pt x="1712988" y="1775460"/>
                  </a:lnTo>
                  <a:lnTo>
                    <a:pt x="1712988" y="1650492"/>
                  </a:lnTo>
                  <a:close/>
                </a:path>
                <a:path w="1713229" h="4840605">
                  <a:moveTo>
                    <a:pt x="1712988" y="1588008"/>
                  </a:moveTo>
                  <a:lnTo>
                    <a:pt x="1697748" y="1588008"/>
                  </a:lnTo>
                  <a:lnTo>
                    <a:pt x="1697748" y="1603248"/>
                  </a:lnTo>
                  <a:lnTo>
                    <a:pt x="1712988" y="1603248"/>
                  </a:lnTo>
                  <a:lnTo>
                    <a:pt x="1712988" y="1588008"/>
                  </a:lnTo>
                  <a:close/>
                </a:path>
                <a:path w="1713229" h="4840605">
                  <a:moveTo>
                    <a:pt x="1712988" y="1414272"/>
                  </a:moveTo>
                  <a:lnTo>
                    <a:pt x="1697748" y="1414272"/>
                  </a:lnTo>
                  <a:lnTo>
                    <a:pt x="1697748" y="1540764"/>
                  </a:lnTo>
                  <a:lnTo>
                    <a:pt x="1712988" y="1540764"/>
                  </a:lnTo>
                  <a:lnTo>
                    <a:pt x="1712988" y="1414272"/>
                  </a:lnTo>
                  <a:close/>
                </a:path>
                <a:path w="1713229" h="4840605">
                  <a:moveTo>
                    <a:pt x="1712988" y="1351788"/>
                  </a:moveTo>
                  <a:lnTo>
                    <a:pt x="1697748" y="1351788"/>
                  </a:lnTo>
                  <a:lnTo>
                    <a:pt x="1697748" y="1367028"/>
                  </a:lnTo>
                  <a:lnTo>
                    <a:pt x="1712988" y="1367028"/>
                  </a:lnTo>
                  <a:lnTo>
                    <a:pt x="1712988" y="1351788"/>
                  </a:lnTo>
                  <a:close/>
                </a:path>
                <a:path w="1713229" h="4840605">
                  <a:moveTo>
                    <a:pt x="1712988" y="1178052"/>
                  </a:moveTo>
                  <a:lnTo>
                    <a:pt x="1697748" y="1178052"/>
                  </a:lnTo>
                  <a:lnTo>
                    <a:pt x="1697748" y="1304544"/>
                  </a:lnTo>
                  <a:lnTo>
                    <a:pt x="1712988" y="1304544"/>
                  </a:lnTo>
                  <a:lnTo>
                    <a:pt x="1712988" y="1178052"/>
                  </a:lnTo>
                  <a:close/>
                </a:path>
                <a:path w="1713229" h="4840605">
                  <a:moveTo>
                    <a:pt x="1712988" y="1115580"/>
                  </a:moveTo>
                  <a:lnTo>
                    <a:pt x="1697748" y="1115580"/>
                  </a:lnTo>
                  <a:lnTo>
                    <a:pt x="1697748" y="1130820"/>
                  </a:lnTo>
                  <a:lnTo>
                    <a:pt x="1712988" y="1130820"/>
                  </a:lnTo>
                  <a:lnTo>
                    <a:pt x="1712988" y="1115580"/>
                  </a:lnTo>
                  <a:close/>
                </a:path>
                <a:path w="1713229" h="4840605">
                  <a:moveTo>
                    <a:pt x="1712988" y="943368"/>
                  </a:moveTo>
                  <a:lnTo>
                    <a:pt x="1697748" y="943368"/>
                  </a:lnTo>
                  <a:lnTo>
                    <a:pt x="1697748" y="1068336"/>
                  </a:lnTo>
                  <a:lnTo>
                    <a:pt x="1712988" y="1068336"/>
                  </a:lnTo>
                  <a:lnTo>
                    <a:pt x="1712988" y="943368"/>
                  </a:lnTo>
                  <a:close/>
                </a:path>
                <a:path w="1713229" h="4840605">
                  <a:moveTo>
                    <a:pt x="1712988" y="879360"/>
                  </a:moveTo>
                  <a:lnTo>
                    <a:pt x="1697748" y="879360"/>
                  </a:lnTo>
                  <a:lnTo>
                    <a:pt x="1697748" y="896124"/>
                  </a:lnTo>
                  <a:lnTo>
                    <a:pt x="1712988" y="896124"/>
                  </a:lnTo>
                  <a:lnTo>
                    <a:pt x="1712988" y="879360"/>
                  </a:lnTo>
                  <a:close/>
                </a:path>
                <a:path w="1713229" h="4840605">
                  <a:moveTo>
                    <a:pt x="1712988" y="707148"/>
                  </a:moveTo>
                  <a:lnTo>
                    <a:pt x="1697748" y="707148"/>
                  </a:lnTo>
                  <a:lnTo>
                    <a:pt x="1697748" y="833640"/>
                  </a:lnTo>
                  <a:lnTo>
                    <a:pt x="1712988" y="833640"/>
                  </a:lnTo>
                  <a:lnTo>
                    <a:pt x="1712988" y="707148"/>
                  </a:lnTo>
                  <a:close/>
                </a:path>
                <a:path w="1713229" h="4840605">
                  <a:moveTo>
                    <a:pt x="1712988" y="644664"/>
                  </a:moveTo>
                  <a:lnTo>
                    <a:pt x="1697748" y="644664"/>
                  </a:lnTo>
                  <a:lnTo>
                    <a:pt x="1697748" y="659904"/>
                  </a:lnTo>
                  <a:lnTo>
                    <a:pt x="1712988" y="659904"/>
                  </a:lnTo>
                  <a:lnTo>
                    <a:pt x="1712988" y="644664"/>
                  </a:lnTo>
                  <a:close/>
                </a:path>
                <a:path w="1713229" h="4840605">
                  <a:moveTo>
                    <a:pt x="1712988" y="470916"/>
                  </a:moveTo>
                  <a:lnTo>
                    <a:pt x="1697748" y="470916"/>
                  </a:lnTo>
                  <a:lnTo>
                    <a:pt x="1697748" y="597408"/>
                  </a:lnTo>
                  <a:lnTo>
                    <a:pt x="1712988" y="597408"/>
                  </a:lnTo>
                  <a:lnTo>
                    <a:pt x="1712988" y="470916"/>
                  </a:lnTo>
                  <a:close/>
                </a:path>
                <a:path w="1713229" h="4840605">
                  <a:moveTo>
                    <a:pt x="1712988" y="408432"/>
                  </a:moveTo>
                  <a:lnTo>
                    <a:pt x="1697748" y="408432"/>
                  </a:lnTo>
                  <a:lnTo>
                    <a:pt x="1697748" y="423672"/>
                  </a:lnTo>
                  <a:lnTo>
                    <a:pt x="1712988" y="423672"/>
                  </a:lnTo>
                  <a:lnTo>
                    <a:pt x="1712988" y="408432"/>
                  </a:lnTo>
                  <a:close/>
                </a:path>
                <a:path w="1713229" h="4840605">
                  <a:moveTo>
                    <a:pt x="1712988" y="236220"/>
                  </a:moveTo>
                  <a:lnTo>
                    <a:pt x="1697748" y="236220"/>
                  </a:lnTo>
                  <a:lnTo>
                    <a:pt x="1697748" y="361188"/>
                  </a:lnTo>
                  <a:lnTo>
                    <a:pt x="1712988" y="361188"/>
                  </a:lnTo>
                  <a:lnTo>
                    <a:pt x="1712988" y="236220"/>
                  </a:lnTo>
                  <a:close/>
                </a:path>
                <a:path w="1713229" h="4840605">
                  <a:moveTo>
                    <a:pt x="1712988" y="172212"/>
                  </a:moveTo>
                  <a:lnTo>
                    <a:pt x="1697748" y="172212"/>
                  </a:lnTo>
                  <a:lnTo>
                    <a:pt x="1697748" y="188976"/>
                  </a:lnTo>
                  <a:lnTo>
                    <a:pt x="1712988" y="188976"/>
                  </a:lnTo>
                  <a:lnTo>
                    <a:pt x="1712988" y="172212"/>
                  </a:lnTo>
                  <a:close/>
                </a:path>
                <a:path w="1713229" h="4840605">
                  <a:moveTo>
                    <a:pt x="1712988" y="0"/>
                  </a:moveTo>
                  <a:lnTo>
                    <a:pt x="1697748" y="0"/>
                  </a:lnTo>
                  <a:lnTo>
                    <a:pt x="1697748" y="124968"/>
                  </a:lnTo>
                  <a:lnTo>
                    <a:pt x="1712988" y="124968"/>
                  </a:lnTo>
                  <a:lnTo>
                    <a:pt x="1712988" y="0"/>
                  </a:lnTo>
                  <a:close/>
                </a:path>
              </a:pathLst>
            </a:custGeom>
            <a:solidFill>
              <a:srgbClr val="ED7C3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8" name="object 48" descr=""/>
            <p:cNvSpPr/>
            <p:nvPr/>
          </p:nvSpPr>
          <p:spPr>
            <a:xfrm>
              <a:off x="5210556" y="5160276"/>
              <a:ext cx="15240" cy="1367155"/>
            </a:xfrm>
            <a:custGeom>
              <a:avLst/>
              <a:gdLst/>
              <a:ahLst/>
              <a:cxnLst/>
              <a:rect l="l" t="t" r="r" b="b"/>
              <a:pathLst>
                <a:path w="15239" h="1367154">
                  <a:moveTo>
                    <a:pt x="15240" y="1242060"/>
                  </a:moveTo>
                  <a:lnTo>
                    <a:pt x="0" y="1242060"/>
                  </a:lnTo>
                  <a:lnTo>
                    <a:pt x="0" y="1367028"/>
                  </a:lnTo>
                  <a:lnTo>
                    <a:pt x="15240" y="1367028"/>
                  </a:lnTo>
                  <a:lnTo>
                    <a:pt x="15240" y="1242060"/>
                  </a:lnTo>
                  <a:close/>
                </a:path>
                <a:path w="15239" h="1367154">
                  <a:moveTo>
                    <a:pt x="15240" y="1178052"/>
                  </a:moveTo>
                  <a:lnTo>
                    <a:pt x="0" y="1178052"/>
                  </a:lnTo>
                  <a:lnTo>
                    <a:pt x="0" y="1194816"/>
                  </a:lnTo>
                  <a:lnTo>
                    <a:pt x="15240" y="1194816"/>
                  </a:lnTo>
                  <a:lnTo>
                    <a:pt x="15240" y="1178052"/>
                  </a:lnTo>
                  <a:close/>
                </a:path>
                <a:path w="15239" h="1367154">
                  <a:moveTo>
                    <a:pt x="15240" y="1005840"/>
                  </a:moveTo>
                  <a:lnTo>
                    <a:pt x="0" y="1005840"/>
                  </a:lnTo>
                  <a:lnTo>
                    <a:pt x="0" y="1132332"/>
                  </a:lnTo>
                  <a:lnTo>
                    <a:pt x="15240" y="1132332"/>
                  </a:lnTo>
                  <a:lnTo>
                    <a:pt x="15240" y="1005840"/>
                  </a:lnTo>
                  <a:close/>
                </a:path>
                <a:path w="15239" h="1367154">
                  <a:moveTo>
                    <a:pt x="15240" y="943343"/>
                  </a:moveTo>
                  <a:lnTo>
                    <a:pt x="0" y="943343"/>
                  </a:lnTo>
                  <a:lnTo>
                    <a:pt x="0" y="958596"/>
                  </a:lnTo>
                  <a:lnTo>
                    <a:pt x="15240" y="958596"/>
                  </a:lnTo>
                  <a:lnTo>
                    <a:pt x="15240" y="943343"/>
                  </a:lnTo>
                  <a:close/>
                </a:path>
                <a:path w="15239" h="1367154">
                  <a:moveTo>
                    <a:pt x="15240" y="769620"/>
                  </a:moveTo>
                  <a:lnTo>
                    <a:pt x="0" y="769620"/>
                  </a:lnTo>
                  <a:lnTo>
                    <a:pt x="0" y="896112"/>
                  </a:lnTo>
                  <a:lnTo>
                    <a:pt x="15240" y="896112"/>
                  </a:lnTo>
                  <a:lnTo>
                    <a:pt x="15240" y="769620"/>
                  </a:lnTo>
                  <a:close/>
                </a:path>
                <a:path w="15239" h="1367154">
                  <a:moveTo>
                    <a:pt x="15240" y="707123"/>
                  </a:moveTo>
                  <a:lnTo>
                    <a:pt x="0" y="707123"/>
                  </a:lnTo>
                  <a:lnTo>
                    <a:pt x="0" y="722376"/>
                  </a:lnTo>
                  <a:lnTo>
                    <a:pt x="15240" y="722376"/>
                  </a:lnTo>
                  <a:lnTo>
                    <a:pt x="15240" y="707123"/>
                  </a:lnTo>
                  <a:close/>
                </a:path>
                <a:path w="15239" h="1367154">
                  <a:moveTo>
                    <a:pt x="15240" y="534924"/>
                  </a:moveTo>
                  <a:lnTo>
                    <a:pt x="0" y="534924"/>
                  </a:lnTo>
                  <a:lnTo>
                    <a:pt x="0" y="659892"/>
                  </a:lnTo>
                  <a:lnTo>
                    <a:pt x="15240" y="659892"/>
                  </a:lnTo>
                  <a:lnTo>
                    <a:pt x="15240" y="534924"/>
                  </a:lnTo>
                  <a:close/>
                </a:path>
                <a:path w="15239" h="1367154">
                  <a:moveTo>
                    <a:pt x="15240" y="470916"/>
                  </a:moveTo>
                  <a:lnTo>
                    <a:pt x="0" y="470916"/>
                  </a:lnTo>
                  <a:lnTo>
                    <a:pt x="0" y="487680"/>
                  </a:lnTo>
                  <a:lnTo>
                    <a:pt x="15240" y="487680"/>
                  </a:lnTo>
                  <a:lnTo>
                    <a:pt x="15240" y="470916"/>
                  </a:lnTo>
                  <a:close/>
                </a:path>
                <a:path w="15239" h="1367154">
                  <a:moveTo>
                    <a:pt x="15240" y="298704"/>
                  </a:moveTo>
                  <a:lnTo>
                    <a:pt x="0" y="298704"/>
                  </a:lnTo>
                  <a:lnTo>
                    <a:pt x="0" y="423672"/>
                  </a:lnTo>
                  <a:lnTo>
                    <a:pt x="15240" y="423672"/>
                  </a:lnTo>
                  <a:lnTo>
                    <a:pt x="15240" y="298704"/>
                  </a:lnTo>
                  <a:close/>
                </a:path>
                <a:path w="15239" h="1367154">
                  <a:moveTo>
                    <a:pt x="15240" y="236220"/>
                  </a:moveTo>
                  <a:lnTo>
                    <a:pt x="0" y="236220"/>
                  </a:lnTo>
                  <a:lnTo>
                    <a:pt x="0" y="251460"/>
                  </a:lnTo>
                  <a:lnTo>
                    <a:pt x="15240" y="251460"/>
                  </a:lnTo>
                  <a:lnTo>
                    <a:pt x="15240" y="236220"/>
                  </a:lnTo>
                  <a:close/>
                </a:path>
                <a:path w="15239" h="1367154">
                  <a:moveTo>
                    <a:pt x="15240" y="62484"/>
                  </a:moveTo>
                  <a:lnTo>
                    <a:pt x="0" y="62484"/>
                  </a:lnTo>
                  <a:lnTo>
                    <a:pt x="0" y="188976"/>
                  </a:lnTo>
                  <a:lnTo>
                    <a:pt x="15240" y="188976"/>
                  </a:lnTo>
                  <a:lnTo>
                    <a:pt x="15240" y="62484"/>
                  </a:lnTo>
                  <a:close/>
                </a:path>
                <a:path w="15239" h="1367154">
                  <a:moveTo>
                    <a:pt x="15240" y="0"/>
                  </a:moveTo>
                  <a:lnTo>
                    <a:pt x="0" y="0"/>
                  </a:lnTo>
                  <a:lnTo>
                    <a:pt x="0" y="15240"/>
                  </a:lnTo>
                  <a:lnTo>
                    <a:pt x="15240" y="15240"/>
                  </a:lnTo>
                  <a:lnTo>
                    <a:pt x="15240" y="0"/>
                  </a:lnTo>
                  <a:close/>
                </a:path>
              </a:pathLst>
            </a:custGeom>
            <a:solidFill>
              <a:srgbClr val="ED7C31"/>
            </a:solidFill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595075" y="1393919"/>
            <a:ext cx="6095365" cy="479425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>
                <a:latin typeface="Calibri"/>
                <a:cs typeface="Calibri"/>
              </a:rPr>
              <a:t>Data</a:t>
            </a:r>
            <a:r>
              <a:rPr dirty="0" spc="-65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Flow</a:t>
            </a:r>
            <a:r>
              <a:rPr dirty="0" spc="-85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Model</a:t>
            </a:r>
            <a:r>
              <a:rPr dirty="0" spc="-6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of</a:t>
            </a:r>
            <a:r>
              <a:rPr dirty="0" spc="-6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a</a:t>
            </a:r>
            <a:r>
              <a:rPr dirty="0" spc="-6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Car</a:t>
            </a:r>
            <a:r>
              <a:rPr dirty="0" spc="-50">
                <a:latin typeface="Calibri"/>
                <a:cs typeface="Calibri"/>
              </a:rPr>
              <a:t> </a:t>
            </a:r>
            <a:r>
              <a:rPr dirty="0" spc="-10">
                <a:latin typeface="Calibri"/>
                <a:cs typeface="Calibri"/>
              </a:rPr>
              <a:t>Assembly</a:t>
            </a:r>
            <a:r>
              <a:rPr dirty="0" spc="-60">
                <a:latin typeface="Calibri"/>
                <a:cs typeface="Calibri"/>
              </a:rPr>
              <a:t> </a:t>
            </a:r>
            <a:r>
              <a:rPr dirty="0" spc="-20">
                <a:latin typeface="Calibri"/>
                <a:cs typeface="Calibri"/>
              </a:rPr>
              <a:t>Unit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6552603" y="3458940"/>
            <a:ext cx="494665" cy="27368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49860" marR="5080" indent="-137795">
              <a:lnSpc>
                <a:spcPct val="100000"/>
              </a:lnSpc>
              <a:spcBef>
                <a:spcPts val="125"/>
              </a:spcBef>
            </a:pPr>
            <a:r>
              <a:rPr dirty="0" sz="800" b="1">
                <a:latin typeface="Comic Sans MS"/>
                <a:cs typeface="Comic Sans MS"/>
              </a:rPr>
              <a:t>Paint</a:t>
            </a:r>
            <a:r>
              <a:rPr dirty="0" sz="800" spc="50" b="1">
                <a:latin typeface="Comic Sans MS"/>
                <a:cs typeface="Comic Sans MS"/>
              </a:rPr>
              <a:t> </a:t>
            </a:r>
            <a:r>
              <a:rPr dirty="0" sz="800" spc="-25" b="1">
                <a:latin typeface="Comic Sans MS"/>
                <a:cs typeface="Comic Sans MS"/>
              </a:rPr>
              <a:t>and </a:t>
            </a:r>
            <a:r>
              <a:rPr dirty="0" sz="800" spc="-20" b="1">
                <a:latin typeface="Comic Sans MS"/>
                <a:cs typeface="Comic Sans MS"/>
              </a:rPr>
              <a:t>Test</a:t>
            </a:r>
            <a:endParaRPr sz="800">
              <a:latin typeface="Comic Sans MS"/>
              <a:cs typeface="Comic Sans MS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5060640" y="3420836"/>
            <a:ext cx="466725" cy="317500"/>
          </a:xfrm>
          <a:prstGeom prst="rect">
            <a:avLst/>
          </a:prstGeom>
        </p:spPr>
        <p:txBody>
          <a:bodyPr wrap="square" lIns="0" tIns="27305" rIns="0" bIns="0" rtlCol="0" vert="horz">
            <a:spAutoFit/>
          </a:bodyPr>
          <a:lstStyle/>
          <a:p>
            <a:pPr marL="12700" marR="5080" indent="164465">
              <a:lnSpc>
                <a:spcPts val="1100"/>
              </a:lnSpc>
              <a:spcBef>
                <a:spcPts val="215"/>
              </a:spcBef>
            </a:pPr>
            <a:r>
              <a:rPr dirty="0" sz="1000" spc="-25" b="1">
                <a:latin typeface="Comic Sans MS"/>
                <a:cs typeface="Comic Sans MS"/>
              </a:rPr>
              <a:t>Fit </a:t>
            </a:r>
            <a:r>
              <a:rPr dirty="0" sz="1000" spc="-20" b="1">
                <a:latin typeface="Comic Sans MS"/>
                <a:cs typeface="Comic Sans MS"/>
              </a:rPr>
              <a:t>Wheels</a:t>
            </a:r>
            <a:endParaRPr sz="1000">
              <a:latin typeface="Comic Sans MS"/>
              <a:cs typeface="Comic Sans MS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3695189" y="3420836"/>
            <a:ext cx="373380" cy="317500"/>
          </a:xfrm>
          <a:prstGeom prst="rect">
            <a:avLst/>
          </a:prstGeom>
        </p:spPr>
        <p:txBody>
          <a:bodyPr wrap="square" lIns="0" tIns="27305" rIns="0" bIns="0" rtlCol="0" vert="horz">
            <a:spAutoFit/>
          </a:bodyPr>
          <a:lstStyle/>
          <a:p>
            <a:pPr marL="12700" marR="5080" indent="164465">
              <a:lnSpc>
                <a:spcPts val="1100"/>
              </a:lnSpc>
              <a:spcBef>
                <a:spcPts val="215"/>
              </a:spcBef>
            </a:pPr>
            <a:r>
              <a:rPr dirty="0" sz="1000" spc="-25" b="1">
                <a:latin typeface="Comic Sans MS"/>
                <a:cs typeface="Comic Sans MS"/>
              </a:rPr>
              <a:t>Fit </a:t>
            </a:r>
            <a:r>
              <a:rPr dirty="0" sz="1000" spc="-10" b="1">
                <a:latin typeface="Comic Sans MS"/>
                <a:cs typeface="Comic Sans MS"/>
              </a:rPr>
              <a:t>Doors</a:t>
            </a:r>
            <a:endParaRPr sz="1000">
              <a:latin typeface="Comic Sans MS"/>
              <a:cs typeface="Comic Sans MS"/>
            </a:endParaRPr>
          </a:p>
        </p:txBody>
      </p:sp>
      <p:grpSp>
        <p:nvGrpSpPr>
          <p:cNvPr id="6" name="object 6" descr=""/>
          <p:cNvGrpSpPr/>
          <p:nvPr/>
        </p:nvGrpSpPr>
        <p:grpSpPr>
          <a:xfrm>
            <a:off x="2567177" y="3246882"/>
            <a:ext cx="4608830" cy="649605"/>
            <a:chOff x="2567177" y="3246882"/>
            <a:chExt cx="4608830" cy="649605"/>
          </a:xfrm>
        </p:grpSpPr>
        <p:sp>
          <p:nvSpPr>
            <p:cNvPr id="7" name="object 7" descr=""/>
            <p:cNvSpPr/>
            <p:nvPr/>
          </p:nvSpPr>
          <p:spPr>
            <a:xfrm>
              <a:off x="2578607" y="3384804"/>
              <a:ext cx="562610" cy="500380"/>
            </a:xfrm>
            <a:custGeom>
              <a:avLst/>
              <a:gdLst/>
              <a:ahLst/>
              <a:cxnLst/>
              <a:rect l="l" t="t" r="r" b="b"/>
              <a:pathLst>
                <a:path w="562610" h="500379">
                  <a:moveTo>
                    <a:pt x="0" y="249936"/>
                  </a:moveTo>
                  <a:lnTo>
                    <a:pt x="4498" y="204838"/>
                  </a:lnTo>
                  <a:lnTo>
                    <a:pt x="17476" y="162463"/>
                  </a:lnTo>
                  <a:lnTo>
                    <a:pt x="38156" y="123500"/>
                  </a:lnTo>
                  <a:lnTo>
                    <a:pt x="65759" y="88638"/>
                  </a:lnTo>
                  <a:lnTo>
                    <a:pt x="99509" y="58568"/>
                  </a:lnTo>
                  <a:lnTo>
                    <a:pt x="138627" y="33979"/>
                  </a:lnTo>
                  <a:lnTo>
                    <a:pt x="182336" y="15561"/>
                  </a:lnTo>
                  <a:lnTo>
                    <a:pt x="229858" y="4005"/>
                  </a:lnTo>
                  <a:lnTo>
                    <a:pt x="280416" y="0"/>
                  </a:lnTo>
                  <a:lnTo>
                    <a:pt x="331427" y="4005"/>
                  </a:lnTo>
                  <a:lnTo>
                    <a:pt x="379302" y="15561"/>
                  </a:lnTo>
                  <a:lnTo>
                    <a:pt x="423276" y="33979"/>
                  </a:lnTo>
                  <a:lnTo>
                    <a:pt x="462585" y="58568"/>
                  </a:lnTo>
                  <a:lnTo>
                    <a:pt x="496462" y="88638"/>
                  </a:lnTo>
                  <a:lnTo>
                    <a:pt x="524143" y="123500"/>
                  </a:lnTo>
                  <a:lnTo>
                    <a:pt x="544862" y="162463"/>
                  </a:lnTo>
                  <a:lnTo>
                    <a:pt x="557855" y="204838"/>
                  </a:lnTo>
                  <a:lnTo>
                    <a:pt x="562356" y="249936"/>
                  </a:lnTo>
                  <a:lnTo>
                    <a:pt x="557855" y="295033"/>
                  </a:lnTo>
                  <a:lnTo>
                    <a:pt x="544862" y="337408"/>
                  </a:lnTo>
                  <a:lnTo>
                    <a:pt x="524143" y="376371"/>
                  </a:lnTo>
                  <a:lnTo>
                    <a:pt x="496462" y="411233"/>
                  </a:lnTo>
                  <a:lnTo>
                    <a:pt x="462585" y="441303"/>
                  </a:lnTo>
                  <a:lnTo>
                    <a:pt x="423276" y="465892"/>
                  </a:lnTo>
                  <a:lnTo>
                    <a:pt x="379302" y="484310"/>
                  </a:lnTo>
                  <a:lnTo>
                    <a:pt x="331427" y="495866"/>
                  </a:lnTo>
                  <a:lnTo>
                    <a:pt x="280416" y="499872"/>
                  </a:lnTo>
                  <a:lnTo>
                    <a:pt x="229858" y="495866"/>
                  </a:lnTo>
                  <a:lnTo>
                    <a:pt x="182336" y="484310"/>
                  </a:lnTo>
                  <a:lnTo>
                    <a:pt x="138627" y="465892"/>
                  </a:lnTo>
                  <a:lnTo>
                    <a:pt x="99509" y="441303"/>
                  </a:lnTo>
                  <a:lnTo>
                    <a:pt x="65759" y="411233"/>
                  </a:lnTo>
                  <a:lnTo>
                    <a:pt x="38156" y="376371"/>
                  </a:lnTo>
                  <a:lnTo>
                    <a:pt x="17476" y="337408"/>
                  </a:lnTo>
                  <a:lnTo>
                    <a:pt x="4498" y="295033"/>
                  </a:lnTo>
                  <a:lnTo>
                    <a:pt x="0" y="249936"/>
                  </a:lnTo>
                </a:path>
              </a:pathLst>
            </a:custGeom>
            <a:ln w="22859">
              <a:solidFill>
                <a:srgbClr val="4B38E2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6475476" y="3258312"/>
              <a:ext cx="688975" cy="626745"/>
            </a:xfrm>
            <a:custGeom>
              <a:avLst/>
              <a:gdLst/>
              <a:ahLst/>
              <a:cxnLst/>
              <a:rect l="l" t="t" r="r" b="b"/>
              <a:pathLst>
                <a:path w="688975" h="626745">
                  <a:moveTo>
                    <a:pt x="0" y="313943"/>
                  </a:moveTo>
                  <a:lnTo>
                    <a:pt x="3728" y="267472"/>
                  </a:lnTo>
                  <a:lnTo>
                    <a:pt x="14559" y="223145"/>
                  </a:lnTo>
                  <a:lnTo>
                    <a:pt x="31966" y="181441"/>
                  </a:lnTo>
                  <a:lnTo>
                    <a:pt x="55418" y="142843"/>
                  </a:lnTo>
                  <a:lnTo>
                    <a:pt x="84386" y="107831"/>
                  </a:lnTo>
                  <a:lnTo>
                    <a:pt x="118343" y="76886"/>
                  </a:lnTo>
                  <a:lnTo>
                    <a:pt x="156757" y="50490"/>
                  </a:lnTo>
                  <a:lnTo>
                    <a:pt x="199102" y="29122"/>
                  </a:lnTo>
                  <a:lnTo>
                    <a:pt x="244847" y="13263"/>
                  </a:lnTo>
                  <a:lnTo>
                    <a:pt x="293464" y="3396"/>
                  </a:lnTo>
                  <a:lnTo>
                    <a:pt x="344423" y="0"/>
                  </a:lnTo>
                  <a:lnTo>
                    <a:pt x="395383" y="3396"/>
                  </a:lnTo>
                  <a:lnTo>
                    <a:pt x="444000" y="13263"/>
                  </a:lnTo>
                  <a:lnTo>
                    <a:pt x="489745" y="29122"/>
                  </a:lnTo>
                  <a:lnTo>
                    <a:pt x="532090" y="50490"/>
                  </a:lnTo>
                  <a:lnTo>
                    <a:pt x="570504" y="76886"/>
                  </a:lnTo>
                  <a:lnTo>
                    <a:pt x="604461" y="107831"/>
                  </a:lnTo>
                  <a:lnTo>
                    <a:pt x="633429" y="142843"/>
                  </a:lnTo>
                  <a:lnTo>
                    <a:pt x="656881" y="181441"/>
                  </a:lnTo>
                  <a:lnTo>
                    <a:pt x="674288" y="223145"/>
                  </a:lnTo>
                  <a:lnTo>
                    <a:pt x="685119" y="267472"/>
                  </a:lnTo>
                  <a:lnTo>
                    <a:pt x="688847" y="313943"/>
                  </a:lnTo>
                  <a:lnTo>
                    <a:pt x="685119" y="360036"/>
                  </a:lnTo>
                  <a:lnTo>
                    <a:pt x="674288" y="404053"/>
                  </a:lnTo>
                  <a:lnTo>
                    <a:pt x="656881" y="445508"/>
                  </a:lnTo>
                  <a:lnTo>
                    <a:pt x="633429" y="483912"/>
                  </a:lnTo>
                  <a:lnTo>
                    <a:pt x="604461" y="518779"/>
                  </a:lnTo>
                  <a:lnTo>
                    <a:pt x="570504" y="549620"/>
                  </a:lnTo>
                  <a:lnTo>
                    <a:pt x="532090" y="575947"/>
                  </a:lnTo>
                  <a:lnTo>
                    <a:pt x="489745" y="597272"/>
                  </a:lnTo>
                  <a:lnTo>
                    <a:pt x="444000" y="613109"/>
                  </a:lnTo>
                  <a:lnTo>
                    <a:pt x="395383" y="622969"/>
                  </a:lnTo>
                  <a:lnTo>
                    <a:pt x="344423" y="626363"/>
                  </a:lnTo>
                  <a:lnTo>
                    <a:pt x="293464" y="622969"/>
                  </a:lnTo>
                  <a:lnTo>
                    <a:pt x="244847" y="613109"/>
                  </a:lnTo>
                  <a:lnTo>
                    <a:pt x="199102" y="597272"/>
                  </a:lnTo>
                  <a:lnTo>
                    <a:pt x="156757" y="575947"/>
                  </a:lnTo>
                  <a:lnTo>
                    <a:pt x="118343" y="549620"/>
                  </a:lnTo>
                  <a:lnTo>
                    <a:pt x="84386" y="518779"/>
                  </a:lnTo>
                  <a:lnTo>
                    <a:pt x="55418" y="483912"/>
                  </a:lnTo>
                  <a:lnTo>
                    <a:pt x="31966" y="445508"/>
                  </a:lnTo>
                  <a:lnTo>
                    <a:pt x="14559" y="404053"/>
                  </a:lnTo>
                  <a:lnTo>
                    <a:pt x="3728" y="360036"/>
                  </a:lnTo>
                  <a:lnTo>
                    <a:pt x="0" y="313943"/>
                  </a:lnTo>
                </a:path>
              </a:pathLst>
            </a:custGeom>
            <a:ln w="22860">
              <a:solidFill>
                <a:srgbClr val="4B38E2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5029200" y="3384804"/>
              <a:ext cx="563880" cy="500380"/>
            </a:xfrm>
            <a:custGeom>
              <a:avLst/>
              <a:gdLst/>
              <a:ahLst/>
              <a:cxnLst/>
              <a:rect l="l" t="t" r="r" b="b"/>
              <a:pathLst>
                <a:path w="563879" h="500379">
                  <a:moveTo>
                    <a:pt x="0" y="249936"/>
                  </a:moveTo>
                  <a:lnTo>
                    <a:pt x="4551" y="204838"/>
                  </a:lnTo>
                  <a:lnTo>
                    <a:pt x="17669" y="162463"/>
                  </a:lnTo>
                  <a:lnTo>
                    <a:pt x="38551" y="123500"/>
                  </a:lnTo>
                  <a:lnTo>
                    <a:pt x="66395" y="88638"/>
                  </a:lnTo>
                  <a:lnTo>
                    <a:pt x="100397" y="58568"/>
                  </a:lnTo>
                  <a:lnTo>
                    <a:pt x="139756" y="33979"/>
                  </a:lnTo>
                  <a:lnTo>
                    <a:pt x="183668" y="15561"/>
                  </a:lnTo>
                  <a:lnTo>
                    <a:pt x="231330" y="4005"/>
                  </a:lnTo>
                  <a:lnTo>
                    <a:pt x="281940" y="0"/>
                  </a:lnTo>
                  <a:lnTo>
                    <a:pt x="332549" y="4005"/>
                  </a:lnTo>
                  <a:lnTo>
                    <a:pt x="380211" y="15561"/>
                  </a:lnTo>
                  <a:lnTo>
                    <a:pt x="424123" y="33979"/>
                  </a:lnTo>
                  <a:lnTo>
                    <a:pt x="463482" y="58568"/>
                  </a:lnTo>
                  <a:lnTo>
                    <a:pt x="497484" y="88638"/>
                  </a:lnTo>
                  <a:lnTo>
                    <a:pt x="525328" y="123500"/>
                  </a:lnTo>
                  <a:lnTo>
                    <a:pt x="546210" y="162463"/>
                  </a:lnTo>
                  <a:lnTo>
                    <a:pt x="559328" y="204838"/>
                  </a:lnTo>
                  <a:lnTo>
                    <a:pt x="563880" y="249936"/>
                  </a:lnTo>
                  <a:lnTo>
                    <a:pt x="559328" y="295033"/>
                  </a:lnTo>
                  <a:lnTo>
                    <a:pt x="546210" y="337408"/>
                  </a:lnTo>
                  <a:lnTo>
                    <a:pt x="525328" y="376371"/>
                  </a:lnTo>
                  <a:lnTo>
                    <a:pt x="497484" y="411233"/>
                  </a:lnTo>
                  <a:lnTo>
                    <a:pt x="463482" y="441303"/>
                  </a:lnTo>
                  <a:lnTo>
                    <a:pt x="424123" y="465892"/>
                  </a:lnTo>
                  <a:lnTo>
                    <a:pt x="380211" y="484310"/>
                  </a:lnTo>
                  <a:lnTo>
                    <a:pt x="332549" y="495866"/>
                  </a:lnTo>
                  <a:lnTo>
                    <a:pt x="281940" y="499872"/>
                  </a:lnTo>
                  <a:lnTo>
                    <a:pt x="231330" y="495866"/>
                  </a:lnTo>
                  <a:lnTo>
                    <a:pt x="183668" y="484310"/>
                  </a:lnTo>
                  <a:lnTo>
                    <a:pt x="139756" y="465892"/>
                  </a:lnTo>
                  <a:lnTo>
                    <a:pt x="100397" y="441303"/>
                  </a:lnTo>
                  <a:lnTo>
                    <a:pt x="66395" y="411233"/>
                  </a:lnTo>
                  <a:lnTo>
                    <a:pt x="38551" y="376371"/>
                  </a:lnTo>
                  <a:lnTo>
                    <a:pt x="17669" y="337408"/>
                  </a:lnTo>
                  <a:lnTo>
                    <a:pt x="4551" y="295033"/>
                  </a:lnTo>
                  <a:lnTo>
                    <a:pt x="0" y="249936"/>
                  </a:lnTo>
                </a:path>
              </a:pathLst>
            </a:custGeom>
            <a:ln w="22859">
              <a:solidFill>
                <a:srgbClr val="4B38E2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3646932" y="3384804"/>
              <a:ext cx="563880" cy="500380"/>
            </a:xfrm>
            <a:custGeom>
              <a:avLst/>
              <a:gdLst/>
              <a:ahLst/>
              <a:cxnLst/>
              <a:rect l="l" t="t" r="r" b="b"/>
              <a:pathLst>
                <a:path w="563879" h="500379">
                  <a:moveTo>
                    <a:pt x="0" y="249936"/>
                  </a:moveTo>
                  <a:lnTo>
                    <a:pt x="4551" y="204838"/>
                  </a:lnTo>
                  <a:lnTo>
                    <a:pt x="17669" y="162463"/>
                  </a:lnTo>
                  <a:lnTo>
                    <a:pt x="38551" y="123500"/>
                  </a:lnTo>
                  <a:lnTo>
                    <a:pt x="66395" y="88638"/>
                  </a:lnTo>
                  <a:lnTo>
                    <a:pt x="100397" y="58568"/>
                  </a:lnTo>
                  <a:lnTo>
                    <a:pt x="139756" y="33979"/>
                  </a:lnTo>
                  <a:lnTo>
                    <a:pt x="183668" y="15561"/>
                  </a:lnTo>
                  <a:lnTo>
                    <a:pt x="231330" y="4005"/>
                  </a:lnTo>
                  <a:lnTo>
                    <a:pt x="281940" y="0"/>
                  </a:lnTo>
                  <a:lnTo>
                    <a:pt x="332549" y="4005"/>
                  </a:lnTo>
                  <a:lnTo>
                    <a:pt x="380211" y="15561"/>
                  </a:lnTo>
                  <a:lnTo>
                    <a:pt x="424123" y="33979"/>
                  </a:lnTo>
                  <a:lnTo>
                    <a:pt x="463482" y="58568"/>
                  </a:lnTo>
                  <a:lnTo>
                    <a:pt x="497484" y="88638"/>
                  </a:lnTo>
                  <a:lnTo>
                    <a:pt x="525328" y="123500"/>
                  </a:lnTo>
                  <a:lnTo>
                    <a:pt x="546210" y="162463"/>
                  </a:lnTo>
                  <a:lnTo>
                    <a:pt x="559328" y="204838"/>
                  </a:lnTo>
                  <a:lnTo>
                    <a:pt x="563880" y="249936"/>
                  </a:lnTo>
                  <a:lnTo>
                    <a:pt x="559328" y="295033"/>
                  </a:lnTo>
                  <a:lnTo>
                    <a:pt x="546210" y="337408"/>
                  </a:lnTo>
                  <a:lnTo>
                    <a:pt x="525328" y="376371"/>
                  </a:lnTo>
                  <a:lnTo>
                    <a:pt x="497484" y="411233"/>
                  </a:lnTo>
                  <a:lnTo>
                    <a:pt x="463482" y="441303"/>
                  </a:lnTo>
                  <a:lnTo>
                    <a:pt x="424123" y="465892"/>
                  </a:lnTo>
                  <a:lnTo>
                    <a:pt x="380211" y="484310"/>
                  </a:lnTo>
                  <a:lnTo>
                    <a:pt x="332549" y="495866"/>
                  </a:lnTo>
                  <a:lnTo>
                    <a:pt x="281940" y="499872"/>
                  </a:lnTo>
                  <a:lnTo>
                    <a:pt x="231330" y="495866"/>
                  </a:lnTo>
                  <a:lnTo>
                    <a:pt x="183668" y="484310"/>
                  </a:lnTo>
                  <a:lnTo>
                    <a:pt x="139756" y="465892"/>
                  </a:lnTo>
                  <a:lnTo>
                    <a:pt x="100397" y="441303"/>
                  </a:lnTo>
                  <a:lnTo>
                    <a:pt x="66395" y="411233"/>
                  </a:lnTo>
                  <a:lnTo>
                    <a:pt x="38551" y="376371"/>
                  </a:lnTo>
                  <a:lnTo>
                    <a:pt x="17669" y="337408"/>
                  </a:lnTo>
                  <a:lnTo>
                    <a:pt x="4551" y="295033"/>
                  </a:lnTo>
                  <a:lnTo>
                    <a:pt x="0" y="249936"/>
                  </a:lnTo>
                </a:path>
              </a:pathLst>
            </a:custGeom>
            <a:ln w="22859">
              <a:solidFill>
                <a:srgbClr val="4B38E2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" name="object 11" descr=""/>
          <p:cNvSpPr txBox="1"/>
          <p:nvPr/>
        </p:nvSpPr>
        <p:spPr>
          <a:xfrm>
            <a:off x="2328161" y="4234667"/>
            <a:ext cx="1069340" cy="21399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200" b="1">
                <a:latin typeface="Comic Sans MS"/>
                <a:cs typeface="Comic Sans MS"/>
              </a:rPr>
              <a:t>Chassis</a:t>
            </a:r>
            <a:r>
              <a:rPr dirty="0" sz="1200" spc="95" b="1">
                <a:latin typeface="Comic Sans MS"/>
                <a:cs typeface="Comic Sans MS"/>
              </a:rPr>
              <a:t> </a:t>
            </a:r>
            <a:r>
              <a:rPr dirty="0" sz="1200" spc="-10" b="1">
                <a:latin typeface="Comic Sans MS"/>
                <a:cs typeface="Comic Sans MS"/>
              </a:rPr>
              <a:t>Store</a:t>
            </a:r>
            <a:endParaRPr sz="1200">
              <a:latin typeface="Comic Sans MS"/>
              <a:cs typeface="Comic Sans MS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3743979" y="2599474"/>
            <a:ext cx="403225" cy="22669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300" spc="-20" b="1">
                <a:latin typeface="Comic Sans MS"/>
                <a:cs typeface="Comic Sans MS"/>
              </a:rPr>
              <a:t>Door</a:t>
            </a:r>
            <a:endParaRPr sz="1300">
              <a:latin typeface="Comic Sans MS"/>
              <a:cs typeface="Comic Sans MS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4340778" y="2599474"/>
            <a:ext cx="485140" cy="22669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300" spc="-10" b="1">
                <a:latin typeface="Comic Sans MS"/>
                <a:cs typeface="Comic Sans MS"/>
              </a:rPr>
              <a:t>Store</a:t>
            </a:r>
            <a:endParaRPr sz="1300">
              <a:latin typeface="Comic Sans MS"/>
              <a:cs typeface="Comic Sans MS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4361170" y="4230119"/>
            <a:ext cx="529590" cy="22669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300" spc="-10" b="1">
                <a:latin typeface="Comic Sans MS"/>
                <a:cs typeface="Comic Sans MS"/>
              </a:rPr>
              <a:t>Wheel</a:t>
            </a:r>
            <a:endParaRPr sz="1300">
              <a:latin typeface="Comic Sans MS"/>
              <a:cs typeface="Comic Sans MS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5013290" y="4230119"/>
            <a:ext cx="483234" cy="22669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300" spc="-10" b="1">
                <a:latin typeface="Comic Sans MS"/>
                <a:cs typeface="Comic Sans MS"/>
              </a:rPr>
              <a:t>Store</a:t>
            </a:r>
            <a:endParaRPr sz="1300">
              <a:latin typeface="Comic Sans MS"/>
              <a:cs typeface="Comic Sans MS"/>
            </a:endParaRPr>
          </a:p>
        </p:txBody>
      </p:sp>
      <p:sp>
        <p:nvSpPr>
          <p:cNvPr id="16" name="object 16" descr=""/>
          <p:cNvSpPr txBox="1"/>
          <p:nvPr/>
        </p:nvSpPr>
        <p:spPr>
          <a:xfrm>
            <a:off x="2142217" y="2594891"/>
            <a:ext cx="1069340" cy="21399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tabLst>
                <a:tab pos="627380" algn="l"/>
              </a:tabLst>
            </a:pPr>
            <a:r>
              <a:rPr dirty="0" sz="1200" spc="-10" b="1">
                <a:latin typeface="Comic Sans MS"/>
                <a:cs typeface="Comic Sans MS"/>
              </a:rPr>
              <a:t>Engine</a:t>
            </a:r>
            <a:r>
              <a:rPr dirty="0" sz="1200" b="1">
                <a:latin typeface="Comic Sans MS"/>
                <a:cs typeface="Comic Sans MS"/>
              </a:rPr>
              <a:t>	</a:t>
            </a:r>
            <a:r>
              <a:rPr dirty="0" sz="1200" spc="-10" b="1">
                <a:latin typeface="Comic Sans MS"/>
                <a:cs typeface="Comic Sans MS"/>
              </a:rPr>
              <a:t>Store</a:t>
            </a:r>
            <a:endParaRPr sz="1200">
              <a:latin typeface="Comic Sans MS"/>
              <a:cs typeface="Comic Sans MS"/>
            </a:endParaRPr>
          </a:p>
        </p:txBody>
      </p:sp>
      <p:grpSp>
        <p:nvGrpSpPr>
          <p:cNvPr id="17" name="object 17" descr=""/>
          <p:cNvGrpSpPr/>
          <p:nvPr/>
        </p:nvGrpSpPr>
        <p:grpSpPr>
          <a:xfrm>
            <a:off x="2126741" y="2870454"/>
            <a:ext cx="5543550" cy="1405255"/>
            <a:chOff x="2126741" y="2870454"/>
            <a:chExt cx="5543550" cy="1405255"/>
          </a:xfrm>
        </p:grpSpPr>
        <p:sp>
          <p:nvSpPr>
            <p:cNvPr id="18" name="object 18" descr=""/>
            <p:cNvSpPr/>
            <p:nvPr/>
          </p:nvSpPr>
          <p:spPr>
            <a:xfrm>
              <a:off x="2138171" y="2881884"/>
              <a:ext cx="3206750" cy="1382395"/>
            </a:xfrm>
            <a:custGeom>
              <a:avLst/>
              <a:gdLst/>
              <a:ahLst/>
              <a:cxnLst/>
              <a:rect l="l" t="t" r="r" b="b"/>
              <a:pathLst>
                <a:path w="3206750" h="1382395">
                  <a:moveTo>
                    <a:pt x="251460" y="1382267"/>
                  </a:moveTo>
                  <a:lnTo>
                    <a:pt x="1319784" y="1382267"/>
                  </a:lnTo>
                </a:path>
                <a:path w="3206750" h="1382395">
                  <a:moveTo>
                    <a:pt x="1571244" y="0"/>
                  </a:moveTo>
                  <a:lnTo>
                    <a:pt x="2639568" y="0"/>
                  </a:lnTo>
                </a:path>
                <a:path w="3206750" h="1382395">
                  <a:moveTo>
                    <a:pt x="0" y="0"/>
                  </a:moveTo>
                  <a:lnTo>
                    <a:pt x="1068324" y="0"/>
                  </a:lnTo>
                </a:path>
                <a:path w="3206750" h="1382395">
                  <a:moveTo>
                    <a:pt x="2136647" y="1382267"/>
                  </a:moveTo>
                  <a:lnTo>
                    <a:pt x="3206495" y="1382267"/>
                  </a:lnTo>
                </a:path>
              </a:pathLst>
            </a:custGeom>
            <a:ln w="22859">
              <a:solidFill>
                <a:srgbClr val="4B38E2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 descr=""/>
            <p:cNvSpPr/>
            <p:nvPr/>
          </p:nvSpPr>
          <p:spPr>
            <a:xfrm>
              <a:off x="2630411" y="2877311"/>
              <a:ext cx="5039995" cy="1395095"/>
            </a:xfrm>
            <a:custGeom>
              <a:avLst/>
              <a:gdLst/>
              <a:ahLst/>
              <a:cxnLst/>
              <a:rect l="l" t="t" r="r" b="b"/>
              <a:pathLst>
                <a:path w="5039995" h="1395095">
                  <a:moveTo>
                    <a:pt x="164592" y="379476"/>
                  </a:moveTo>
                  <a:lnTo>
                    <a:pt x="118935" y="390436"/>
                  </a:lnTo>
                  <a:lnTo>
                    <a:pt x="21336" y="1524"/>
                  </a:lnTo>
                  <a:lnTo>
                    <a:pt x="0" y="7620"/>
                  </a:lnTo>
                  <a:lnTo>
                    <a:pt x="96329" y="395871"/>
                  </a:lnTo>
                  <a:lnTo>
                    <a:pt x="50292" y="406908"/>
                  </a:lnTo>
                  <a:lnTo>
                    <a:pt x="135636" y="507492"/>
                  </a:lnTo>
                  <a:lnTo>
                    <a:pt x="158394" y="406908"/>
                  </a:lnTo>
                  <a:lnTo>
                    <a:pt x="164592" y="379476"/>
                  </a:lnTo>
                  <a:close/>
                </a:path>
                <a:path w="5039995" h="1395095">
                  <a:moveTo>
                    <a:pt x="320040" y="1127760"/>
                  </a:moveTo>
                  <a:lnTo>
                    <a:pt x="314032" y="1115568"/>
                  </a:lnTo>
                  <a:lnTo>
                    <a:pt x="262128" y="1010412"/>
                  </a:lnTo>
                  <a:lnTo>
                    <a:pt x="202692" y="1127760"/>
                  </a:lnTo>
                  <a:lnTo>
                    <a:pt x="249936" y="1127760"/>
                  </a:lnTo>
                  <a:lnTo>
                    <a:pt x="249936" y="1386840"/>
                  </a:lnTo>
                  <a:lnTo>
                    <a:pt x="274320" y="1386840"/>
                  </a:lnTo>
                  <a:lnTo>
                    <a:pt x="274320" y="1127760"/>
                  </a:lnTo>
                  <a:lnTo>
                    <a:pt x="320040" y="1127760"/>
                  </a:lnTo>
                  <a:close/>
                </a:path>
                <a:path w="5039995" h="1395095">
                  <a:moveTo>
                    <a:pt x="1016508" y="758964"/>
                  </a:moveTo>
                  <a:lnTo>
                    <a:pt x="992441" y="746772"/>
                  </a:lnTo>
                  <a:lnTo>
                    <a:pt x="899160" y="699528"/>
                  </a:lnTo>
                  <a:lnTo>
                    <a:pt x="899160" y="746772"/>
                  </a:lnTo>
                  <a:lnTo>
                    <a:pt x="513588" y="746772"/>
                  </a:lnTo>
                  <a:lnTo>
                    <a:pt x="513588" y="769632"/>
                  </a:lnTo>
                  <a:lnTo>
                    <a:pt x="899160" y="769632"/>
                  </a:lnTo>
                  <a:lnTo>
                    <a:pt x="899160" y="816876"/>
                  </a:lnTo>
                  <a:lnTo>
                    <a:pt x="994892" y="769632"/>
                  </a:lnTo>
                  <a:lnTo>
                    <a:pt x="1016508" y="758964"/>
                  </a:lnTo>
                  <a:close/>
                </a:path>
                <a:path w="5039995" h="1395095">
                  <a:moveTo>
                    <a:pt x="1592580" y="7620"/>
                  </a:moveTo>
                  <a:lnTo>
                    <a:pt x="1571244" y="0"/>
                  </a:lnTo>
                  <a:lnTo>
                    <a:pt x="1424381" y="393141"/>
                  </a:lnTo>
                  <a:lnTo>
                    <a:pt x="1379220" y="376428"/>
                  </a:lnTo>
                  <a:lnTo>
                    <a:pt x="1392936" y="507492"/>
                  </a:lnTo>
                  <a:lnTo>
                    <a:pt x="1490472" y="417576"/>
                  </a:lnTo>
                  <a:lnTo>
                    <a:pt x="1478114" y="413004"/>
                  </a:lnTo>
                  <a:lnTo>
                    <a:pt x="1446110" y="401180"/>
                  </a:lnTo>
                  <a:lnTo>
                    <a:pt x="1592580" y="7620"/>
                  </a:lnTo>
                  <a:close/>
                </a:path>
                <a:path w="5039995" h="1395095">
                  <a:moveTo>
                    <a:pt x="2398776" y="758964"/>
                  </a:moveTo>
                  <a:lnTo>
                    <a:pt x="2374709" y="746772"/>
                  </a:lnTo>
                  <a:lnTo>
                    <a:pt x="2281428" y="699528"/>
                  </a:lnTo>
                  <a:lnTo>
                    <a:pt x="2281428" y="746772"/>
                  </a:lnTo>
                  <a:lnTo>
                    <a:pt x="1581912" y="746772"/>
                  </a:lnTo>
                  <a:lnTo>
                    <a:pt x="1581912" y="769632"/>
                  </a:lnTo>
                  <a:lnTo>
                    <a:pt x="2281428" y="769632"/>
                  </a:lnTo>
                  <a:lnTo>
                    <a:pt x="2281428" y="816876"/>
                  </a:lnTo>
                  <a:lnTo>
                    <a:pt x="2377160" y="769632"/>
                  </a:lnTo>
                  <a:lnTo>
                    <a:pt x="2398776" y="758964"/>
                  </a:lnTo>
                  <a:close/>
                </a:path>
                <a:path w="5039995" h="1395095">
                  <a:moveTo>
                    <a:pt x="2525268" y="946416"/>
                  </a:moveTo>
                  <a:lnTo>
                    <a:pt x="2409444" y="1008900"/>
                  </a:lnTo>
                  <a:lnTo>
                    <a:pt x="2446934" y="1035075"/>
                  </a:lnTo>
                  <a:lnTo>
                    <a:pt x="2200656" y="1380756"/>
                  </a:lnTo>
                  <a:lnTo>
                    <a:pt x="2220468" y="1394472"/>
                  </a:lnTo>
                  <a:lnTo>
                    <a:pt x="2466695" y="1048867"/>
                  </a:lnTo>
                  <a:lnTo>
                    <a:pt x="2505456" y="1075956"/>
                  </a:lnTo>
                  <a:lnTo>
                    <a:pt x="2513152" y="1025664"/>
                  </a:lnTo>
                  <a:lnTo>
                    <a:pt x="2525268" y="946416"/>
                  </a:lnTo>
                  <a:close/>
                </a:path>
                <a:path w="5039995" h="1395095">
                  <a:moveTo>
                    <a:pt x="3845064" y="758964"/>
                  </a:moveTo>
                  <a:lnTo>
                    <a:pt x="3820985" y="746772"/>
                  </a:lnTo>
                  <a:lnTo>
                    <a:pt x="3727716" y="699528"/>
                  </a:lnTo>
                  <a:lnTo>
                    <a:pt x="3727716" y="746772"/>
                  </a:lnTo>
                  <a:lnTo>
                    <a:pt x="2965716" y="746772"/>
                  </a:lnTo>
                  <a:lnTo>
                    <a:pt x="2965716" y="769632"/>
                  </a:lnTo>
                  <a:lnTo>
                    <a:pt x="3727716" y="769632"/>
                  </a:lnTo>
                  <a:lnTo>
                    <a:pt x="3727716" y="816876"/>
                  </a:lnTo>
                  <a:lnTo>
                    <a:pt x="3823436" y="769632"/>
                  </a:lnTo>
                  <a:lnTo>
                    <a:pt x="3845064" y="758964"/>
                  </a:lnTo>
                  <a:close/>
                </a:path>
                <a:path w="5039995" h="1395095">
                  <a:moveTo>
                    <a:pt x="5039868" y="758964"/>
                  </a:moveTo>
                  <a:lnTo>
                    <a:pt x="5015801" y="746772"/>
                  </a:lnTo>
                  <a:lnTo>
                    <a:pt x="4922520" y="699528"/>
                  </a:lnTo>
                  <a:lnTo>
                    <a:pt x="4922520" y="746772"/>
                  </a:lnTo>
                  <a:lnTo>
                    <a:pt x="4536948" y="746772"/>
                  </a:lnTo>
                  <a:lnTo>
                    <a:pt x="4536948" y="769632"/>
                  </a:lnTo>
                  <a:lnTo>
                    <a:pt x="4922520" y="769632"/>
                  </a:lnTo>
                  <a:lnTo>
                    <a:pt x="4922520" y="816876"/>
                  </a:lnTo>
                  <a:lnTo>
                    <a:pt x="5018252" y="769632"/>
                  </a:lnTo>
                  <a:lnTo>
                    <a:pt x="5039868" y="758964"/>
                  </a:lnTo>
                  <a:close/>
                </a:path>
              </a:pathLst>
            </a:custGeom>
            <a:solidFill>
              <a:srgbClr val="4B38E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0" name="object 20" descr=""/>
          <p:cNvSpPr/>
          <p:nvPr/>
        </p:nvSpPr>
        <p:spPr>
          <a:xfrm>
            <a:off x="2389632" y="4515611"/>
            <a:ext cx="1068705" cy="0"/>
          </a:xfrm>
          <a:custGeom>
            <a:avLst/>
            <a:gdLst/>
            <a:ahLst/>
            <a:cxnLst/>
            <a:rect l="l" t="t" r="r" b="b"/>
            <a:pathLst>
              <a:path w="1068704" h="0">
                <a:moveTo>
                  <a:pt x="0" y="0"/>
                </a:moveTo>
                <a:lnTo>
                  <a:pt x="1068324" y="0"/>
                </a:lnTo>
              </a:path>
            </a:pathLst>
          </a:custGeom>
          <a:ln w="22859">
            <a:solidFill>
              <a:srgbClr val="4B38E2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object 21" descr=""/>
          <p:cNvSpPr/>
          <p:nvPr/>
        </p:nvSpPr>
        <p:spPr>
          <a:xfrm>
            <a:off x="3709415" y="2566416"/>
            <a:ext cx="1068705" cy="0"/>
          </a:xfrm>
          <a:custGeom>
            <a:avLst/>
            <a:gdLst/>
            <a:ahLst/>
            <a:cxnLst/>
            <a:rect l="l" t="t" r="r" b="b"/>
            <a:pathLst>
              <a:path w="1068704" h="0">
                <a:moveTo>
                  <a:pt x="0" y="0"/>
                </a:moveTo>
                <a:lnTo>
                  <a:pt x="1068324" y="0"/>
                </a:lnTo>
              </a:path>
            </a:pathLst>
          </a:custGeom>
          <a:ln w="22859">
            <a:solidFill>
              <a:srgbClr val="4B38E2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object 22" descr=""/>
          <p:cNvSpPr/>
          <p:nvPr/>
        </p:nvSpPr>
        <p:spPr>
          <a:xfrm>
            <a:off x="2138172" y="2566416"/>
            <a:ext cx="1068705" cy="0"/>
          </a:xfrm>
          <a:custGeom>
            <a:avLst/>
            <a:gdLst/>
            <a:ahLst/>
            <a:cxnLst/>
            <a:rect l="l" t="t" r="r" b="b"/>
            <a:pathLst>
              <a:path w="1068705" h="0">
                <a:moveTo>
                  <a:pt x="0" y="0"/>
                </a:moveTo>
                <a:lnTo>
                  <a:pt x="1068324" y="0"/>
                </a:lnTo>
              </a:path>
            </a:pathLst>
          </a:custGeom>
          <a:ln w="22859">
            <a:solidFill>
              <a:srgbClr val="4B38E2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" name="object 23" descr=""/>
          <p:cNvSpPr/>
          <p:nvPr/>
        </p:nvSpPr>
        <p:spPr>
          <a:xfrm>
            <a:off x="4274820" y="4515611"/>
            <a:ext cx="1069975" cy="0"/>
          </a:xfrm>
          <a:custGeom>
            <a:avLst/>
            <a:gdLst/>
            <a:ahLst/>
            <a:cxnLst/>
            <a:rect l="l" t="t" r="r" b="b"/>
            <a:pathLst>
              <a:path w="1069975" h="0">
                <a:moveTo>
                  <a:pt x="0" y="0"/>
                </a:moveTo>
                <a:lnTo>
                  <a:pt x="1069848" y="0"/>
                </a:lnTo>
              </a:path>
            </a:pathLst>
          </a:custGeom>
          <a:ln w="22859">
            <a:solidFill>
              <a:srgbClr val="4B38E2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" name="object 24" descr=""/>
          <p:cNvSpPr txBox="1"/>
          <p:nvPr/>
        </p:nvSpPr>
        <p:spPr>
          <a:xfrm>
            <a:off x="7419887" y="3727198"/>
            <a:ext cx="292100" cy="22669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300" spc="-25">
                <a:latin typeface="Comic Sans MS"/>
                <a:cs typeface="Comic Sans MS"/>
              </a:rPr>
              <a:t>Car</a:t>
            </a:r>
            <a:endParaRPr sz="1300">
              <a:latin typeface="Comic Sans MS"/>
              <a:cs typeface="Comic Sans MS"/>
            </a:endParaRPr>
          </a:p>
        </p:txBody>
      </p:sp>
      <p:sp>
        <p:nvSpPr>
          <p:cNvPr id="25" name="object 25" descr=""/>
          <p:cNvSpPr txBox="1"/>
          <p:nvPr/>
        </p:nvSpPr>
        <p:spPr>
          <a:xfrm>
            <a:off x="4277291" y="3122150"/>
            <a:ext cx="662940" cy="299720"/>
          </a:xfrm>
          <a:prstGeom prst="rect">
            <a:avLst/>
          </a:prstGeom>
        </p:spPr>
        <p:txBody>
          <a:bodyPr wrap="square" lIns="0" tIns="41275" rIns="0" bIns="0" rtlCol="0" vert="horz">
            <a:spAutoFit/>
          </a:bodyPr>
          <a:lstStyle/>
          <a:p>
            <a:pPr marL="12700" marR="5080">
              <a:lnSpc>
                <a:spcPts val="960"/>
              </a:lnSpc>
              <a:spcBef>
                <a:spcPts val="325"/>
              </a:spcBef>
            </a:pPr>
            <a:r>
              <a:rPr dirty="0" sz="1000" spc="-10" b="1">
                <a:latin typeface="Comic Sans MS"/>
                <a:cs typeface="Comic Sans MS"/>
              </a:rPr>
              <a:t>Partly Assembled</a:t>
            </a:r>
            <a:endParaRPr sz="1000">
              <a:latin typeface="Comic Sans MS"/>
              <a:cs typeface="Comic Sans MS"/>
            </a:endParaRPr>
          </a:p>
        </p:txBody>
      </p:sp>
      <p:sp>
        <p:nvSpPr>
          <p:cNvPr id="26" name="object 26" descr=""/>
          <p:cNvSpPr txBox="1"/>
          <p:nvPr/>
        </p:nvSpPr>
        <p:spPr>
          <a:xfrm>
            <a:off x="4277291" y="3364446"/>
            <a:ext cx="23431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25" b="1">
                <a:latin typeface="Comic Sans MS"/>
                <a:cs typeface="Comic Sans MS"/>
              </a:rPr>
              <a:t>Car</a:t>
            </a:r>
            <a:endParaRPr sz="1000">
              <a:latin typeface="Comic Sans MS"/>
              <a:cs typeface="Comic Sans MS"/>
            </a:endParaRPr>
          </a:p>
        </p:txBody>
      </p:sp>
      <p:sp>
        <p:nvSpPr>
          <p:cNvPr id="27" name="object 27" descr=""/>
          <p:cNvSpPr txBox="1"/>
          <p:nvPr/>
        </p:nvSpPr>
        <p:spPr>
          <a:xfrm>
            <a:off x="5659550" y="3670792"/>
            <a:ext cx="66294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10" b="1">
                <a:latin typeface="Comic Sans MS"/>
                <a:cs typeface="Comic Sans MS"/>
              </a:rPr>
              <a:t>Assembled</a:t>
            </a:r>
            <a:endParaRPr sz="1000">
              <a:latin typeface="Comic Sans MS"/>
              <a:cs typeface="Comic Sans MS"/>
            </a:endParaRPr>
          </a:p>
        </p:txBody>
      </p:sp>
      <p:sp>
        <p:nvSpPr>
          <p:cNvPr id="28" name="object 28" descr=""/>
          <p:cNvSpPr txBox="1"/>
          <p:nvPr/>
        </p:nvSpPr>
        <p:spPr>
          <a:xfrm>
            <a:off x="5659550" y="3780490"/>
            <a:ext cx="23431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25" b="1">
                <a:latin typeface="Comic Sans MS"/>
                <a:cs typeface="Comic Sans MS"/>
              </a:rPr>
              <a:t>Car</a:t>
            </a:r>
            <a:endParaRPr sz="1000">
              <a:latin typeface="Comic Sans MS"/>
              <a:cs typeface="Comic Sans MS"/>
            </a:endParaRPr>
          </a:p>
        </p:txBody>
      </p:sp>
      <p:sp>
        <p:nvSpPr>
          <p:cNvPr id="29" name="object 29" descr=""/>
          <p:cNvSpPr txBox="1"/>
          <p:nvPr/>
        </p:nvSpPr>
        <p:spPr>
          <a:xfrm>
            <a:off x="2616665" y="3429977"/>
            <a:ext cx="991869" cy="426084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202565">
              <a:lnSpc>
                <a:spcPct val="100000"/>
              </a:lnSpc>
              <a:spcBef>
                <a:spcPts val="95"/>
              </a:spcBef>
            </a:pPr>
            <a:r>
              <a:rPr dirty="0" sz="1000" spc="-25" b="1">
                <a:latin typeface="Comic Sans MS"/>
                <a:cs typeface="Comic Sans MS"/>
              </a:rPr>
              <a:t>Fit</a:t>
            </a:r>
            <a:endParaRPr sz="1000">
              <a:latin typeface="Comic Sans MS"/>
              <a:cs typeface="Comic Sans MS"/>
            </a:endParaRPr>
          </a:p>
          <a:p>
            <a:pPr marL="38100">
              <a:lnSpc>
                <a:spcPct val="100000"/>
              </a:lnSpc>
              <a:spcBef>
                <a:spcPts val="755"/>
              </a:spcBef>
            </a:pPr>
            <a:r>
              <a:rPr dirty="0" baseline="47222" sz="1500" b="1">
                <a:latin typeface="Comic Sans MS"/>
                <a:cs typeface="Comic Sans MS"/>
              </a:rPr>
              <a:t>Engine</a:t>
            </a:r>
            <a:r>
              <a:rPr dirty="0" baseline="47222" sz="1500" spc="359" b="1">
                <a:latin typeface="Comic Sans MS"/>
                <a:cs typeface="Comic Sans MS"/>
              </a:rPr>
              <a:t> </a:t>
            </a:r>
            <a:r>
              <a:rPr dirty="0" sz="1000" spc="-10" b="1">
                <a:latin typeface="Comic Sans MS"/>
                <a:cs typeface="Comic Sans MS"/>
              </a:rPr>
              <a:t>Chassis</a:t>
            </a:r>
            <a:endParaRPr sz="1000">
              <a:latin typeface="Comic Sans MS"/>
              <a:cs typeface="Comic Sans MS"/>
            </a:endParaRPr>
          </a:p>
        </p:txBody>
      </p:sp>
      <p:sp>
        <p:nvSpPr>
          <p:cNvPr id="30" name="object 30" descr=""/>
          <p:cNvSpPr txBox="1"/>
          <p:nvPr/>
        </p:nvSpPr>
        <p:spPr>
          <a:xfrm>
            <a:off x="3117579" y="3807898"/>
            <a:ext cx="71628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b="1">
                <a:latin typeface="Comic Sans MS"/>
                <a:cs typeface="Comic Sans MS"/>
              </a:rPr>
              <a:t>with</a:t>
            </a:r>
            <a:r>
              <a:rPr dirty="0" sz="1000" spc="-45" b="1">
                <a:latin typeface="Comic Sans MS"/>
                <a:cs typeface="Comic Sans MS"/>
              </a:rPr>
              <a:t> </a:t>
            </a:r>
            <a:r>
              <a:rPr dirty="0" sz="1000" spc="-10" b="1">
                <a:latin typeface="Comic Sans MS"/>
                <a:cs typeface="Comic Sans MS"/>
              </a:rPr>
              <a:t>Engine</a:t>
            </a:r>
            <a:endParaRPr sz="1000">
              <a:latin typeface="Comic Sans MS"/>
              <a:cs typeface="Comic Sans MS"/>
            </a:endParaRPr>
          </a:p>
        </p:txBody>
      </p:sp>
      <p:pic>
        <p:nvPicPr>
          <p:cNvPr id="31" name="object 31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102506" y="3697890"/>
            <a:ext cx="751522" cy="196786"/>
          </a:xfrm>
          <a:prstGeom prst="rect">
            <a:avLst/>
          </a:prstGeom>
        </p:spPr>
      </p:pic>
      <p:sp>
        <p:nvSpPr>
          <p:cNvPr id="32" name="object 32" descr=""/>
          <p:cNvSpPr/>
          <p:nvPr/>
        </p:nvSpPr>
        <p:spPr>
          <a:xfrm>
            <a:off x="7217664" y="3820667"/>
            <a:ext cx="475615" cy="21590"/>
          </a:xfrm>
          <a:custGeom>
            <a:avLst/>
            <a:gdLst/>
            <a:ahLst/>
            <a:cxnLst/>
            <a:rect l="l" t="t" r="r" b="b"/>
            <a:pathLst>
              <a:path w="475615" h="21589">
                <a:moveTo>
                  <a:pt x="21336" y="4572"/>
                </a:moveTo>
                <a:lnTo>
                  <a:pt x="16764" y="0"/>
                </a:lnTo>
                <a:lnTo>
                  <a:pt x="4572" y="0"/>
                </a:lnTo>
                <a:lnTo>
                  <a:pt x="0" y="4572"/>
                </a:lnTo>
                <a:lnTo>
                  <a:pt x="0" y="16764"/>
                </a:lnTo>
                <a:lnTo>
                  <a:pt x="4572" y="21336"/>
                </a:lnTo>
                <a:lnTo>
                  <a:pt x="16764" y="21336"/>
                </a:lnTo>
                <a:lnTo>
                  <a:pt x="21336" y="16764"/>
                </a:lnTo>
                <a:lnTo>
                  <a:pt x="21336" y="10668"/>
                </a:lnTo>
                <a:lnTo>
                  <a:pt x="21336" y="4572"/>
                </a:lnTo>
                <a:close/>
              </a:path>
              <a:path w="475615" h="21589">
                <a:moveTo>
                  <a:pt x="475475" y="4572"/>
                </a:moveTo>
                <a:lnTo>
                  <a:pt x="470903" y="0"/>
                </a:lnTo>
                <a:lnTo>
                  <a:pt x="458711" y="0"/>
                </a:lnTo>
                <a:lnTo>
                  <a:pt x="454139" y="4572"/>
                </a:lnTo>
                <a:lnTo>
                  <a:pt x="454139" y="16764"/>
                </a:lnTo>
                <a:lnTo>
                  <a:pt x="458711" y="21336"/>
                </a:lnTo>
                <a:lnTo>
                  <a:pt x="470903" y="21336"/>
                </a:lnTo>
                <a:lnTo>
                  <a:pt x="475475" y="16764"/>
                </a:lnTo>
                <a:lnTo>
                  <a:pt x="475475" y="10668"/>
                </a:lnTo>
                <a:lnTo>
                  <a:pt x="475475" y="457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53912" y="1558630"/>
            <a:ext cx="3543935" cy="579755"/>
          </a:xfrm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3600" spc="-95" b="1">
                <a:latin typeface="Calibri"/>
                <a:cs typeface="Calibri"/>
              </a:rPr>
              <a:t>What</a:t>
            </a:r>
            <a:r>
              <a:rPr dirty="0" sz="3600" spc="-110" b="1">
                <a:latin typeface="Calibri"/>
                <a:cs typeface="Calibri"/>
              </a:rPr>
              <a:t> </a:t>
            </a:r>
            <a:r>
              <a:rPr dirty="0" sz="3600" spc="-10" b="1">
                <a:latin typeface="Calibri"/>
                <a:cs typeface="Calibri"/>
              </a:rPr>
              <a:t>is</a:t>
            </a:r>
            <a:r>
              <a:rPr dirty="0" sz="3600" spc="-160" b="1">
                <a:latin typeface="Calibri"/>
                <a:cs typeface="Calibri"/>
              </a:rPr>
              <a:t> </a:t>
            </a:r>
            <a:r>
              <a:rPr dirty="0" sz="3600" b="1">
                <a:latin typeface="Calibri"/>
                <a:cs typeface="Calibri"/>
              </a:rPr>
              <a:t>a</a:t>
            </a:r>
            <a:r>
              <a:rPr dirty="0" sz="3600" spc="-95" b="1">
                <a:latin typeface="Calibri"/>
                <a:cs typeface="Calibri"/>
              </a:rPr>
              <a:t> </a:t>
            </a:r>
            <a:r>
              <a:rPr dirty="0" sz="3600" spc="-80" b="1">
                <a:latin typeface="Calibri"/>
                <a:cs typeface="Calibri"/>
              </a:rPr>
              <a:t>flowchart</a:t>
            </a:r>
            <a:endParaRPr sz="3600">
              <a:latin typeface="Calibri"/>
              <a:cs typeface="Calibri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753831" y="2468318"/>
            <a:ext cx="8211820" cy="1969135"/>
          </a:xfrm>
          <a:prstGeom prst="rect">
            <a:avLst/>
          </a:prstGeom>
        </p:spPr>
        <p:txBody>
          <a:bodyPr wrap="square" lIns="0" tIns="90805" rIns="0" bIns="0" rtlCol="0" vert="horz">
            <a:spAutoFit/>
          </a:bodyPr>
          <a:lstStyle/>
          <a:p>
            <a:pPr marL="200660" indent="-187960">
              <a:lnSpc>
                <a:spcPct val="100000"/>
              </a:lnSpc>
              <a:spcBef>
                <a:spcPts val="715"/>
              </a:spcBef>
              <a:buFont typeface="Arial MT"/>
              <a:buChar char="•"/>
              <a:tabLst>
                <a:tab pos="200660" algn="l"/>
              </a:tabLst>
            </a:pPr>
            <a:r>
              <a:rPr dirty="0" sz="1950">
                <a:latin typeface="Calibri"/>
                <a:cs typeface="Calibri"/>
              </a:rPr>
              <a:t>A</a:t>
            </a:r>
            <a:r>
              <a:rPr dirty="0" sz="1950" spc="10">
                <a:latin typeface="Calibri"/>
                <a:cs typeface="Calibri"/>
              </a:rPr>
              <a:t> </a:t>
            </a:r>
            <a:r>
              <a:rPr dirty="0" sz="1950">
                <a:latin typeface="Calibri"/>
                <a:cs typeface="Calibri"/>
              </a:rPr>
              <a:t>flowchart</a:t>
            </a:r>
            <a:r>
              <a:rPr dirty="0" sz="1950" spc="15">
                <a:latin typeface="Calibri"/>
                <a:cs typeface="Calibri"/>
              </a:rPr>
              <a:t> </a:t>
            </a:r>
            <a:r>
              <a:rPr dirty="0" sz="1950">
                <a:latin typeface="Calibri"/>
                <a:cs typeface="Calibri"/>
              </a:rPr>
              <a:t>is</a:t>
            </a:r>
            <a:r>
              <a:rPr dirty="0" sz="1950" spc="5">
                <a:latin typeface="Calibri"/>
                <a:cs typeface="Calibri"/>
              </a:rPr>
              <a:t> </a:t>
            </a:r>
            <a:r>
              <a:rPr dirty="0" sz="1950">
                <a:latin typeface="Calibri"/>
                <a:cs typeface="Calibri"/>
              </a:rPr>
              <a:t>a</a:t>
            </a:r>
            <a:r>
              <a:rPr dirty="0" sz="1950" spc="10">
                <a:latin typeface="Calibri"/>
                <a:cs typeface="Calibri"/>
              </a:rPr>
              <a:t> </a:t>
            </a:r>
            <a:r>
              <a:rPr dirty="0" sz="1950">
                <a:latin typeface="Calibri"/>
                <a:cs typeface="Calibri"/>
              </a:rPr>
              <a:t>diagram</a:t>
            </a:r>
            <a:r>
              <a:rPr dirty="0" sz="1950" spc="10">
                <a:latin typeface="Calibri"/>
                <a:cs typeface="Calibri"/>
              </a:rPr>
              <a:t> </a:t>
            </a:r>
            <a:r>
              <a:rPr dirty="0" sz="1950">
                <a:latin typeface="Calibri"/>
                <a:cs typeface="Calibri"/>
              </a:rPr>
              <a:t>that</a:t>
            </a:r>
            <a:r>
              <a:rPr dirty="0" sz="1950" spc="15">
                <a:latin typeface="Calibri"/>
                <a:cs typeface="Calibri"/>
              </a:rPr>
              <a:t> </a:t>
            </a:r>
            <a:r>
              <a:rPr dirty="0" sz="1950">
                <a:latin typeface="Calibri"/>
                <a:cs typeface="Calibri"/>
              </a:rPr>
              <a:t>depicts</a:t>
            </a:r>
            <a:r>
              <a:rPr dirty="0" sz="1950" spc="5">
                <a:latin typeface="Calibri"/>
                <a:cs typeface="Calibri"/>
              </a:rPr>
              <a:t> </a:t>
            </a:r>
            <a:r>
              <a:rPr dirty="0" sz="1950">
                <a:latin typeface="Calibri"/>
                <a:cs typeface="Calibri"/>
              </a:rPr>
              <a:t>a</a:t>
            </a:r>
            <a:r>
              <a:rPr dirty="0" sz="1950" spc="30">
                <a:latin typeface="Calibri"/>
                <a:cs typeface="Calibri"/>
              </a:rPr>
              <a:t> </a:t>
            </a:r>
            <a:r>
              <a:rPr dirty="0" sz="1950">
                <a:latin typeface="Calibri"/>
                <a:cs typeface="Calibri"/>
              </a:rPr>
              <a:t>process,</a:t>
            </a:r>
            <a:r>
              <a:rPr dirty="0" sz="1950" spc="10">
                <a:latin typeface="Calibri"/>
                <a:cs typeface="Calibri"/>
              </a:rPr>
              <a:t> </a:t>
            </a:r>
            <a:r>
              <a:rPr dirty="0" sz="1950">
                <a:latin typeface="Calibri"/>
                <a:cs typeface="Calibri"/>
              </a:rPr>
              <a:t>system</a:t>
            </a:r>
            <a:r>
              <a:rPr dirty="0" sz="1950" spc="10">
                <a:latin typeface="Calibri"/>
                <a:cs typeface="Calibri"/>
              </a:rPr>
              <a:t> </a:t>
            </a:r>
            <a:r>
              <a:rPr dirty="0" sz="1950">
                <a:latin typeface="Calibri"/>
                <a:cs typeface="Calibri"/>
              </a:rPr>
              <a:t>or</a:t>
            </a:r>
            <a:r>
              <a:rPr dirty="0" sz="1950" spc="30">
                <a:latin typeface="Calibri"/>
                <a:cs typeface="Calibri"/>
              </a:rPr>
              <a:t> </a:t>
            </a:r>
            <a:r>
              <a:rPr dirty="0" sz="1950">
                <a:latin typeface="Calibri"/>
                <a:cs typeface="Calibri"/>
              </a:rPr>
              <a:t>computer</a:t>
            </a:r>
            <a:r>
              <a:rPr dirty="0" sz="1950" spc="-10">
                <a:latin typeface="Calibri"/>
                <a:cs typeface="Calibri"/>
              </a:rPr>
              <a:t> algorithm.</a:t>
            </a:r>
            <a:endParaRPr sz="1950">
              <a:latin typeface="Calibri"/>
              <a:cs typeface="Calibri"/>
            </a:endParaRPr>
          </a:p>
          <a:p>
            <a:pPr marL="200025" marR="97790" indent="-187960">
              <a:lnSpc>
                <a:spcPts val="2140"/>
              </a:lnSpc>
              <a:spcBef>
                <a:spcPts val="865"/>
              </a:spcBef>
              <a:buFont typeface="Arial MT"/>
              <a:buChar char="•"/>
              <a:tabLst>
                <a:tab pos="201295" algn="l"/>
              </a:tabLst>
            </a:pPr>
            <a:r>
              <a:rPr dirty="0" sz="1950">
                <a:latin typeface="Calibri"/>
                <a:cs typeface="Calibri"/>
              </a:rPr>
              <a:t>They</a:t>
            </a:r>
            <a:r>
              <a:rPr dirty="0" sz="1950" spc="35">
                <a:latin typeface="Calibri"/>
                <a:cs typeface="Calibri"/>
              </a:rPr>
              <a:t> </a:t>
            </a:r>
            <a:r>
              <a:rPr dirty="0" sz="1950">
                <a:latin typeface="Calibri"/>
                <a:cs typeface="Calibri"/>
              </a:rPr>
              <a:t>are</a:t>
            </a:r>
            <a:r>
              <a:rPr dirty="0" sz="1950" spc="10">
                <a:latin typeface="Calibri"/>
                <a:cs typeface="Calibri"/>
              </a:rPr>
              <a:t> </a:t>
            </a:r>
            <a:r>
              <a:rPr dirty="0" sz="1950">
                <a:latin typeface="Calibri"/>
                <a:cs typeface="Calibri"/>
              </a:rPr>
              <a:t>widely</a:t>
            </a:r>
            <a:r>
              <a:rPr dirty="0" sz="1950" spc="-5">
                <a:latin typeface="Calibri"/>
                <a:cs typeface="Calibri"/>
              </a:rPr>
              <a:t> </a:t>
            </a:r>
            <a:r>
              <a:rPr dirty="0" sz="1950">
                <a:latin typeface="Calibri"/>
                <a:cs typeface="Calibri"/>
              </a:rPr>
              <a:t>used</a:t>
            </a:r>
            <a:r>
              <a:rPr dirty="0" sz="1950" spc="15">
                <a:latin typeface="Calibri"/>
                <a:cs typeface="Calibri"/>
              </a:rPr>
              <a:t> </a:t>
            </a:r>
            <a:r>
              <a:rPr dirty="0" sz="1950">
                <a:latin typeface="Calibri"/>
                <a:cs typeface="Calibri"/>
              </a:rPr>
              <a:t>in</a:t>
            </a:r>
            <a:r>
              <a:rPr dirty="0" sz="1950" spc="15">
                <a:latin typeface="Calibri"/>
                <a:cs typeface="Calibri"/>
              </a:rPr>
              <a:t> </a:t>
            </a:r>
            <a:r>
              <a:rPr dirty="0" sz="1950">
                <a:latin typeface="Calibri"/>
                <a:cs typeface="Calibri"/>
              </a:rPr>
              <a:t>multiple</a:t>
            </a:r>
            <a:r>
              <a:rPr dirty="0" sz="1950" spc="5">
                <a:latin typeface="Calibri"/>
                <a:cs typeface="Calibri"/>
              </a:rPr>
              <a:t> </a:t>
            </a:r>
            <a:r>
              <a:rPr dirty="0" sz="1950">
                <a:latin typeface="Calibri"/>
                <a:cs typeface="Calibri"/>
              </a:rPr>
              <a:t>fields</a:t>
            </a:r>
            <a:r>
              <a:rPr dirty="0" sz="1950" spc="25">
                <a:latin typeface="Calibri"/>
                <a:cs typeface="Calibri"/>
              </a:rPr>
              <a:t> </a:t>
            </a:r>
            <a:r>
              <a:rPr dirty="0" sz="1950">
                <a:latin typeface="Calibri"/>
                <a:cs typeface="Calibri"/>
              </a:rPr>
              <a:t>to</a:t>
            </a:r>
            <a:r>
              <a:rPr dirty="0" sz="1950" spc="15">
                <a:latin typeface="Calibri"/>
                <a:cs typeface="Calibri"/>
              </a:rPr>
              <a:t> </a:t>
            </a:r>
            <a:r>
              <a:rPr dirty="0" sz="1950">
                <a:latin typeface="Calibri"/>
                <a:cs typeface="Calibri"/>
              </a:rPr>
              <a:t>document,</a:t>
            </a:r>
            <a:r>
              <a:rPr dirty="0" sz="1950" spc="5">
                <a:latin typeface="Calibri"/>
                <a:cs typeface="Calibri"/>
              </a:rPr>
              <a:t> </a:t>
            </a:r>
            <a:r>
              <a:rPr dirty="0" sz="1950" spc="-10">
                <a:latin typeface="Calibri"/>
                <a:cs typeface="Calibri"/>
              </a:rPr>
              <a:t>study,</a:t>
            </a:r>
            <a:r>
              <a:rPr dirty="0" sz="1950" spc="10">
                <a:latin typeface="Calibri"/>
                <a:cs typeface="Calibri"/>
              </a:rPr>
              <a:t> </a:t>
            </a:r>
            <a:r>
              <a:rPr dirty="0" sz="1950">
                <a:latin typeface="Calibri"/>
                <a:cs typeface="Calibri"/>
              </a:rPr>
              <a:t>plan,</a:t>
            </a:r>
            <a:r>
              <a:rPr dirty="0" sz="1950" spc="30">
                <a:latin typeface="Calibri"/>
                <a:cs typeface="Calibri"/>
              </a:rPr>
              <a:t> </a:t>
            </a:r>
            <a:r>
              <a:rPr dirty="0" sz="1950">
                <a:latin typeface="Calibri"/>
                <a:cs typeface="Calibri"/>
              </a:rPr>
              <a:t>improve</a:t>
            </a:r>
            <a:r>
              <a:rPr dirty="0" sz="1950" spc="5">
                <a:latin typeface="Calibri"/>
                <a:cs typeface="Calibri"/>
              </a:rPr>
              <a:t> </a:t>
            </a:r>
            <a:r>
              <a:rPr dirty="0" sz="1950" spc="-25">
                <a:latin typeface="Calibri"/>
                <a:cs typeface="Calibri"/>
              </a:rPr>
              <a:t>and </a:t>
            </a:r>
            <a:r>
              <a:rPr dirty="0" sz="1950" spc="-25">
                <a:latin typeface="Calibri"/>
                <a:cs typeface="Calibri"/>
              </a:rPr>
              <a:t>	</a:t>
            </a:r>
            <a:r>
              <a:rPr dirty="0" sz="1950">
                <a:latin typeface="Calibri"/>
                <a:cs typeface="Calibri"/>
              </a:rPr>
              <a:t>communicate</a:t>
            </a:r>
            <a:r>
              <a:rPr dirty="0" sz="1950" spc="-20">
                <a:latin typeface="Calibri"/>
                <a:cs typeface="Calibri"/>
              </a:rPr>
              <a:t> </a:t>
            </a:r>
            <a:r>
              <a:rPr dirty="0" sz="1950">
                <a:latin typeface="Calibri"/>
                <a:cs typeface="Calibri"/>
              </a:rPr>
              <a:t>often</a:t>
            </a:r>
            <a:r>
              <a:rPr dirty="0" sz="1950" spc="25">
                <a:latin typeface="Calibri"/>
                <a:cs typeface="Calibri"/>
              </a:rPr>
              <a:t> </a:t>
            </a:r>
            <a:r>
              <a:rPr dirty="0" sz="1950">
                <a:latin typeface="Calibri"/>
                <a:cs typeface="Calibri"/>
              </a:rPr>
              <a:t>complex</a:t>
            </a:r>
            <a:r>
              <a:rPr dirty="0" sz="1950" spc="-10">
                <a:latin typeface="Calibri"/>
                <a:cs typeface="Calibri"/>
              </a:rPr>
              <a:t> </a:t>
            </a:r>
            <a:r>
              <a:rPr dirty="0" sz="1950">
                <a:latin typeface="Calibri"/>
                <a:cs typeface="Calibri"/>
              </a:rPr>
              <a:t>processes in</a:t>
            </a:r>
            <a:r>
              <a:rPr dirty="0" sz="1950" spc="-15">
                <a:latin typeface="Calibri"/>
                <a:cs typeface="Calibri"/>
              </a:rPr>
              <a:t> </a:t>
            </a:r>
            <a:r>
              <a:rPr dirty="0" sz="1950" spc="-10">
                <a:latin typeface="Calibri"/>
                <a:cs typeface="Calibri"/>
              </a:rPr>
              <a:t>clear,</a:t>
            </a:r>
            <a:r>
              <a:rPr dirty="0" sz="1950">
                <a:latin typeface="Calibri"/>
                <a:cs typeface="Calibri"/>
              </a:rPr>
              <a:t> easy-to-understand</a:t>
            </a:r>
            <a:r>
              <a:rPr dirty="0" sz="1950" spc="-10">
                <a:latin typeface="Calibri"/>
                <a:cs typeface="Calibri"/>
              </a:rPr>
              <a:t> diagrams.</a:t>
            </a:r>
            <a:endParaRPr sz="1950">
              <a:latin typeface="Calibri"/>
              <a:cs typeface="Calibri"/>
            </a:endParaRPr>
          </a:p>
          <a:p>
            <a:pPr marL="200025" marR="52069" indent="-187960">
              <a:lnSpc>
                <a:spcPts val="2140"/>
              </a:lnSpc>
              <a:spcBef>
                <a:spcPts val="819"/>
              </a:spcBef>
              <a:buFont typeface="Arial MT"/>
              <a:buChar char="•"/>
              <a:tabLst>
                <a:tab pos="201295" algn="l"/>
              </a:tabLst>
            </a:pPr>
            <a:r>
              <a:rPr dirty="0" sz="1950">
                <a:latin typeface="Calibri"/>
                <a:cs typeface="Calibri"/>
              </a:rPr>
              <a:t>Flowcharts</a:t>
            </a:r>
            <a:r>
              <a:rPr dirty="0" sz="1950" spc="25">
                <a:latin typeface="Calibri"/>
                <a:cs typeface="Calibri"/>
              </a:rPr>
              <a:t> </a:t>
            </a:r>
            <a:r>
              <a:rPr dirty="0" sz="1950">
                <a:latin typeface="Calibri"/>
                <a:cs typeface="Calibri"/>
              </a:rPr>
              <a:t>use</a:t>
            </a:r>
            <a:r>
              <a:rPr dirty="0" sz="1950" spc="30">
                <a:latin typeface="Calibri"/>
                <a:cs typeface="Calibri"/>
              </a:rPr>
              <a:t> </a:t>
            </a:r>
            <a:r>
              <a:rPr dirty="0" sz="1950">
                <a:latin typeface="Calibri"/>
                <a:cs typeface="Calibri"/>
              </a:rPr>
              <a:t>rectangles,</a:t>
            </a:r>
            <a:r>
              <a:rPr dirty="0" sz="1950" spc="35">
                <a:latin typeface="Calibri"/>
                <a:cs typeface="Calibri"/>
              </a:rPr>
              <a:t> </a:t>
            </a:r>
            <a:r>
              <a:rPr dirty="0" sz="1950">
                <a:latin typeface="Calibri"/>
                <a:cs typeface="Calibri"/>
              </a:rPr>
              <a:t>ovals,</a:t>
            </a:r>
            <a:r>
              <a:rPr dirty="0" sz="1950" spc="10">
                <a:latin typeface="Calibri"/>
                <a:cs typeface="Calibri"/>
              </a:rPr>
              <a:t> </a:t>
            </a:r>
            <a:r>
              <a:rPr dirty="0" sz="1950">
                <a:latin typeface="Calibri"/>
                <a:cs typeface="Calibri"/>
              </a:rPr>
              <a:t>diamonds</a:t>
            </a:r>
            <a:r>
              <a:rPr dirty="0" sz="1950" spc="25">
                <a:latin typeface="Calibri"/>
                <a:cs typeface="Calibri"/>
              </a:rPr>
              <a:t> </a:t>
            </a:r>
            <a:r>
              <a:rPr dirty="0" sz="1950">
                <a:latin typeface="Calibri"/>
                <a:cs typeface="Calibri"/>
              </a:rPr>
              <a:t>and</a:t>
            </a:r>
            <a:r>
              <a:rPr dirty="0" sz="1950" spc="40">
                <a:latin typeface="Calibri"/>
                <a:cs typeface="Calibri"/>
              </a:rPr>
              <a:t> </a:t>
            </a:r>
            <a:r>
              <a:rPr dirty="0" sz="1950">
                <a:latin typeface="Calibri"/>
                <a:cs typeface="Calibri"/>
              </a:rPr>
              <a:t>potentially</a:t>
            </a:r>
            <a:r>
              <a:rPr dirty="0" sz="1950" spc="40">
                <a:latin typeface="Calibri"/>
                <a:cs typeface="Calibri"/>
              </a:rPr>
              <a:t> </a:t>
            </a:r>
            <a:r>
              <a:rPr dirty="0" sz="1950">
                <a:latin typeface="Calibri"/>
                <a:cs typeface="Calibri"/>
              </a:rPr>
              <a:t>numerous</a:t>
            </a:r>
            <a:r>
              <a:rPr dirty="0" sz="1950" spc="5">
                <a:latin typeface="Calibri"/>
                <a:cs typeface="Calibri"/>
              </a:rPr>
              <a:t> </a:t>
            </a:r>
            <a:r>
              <a:rPr dirty="0" sz="1950" spc="-10">
                <a:latin typeface="Calibri"/>
                <a:cs typeface="Calibri"/>
              </a:rPr>
              <a:t>other </a:t>
            </a:r>
            <a:r>
              <a:rPr dirty="0" sz="1950" spc="-10">
                <a:latin typeface="Calibri"/>
                <a:cs typeface="Calibri"/>
              </a:rPr>
              <a:t>	</a:t>
            </a:r>
            <a:r>
              <a:rPr dirty="0" sz="1950">
                <a:latin typeface="Calibri"/>
                <a:cs typeface="Calibri"/>
              </a:rPr>
              <a:t>shapes</a:t>
            </a:r>
            <a:r>
              <a:rPr dirty="0" sz="1950" spc="35">
                <a:latin typeface="Calibri"/>
                <a:cs typeface="Calibri"/>
              </a:rPr>
              <a:t> </a:t>
            </a:r>
            <a:r>
              <a:rPr dirty="0" sz="1950">
                <a:latin typeface="Calibri"/>
                <a:cs typeface="Calibri"/>
              </a:rPr>
              <a:t>to</a:t>
            </a:r>
            <a:r>
              <a:rPr dirty="0" sz="1950" spc="20">
                <a:latin typeface="Calibri"/>
                <a:cs typeface="Calibri"/>
              </a:rPr>
              <a:t> </a:t>
            </a:r>
            <a:r>
              <a:rPr dirty="0" sz="1950">
                <a:latin typeface="Calibri"/>
                <a:cs typeface="Calibri"/>
              </a:rPr>
              <a:t>define</a:t>
            </a:r>
            <a:r>
              <a:rPr dirty="0" sz="1950" spc="40">
                <a:latin typeface="Calibri"/>
                <a:cs typeface="Calibri"/>
              </a:rPr>
              <a:t> </a:t>
            </a:r>
            <a:r>
              <a:rPr dirty="0" sz="1950">
                <a:latin typeface="Calibri"/>
                <a:cs typeface="Calibri"/>
              </a:rPr>
              <a:t>the</a:t>
            </a:r>
            <a:r>
              <a:rPr dirty="0" sz="1950" spc="20">
                <a:latin typeface="Calibri"/>
                <a:cs typeface="Calibri"/>
              </a:rPr>
              <a:t> </a:t>
            </a:r>
            <a:r>
              <a:rPr dirty="0" sz="1950">
                <a:latin typeface="Calibri"/>
                <a:cs typeface="Calibri"/>
              </a:rPr>
              <a:t>type</a:t>
            </a:r>
            <a:r>
              <a:rPr dirty="0" sz="1950" spc="20">
                <a:latin typeface="Calibri"/>
                <a:cs typeface="Calibri"/>
              </a:rPr>
              <a:t> </a:t>
            </a:r>
            <a:r>
              <a:rPr dirty="0" sz="1950">
                <a:latin typeface="Calibri"/>
                <a:cs typeface="Calibri"/>
              </a:rPr>
              <a:t>of</a:t>
            </a:r>
            <a:r>
              <a:rPr dirty="0" sz="1950" spc="25">
                <a:latin typeface="Calibri"/>
                <a:cs typeface="Calibri"/>
              </a:rPr>
              <a:t> </a:t>
            </a:r>
            <a:r>
              <a:rPr dirty="0" sz="1950">
                <a:latin typeface="Calibri"/>
                <a:cs typeface="Calibri"/>
              </a:rPr>
              <a:t>step,</a:t>
            </a:r>
            <a:r>
              <a:rPr dirty="0" sz="1950" spc="20">
                <a:latin typeface="Calibri"/>
                <a:cs typeface="Calibri"/>
              </a:rPr>
              <a:t> </a:t>
            </a:r>
            <a:r>
              <a:rPr dirty="0" sz="1950">
                <a:latin typeface="Calibri"/>
                <a:cs typeface="Calibri"/>
              </a:rPr>
              <a:t>along</a:t>
            </a:r>
            <a:r>
              <a:rPr dirty="0" sz="1950" spc="15">
                <a:latin typeface="Calibri"/>
                <a:cs typeface="Calibri"/>
              </a:rPr>
              <a:t> </a:t>
            </a:r>
            <a:r>
              <a:rPr dirty="0" sz="1950">
                <a:latin typeface="Calibri"/>
                <a:cs typeface="Calibri"/>
              </a:rPr>
              <a:t>with connecting</a:t>
            </a:r>
            <a:r>
              <a:rPr dirty="0" sz="1950" spc="-5">
                <a:latin typeface="Calibri"/>
                <a:cs typeface="Calibri"/>
              </a:rPr>
              <a:t> </a:t>
            </a:r>
            <a:r>
              <a:rPr dirty="0" sz="1950">
                <a:latin typeface="Calibri"/>
                <a:cs typeface="Calibri"/>
              </a:rPr>
              <a:t>arrows</a:t>
            </a:r>
            <a:r>
              <a:rPr dirty="0" sz="1950" spc="15">
                <a:latin typeface="Calibri"/>
                <a:cs typeface="Calibri"/>
              </a:rPr>
              <a:t> </a:t>
            </a:r>
            <a:r>
              <a:rPr dirty="0" sz="1950">
                <a:latin typeface="Calibri"/>
                <a:cs typeface="Calibri"/>
              </a:rPr>
              <a:t>to</a:t>
            </a:r>
            <a:r>
              <a:rPr dirty="0" sz="1950" spc="25">
                <a:latin typeface="Calibri"/>
                <a:cs typeface="Calibri"/>
              </a:rPr>
              <a:t> </a:t>
            </a:r>
            <a:r>
              <a:rPr dirty="0" sz="1950">
                <a:latin typeface="Calibri"/>
                <a:cs typeface="Calibri"/>
              </a:rPr>
              <a:t>define</a:t>
            </a:r>
            <a:r>
              <a:rPr dirty="0" sz="1950" spc="40">
                <a:latin typeface="Calibri"/>
                <a:cs typeface="Calibri"/>
              </a:rPr>
              <a:t> </a:t>
            </a:r>
            <a:r>
              <a:rPr dirty="0" sz="1950" spc="-20">
                <a:latin typeface="Calibri"/>
                <a:cs typeface="Calibri"/>
              </a:rPr>
              <a:t>flow </a:t>
            </a:r>
            <a:r>
              <a:rPr dirty="0" sz="1950" spc="-20">
                <a:latin typeface="Calibri"/>
                <a:cs typeface="Calibri"/>
              </a:rPr>
              <a:t>	</a:t>
            </a:r>
            <a:r>
              <a:rPr dirty="0" sz="1950">
                <a:latin typeface="Calibri"/>
                <a:cs typeface="Calibri"/>
              </a:rPr>
              <a:t>and</a:t>
            </a:r>
            <a:r>
              <a:rPr dirty="0" sz="1950" spc="30">
                <a:latin typeface="Calibri"/>
                <a:cs typeface="Calibri"/>
              </a:rPr>
              <a:t> </a:t>
            </a:r>
            <a:r>
              <a:rPr dirty="0" sz="1950" spc="-10">
                <a:latin typeface="Calibri"/>
                <a:cs typeface="Calibri"/>
              </a:rPr>
              <a:t>sequence</a:t>
            </a:r>
            <a:endParaRPr sz="19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53912" y="1558630"/>
            <a:ext cx="2874645" cy="579755"/>
          </a:xfrm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3600">
                <a:latin typeface="Calibri"/>
                <a:cs typeface="Calibri"/>
              </a:rPr>
              <a:t>When</a:t>
            </a:r>
            <a:r>
              <a:rPr dirty="0" sz="3600" spc="-20">
                <a:latin typeface="Calibri"/>
                <a:cs typeface="Calibri"/>
              </a:rPr>
              <a:t> </a:t>
            </a:r>
            <a:r>
              <a:rPr dirty="0" sz="3600">
                <a:latin typeface="Calibri"/>
                <a:cs typeface="Calibri"/>
              </a:rPr>
              <a:t>it</a:t>
            </a:r>
            <a:r>
              <a:rPr dirty="0" sz="3600" spc="-10">
                <a:latin typeface="Calibri"/>
                <a:cs typeface="Calibri"/>
              </a:rPr>
              <a:t> </a:t>
            </a:r>
            <a:r>
              <a:rPr dirty="0" sz="3600">
                <a:latin typeface="Calibri"/>
                <a:cs typeface="Calibri"/>
              </a:rPr>
              <a:t>is</a:t>
            </a:r>
            <a:r>
              <a:rPr dirty="0" sz="3600" spc="-45">
                <a:latin typeface="Calibri"/>
                <a:cs typeface="Calibri"/>
              </a:rPr>
              <a:t> </a:t>
            </a:r>
            <a:r>
              <a:rPr dirty="0" sz="3600" spc="-20">
                <a:latin typeface="Calibri"/>
                <a:cs typeface="Calibri"/>
              </a:rPr>
              <a:t>used</a:t>
            </a:r>
            <a:endParaRPr sz="3600">
              <a:latin typeface="Calibri"/>
              <a:cs typeface="Calibri"/>
            </a:endParaRPr>
          </a:p>
        </p:txBody>
      </p:sp>
      <p:sp>
        <p:nvSpPr>
          <p:cNvPr id="3" name="object 3" descr="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90805" rIns="0" bIns="0" rtlCol="0" vert="horz">
            <a:spAutoFit/>
          </a:bodyPr>
          <a:lstStyle/>
          <a:p>
            <a:pPr marL="200660" indent="-187960">
              <a:lnSpc>
                <a:spcPct val="100000"/>
              </a:lnSpc>
              <a:spcBef>
                <a:spcPts val="715"/>
              </a:spcBef>
              <a:buFont typeface="Arial MT"/>
              <a:buChar char="•"/>
              <a:tabLst>
                <a:tab pos="200660" algn="l"/>
              </a:tabLst>
            </a:pPr>
            <a:r>
              <a:rPr dirty="0" spc="-55"/>
              <a:t>To</a:t>
            </a:r>
            <a:r>
              <a:rPr dirty="0" spc="25"/>
              <a:t> </a:t>
            </a:r>
            <a:r>
              <a:rPr dirty="0"/>
              <a:t>develop</a:t>
            </a:r>
            <a:r>
              <a:rPr dirty="0" spc="15"/>
              <a:t> </a:t>
            </a:r>
            <a:r>
              <a:rPr dirty="0"/>
              <a:t>understanding of</a:t>
            </a:r>
            <a:r>
              <a:rPr dirty="0" spc="15"/>
              <a:t> </a:t>
            </a:r>
            <a:r>
              <a:rPr dirty="0"/>
              <a:t>how a</a:t>
            </a:r>
            <a:r>
              <a:rPr dirty="0" spc="5"/>
              <a:t> </a:t>
            </a:r>
            <a:r>
              <a:rPr dirty="0"/>
              <a:t>process</a:t>
            </a:r>
            <a:r>
              <a:rPr dirty="0" spc="5"/>
              <a:t> </a:t>
            </a:r>
            <a:r>
              <a:rPr dirty="0"/>
              <a:t>is </a:t>
            </a:r>
            <a:r>
              <a:rPr dirty="0" spc="-10"/>
              <a:t>done.</a:t>
            </a:r>
          </a:p>
          <a:p>
            <a:pPr marL="200660" indent="-187960">
              <a:lnSpc>
                <a:spcPct val="100000"/>
              </a:lnSpc>
              <a:spcBef>
                <a:spcPts val="625"/>
              </a:spcBef>
              <a:buFont typeface="Arial MT"/>
              <a:buChar char="•"/>
              <a:tabLst>
                <a:tab pos="200660" algn="l"/>
              </a:tabLst>
            </a:pPr>
            <a:r>
              <a:rPr dirty="0" spc="-55"/>
              <a:t>To</a:t>
            </a:r>
            <a:r>
              <a:rPr dirty="0" spc="5"/>
              <a:t> </a:t>
            </a:r>
            <a:r>
              <a:rPr dirty="0"/>
              <a:t>study</a:t>
            </a:r>
            <a:r>
              <a:rPr dirty="0" spc="-25"/>
              <a:t> </a:t>
            </a:r>
            <a:r>
              <a:rPr dirty="0"/>
              <a:t>a</a:t>
            </a:r>
            <a:r>
              <a:rPr dirty="0" spc="10"/>
              <a:t> </a:t>
            </a:r>
            <a:r>
              <a:rPr dirty="0"/>
              <a:t>process</a:t>
            </a:r>
            <a:r>
              <a:rPr dirty="0" spc="-20"/>
              <a:t> </a:t>
            </a:r>
            <a:r>
              <a:rPr dirty="0"/>
              <a:t>for</a:t>
            </a:r>
            <a:r>
              <a:rPr dirty="0" spc="-10"/>
              <a:t> improvement.</a:t>
            </a:r>
          </a:p>
          <a:p>
            <a:pPr marL="200660" indent="-187960">
              <a:lnSpc>
                <a:spcPct val="100000"/>
              </a:lnSpc>
              <a:spcBef>
                <a:spcPts val="625"/>
              </a:spcBef>
              <a:buFont typeface="Arial MT"/>
              <a:buChar char="•"/>
              <a:tabLst>
                <a:tab pos="200660" algn="l"/>
              </a:tabLst>
            </a:pPr>
            <a:r>
              <a:rPr dirty="0" spc="-55"/>
              <a:t>To</a:t>
            </a:r>
            <a:r>
              <a:rPr dirty="0" spc="15"/>
              <a:t> </a:t>
            </a:r>
            <a:r>
              <a:rPr dirty="0"/>
              <a:t>communicate to</a:t>
            </a:r>
            <a:r>
              <a:rPr dirty="0" spc="5"/>
              <a:t> </a:t>
            </a:r>
            <a:r>
              <a:rPr dirty="0"/>
              <a:t>others</a:t>
            </a:r>
            <a:r>
              <a:rPr dirty="0" spc="-5"/>
              <a:t> </a:t>
            </a:r>
            <a:r>
              <a:rPr dirty="0"/>
              <a:t>how</a:t>
            </a:r>
            <a:r>
              <a:rPr dirty="0" spc="10"/>
              <a:t> </a:t>
            </a:r>
            <a:r>
              <a:rPr dirty="0"/>
              <a:t>a process</a:t>
            </a:r>
            <a:r>
              <a:rPr dirty="0" spc="-5"/>
              <a:t> </a:t>
            </a:r>
            <a:r>
              <a:rPr dirty="0"/>
              <a:t>is</a:t>
            </a:r>
            <a:r>
              <a:rPr dirty="0" spc="-5"/>
              <a:t> </a:t>
            </a:r>
            <a:r>
              <a:rPr dirty="0" spc="-10"/>
              <a:t>done.</a:t>
            </a:r>
          </a:p>
          <a:p>
            <a:pPr marL="200025" marR="5080" indent="-187960">
              <a:lnSpc>
                <a:spcPts val="2150"/>
              </a:lnSpc>
              <a:spcBef>
                <a:spcPts val="840"/>
              </a:spcBef>
              <a:buFont typeface="Arial MT"/>
              <a:buChar char="•"/>
              <a:tabLst>
                <a:tab pos="201295" algn="l"/>
              </a:tabLst>
            </a:pPr>
            <a:r>
              <a:rPr dirty="0"/>
              <a:t>When</a:t>
            </a:r>
            <a:r>
              <a:rPr dirty="0" spc="30"/>
              <a:t> </a:t>
            </a:r>
            <a:r>
              <a:rPr dirty="0"/>
              <a:t>better</a:t>
            </a:r>
            <a:r>
              <a:rPr dirty="0" spc="50"/>
              <a:t> </a:t>
            </a:r>
            <a:r>
              <a:rPr dirty="0"/>
              <a:t>communication</a:t>
            </a:r>
            <a:r>
              <a:rPr dirty="0" spc="-10"/>
              <a:t> </a:t>
            </a:r>
            <a:r>
              <a:rPr dirty="0"/>
              <a:t>is</a:t>
            </a:r>
            <a:r>
              <a:rPr dirty="0" spc="20"/>
              <a:t> </a:t>
            </a:r>
            <a:r>
              <a:rPr dirty="0"/>
              <a:t>needed</a:t>
            </a:r>
            <a:r>
              <a:rPr dirty="0" spc="35"/>
              <a:t> </a:t>
            </a:r>
            <a:r>
              <a:rPr dirty="0"/>
              <a:t>between</a:t>
            </a:r>
            <a:r>
              <a:rPr dirty="0" spc="30"/>
              <a:t> </a:t>
            </a:r>
            <a:r>
              <a:rPr dirty="0"/>
              <a:t>people</a:t>
            </a:r>
            <a:r>
              <a:rPr dirty="0" spc="30"/>
              <a:t> </a:t>
            </a:r>
            <a:r>
              <a:rPr dirty="0"/>
              <a:t>involved</a:t>
            </a:r>
            <a:r>
              <a:rPr dirty="0" spc="55"/>
              <a:t> </a:t>
            </a:r>
            <a:r>
              <a:rPr dirty="0"/>
              <a:t>with</a:t>
            </a:r>
            <a:r>
              <a:rPr dirty="0" spc="10"/>
              <a:t> </a:t>
            </a:r>
            <a:r>
              <a:rPr dirty="0"/>
              <a:t>the</a:t>
            </a:r>
            <a:r>
              <a:rPr dirty="0" spc="25"/>
              <a:t> </a:t>
            </a:r>
            <a:r>
              <a:rPr dirty="0" spc="-20"/>
              <a:t>same </a:t>
            </a:r>
            <a:r>
              <a:rPr dirty="0" spc="-20"/>
              <a:t>	</a:t>
            </a:r>
            <a:r>
              <a:rPr dirty="0" spc="-10"/>
              <a:t>process.</a:t>
            </a:r>
          </a:p>
          <a:p>
            <a:pPr marL="200660" indent="-187960">
              <a:lnSpc>
                <a:spcPct val="100000"/>
              </a:lnSpc>
              <a:spcBef>
                <a:spcPts val="585"/>
              </a:spcBef>
              <a:buFont typeface="Arial MT"/>
              <a:buChar char="•"/>
              <a:tabLst>
                <a:tab pos="200660" algn="l"/>
              </a:tabLst>
            </a:pPr>
            <a:r>
              <a:rPr dirty="0" spc="-55"/>
              <a:t>To</a:t>
            </a:r>
            <a:r>
              <a:rPr dirty="0" spc="15"/>
              <a:t> </a:t>
            </a:r>
            <a:r>
              <a:rPr dirty="0"/>
              <a:t>document</a:t>
            </a:r>
            <a:r>
              <a:rPr dirty="0" spc="-20"/>
              <a:t> </a:t>
            </a:r>
            <a:r>
              <a:rPr dirty="0"/>
              <a:t>a </a:t>
            </a:r>
            <a:r>
              <a:rPr dirty="0" spc="-10"/>
              <a:t>process.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53912" y="1558630"/>
            <a:ext cx="5297805" cy="579755"/>
          </a:xfrm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3600">
                <a:latin typeface="Calibri"/>
                <a:cs typeface="Calibri"/>
              </a:rPr>
              <a:t>Common</a:t>
            </a:r>
            <a:r>
              <a:rPr dirty="0" sz="3600" spc="-110">
                <a:latin typeface="Calibri"/>
                <a:cs typeface="Calibri"/>
              </a:rPr>
              <a:t> </a:t>
            </a:r>
            <a:r>
              <a:rPr dirty="0" sz="3600">
                <a:latin typeface="Calibri"/>
                <a:cs typeface="Calibri"/>
              </a:rPr>
              <a:t>Flowchart</a:t>
            </a:r>
            <a:r>
              <a:rPr dirty="0" sz="3600" spc="-100">
                <a:latin typeface="Calibri"/>
                <a:cs typeface="Calibri"/>
              </a:rPr>
              <a:t> </a:t>
            </a:r>
            <a:r>
              <a:rPr dirty="0" sz="3600" spc="-10">
                <a:latin typeface="Calibri"/>
                <a:cs typeface="Calibri"/>
              </a:rPr>
              <a:t>Symbols</a:t>
            </a:r>
            <a:endParaRPr sz="3600">
              <a:latin typeface="Calibri"/>
              <a:cs typeface="Calibri"/>
            </a:endParaRPr>
          </a:p>
        </p:txBody>
      </p:sp>
      <p:sp>
        <p:nvSpPr>
          <p:cNvPr id="3" name="object 3" descr="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90805" rIns="0" bIns="0" rtlCol="0" vert="horz">
            <a:spAutoFit/>
          </a:bodyPr>
          <a:lstStyle/>
          <a:p>
            <a:pPr marL="200660" indent="-187960">
              <a:lnSpc>
                <a:spcPct val="100000"/>
              </a:lnSpc>
              <a:spcBef>
                <a:spcPts val="715"/>
              </a:spcBef>
              <a:buFont typeface="Arial MT"/>
              <a:buChar char="•"/>
              <a:tabLst>
                <a:tab pos="200660" algn="l"/>
              </a:tabLst>
            </a:pPr>
            <a:r>
              <a:rPr dirty="0" spc="-10" b="1">
                <a:latin typeface="Calibri"/>
                <a:cs typeface="Calibri"/>
              </a:rPr>
              <a:t>Terminator</a:t>
            </a:r>
            <a:r>
              <a:rPr dirty="0" spc="-10"/>
              <a:t>: </a:t>
            </a:r>
            <a:r>
              <a:rPr dirty="0"/>
              <a:t>An</a:t>
            </a:r>
            <a:r>
              <a:rPr dirty="0" spc="25"/>
              <a:t> </a:t>
            </a:r>
            <a:r>
              <a:rPr dirty="0"/>
              <a:t>oval</a:t>
            </a:r>
            <a:r>
              <a:rPr dirty="0" spc="15"/>
              <a:t> </a:t>
            </a:r>
            <a:r>
              <a:rPr dirty="0"/>
              <a:t>flow</a:t>
            </a:r>
            <a:r>
              <a:rPr dirty="0" spc="25"/>
              <a:t> </a:t>
            </a:r>
            <a:r>
              <a:rPr dirty="0"/>
              <a:t>chart</a:t>
            </a:r>
            <a:r>
              <a:rPr dirty="0" spc="20"/>
              <a:t> </a:t>
            </a:r>
            <a:r>
              <a:rPr dirty="0"/>
              <a:t>shape</a:t>
            </a:r>
            <a:r>
              <a:rPr dirty="0" spc="20"/>
              <a:t> </a:t>
            </a:r>
            <a:r>
              <a:rPr dirty="0"/>
              <a:t>indicating</a:t>
            </a:r>
            <a:r>
              <a:rPr dirty="0" spc="-15"/>
              <a:t> </a:t>
            </a:r>
            <a:r>
              <a:rPr dirty="0"/>
              <a:t>the</a:t>
            </a:r>
            <a:r>
              <a:rPr dirty="0" spc="20"/>
              <a:t> </a:t>
            </a:r>
            <a:r>
              <a:rPr dirty="0"/>
              <a:t>start</a:t>
            </a:r>
            <a:r>
              <a:rPr dirty="0" spc="20"/>
              <a:t> </a:t>
            </a:r>
            <a:r>
              <a:rPr dirty="0"/>
              <a:t>or</a:t>
            </a:r>
            <a:r>
              <a:rPr dirty="0" spc="15"/>
              <a:t> </a:t>
            </a:r>
            <a:r>
              <a:rPr dirty="0"/>
              <a:t>end</a:t>
            </a:r>
            <a:r>
              <a:rPr dirty="0" spc="20"/>
              <a:t> </a:t>
            </a:r>
            <a:r>
              <a:rPr dirty="0"/>
              <a:t>of the</a:t>
            </a:r>
            <a:r>
              <a:rPr dirty="0" spc="40"/>
              <a:t> </a:t>
            </a:r>
            <a:r>
              <a:rPr dirty="0" spc="-10"/>
              <a:t>process.</a:t>
            </a:r>
          </a:p>
          <a:p>
            <a:pPr marL="200660" indent="-187960">
              <a:lnSpc>
                <a:spcPct val="100000"/>
              </a:lnSpc>
              <a:spcBef>
                <a:spcPts val="625"/>
              </a:spcBef>
              <a:buFont typeface="Arial MT"/>
              <a:buChar char="•"/>
              <a:tabLst>
                <a:tab pos="200660" algn="l"/>
              </a:tabLst>
            </a:pPr>
            <a:r>
              <a:rPr dirty="0" b="1">
                <a:latin typeface="Calibri"/>
                <a:cs typeface="Calibri"/>
              </a:rPr>
              <a:t>Process</a:t>
            </a:r>
            <a:r>
              <a:rPr dirty="0"/>
              <a:t>: A</a:t>
            </a:r>
            <a:r>
              <a:rPr dirty="0" spc="25"/>
              <a:t> </a:t>
            </a:r>
            <a:r>
              <a:rPr dirty="0"/>
              <a:t>rectangular</a:t>
            </a:r>
            <a:r>
              <a:rPr dirty="0" spc="25"/>
              <a:t> </a:t>
            </a:r>
            <a:r>
              <a:rPr dirty="0"/>
              <a:t>flow</a:t>
            </a:r>
            <a:r>
              <a:rPr dirty="0" spc="35"/>
              <a:t> </a:t>
            </a:r>
            <a:r>
              <a:rPr dirty="0"/>
              <a:t>chart</a:t>
            </a:r>
            <a:r>
              <a:rPr dirty="0" spc="10"/>
              <a:t> </a:t>
            </a:r>
            <a:r>
              <a:rPr dirty="0"/>
              <a:t>shape</a:t>
            </a:r>
            <a:r>
              <a:rPr dirty="0" spc="25"/>
              <a:t> </a:t>
            </a:r>
            <a:r>
              <a:rPr dirty="0"/>
              <a:t>indicating</a:t>
            </a:r>
            <a:r>
              <a:rPr dirty="0" spc="20"/>
              <a:t> </a:t>
            </a:r>
            <a:r>
              <a:rPr dirty="0"/>
              <a:t>a</a:t>
            </a:r>
            <a:r>
              <a:rPr dirty="0" spc="25"/>
              <a:t> </a:t>
            </a:r>
            <a:r>
              <a:rPr dirty="0"/>
              <a:t>normal</a:t>
            </a:r>
            <a:r>
              <a:rPr dirty="0" spc="25"/>
              <a:t> </a:t>
            </a:r>
            <a:r>
              <a:rPr dirty="0"/>
              <a:t>process</a:t>
            </a:r>
            <a:r>
              <a:rPr dirty="0" spc="20"/>
              <a:t> </a:t>
            </a:r>
            <a:r>
              <a:rPr dirty="0"/>
              <a:t>flow</a:t>
            </a:r>
            <a:r>
              <a:rPr dirty="0" spc="35"/>
              <a:t> </a:t>
            </a:r>
            <a:r>
              <a:rPr dirty="0" spc="-10"/>
              <a:t>step.</a:t>
            </a:r>
          </a:p>
          <a:p>
            <a:pPr marL="200660" indent="-187960">
              <a:lnSpc>
                <a:spcPct val="100000"/>
              </a:lnSpc>
              <a:spcBef>
                <a:spcPts val="625"/>
              </a:spcBef>
              <a:buFont typeface="Arial MT"/>
              <a:buChar char="•"/>
              <a:tabLst>
                <a:tab pos="200660" algn="l"/>
              </a:tabLst>
            </a:pPr>
            <a:r>
              <a:rPr dirty="0" b="1">
                <a:latin typeface="Calibri"/>
                <a:cs typeface="Calibri"/>
              </a:rPr>
              <a:t>Decision</a:t>
            </a:r>
            <a:r>
              <a:rPr dirty="0"/>
              <a:t>:</a:t>
            </a:r>
            <a:r>
              <a:rPr dirty="0" spc="5"/>
              <a:t> </a:t>
            </a:r>
            <a:r>
              <a:rPr dirty="0"/>
              <a:t>A</a:t>
            </a:r>
            <a:r>
              <a:rPr dirty="0" spc="25"/>
              <a:t> </a:t>
            </a:r>
            <a:r>
              <a:rPr dirty="0"/>
              <a:t>diamond</a:t>
            </a:r>
            <a:r>
              <a:rPr dirty="0" spc="35"/>
              <a:t> </a:t>
            </a:r>
            <a:r>
              <a:rPr dirty="0"/>
              <a:t>flow</a:t>
            </a:r>
            <a:r>
              <a:rPr dirty="0" spc="40"/>
              <a:t> </a:t>
            </a:r>
            <a:r>
              <a:rPr dirty="0"/>
              <a:t>chart</a:t>
            </a:r>
            <a:r>
              <a:rPr dirty="0" spc="10"/>
              <a:t> </a:t>
            </a:r>
            <a:r>
              <a:rPr dirty="0"/>
              <a:t>shape</a:t>
            </a:r>
            <a:r>
              <a:rPr dirty="0" spc="30"/>
              <a:t> </a:t>
            </a:r>
            <a:r>
              <a:rPr dirty="0"/>
              <a:t>indication</a:t>
            </a:r>
            <a:r>
              <a:rPr dirty="0" spc="10"/>
              <a:t> </a:t>
            </a:r>
            <a:r>
              <a:rPr dirty="0"/>
              <a:t>a</a:t>
            </a:r>
            <a:r>
              <a:rPr dirty="0" spc="30"/>
              <a:t> </a:t>
            </a:r>
            <a:r>
              <a:rPr dirty="0"/>
              <a:t>branch</a:t>
            </a:r>
            <a:r>
              <a:rPr dirty="0" spc="-10"/>
              <a:t> </a:t>
            </a:r>
            <a:r>
              <a:rPr dirty="0"/>
              <a:t>in</a:t>
            </a:r>
            <a:r>
              <a:rPr dirty="0" spc="30"/>
              <a:t> </a:t>
            </a:r>
            <a:r>
              <a:rPr dirty="0"/>
              <a:t>the</a:t>
            </a:r>
            <a:r>
              <a:rPr dirty="0" spc="30"/>
              <a:t> </a:t>
            </a:r>
            <a:r>
              <a:rPr dirty="0"/>
              <a:t>process</a:t>
            </a:r>
            <a:r>
              <a:rPr dirty="0" spc="20"/>
              <a:t> </a:t>
            </a:r>
            <a:r>
              <a:rPr dirty="0" spc="-10"/>
              <a:t>flow.</a:t>
            </a:r>
          </a:p>
          <a:p>
            <a:pPr marL="200025" marR="5080" indent="-187960">
              <a:lnSpc>
                <a:spcPts val="2150"/>
              </a:lnSpc>
              <a:spcBef>
                <a:spcPts val="840"/>
              </a:spcBef>
              <a:buFont typeface="Arial MT"/>
              <a:buChar char="•"/>
              <a:tabLst>
                <a:tab pos="201295" algn="l"/>
              </a:tabLst>
            </a:pPr>
            <a:r>
              <a:rPr dirty="0" b="1">
                <a:latin typeface="Calibri"/>
                <a:cs typeface="Calibri"/>
              </a:rPr>
              <a:t>Connector</a:t>
            </a:r>
            <a:r>
              <a:rPr dirty="0"/>
              <a:t>: A</a:t>
            </a:r>
            <a:r>
              <a:rPr dirty="0" spc="25"/>
              <a:t> </a:t>
            </a:r>
            <a:r>
              <a:rPr dirty="0"/>
              <a:t>small,</a:t>
            </a:r>
            <a:r>
              <a:rPr dirty="0" spc="5"/>
              <a:t> </a:t>
            </a:r>
            <a:r>
              <a:rPr dirty="0"/>
              <a:t>labeled,</a:t>
            </a:r>
            <a:r>
              <a:rPr dirty="0" spc="45"/>
              <a:t> </a:t>
            </a:r>
            <a:r>
              <a:rPr dirty="0"/>
              <a:t>circular</a:t>
            </a:r>
            <a:r>
              <a:rPr dirty="0" spc="-20"/>
              <a:t> </a:t>
            </a:r>
            <a:r>
              <a:rPr dirty="0"/>
              <a:t>flow</a:t>
            </a:r>
            <a:r>
              <a:rPr dirty="0" spc="35"/>
              <a:t> </a:t>
            </a:r>
            <a:r>
              <a:rPr dirty="0"/>
              <a:t>chart</a:t>
            </a:r>
            <a:r>
              <a:rPr dirty="0" spc="10"/>
              <a:t> </a:t>
            </a:r>
            <a:r>
              <a:rPr dirty="0"/>
              <a:t>shape</a:t>
            </a:r>
            <a:r>
              <a:rPr dirty="0" spc="25"/>
              <a:t> </a:t>
            </a:r>
            <a:r>
              <a:rPr dirty="0"/>
              <a:t>used</a:t>
            </a:r>
            <a:r>
              <a:rPr dirty="0" spc="5"/>
              <a:t> </a:t>
            </a:r>
            <a:r>
              <a:rPr dirty="0"/>
              <a:t>to</a:t>
            </a:r>
            <a:r>
              <a:rPr dirty="0" spc="45"/>
              <a:t> </a:t>
            </a:r>
            <a:r>
              <a:rPr dirty="0"/>
              <a:t>indicate</a:t>
            </a:r>
            <a:r>
              <a:rPr dirty="0" spc="25"/>
              <a:t> </a:t>
            </a:r>
            <a:r>
              <a:rPr dirty="0"/>
              <a:t>a</a:t>
            </a:r>
            <a:r>
              <a:rPr dirty="0" spc="25"/>
              <a:t> </a:t>
            </a:r>
            <a:r>
              <a:rPr dirty="0"/>
              <a:t>jump</a:t>
            </a:r>
            <a:r>
              <a:rPr dirty="0" spc="50"/>
              <a:t> </a:t>
            </a:r>
            <a:r>
              <a:rPr dirty="0" spc="-25"/>
              <a:t>in </a:t>
            </a:r>
            <a:r>
              <a:rPr dirty="0" spc="-25"/>
              <a:t>	</a:t>
            </a:r>
            <a:r>
              <a:rPr dirty="0"/>
              <a:t>the</a:t>
            </a:r>
            <a:r>
              <a:rPr dirty="0" spc="10"/>
              <a:t> </a:t>
            </a:r>
            <a:r>
              <a:rPr dirty="0"/>
              <a:t>process</a:t>
            </a:r>
            <a:r>
              <a:rPr dirty="0" spc="10"/>
              <a:t> </a:t>
            </a:r>
            <a:r>
              <a:rPr dirty="0" spc="-10"/>
              <a:t>flow.</a:t>
            </a:r>
            <a:r>
              <a:rPr dirty="0" spc="20"/>
              <a:t> </a:t>
            </a:r>
            <a:r>
              <a:rPr dirty="0"/>
              <a:t>(Shown as</a:t>
            </a:r>
            <a:r>
              <a:rPr dirty="0" spc="10"/>
              <a:t> </a:t>
            </a:r>
            <a:r>
              <a:rPr dirty="0"/>
              <a:t>the</a:t>
            </a:r>
            <a:r>
              <a:rPr dirty="0" spc="10"/>
              <a:t> </a:t>
            </a:r>
            <a:r>
              <a:rPr dirty="0"/>
              <a:t>circle</a:t>
            </a:r>
            <a:r>
              <a:rPr dirty="0" spc="15"/>
              <a:t> </a:t>
            </a:r>
            <a:r>
              <a:rPr dirty="0"/>
              <a:t>with</a:t>
            </a:r>
            <a:r>
              <a:rPr dirty="0" spc="-5"/>
              <a:t> </a:t>
            </a:r>
            <a:r>
              <a:rPr dirty="0"/>
              <a:t>the</a:t>
            </a:r>
            <a:r>
              <a:rPr dirty="0" spc="15"/>
              <a:t> </a:t>
            </a:r>
            <a:r>
              <a:rPr dirty="0"/>
              <a:t>letter</a:t>
            </a:r>
            <a:r>
              <a:rPr dirty="0" spc="55"/>
              <a:t> </a:t>
            </a:r>
            <a:r>
              <a:rPr dirty="0" spc="-114"/>
              <a:t>“A”,</a:t>
            </a:r>
            <a:r>
              <a:rPr dirty="0" spc="15"/>
              <a:t> </a:t>
            </a:r>
            <a:r>
              <a:rPr dirty="0" spc="-10"/>
              <a:t>below.)</a:t>
            </a:r>
          </a:p>
          <a:p>
            <a:pPr marL="200660" indent="-187960">
              <a:lnSpc>
                <a:spcPct val="100000"/>
              </a:lnSpc>
              <a:spcBef>
                <a:spcPts val="585"/>
              </a:spcBef>
              <a:buFont typeface="Arial MT"/>
              <a:buChar char="•"/>
              <a:tabLst>
                <a:tab pos="200660" algn="l"/>
              </a:tabLst>
            </a:pPr>
            <a:r>
              <a:rPr dirty="0" b="1">
                <a:latin typeface="Calibri"/>
                <a:cs typeface="Calibri"/>
              </a:rPr>
              <a:t>Data</a:t>
            </a:r>
            <a:r>
              <a:rPr dirty="0"/>
              <a:t>:</a:t>
            </a:r>
            <a:r>
              <a:rPr dirty="0" spc="30"/>
              <a:t> </a:t>
            </a:r>
            <a:r>
              <a:rPr dirty="0"/>
              <a:t>A</a:t>
            </a:r>
            <a:r>
              <a:rPr dirty="0" spc="30"/>
              <a:t> </a:t>
            </a:r>
            <a:r>
              <a:rPr dirty="0"/>
              <a:t>parallelogram</a:t>
            </a:r>
            <a:r>
              <a:rPr dirty="0" spc="-30"/>
              <a:t> </a:t>
            </a:r>
            <a:r>
              <a:rPr dirty="0"/>
              <a:t>that</a:t>
            </a:r>
            <a:r>
              <a:rPr dirty="0" spc="15"/>
              <a:t> </a:t>
            </a:r>
            <a:r>
              <a:rPr dirty="0"/>
              <a:t>indicates</a:t>
            </a:r>
            <a:r>
              <a:rPr dirty="0" spc="5"/>
              <a:t> </a:t>
            </a:r>
            <a:r>
              <a:rPr dirty="0"/>
              <a:t>data</a:t>
            </a:r>
            <a:r>
              <a:rPr dirty="0" spc="35"/>
              <a:t> </a:t>
            </a:r>
            <a:r>
              <a:rPr dirty="0"/>
              <a:t>input</a:t>
            </a:r>
            <a:r>
              <a:rPr dirty="0" spc="15"/>
              <a:t> </a:t>
            </a:r>
            <a:r>
              <a:rPr dirty="0"/>
              <a:t>or</a:t>
            </a:r>
            <a:r>
              <a:rPr dirty="0" spc="10"/>
              <a:t> </a:t>
            </a:r>
            <a:r>
              <a:rPr dirty="0"/>
              <a:t>output</a:t>
            </a:r>
            <a:r>
              <a:rPr dirty="0" spc="-5"/>
              <a:t> </a:t>
            </a:r>
            <a:r>
              <a:rPr dirty="0"/>
              <a:t>(I/O) for</a:t>
            </a:r>
            <a:r>
              <a:rPr dirty="0" spc="15"/>
              <a:t> </a:t>
            </a:r>
            <a:r>
              <a:rPr dirty="0"/>
              <a:t>a</a:t>
            </a:r>
            <a:r>
              <a:rPr dirty="0" spc="10"/>
              <a:t> </a:t>
            </a:r>
            <a:r>
              <a:rPr dirty="0" spc="-10"/>
              <a:t>process.</a:t>
            </a:r>
          </a:p>
          <a:p>
            <a:pPr marL="200660" indent="-187960">
              <a:lnSpc>
                <a:spcPct val="100000"/>
              </a:lnSpc>
              <a:spcBef>
                <a:spcPts val="620"/>
              </a:spcBef>
              <a:buFont typeface="Arial MT"/>
              <a:buChar char="•"/>
              <a:tabLst>
                <a:tab pos="200660" algn="l"/>
              </a:tabLst>
            </a:pPr>
            <a:r>
              <a:rPr dirty="0" b="1">
                <a:latin typeface="Calibri"/>
                <a:cs typeface="Calibri"/>
              </a:rPr>
              <a:t>Document</a:t>
            </a:r>
            <a:r>
              <a:rPr dirty="0"/>
              <a:t>:</a:t>
            </a:r>
            <a:r>
              <a:rPr dirty="0" spc="10"/>
              <a:t> </a:t>
            </a:r>
            <a:r>
              <a:rPr dirty="0"/>
              <a:t>Used</a:t>
            </a:r>
            <a:r>
              <a:rPr dirty="0" spc="20"/>
              <a:t> </a:t>
            </a:r>
            <a:r>
              <a:rPr dirty="0"/>
              <a:t>to</a:t>
            </a:r>
            <a:r>
              <a:rPr dirty="0" spc="20"/>
              <a:t> </a:t>
            </a:r>
            <a:r>
              <a:rPr dirty="0"/>
              <a:t>indicate</a:t>
            </a:r>
            <a:r>
              <a:rPr dirty="0" spc="10"/>
              <a:t> </a:t>
            </a:r>
            <a:r>
              <a:rPr dirty="0"/>
              <a:t>a</a:t>
            </a:r>
            <a:r>
              <a:rPr dirty="0" spc="35"/>
              <a:t> </a:t>
            </a:r>
            <a:r>
              <a:rPr dirty="0"/>
              <a:t>document or</a:t>
            </a:r>
            <a:r>
              <a:rPr dirty="0" spc="10"/>
              <a:t> </a:t>
            </a:r>
            <a:r>
              <a:rPr dirty="0" spc="-10"/>
              <a:t>report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61390" y="1991868"/>
            <a:ext cx="4432688" cy="3947159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91895" y="1210055"/>
            <a:ext cx="8825483" cy="5072447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Hp</dc:creator>
  <dc:title>Microsoft PowerPoint - Design1.3</dc:title>
  <dcterms:created xsi:type="dcterms:W3CDTF">2025-09-23T09:34:09Z</dcterms:created>
  <dcterms:modified xsi:type="dcterms:W3CDTF">2025-09-23T09:34:09Z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2020-09-18T00:00:00Z</vt:filetime>
  </property>
  <property fmtid="{D5CDD505-2E9C-101B-9397-08002B2CF9AE}" pid="3" name="LastSaved">
    <vt:filetime>2025-09-23T00:00:00Z</vt:filetime>
  </property>
  <property fmtid="{D5CDD505-2E9C-101B-9397-08002B2CF9AE}" pid="4" name="Producer">
    <vt:lpwstr>Microsoft: Print To PDF</vt:lpwstr>
  </property>
</Properties>
</file>