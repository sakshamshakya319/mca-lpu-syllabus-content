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94" r:id="rId3"/>
    <p:sldId id="295" r:id="rId4"/>
    <p:sldId id="296" r:id="rId5"/>
    <p:sldId id="297" r:id="rId6"/>
    <p:sldId id="266" r:id="rId7"/>
    <p:sldId id="268" r:id="rId8"/>
    <p:sldId id="267" r:id="rId9"/>
    <p:sldId id="269" r:id="rId10"/>
    <p:sldId id="270" r:id="rId11"/>
    <p:sldId id="271" r:id="rId12"/>
    <p:sldId id="272" r:id="rId13"/>
    <p:sldId id="278" r:id="rId14"/>
    <p:sldId id="273" r:id="rId15"/>
    <p:sldId id="274" r:id="rId16"/>
    <p:sldId id="275" r:id="rId17"/>
    <p:sldId id="276" r:id="rId18"/>
    <p:sldId id="277" r:id="rId19"/>
    <p:sldId id="279" r:id="rId20"/>
    <p:sldId id="280" r:id="rId21"/>
    <p:sldId id="281"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43" autoAdjust="0"/>
    <p:restoredTop sz="94660"/>
  </p:normalViewPr>
  <p:slideViewPr>
    <p:cSldViewPr>
      <p:cViewPr varScale="1">
        <p:scale>
          <a:sx n="61" d="100"/>
          <a:sy n="61" d="100"/>
        </p:scale>
        <p:origin x="1602"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41886E72-1E7E-4473-952B-39C31FDE7DB3}" type="datetimeFigureOut">
              <a:rPr lang="en-US" smtClean="0"/>
              <a:pPr/>
              <a:t>10/9/2024</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9DB0E4E9-0497-499B-B016-4B705A9CC46D}" type="slidenum">
              <a:rPr lang="en-IN" smtClean="0"/>
              <a:pPr/>
              <a:t>‹#›</a:t>
            </a:fld>
            <a:endParaRPr lang="en-IN"/>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41886E72-1E7E-4473-952B-39C31FDE7DB3}" type="datetimeFigureOut">
              <a:rPr lang="en-US" smtClean="0"/>
              <a:pPr/>
              <a:t>10/9/2024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B0E4E9-0497-499B-B016-4B705A9CC46D}" type="slidenum">
              <a:rPr lang="en-IN" smtClean="0"/>
              <a:pPr/>
              <a:t>‹#›</a:t>
            </a:fld>
            <a:endParaRPr lang="en-IN"/>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41886E72-1E7E-4473-952B-39C31FDE7DB3}" type="datetimeFigureOut">
              <a:rPr lang="en-US" smtClean="0"/>
              <a:pPr/>
              <a:t>10/9/2024</a:t>
            </a:fld>
            <a:endParaRPr lang="en-IN"/>
          </a:p>
        </p:txBody>
      </p:sp>
      <p:sp>
        <p:nvSpPr>
          <p:cNvPr id="5" name="Footer Placeholder 4"/>
          <p:cNvSpPr>
            <a:spLocks noGrp="1"/>
          </p:cNvSpPr>
          <p:nvPr>
            <p:ph type="ftr" sz="quarter" idx="11"/>
          </p:nvPr>
        </p:nvSpPr>
        <p:spPr>
          <a:xfrm>
            <a:off x="800100" y="6172200"/>
            <a:ext cx="4000500" cy="457200"/>
          </a:xfrm>
        </p:spPr>
        <p:txBody>
          <a:bodyPr/>
          <a:lstStyle/>
          <a:p>
            <a:endParaRPr lang="en-IN"/>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9DB0E4E9-0497-499B-B016-4B705A9CC46D}" type="slidenum">
              <a:rPr lang="en-IN" smtClean="0"/>
              <a:pPr/>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41886E72-1E7E-4473-952B-39C31FDE7DB3}" type="datetimeFigureOut">
              <a:rPr lang="en-US" smtClean="0"/>
              <a:pPr/>
              <a:t>10/9/2024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B0E4E9-0497-499B-B016-4B705A9CC46D}" type="slidenum">
              <a:rPr lang="en-IN" smtClean="0"/>
              <a:pPr/>
              <a:t>‹#›</a:t>
            </a:fld>
            <a:endParaRPr lang="en-IN"/>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41886E72-1E7E-4473-952B-39C31FDE7DB3}" type="datetimeFigureOut">
              <a:rPr lang="en-US" smtClean="0"/>
              <a:pPr/>
              <a:t>10/9/2024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DB0E4E9-0497-499B-B016-4B705A9CC46D}" type="slidenum">
              <a:rPr lang="en-IN" smtClean="0"/>
              <a:pPr/>
              <a:t>‹#›</a:t>
            </a:fld>
            <a:endParaRPr lang="en-IN"/>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41886E72-1E7E-4473-952B-39C31FDE7DB3}" type="datetimeFigureOut">
              <a:rPr lang="en-US" smtClean="0"/>
              <a:pPr/>
              <a:t>10/9/2024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DB0E4E9-0497-499B-B016-4B705A9CC46D}"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886E72-1E7E-4473-952B-39C31FDE7DB3}" type="datetimeFigureOut">
              <a:rPr lang="en-US" smtClean="0"/>
              <a:pPr/>
              <a:t>10/9/2024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DB0E4E9-0497-499B-B016-4B705A9CC46D}"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1886E72-1E7E-4473-952B-39C31FDE7DB3}" type="datetimeFigureOut">
              <a:rPr lang="en-US" smtClean="0"/>
              <a:pPr/>
              <a:t>10/9/2024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B0E4E9-0497-499B-B016-4B705A9CC46D}" type="slidenum">
              <a:rPr lang="en-IN" smtClean="0"/>
              <a:pPr/>
              <a:t>‹#›</a:t>
            </a:fld>
            <a:endParaRPr lang="en-IN"/>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1886E72-1E7E-4473-952B-39C31FDE7DB3}" type="datetimeFigureOut">
              <a:rPr lang="en-US" smtClean="0"/>
              <a:pPr/>
              <a:t>10/9/2024</a:t>
            </a:fld>
            <a:endParaRPr lang="en-IN"/>
          </a:p>
        </p:txBody>
      </p:sp>
      <p:sp>
        <p:nvSpPr>
          <p:cNvPr id="6" name="Footer Placeholder 5"/>
          <p:cNvSpPr>
            <a:spLocks noGrp="1"/>
          </p:cNvSpPr>
          <p:nvPr>
            <p:ph type="ftr" sz="quarter" idx="11"/>
          </p:nvPr>
        </p:nvSpPr>
        <p:spPr>
          <a:xfrm>
            <a:off x="914400" y="6172200"/>
            <a:ext cx="3886200" cy="457200"/>
          </a:xfrm>
        </p:spPr>
        <p:txBody>
          <a:bodyPr/>
          <a:lstStyle/>
          <a:p>
            <a:endParaRPr lang="en-IN"/>
          </a:p>
        </p:txBody>
      </p:sp>
      <p:sp>
        <p:nvSpPr>
          <p:cNvPr id="7" name="Slide Number Placeholder 6"/>
          <p:cNvSpPr>
            <a:spLocks noGrp="1"/>
          </p:cNvSpPr>
          <p:nvPr>
            <p:ph type="sldNum" sz="quarter" idx="12"/>
          </p:nvPr>
        </p:nvSpPr>
        <p:spPr>
          <a:xfrm>
            <a:off x="146304" y="6208776"/>
            <a:ext cx="457200" cy="457200"/>
          </a:xfrm>
        </p:spPr>
        <p:txBody>
          <a:bodyPr/>
          <a:lstStyle/>
          <a:p>
            <a:fld id="{9DB0E4E9-0497-499B-B016-4B705A9CC46D}" type="slidenum">
              <a:rPr lang="en-IN" smtClean="0"/>
              <a:pPr/>
              <a:t>‹#›</a:t>
            </a:fld>
            <a:endParaRPr lang="en-IN"/>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1886E72-1E7E-4473-952B-39C31FDE7DB3}" type="datetimeFigureOut">
              <a:rPr lang="en-US" smtClean="0"/>
              <a:pPr/>
              <a:t>10/9/2024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B0E4E9-0497-499B-B016-4B705A9CC46D}"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1886E72-1E7E-4473-952B-39C31FDE7DB3}" type="datetimeFigureOut">
              <a:rPr lang="en-US" smtClean="0"/>
              <a:pPr/>
              <a:t>10/9/2024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B0E4E9-0497-499B-B016-4B705A9CC46D}"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41886E72-1E7E-4473-952B-39C31FDE7DB3}" type="datetimeFigureOut">
              <a:rPr lang="en-US" smtClean="0"/>
              <a:pPr/>
              <a:t>10/9/2024</a:t>
            </a:fld>
            <a:endParaRPr lang="en-IN"/>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IN"/>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9DB0E4E9-0497-499B-B016-4B705A9CC46D}"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05930"/>
            <a:ext cx="9144000" cy="1470025"/>
          </a:xfrm>
        </p:spPr>
        <p:txBody>
          <a:bodyPr>
            <a:noAutofit/>
          </a:bodyPr>
          <a:lstStyle/>
          <a:p>
            <a:r>
              <a:rPr lang="en-IN" sz="3200" b="1" dirty="0"/>
              <a:t>CAP476: Data Communication and Networking</a:t>
            </a:r>
            <a:br>
              <a:rPr lang="en-IN" sz="3600" b="1" dirty="0"/>
            </a:br>
            <a:r>
              <a:rPr lang="en-IN" sz="3600" b="1" dirty="0"/>
              <a:t>Unit-4: </a:t>
            </a:r>
            <a:r>
              <a:rPr lang="en-IN" sz="3200" b="1" dirty="0"/>
              <a:t>Network-Layer - Routing</a:t>
            </a:r>
            <a:endParaRPr lang="en-IN" sz="36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53E40-3BC8-4130-9C33-E691BF40EF33}"/>
              </a:ext>
            </a:extLst>
          </p:cNvPr>
          <p:cNvSpPr>
            <a:spLocks noGrp="1"/>
          </p:cNvSpPr>
          <p:nvPr>
            <p:ph type="title"/>
          </p:nvPr>
        </p:nvSpPr>
        <p:spPr>
          <a:xfrm>
            <a:off x="251520" y="188640"/>
            <a:ext cx="8435280" cy="720080"/>
          </a:xfrm>
        </p:spPr>
        <p:txBody>
          <a:bodyPr>
            <a:normAutofit fontScale="90000"/>
          </a:bodyPr>
          <a:lstStyle/>
          <a:p>
            <a:r>
              <a:rPr lang="en-IN" b="1" dirty="0">
                <a:solidFill>
                  <a:schemeClr val="tx1"/>
                </a:solidFill>
              </a:rPr>
              <a:t>Network Layer</a:t>
            </a:r>
          </a:p>
        </p:txBody>
      </p:sp>
      <p:sp>
        <p:nvSpPr>
          <p:cNvPr id="3" name="Content Placeholder 2">
            <a:extLst>
              <a:ext uri="{FF2B5EF4-FFF2-40B4-BE49-F238E27FC236}">
                <a16:creationId xmlns:a16="http://schemas.microsoft.com/office/drawing/2014/main" id="{70C9FC0B-371B-494A-9BD2-F50A7AC99826}"/>
              </a:ext>
            </a:extLst>
          </p:cNvPr>
          <p:cNvSpPr>
            <a:spLocks noGrp="1"/>
          </p:cNvSpPr>
          <p:nvPr>
            <p:ph sz="quarter" idx="1"/>
          </p:nvPr>
        </p:nvSpPr>
        <p:spPr>
          <a:xfrm>
            <a:off x="251520" y="1052736"/>
            <a:ext cx="8640960" cy="5472608"/>
          </a:xfrm>
        </p:spPr>
        <p:txBody>
          <a:bodyPr>
            <a:normAutofit fontScale="92500" lnSpcReduction="10000"/>
          </a:bodyPr>
          <a:lstStyle/>
          <a:p>
            <a:pPr algn="just"/>
            <a:r>
              <a:rPr lang="en-IN" dirty="0"/>
              <a:t>The network layer is responsible for the source-to-destination delivery of a packet, possibly across multiple networks (links). </a:t>
            </a:r>
          </a:p>
          <a:p>
            <a:pPr algn="just"/>
            <a:r>
              <a:rPr lang="en-IN" dirty="0"/>
              <a:t>Whereas the data link layer oversees the delivery of the packet between two systems on the same network (links), the network layer ensures that each packet gets from its point of origin to its final destination.</a:t>
            </a:r>
          </a:p>
          <a:p>
            <a:pPr algn="just"/>
            <a:r>
              <a:rPr lang="en-IN" b="1" dirty="0"/>
              <a:t>The network layer is responsible for the delivery of individual packets from the source to the destination host.</a:t>
            </a:r>
          </a:p>
          <a:p>
            <a:pPr algn="just"/>
            <a:r>
              <a:rPr lang="en-IN" dirty="0"/>
              <a:t>The network layer adds a header that includes the </a:t>
            </a:r>
            <a:r>
              <a:rPr lang="en-IN" b="1" dirty="0"/>
              <a:t>logical addresses </a:t>
            </a:r>
            <a:r>
              <a:rPr lang="en-IN" dirty="0"/>
              <a:t>of the sender and receiver to the packet corning from the upper layer. If a packet travels through the Internet, we need this addressing system to help distinguish the source and destination.</a:t>
            </a:r>
          </a:p>
          <a:p>
            <a:pPr algn="just"/>
            <a:r>
              <a:rPr lang="en-IN" dirty="0"/>
              <a:t>When independent networks or links are connected together to create an internetwork, routers or switches route packets to their final destination. One of the functions of the network layer is to provide a </a:t>
            </a:r>
            <a:r>
              <a:rPr lang="en-IN" b="1" dirty="0"/>
              <a:t>routing </a:t>
            </a:r>
            <a:r>
              <a:rPr lang="en-IN" dirty="0"/>
              <a:t>mechanism.</a:t>
            </a:r>
          </a:p>
        </p:txBody>
      </p:sp>
    </p:spTree>
    <p:extLst>
      <p:ext uri="{BB962C8B-B14F-4D97-AF65-F5344CB8AC3E}">
        <p14:creationId xmlns:p14="http://schemas.microsoft.com/office/powerpoint/2010/main" val="172028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05A6-10AA-4A1A-97F8-3ECE90416180}"/>
              </a:ext>
            </a:extLst>
          </p:cNvPr>
          <p:cNvSpPr>
            <a:spLocks noGrp="1"/>
          </p:cNvSpPr>
          <p:nvPr>
            <p:ph type="title"/>
          </p:nvPr>
        </p:nvSpPr>
        <p:spPr>
          <a:xfrm>
            <a:off x="251520" y="332656"/>
            <a:ext cx="8435280" cy="648072"/>
          </a:xfrm>
        </p:spPr>
        <p:txBody>
          <a:bodyPr>
            <a:normAutofit fontScale="90000"/>
          </a:bodyPr>
          <a:lstStyle/>
          <a:p>
            <a:r>
              <a:rPr lang="en-IN" dirty="0"/>
              <a:t>Functions of Network Layer</a:t>
            </a:r>
          </a:p>
        </p:txBody>
      </p:sp>
      <p:sp>
        <p:nvSpPr>
          <p:cNvPr id="3" name="Content Placeholder 2">
            <a:extLst>
              <a:ext uri="{FF2B5EF4-FFF2-40B4-BE49-F238E27FC236}">
                <a16:creationId xmlns:a16="http://schemas.microsoft.com/office/drawing/2014/main" id="{57E52366-B636-42E0-A3E0-606CF2023351}"/>
              </a:ext>
            </a:extLst>
          </p:cNvPr>
          <p:cNvSpPr>
            <a:spLocks noGrp="1"/>
          </p:cNvSpPr>
          <p:nvPr>
            <p:ph sz="quarter" idx="1"/>
          </p:nvPr>
        </p:nvSpPr>
        <p:spPr>
          <a:xfrm>
            <a:off x="251520" y="1124744"/>
            <a:ext cx="8640960" cy="5472608"/>
          </a:xfrm>
        </p:spPr>
        <p:txBody>
          <a:bodyPr>
            <a:normAutofit fontScale="92500" lnSpcReduction="10000"/>
          </a:bodyPr>
          <a:lstStyle/>
          <a:p>
            <a:pPr marL="0" indent="0" algn="just" fontAlgn="base">
              <a:buNone/>
            </a:pPr>
            <a:r>
              <a:rPr lang="en-IN" dirty="0"/>
              <a:t>Network layer is majorly focused on getting packets from the source to the destination, routing error handling and congestion control. Before learning about design issues in the network layer, let’s learn about it’s various functions.</a:t>
            </a:r>
          </a:p>
          <a:p>
            <a:pPr algn="just" fontAlgn="base"/>
            <a:r>
              <a:rPr lang="en-IN" b="1" dirty="0"/>
              <a:t>Logical Addressing: </a:t>
            </a:r>
            <a:r>
              <a:rPr lang="en-IN" dirty="0"/>
              <a:t>Maintains the address at the frame header of both source and destination and performs addressing to detect various devices in network.</a:t>
            </a:r>
          </a:p>
          <a:p>
            <a:pPr algn="just" fontAlgn="base"/>
            <a:r>
              <a:rPr lang="en-IN" b="1" dirty="0"/>
              <a:t>Packetizing: </a:t>
            </a:r>
            <a:r>
              <a:rPr lang="en-IN" dirty="0"/>
              <a:t>This is performed by Internet Protocol. The network layer converts the packets from its upper layer.</a:t>
            </a:r>
          </a:p>
          <a:p>
            <a:pPr algn="just" fontAlgn="base"/>
            <a:r>
              <a:rPr lang="en-IN" b="1" dirty="0"/>
              <a:t>Routing: </a:t>
            </a:r>
            <a:r>
              <a:rPr lang="en-IN" dirty="0"/>
              <a:t>It is the most important functionality. The network layer chooses the most relevant and best path for the data transmission from source to destination.</a:t>
            </a:r>
          </a:p>
          <a:p>
            <a:pPr algn="just" fontAlgn="base"/>
            <a:r>
              <a:rPr lang="en-IN" b="1" dirty="0"/>
              <a:t>Inter-networking: </a:t>
            </a:r>
            <a:r>
              <a:rPr lang="en-IN" dirty="0"/>
              <a:t>It works to deliver a logical connection across multiple devices.</a:t>
            </a:r>
          </a:p>
          <a:p>
            <a:pPr algn="just"/>
            <a:endParaRPr lang="en-IN" dirty="0"/>
          </a:p>
        </p:txBody>
      </p:sp>
    </p:spTree>
    <p:extLst>
      <p:ext uri="{BB962C8B-B14F-4D97-AF65-F5344CB8AC3E}">
        <p14:creationId xmlns:p14="http://schemas.microsoft.com/office/powerpoint/2010/main" val="822058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179D3-A298-48E1-937B-919013C08632}"/>
              </a:ext>
            </a:extLst>
          </p:cNvPr>
          <p:cNvSpPr>
            <a:spLocks noGrp="1"/>
          </p:cNvSpPr>
          <p:nvPr>
            <p:ph type="title"/>
          </p:nvPr>
        </p:nvSpPr>
        <p:spPr>
          <a:xfrm>
            <a:off x="251520" y="332656"/>
            <a:ext cx="8435280" cy="720080"/>
          </a:xfrm>
        </p:spPr>
        <p:txBody>
          <a:bodyPr>
            <a:normAutofit fontScale="90000"/>
          </a:bodyPr>
          <a:lstStyle/>
          <a:p>
            <a:r>
              <a:rPr lang="en-IN" b="1" dirty="0"/>
              <a:t>Network Layer Design Issues</a:t>
            </a:r>
            <a:endParaRPr lang="en-IN" dirty="0"/>
          </a:p>
        </p:txBody>
      </p:sp>
      <p:sp>
        <p:nvSpPr>
          <p:cNvPr id="3" name="Content Placeholder 2">
            <a:extLst>
              <a:ext uri="{FF2B5EF4-FFF2-40B4-BE49-F238E27FC236}">
                <a16:creationId xmlns:a16="http://schemas.microsoft.com/office/drawing/2014/main" id="{87E50001-17A9-4B75-A60E-4ECF24E341C9}"/>
              </a:ext>
            </a:extLst>
          </p:cNvPr>
          <p:cNvSpPr>
            <a:spLocks noGrp="1"/>
          </p:cNvSpPr>
          <p:nvPr>
            <p:ph sz="quarter" idx="1"/>
          </p:nvPr>
        </p:nvSpPr>
        <p:spPr>
          <a:xfrm>
            <a:off x="251520" y="1196752"/>
            <a:ext cx="8568952" cy="5400600"/>
          </a:xfrm>
        </p:spPr>
        <p:txBody>
          <a:bodyPr>
            <a:normAutofit fontScale="92500" lnSpcReduction="10000"/>
          </a:bodyPr>
          <a:lstStyle/>
          <a:p>
            <a:pPr marL="0" indent="0" algn="just">
              <a:buNone/>
            </a:pPr>
            <a:r>
              <a:rPr lang="en-IN" dirty="0"/>
              <a:t>The network layer comes with some design issues they are described as follows:</a:t>
            </a:r>
          </a:p>
          <a:p>
            <a:pPr marL="514350" indent="-514350" algn="just" fontAlgn="base">
              <a:buFont typeface="+mj-lt"/>
              <a:buAutoNum type="arabicPeriod"/>
            </a:pPr>
            <a:r>
              <a:rPr lang="en-IN" b="1" dirty="0"/>
              <a:t>Store and Forward packet switching: </a:t>
            </a:r>
            <a:r>
              <a:rPr lang="en-IN" dirty="0"/>
              <a:t>The host sends the packet to the nearest router. This packet is stored there until it has fully arrived once the link is fully processed by verifying the checksum then it is forwarded to the next router till it reaches the destination. This mechanism is called “Store and Forward packet switching.”</a:t>
            </a:r>
          </a:p>
          <a:p>
            <a:pPr marL="514350" indent="-514350" algn="just" fontAlgn="base">
              <a:buFont typeface="+mj-lt"/>
              <a:buAutoNum type="arabicPeriod"/>
            </a:pPr>
            <a:r>
              <a:rPr lang="en-IN" b="1" dirty="0"/>
              <a:t>Services provided to Transport Layer: </a:t>
            </a:r>
            <a:r>
              <a:rPr lang="en-IN" dirty="0"/>
              <a:t>Through the network/transport layer interface, the network layer transfers it’s services to the transport layer. Based on the connections there are 2 types of services provided:</a:t>
            </a:r>
          </a:p>
          <a:p>
            <a:pPr lvl="2" algn="just" fontAlgn="base"/>
            <a:r>
              <a:rPr lang="en-IN" b="1" dirty="0"/>
              <a:t>Connectionless –</a:t>
            </a:r>
            <a:r>
              <a:rPr lang="en-IN" dirty="0"/>
              <a:t> The routing and insertion of packets into subnet is done individually. No added setup is required.</a:t>
            </a:r>
          </a:p>
          <a:p>
            <a:pPr lvl="2" algn="just" fontAlgn="base"/>
            <a:r>
              <a:rPr lang="en-IN" b="1" dirty="0"/>
              <a:t>Connection-Oriented –</a:t>
            </a:r>
            <a:r>
              <a:rPr lang="en-IN" dirty="0"/>
              <a:t> Subnet must offer reliable service and all the packets must be transmitted over a single route.</a:t>
            </a:r>
          </a:p>
        </p:txBody>
      </p:sp>
    </p:spTree>
    <p:extLst>
      <p:ext uri="{BB962C8B-B14F-4D97-AF65-F5344CB8AC3E}">
        <p14:creationId xmlns:p14="http://schemas.microsoft.com/office/powerpoint/2010/main" val="3219134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CE8340-E14E-471E-9B70-225CE2746A12}"/>
              </a:ext>
            </a:extLst>
          </p:cNvPr>
          <p:cNvSpPr>
            <a:spLocks noGrp="1"/>
          </p:cNvSpPr>
          <p:nvPr>
            <p:ph sz="quarter" idx="1"/>
          </p:nvPr>
        </p:nvSpPr>
        <p:spPr>
          <a:xfrm>
            <a:off x="323528" y="404664"/>
            <a:ext cx="8568952" cy="6192688"/>
          </a:xfrm>
        </p:spPr>
        <p:txBody>
          <a:bodyPr>
            <a:normAutofit fontScale="92500" lnSpcReduction="10000"/>
          </a:bodyPr>
          <a:lstStyle/>
          <a:p>
            <a:pPr marL="514350" indent="-514350" algn="just" fontAlgn="base">
              <a:buFont typeface="+mj-lt"/>
              <a:buAutoNum type="arabicPeriod" startAt="3"/>
            </a:pPr>
            <a:r>
              <a:rPr lang="en-IN" b="1" dirty="0"/>
              <a:t>Implementation of Connectionless Service: </a:t>
            </a:r>
            <a:r>
              <a:rPr lang="en-IN" dirty="0"/>
              <a:t>Packet are termed as “datagrams” and corresponding subnet as “datagram subnets”. When the message size that has to be transmitted is 4 times the size of the packet, then the network layer divides into 4 packets and transmits each packet to router via. a few protocol. Each data packet has destination address and is routed independently irrespective of the packets.</a:t>
            </a:r>
          </a:p>
          <a:p>
            <a:pPr marL="514350" indent="-514350" algn="just" fontAlgn="base">
              <a:buFont typeface="+mj-lt"/>
              <a:buAutoNum type="arabicPeriod" startAt="3"/>
            </a:pPr>
            <a:r>
              <a:rPr lang="en-IN" b="1" dirty="0"/>
              <a:t>Implementation of Connection Oriented service: </a:t>
            </a:r>
            <a:r>
              <a:rPr lang="en-IN" dirty="0"/>
              <a:t>To use a connection-oriented service, first we establishes a connection, use it and then release it. In connection-oriented services, the data packets are delivered to the receiver in the same order in which they have been sent by the sender. It can be done in either two ways :</a:t>
            </a:r>
          </a:p>
          <a:p>
            <a:pPr lvl="2" algn="just" fontAlgn="base"/>
            <a:r>
              <a:rPr lang="en-IN" b="1" dirty="0"/>
              <a:t>Circuit Switched Connection: </a:t>
            </a:r>
            <a:r>
              <a:rPr lang="en-IN" dirty="0"/>
              <a:t>A dedicated physical path or a circuit is established between the communicating nodes and then data stream is transferred.</a:t>
            </a:r>
          </a:p>
          <a:p>
            <a:pPr lvl="2" algn="just" fontAlgn="base"/>
            <a:r>
              <a:rPr lang="en-IN" b="1" dirty="0"/>
              <a:t>Virtual Circuit Switched Connection: </a:t>
            </a:r>
            <a:r>
              <a:rPr lang="en-IN" dirty="0"/>
              <a:t>The data stream is transferred over a packet switched network, in such a way that it seems to the user that there is a dedicated path from the sender to the receiver. A virtual path is established here. While, other connections may also be using the same path.</a:t>
            </a:r>
          </a:p>
          <a:p>
            <a:pPr algn="just"/>
            <a:endParaRPr lang="en-IN" dirty="0"/>
          </a:p>
        </p:txBody>
      </p:sp>
    </p:spTree>
    <p:extLst>
      <p:ext uri="{BB962C8B-B14F-4D97-AF65-F5344CB8AC3E}">
        <p14:creationId xmlns:p14="http://schemas.microsoft.com/office/powerpoint/2010/main" val="1913710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186766" cy="1143000"/>
          </a:xfrm>
        </p:spPr>
        <p:txBody>
          <a:bodyPr/>
          <a:lstStyle/>
          <a:p>
            <a:r>
              <a:rPr lang="en-IN" b="1" dirty="0">
                <a:solidFill>
                  <a:schemeClr val="tx1"/>
                </a:solidFill>
              </a:rPr>
              <a:t>Routing</a:t>
            </a:r>
          </a:p>
        </p:txBody>
      </p:sp>
      <p:sp>
        <p:nvSpPr>
          <p:cNvPr id="3" name="Content Placeholder 2"/>
          <p:cNvSpPr>
            <a:spLocks noGrp="1"/>
          </p:cNvSpPr>
          <p:nvPr>
            <p:ph sz="quarter" idx="1"/>
          </p:nvPr>
        </p:nvSpPr>
        <p:spPr>
          <a:xfrm>
            <a:off x="500034" y="1785926"/>
            <a:ext cx="8186766" cy="4233874"/>
          </a:xfrm>
        </p:spPr>
        <p:txBody>
          <a:bodyPr>
            <a:normAutofit/>
          </a:bodyPr>
          <a:lstStyle/>
          <a:p>
            <a:pPr algn="just"/>
            <a:r>
              <a:rPr lang="en-IN" sz="3600" dirty="0"/>
              <a:t>Routing is the act of moving information across an inter-network from a source to a destination.  </a:t>
            </a:r>
          </a:p>
          <a:p>
            <a:pPr algn="just"/>
            <a:r>
              <a:rPr lang="en-IN" sz="3600" dirty="0"/>
              <a:t>It’s also referred to as the process of choosing a path over which to send the packets.  </a:t>
            </a:r>
          </a:p>
          <a:p>
            <a:pPr algn="just">
              <a:buNone/>
            </a:pPr>
            <a:endParaRPr lang="en-IN" sz="3600" b="1" dirty="0"/>
          </a:p>
          <a:p>
            <a:pPr algn="just"/>
            <a:endParaRPr lang="en-IN" sz="3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42910" y="928670"/>
            <a:ext cx="8043890" cy="5091130"/>
          </a:xfrm>
        </p:spPr>
        <p:txBody>
          <a:bodyPr>
            <a:normAutofit/>
          </a:bodyPr>
          <a:lstStyle/>
          <a:p>
            <a:pPr>
              <a:buNone/>
            </a:pPr>
            <a:r>
              <a:rPr lang="en-IN" sz="3200" b="1" dirty="0"/>
              <a:t>Classification of Routing:</a:t>
            </a:r>
          </a:p>
          <a:p>
            <a:r>
              <a:rPr lang="en-IN" sz="3200" dirty="0"/>
              <a:t> Static versus Dynamic</a:t>
            </a:r>
          </a:p>
          <a:p>
            <a:r>
              <a:rPr lang="en-IN" sz="3200" dirty="0"/>
              <a:t>Single-path versus multi-path</a:t>
            </a:r>
          </a:p>
          <a:p>
            <a:r>
              <a:rPr lang="en-IN" sz="3200" dirty="0"/>
              <a:t>Intra-domain versus inter-domain</a:t>
            </a:r>
          </a:p>
          <a:p>
            <a:r>
              <a:rPr lang="en-IN" sz="3200" dirty="0"/>
              <a:t>Flat versus hierarchical.</a:t>
            </a:r>
          </a:p>
          <a:p>
            <a:r>
              <a:rPr lang="en-IN" sz="3200" dirty="0"/>
              <a:t>Link-state versus distance vector</a:t>
            </a:r>
          </a:p>
          <a:p>
            <a:r>
              <a:rPr lang="en-IN" sz="3200" dirty="0"/>
              <a:t>Host-intelligent versus router-intelligent.</a:t>
            </a:r>
          </a:p>
          <a:p>
            <a:endParaRPr lang="en-IN"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714348" y="1142984"/>
            <a:ext cx="7972452" cy="4876816"/>
          </a:xfrm>
        </p:spPr>
        <p:txBody>
          <a:bodyPr>
            <a:normAutofit/>
          </a:bodyPr>
          <a:lstStyle/>
          <a:p>
            <a:pPr>
              <a:buNone/>
            </a:pPr>
            <a:r>
              <a:rPr lang="en-IN" sz="4000" b="1" dirty="0"/>
              <a:t>Routing algorithm Metric: </a:t>
            </a:r>
          </a:p>
          <a:p>
            <a:pPr>
              <a:buNone/>
            </a:pPr>
            <a:r>
              <a:rPr lang="en-IN" sz="3200" dirty="0"/>
              <a:t>Various metrics of routing algorithm are: </a:t>
            </a:r>
          </a:p>
          <a:p>
            <a:r>
              <a:rPr lang="en-IN" sz="3200" dirty="0"/>
              <a:t>Path length</a:t>
            </a:r>
          </a:p>
          <a:p>
            <a:r>
              <a:rPr lang="en-IN" sz="3200" dirty="0"/>
              <a:t>Delay</a:t>
            </a:r>
          </a:p>
          <a:p>
            <a:r>
              <a:rPr lang="en-IN" sz="3200" dirty="0"/>
              <a:t>Bandwidth</a:t>
            </a:r>
          </a:p>
          <a:p>
            <a:r>
              <a:rPr lang="en-IN" sz="3200" dirty="0"/>
              <a:t>Load</a:t>
            </a:r>
          </a:p>
          <a:p>
            <a:r>
              <a:rPr lang="en-IN" sz="3200" dirty="0"/>
              <a:t>Communication cost</a:t>
            </a:r>
          </a:p>
          <a:p>
            <a:r>
              <a:rPr lang="en-IN" sz="3200" dirty="0"/>
              <a:t> Reliability </a:t>
            </a:r>
          </a:p>
          <a:p>
            <a:endParaRPr lang="en-IN"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14600" y="1524000"/>
            <a:ext cx="3962400" cy="4572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IN" sz="2400" b="1" dirty="0">
                <a:ln w="0"/>
                <a:solidFill>
                  <a:schemeClr val="tx1"/>
                </a:solidFill>
                <a:effectLst>
                  <a:outerShdw blurRad="38100" dist="19050" dir="2700000" algn="tl" rotWithShape="0">
                    <a:schemeClr val="dk1">
                      <a:alpha val="40000"/>
                    </a:schemeClr>
                  </a:outerShdw>
                </a:effectLst>
              </a:rPr>
              <a:t>Routing Protocols</a:t>
            </a:r>
          </a:p>
        </p:txBody>
      </p:sp>
      <p:sp>
        <p:nvSpPr>
          <p:cNvPr id="5" name="Rectangle 4"/>
          <p:cNvSpPr/>
          <p:nvPr/>
        </p:nvSpPr>
        <p:spPr>
          <a:xfrm>
            <a:off x="1066800" y="2743200"/>
            <a:ext cx="2895600" cy="457200"/>
          </a:xfrm>
          <a:prstGeom prst="rect">
            <a:avLst/>
          </a:prstGeom>
          <a:solidFill>
            <a:srgbClr val="47A9E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IN" b="1" dirty="0">
                <a:ln w="0"/>
                <a:solidFill>
                  <a:schemeClr val="tx1"/>
                </a:solidFill>
                <a:effectLst>
                  <a:outerShdw blurRad="38100" dist="19050" dir="2700000" algn="tl" rotWithShape="0">
                    <a:schemeClr val="dk1">
                      <a:alpha val="40000"/>
                    </a:schemeClr>
                  </a:outerShdw>
                </a:effectLst>
              </a:rPr>
              <a:t>Static Routing</a:t>
            </a:r>
          </a:p>
        </p:txBody>
      </p:sp>
      <p:sp>
        <p:nvSpPr>
          <p:cNvPr id="6" name="Rectangle 5"/>
          <p:cNvSpPr/>
          <p:nvPr/>
        </p:nvSpPr>
        <p:spPr>
          <a:xfrm>
            <a:off x="4800600" y="2743200"/>
            <a:ext cx="2895600" cy="457200"/>
          </a:xfrm>
          <a:prstGeom prst="rect">
            <a:avLst/>
          </a:prstGeom>
          <a:solidFill>
            <a:srgbClr val="47A9E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IN" b="1" dirty="0">
                <a:ln w="0"/>
                <a:solidFill>
                  <a:schemeClr val="tx1"/>
                </a:solidFill>
                <a:effectLst>
                  <a:outerShdw blurRad="38100" dist="19050" dir="2700000" algn="tl" rotWithShape="0">
                    <a:schemeClr val="dk1">
                      <a:alpha val="40000"/>
                    </a:schemeClr>
                  </a:outerShdw>
                </a:effectLst>
              </a:rPr>
              <a:t>Dynamic Routing</a:t>
            </a:r>
          </a:p>
        </p:txBody>
      </p:sp>
      <p:sp>
        <p:nvSpPr>
          <p:cNvPr id="7" name="Rectangle 6"/>
          <p:cNvSpPr/>
          <p:nvPr/>
        </p:nvSpPr>
        <p:spPr>
          <a:xfrm>
            <a:off x="3848100" y="3883025"/>
            <a:ext cx="1905000" cy="7620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IN" sz="1600" b="1" dirty="0">
                <a:ln w="0"/>
                <a:solidFill>
                  <a:schemeClr val="tx1"/>
                </a:solidFill>
                <a:effectLst>
                  <a:outerShdw blurRad="38100" dist="19050" dir="2700000" algn="tl" rotWithShape="0">
                    <a:schemeClr val="dk1">
                      <a:alpha val="40000"/>
                    </a:schemeClr>
                  </a:outerShdw>
                </a:effectLst>
              </a:rPr>
              <a:t>Interior Gateway Protocols (IGPs)</a:t>
            </a:r>
          </a:p>
        </p:txBody>
      </p:sp>
      <p:sp>
        <p:nvSpPr>
          <p:cNvPr id="8" name="Rectangle 7"/>
          <p:cNvSpPr/>
          <p:nvPr/>
        </p:nvSpPr>
        <p:spPr>
          <a:xfrm>
            <a:off x="6477000" y="3886200"/>
            <a:ext cx="1905000" cy="7620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IN" sz="1600" b="1" dirty="0">
                <a:ln w="0"/>
                <a:solidFill>
                  <a:schemeClr val="tx1"/>
                </a:solidFill>
                <a:effectLst>
                  <a:outerShdw blurRad="38100" dist="19050" dir="2700000" algn="tl" rotWithShape="0">
                    <a:schemeClr val="dk1">
                      <a:alpha val="40000"/>
                    </a:schemeClr>
                  </a:outerShdw>
                </a:effectLst>
              </a:rPr>
              <a:t>Exterior Gateway Protocols (EGPs)</a:t>
            </a:r>
          </a:p>
        </p:txBody>
      </p:sp>
      <p:cxnSp>
        <p:nvCxnSpPr>
          <p:cNvPr id="9" name="Straight Connector 8"/>
          <p:cNvCxnSpPr/>
          <p:nvPr/>
        </p:nvCxnSpPr>
        <p:spPr>
          <a:xfrm>
            <a:off x="2514600" y="2209800"/>
            <a:ext cx="3733800" cy="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Arrow Connector 9"/>
          <p:cNvCxnSpPr>
            <a:endCxn id="5" idx="0"/>
          </p:cNvCxnSpPr>
          <p:nvPr/>
        </p:nvCxnSpPr>
        <p:spPr>
          <a:xfrm>
            <a:off x="2514600" y="2209800"/>
            <a:ext cx="0" cy="5334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p:cNvCxnSpPr>
            <a:endCxn id="6" idx="0"/>
          </p:cNvCxnSpPr>
          <p:nvPr/>
        </p:nvCxnSpPr>
        <p:spPr>
          <a:xfrm>
            <a:off x="6248400" y="2209800"/>
            <a:ext cx="0" cy="5334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4419600" y="1981200"/>
            <a:ext cx="0" cy="22860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p:cNvCxnSpPr>
            <a:cxnSpLocks/>
          </p:cNvCxnSpPr>
          <p:nvPr/>
        </p:nvCxnSpPr>
        <p:spPr>
          <a:xfrm>
            <a:off x="4800600" y="3581400"/>
            <a:ext cx="2590800"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Arrow Connector 13"/>
          <p:cNvCxnSpPr>
            <a:cxnSpLocks/>
          </p:cNvCxnSpPr>
          <p:nvPr/>
        </p:nvCxnSpPr>
        <p:spPr>
          <a:xfrm>
            <a:off x="4800600" y="3581400"/>
            <a:ext cx="19050" cy="3016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a:cxnSpLocks/>
          </p:cNvCxnSpPr>
          <p:nvPr/>
        </p:nvCxnSpPr>
        <p:spPr>
          <a:xfrm>
            <a:off x="7391400" y="3581400"/>
            <a:ext cx="0" cy="304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Connector 15"/>
          <p:cNvCxnSpPr>
            <a:cxnSpLocks/>
          </p:cNvCxnSpPr>
          <p:nvPr/>
        </p:nvCxnSpPr>
        <p:spPr>
          <a:xfrm flipH="1">
            <a:off x="6248400" y="3200400"/>
            <a:ext cx="1588" cy="38100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186766" cy="868346"/>
          </a:xfrm>
        </p:spPr>
        <p:txBody>
          <a:bodyPr>
            <a:normAutofit/>
          </a:bodyPr>
          <a:lstStyle/>
          <a:p>
            <a:r>
              <a:rPr lang="en-US" altLang="en-US" b="1" dirty="0">
                <a:solidFill>
                  <a:schemeClr val="tx1"/>
                </a:solidFill>
              </a:rPr>
              <a:t>Static Routing Protocols</a:t>
            </a:r>
            <a:endParaRPr lang="en-IN" b="1" dirty="0">
              <a:solidFill>
                <a:schemeClr val="tx1"/>
              </a:solidFill>
            </a:endParaRPr>
          </a:p>
        </p:txBody>
      </p:sp>
      <p:pic>
        <p:nvPicPr>
          <p:cNvPr id="4" name="Content Placeholder 3"/>
          <p:cNvPicPr>
            <a:picLocks noGrp="1" noChangeAspect="1" noChangeArrowheads="1"/>
          </p:cNvPicPr>
          <p:nvPr>
            <p:ph sz="quarter" idx="1"/>
          </p:nvPr>
        </p:nvPicPr>
        <p:blipFill>
          <a:blip r:embed="rId2"/>
          <a:srcRect/>
          <a:stretch>
            <a:fillRect/>
          </a:stretch>
        </p:blipFill>
        <p:spPr bwMode="auto">
          <a:xfrm>
            <a:off x="428596" y="1315620"/>
            <a:ext cx="8032299" cy="470418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500042"/>
            <a:ext cx="8186766" cy="796908"/>
          </a:xfrm>
        </p:spPr>
        <p:txBody>
          <a:bodyPr/>
          <a:lstStyle/>
          <a:p>
            <a:r>
              <a:rPr lang="en-US" altLang="en-US" b="1" dirty="0">
                <a:solidFill>
                  <a:schemeClr val="tx1"/>
                </a:solidFill>
              </a:rPr>
              <a:t>Dynamic Routing Protocols</a:t>
            </a:r>
            <a:endParaRPr lang="en-IN" b="1" dirty="0">
              <a:solidFill>
                <a:schemeClr val="tx1"/>
              </a:solidFill>
            </a:endParaRPr>
          </a:p>
        </p:txBody>
      </p:sp>
      <p:pic>
        <p:nvPicPr>
          <p:cNvPr id="4" name="Picture 2"/>
          <p:cNvPicPr>
            <a:picLocks noGrp="1" noChangeAspect="1" noChangeArrowheads="1"/>
          </p:cNvPicPr>
          <p:nvPr>
            <p:ph sz="quarter" idx="1"/>
          </p:nvPr>
        </p:nvPicPr>
        <p:blipFill>
          <a:blip r:embed="rId2"/>
          <a:srcRect/>
          <a:stretch>
            <a:fillRect/>
          </a:stretch>
        </p:blipFill>
        <p:spPr bwMode="auto">
          <a:xfrm>
            <a:off x="500034" y="1447800"/>
            <a:ext cx="8143932" cy="4910158"/>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274638"/>
            <a:ext cx="8115328" cy="1143000"/>
          </a:xfrm>
        </p:spPr>
        <p:txBody>
          <a:bodyPr/>
          <a:lstStyle/>
          <a:p>
            <a:r>
              <a:rPr lang="en-IN" altLang="en-US" b="1" dirty="0">
                <a:solidFill>
                  <a:schemeClr val="tx1"/>
                </a:solidFill>
              </a:rPr>
              <a:t>Distance Vector Routing Protocols</a:t>
            </a:r>
            <a:endParaRPr lang="en-IN" b="1" dirty="0">
              <a:solidFill>
                <a:schemeClr val="tx1"/>
              </a:solidFill>
            </a:endParaRPr>
          </a:p>
        </p:txBody>
      </p:sp>
      <p:sp>
        <p:nvSpPr>
          <p:cNvPr id="3" name="Content Placeholder 2"/>
          <p:cNvSpPr>
            <a:spLocks noGrp="1"/>
          </p:cNvSpPr>
          <p:nvPr>
            <p:ph sz="quarter" idx="1"/>
          </p:nvPr>
        </p:nvSpPr>
        <p:spPr>
          <a:xfrm>
            <a:off x="500034" y="1500174"/>
            <a:ext cx="8186766" cy="4519626"/>
          </a:xfrm>
        </p:spPr>
        <p:txBody>
          <a:bodyPr>
            <a:normAutofit/>
          </a:bodyPr>
          <a:lstStyle/>
          <a:p>
            <a:pPr marL="0" indent="0" algn="just">
              <a:buNone/>
              <a:defRPr/>
            </a:pPr>
            <a:r>
              <a:rPr lang="en-IN" sz="2800" dirty="0"/>
              <a:t>Distance vector means that routes are advertised by providing two characteristics:</a:t>
            </a:r>
          </a:p>
          <a:p>
            <a:pPr algn="just">
              <a:defRPr/>
            </a:pPr>
            <a:r>
              <a:rPr lang="en-IN" sz="2800" b="1" dirty="0">
                <a:solidFill>
                  <a:srgbClr val="FF0000"/>
                </a:solidFill>
              </a:rPr>
              <a:t>Distance</a:t>
            </a:r>
            <a:r>
              <a:rPr lang="en-IN" sz="2800" dirty="0">
                <a:solidFill>
                  <a:srgbClr val="FF0000"/>
                </a:solidFill>
              </a:rPr>
              <a:t>:</a:t>
            </a:r>
            <a:r>
              <a:rPr lang="en-IN" sz="2800" dirty="0"/>
              <a:t> Identifies how far it is to the destination network and is based on a metric such as the hop count, cost, bandwidth, delay, and more</a:t>
            </a:r>
          </a:p>
          <a:p>
            <a:pPr algn="just">
              <a:defRPr/>
            </a:pPr>
            <a:r>
              <a:rPr lang="en-IN" sz="2800" b="1" dirty="0">
                <a:solidFill>
                  <a:srgbClr val="FF0000"/>
                </a:solidFill>
              </a:rPr>
              <a:t>Vector</a:t>
            </a:r>
            <a:r>
              <a:rPr lang="en-IN" sz="2800" dirty="0">
                <a:solidFill>
                  <a:srgbClr val="FF0000"/>
                </a:solidFill>
              </a:rPr>
              <a:t>:</a:t>
            </a:r>
            <a:r>
              <a:rPr lang="en-IN" sz="2800" dirty="0"/>
              <a:t> Specifies the direction of the next-hop router or exit interface to reach the destination</a:t>
            </a:r>
          </a:p>
          <a:p>
            <a:endParaRPr lang="en-IN" sz="2800" dirty="0"/>
          </a:p>
        </p:txBody>
      </p:sp>
      <p:pic>
        <p:nvPicPr>
          <p:cNvPr id="4" name="Picture 2" descr="http://ptgmedia.pearsoncmg.com/images/chap3_9781587133237/elementLinks/03fig11_alt.jpg"/>
          <p:cNvPicPr>
            <a:picLocks noChangeAspect="1" noChangeArrowheads="1"/>
          </p:cNvPicPr>
          <p:nvPr/>
        </p:nvPicPr>
        <p:blipFill>
          <a:blip r:embed="rId2"/>
          <a:srcRect/>
          <a:stretch>
            <a:fillRect/>
          </a:stretch>
        </p:blipFill>
        <p:spPr bwMode="auto">
          <a:xfrm>
            <a:off x="1928794" y="4786322"/>
            <a:ext cx="5329238" cy="1876424"/>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ptgmedia.pearsoncmg.com/images/chap3_9781587133237/elementLinks/03fig09_alt.jpg"/>
          <p:cNvPicPr>
            <a:picLocks noChangeAspect="1" noChangeArrowheads="1"/>
          </p:cNvPicPr>
          <p:nvPr/>
        </p:nvPicPr>
        <p:blipFill>
          <a:blip r:embed="rId2"/>
          <a:srcRect/>
          <a:stretch>
            <a:fillRect/>
          </a:stretch>
        </p:blipFill>
        <p:spPr bwMode="auto">
          <a:xfrm>
            <a:off x="309739" y="571480"/>
            <a:ext cx="8548541" cy="6008802"/>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57158" y="357166"/>
            <a:ext cx="8429684" cy="6215106"/>
          </a:xfrm>
        </p:spPr>
        <p:txBody>
          <a:bodyPr>
            <a:noAutofit/>
          </a:bodyPr>
          <a:lstStyle/>
          <a:p>
            <a:pPr marL="3175" indent="-3175" algn="just">
              <a:buNone/>
            </a:pPr>
            <a:r>
              <a:rPr lang="en-IN" sz="2800" b="1" dirty="0"/>
              <a:t>	Distance Vector Routing or Bellman Ford Algorithm</a:t>
            </a:r>
            <a:r>
              <a:rPr lang="en-IN" sz="2800" dirty="0"/>
              <a:t> is a type of algorithm used by routing protocols to learn routes on an interconnected network. Routing protocols that use distance-vector routing protocols include:</a:t>
            </a:r>
          </a:p>
          <a:p>
            <a:pPr algn="just">
              <a:buNone/>
            </a:pPr>
            <a:r>
              <a:rPr lang="en-IN" sz="2800" dirty="0"/>
              <a:t>	1.     Routing Information Protocol RIP.</a:t>
            </a:r>
          </a:p>
          <a:p>
            <a:pPr algn="just">
              <a:buNone/>
            </a:pPr>
            <a:r>
              <a:rPr lang="en-IN" sz="2800" dirty="0"/>
              <a:t>	2.     Cisco's Internet Gateway Routing Protocol IGRP.</a:t>
            </a:r>
          </a:p>
          <a:p>
            <a:pPr algn="just">
              <a:buNone/>
            </a:pPr>
            <a:r>
              <a:rPr lang="en-IN" sz="2800" dirty="0"/>
              <a:t>	3.     Apple's Routing Table Maintenance Protocol RTMP.</a:t>
            </a:r>
          </a:p>
          <a:p>
            <a:pPr algn="just"/>
            <a:r>
              <a:rPr lang="en-IN" sz="2800" dirty="0"/>
              <a:t>In distance vector routing when a router is booted it maintains a routing table advertising vector of distance and direction. Direction is represented by next hop address, whereas Distance uses metrics such as hop count.</a:t>
            </a:r>
          </a:p>
          <a:p>
            <a:pPr algn="just"/>
            <a:r>
              <a:rPr lang="en-IN" sz="2800" dirty="0"/>
              <a:t>After every fixed period of time router exchanges its routing table with its neighbouring router and we get a new merged table.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C:\Users\HP-PC\Documents\bellman ford.jpg"/>
          <p:cNvPicPr>
            <a:picLocks noGrp="1" noChangeAspect="1" noChangeArrowheads="1"/>
          </p:cNvPicPr>
          <p:nvPr>
            <p:ph sz="quarter" idx="1"/>
          </p:nvPr>
        </p:nvPicPr>
        <p:blipFill>
          <a:blip r:embed="rId2"/>
          <a:srcRect/>
          <a:stretch>
            <a:fillRect/>
          </a:stretch>
        </p:blipFill>
        <p:spPr bwMode="auto">
          <a:xfrm>
            <a:off x="571472" y="428604"/>
            <a:ext cx="8215370" cy="3291669"/>
          </a:xfrm>
          <a:prstGeom prst="rect">
            <a:avLst/>
          </a:prstGeom>
          <a:noFill/>
        </p:spPr>
      </p:pic>
      <p:sp>
        <p:nvSpPr>
          <p:cNvPr id="5" name="TextBox 4"/>
          <p:cNvSpPr txBox="1"/>
          <p:nvPr/>
        </p:nvSpPr>
        <p:spPr>
          <a:xfrm>
            <a:off x="428596" y="3786191"/>
            <a:ext cx="8429684" cy="830997"/>
          </a:xfrm>
          <a:prstGeom prst="rect">
            <a:avLst/>
          </a:prstGeom>
          <a:noFill/>
        </p:spPr>
        <p:txBody>
          <a:bodyPr wrap="square" rtlCol="0">
            <a:spAutoFit/>
          </a:bodyPr>
          <a:lstStyle/>
          <a:p>
            <a:pPr algn="just"/>
            <a:r>
              <a:rPr lang="en-IN" sz="2400" dirty="0"/>
              <a:t>When Routers are booted Routers gathers information from attached networks and maintains  following routing tables: </a:t>
            </a:r>
          </a:p>
        </p:txBody>
      </p:sp>
      <p:pic>
        <p:nvPicPr>
          <p:cNvPr id="23555" name="Picture 3" descr="C:\Users\HP-PC\Documents\pass1.jpg"/>
          <p:cNvPicPr>
            <a:picLocks noChangeAspect="1" noChangeArrowheads="1"/>
          </p:cNvPicPr>
          <p:nvPr/>
        </p:nvPicPr>
        <p:blipFill>
          <a:blip r:embed="rId3"/>
          <a:srcRect/>
          <a:stretch>
            <a:fillRect/>
          </a:stretch>
        </p:blipFill>
        <p:spPr bwMode="auto">
          <a:xfrm>
            <a:off x="214282" y="4714884"/>
            <a:ext cx="8572560" cy="1714512"/>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85720" y="285728"/>
            <a:ext cx="8572560" cy="5734072"/>
          </a:xfrm>
        </p:spPr>
        <p:txBody>
          <a:bodyPr/>
          <a:lstStyle/>
          <a:p>
            <a:pPr marL="3175" indent="-3175">
              <a:buNone/>
            </a:pPr>
            <a:r>
              <a:rPr lang="en-IN" dirty="0"/>
              <a:t>After a fixed period of time routing tables of the neighbouring tables are shared: </a:t>
            </a:r>
          </a:p>
          <a:p>
            <a:r>
              <a:rPr lang="en-IN" sz="2400" dirty="0"/>
              <a:t>Router A swaps its information with Router B , Router C  and Router D.</a:t>
            </a:r>
          </a:p>
          <a:p>
            <a:r>
              <a:rPr lang="en-IN" sz="2400" dirty="0"/>
              <a:t>Router B swaps its information with Router A and Router C</a:t>
            </a:r>
          </a:p>
          <a:p>
            <a:r>
              <a:rPr lang="en-IN" sz="2400" dirty="0"/>
              <a:t>Router C swaps its information with Router A, Router B and Router E</a:t>
            </a:r>
          </a:p>
          <a:p>
            <a:r>
              <a:rPr lang="en-IN" sz="2400" dirty="0"/>
              <a:t>Router D swaps its information with Router A</a:t>
            </a:r>
          </a:p>
          <a:p>
            <a:r>
              <a:rPr lang="en-IN" sz="2400" dirty="0"/>
              <a:t>Router E swaps its information with Router C </a:t>
            </a:r>
          </a:p>
          <a:p>
            <a:endParaRPr lang="en-IN" dirty="0"/>
          </a:p>
        </p:txBody>
      </p:sp>
      <p:pic>
        <p:nvPicPr>
          <p:cNvPr id="24579" name="Picture 3" descr="C:\Users\HP-PC\Documents\pass2.jpg"/>
          <p:cNvPicPr>
            <a:picLocks noChangeAspect="1" noChangeArrowheads="1"/>
          </p:cNvPicPr>
          <p:nvPr/>
        </p:nvPicPr>
        <p:blipFill>
          <a:blip r:embed="rId2"/>
          <a:srcRect/>
          <a:stretch>
            <a:fillRect/>
          </a:stretch>
        </p:blipFill>
        <p:spPr bwMode="auto">
          <a:xfrm>
            <a:off x="214282" y="3500438"/>
            <a:ext cx="8752923" cy="214314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85720" y="357166"/>
            <a:ext cx="8643998" cy="6286544"/>
          </a:xfrm>
        </p:spPr>
        <p:txBody>
          <a:bodyPr>
            <a:noAutofit/>
          </a:bodyPr>
          <a:lstStyle/>
          <a:p>
            <a:pPr marL="3175" indent="-3175" algn="just">
              <a:buNone/>
            </a:pPr>
            <a:r>
              <a:rPr lang="en-IN" sz="2800" dirty="0"/>
              <a:t>After a fixed period of time updated routing tables of the neighbouring tables are shared: </a:t>
            </a:r>
          </a:p>
          <a:p>
            <a:r>
              <a:rPr lang="en-IN" sz="2400" dirty="0"/>
              <a:t>Router A swaps its information with Router B , Router C  and Router D.</a:t>
            </a:r>
          </a:p>
          <a:p>
            <a:r>
              <a:rPr lang="en-IN" sz="2400" dirty="0"/>
              <a:t>Router B swaps its information with Router A and Router C</a:t>
            </a:r>
          </a:p>
          <a:p>
            <a:r>
              <a:rPr lang="en-IN" sz="2400" dirty="0"/>
              <a:t>Router C swaps its information with Router A, Router B and Router E</a:t>
            </a:r>
          </a:p>
          <a:p>
            <a:r>
              <a:rPr lang="en-IN" sz="2400" dirty="0"/>
              <a:t>Router D swaps its information with Router A</a:t>
            </a:r>
          </a:p>
          <a:p>
            <a:r>
              <a:rPr lang="en-IN" sz="2400" dirty="0"/>
              <a:t>Router E swaps its information with Router C </a:t>
            </a:r>
            <a:r>
              <a:rPr lang="en-IN" sz="2800" dirty="0"/>
              <a:t> </a:t>
            </a:r>
          </a:p>
          <a:p>
            <a:endParaRPr lang="en-IN" sz="2800" dirty="0"/>
          </a:p>
          <a:p>
            <a:endParaRPr lang="en-IN" sz="2800" dirty="0"/>
          </a:p>
          <a:p>
            <a:endParaRPr lang="en-IN" sz="2800" dirty="0"/>
          </a:p>
          <a:p>
            <a:endParaRPr lang="en-IN" sz="2800" dirty="0"/>
          </a:p>
          <a:p>
            <a:endParaRPr lang="en-IN" sz="2800" b="1" dirty="0"/>
          </a:p>
          <a:p>
            <a:r>
              <a:rPr lang="en-IN" sz="2000" b="1" dirty="0"/>
              <a:t>Note:  See example of Bellman Ford Algorithm.</a:t>
            </a:r>
            <a:endParaRPr lang="en-IN" sz="2800" b="1" dirty="0"/>
          </a:p>
          <a:p>
            <a:pPr>
              <a:buNone/>
            </a:pPr>
            <a:endParaRPr lang="en-IN" sz="2800" dirty="0"/>
          </a:p>
        </p:txBody>
      </p:sp>
      <p:pic>
        <p:nvPicPr>
          <p:cNvPr id="25603" name="Picture 3" descr="C:\Users\HP-PC\Documents\pass3.jpg"/>
          <p:cNvPicPr>
            <a:picLocks noChangeAspect="1" noChangeArrowheads="1"/>
          </p:cNvPicPr>
          <p:nvPr/>
        </p:nvPicPr>
        <p:blipFill>
          <a:blip r:embed="rId2"/>
          <a:srcRect/>
          <a:stretch>
            <a:fillRect/>
          </a:stretch>
        </p:blipFill>
        <p:spPr bwMode="auto">
          <a:xfrm>
            <a:off x="285720" y="3643314"/>
            <a:ext cx="8572560" cy="2386016"/>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8329642" cy="785818"/>
          </a:xfrm>
        </p:spPr>
        <p:txBody>
          <a:bodyPr/>
          <a:lstStyle/>
          <a:p>
            <a:r>
              <a:rPr lang="en-IN" altLang="en-US" b="1" dirty="0">
                <a:solidFill>
                  <a:schemeClr val="tx1"/>
                </a:solidFill>
              </a:rPr>
              <a:t>Link-State Routing Protocols</a:t>
            </a:r>
            <a:endParaRPr lang="en-IN" dirty="0">
              <a:solidFill>
                <a:schemeClr val="tx1"/>
              </a:solidFill>
            </a:endParaRPr>
          </a:p>
        </p:txBody>
      </p:sp>
      <p:sp>
        <p:nvSpPr>
          <p:cNvPr id="3" name="Content Placeholder 2"/>
          <p:cNvSpPr>
            <a:spLocks noGrp="1"/>
          </p:cNvSpPr>
          <p:nvPr>
            <p:ph sz="quarter" idx="1"/>
          </p:nvPr>
        </p:nvSpPr>
        <p:spPr>
          <a:xfrm>
            <a:off x="500034" y="1142984"/>
            <a:ext cx="8358246" cy="4876816"/>
          </a:xfrm>
        </p:spPr>
        <p:txBody>
          <a:bodyPr/>
          <a:lstStyle/>
          <a:p>
            <a:pPr algn="just"/>
            <a:r>
              <a:rPr lang="en-IN" altLang="en-US" sz="2800" dirty="0"/>
              <a:t>Router configured with a </a:t>
            </a:r>
            <a:r>
              <a:rPr lang="en-IN" altLang="en-US" sz="2800" b="1" i="1" dirty="0"/>
              <a:t>link-state routing protocol</a:t>
            </a:r>
            <a:r>
              <a:rPr lang="en-IN" altLang="en-US" sz="2800" dirty="0"/>
              <a:t> can create a complete view or topology of the network.</a:t>
            </a:r>
          </a:p>
          <a:p>
            <a:pPr algn="just"/>
            <a:r>
              <a:rPr lang="en-IN" altLang="en-US" sz="2800" dirty="0"/>
              <a:t>This is done by gathering information from all of the other routers.</a:t>
            </a:r>
          </a:p>
          <a:p>
            <a:pPr algn="just"/>
            <a:r>
              <a:rPr lang="en-IN" altLang="en-US" sz="2800" dirty="0"/>
              <a:t>Link-state update is only sent when there is a change in the topology</a:t>
            </a:r>
          </a:p>
          <a:p>
            <a:pPr>
              <a:buNone/>
            </a:pPr>
            <a:endParaRPr lang="en-IN" dirty="0"/>
          </a:p>
        </p:txBody>
      </p:sp>
      <p:pic>
        <p:nvPicPr>
          <p:cNvPr id="4" name="Picture 2" descr="http://ptgmedia.pearsoncmg.com/images/chap3_9781587133237/elementLinks/03fig12_alt.jpg"/>
          <p:cNvPicPr>
            <a:picLocks noChangeAspect="1" noChangeArrowheads="1"/>
          </p:cNvPicPr>
          <p:nvPr/>
        </p:nvPicPr>
        <p:blipFill>
          <a:blip r:embed="rId2"/>
          <a:srcRect/>
          <a:stretch>
            <a:fillRect/>
          </a:stretch>
        </p:blipFill>
        <p:spPr bwMode="auto">
          <a:xfrm>
            <a:off x="3286116" y="3609975"/>
            <a:ext cx="4786346" cy="3033735"/>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57158" y="500042"/>
            <a:ext cx="8286808" cy="5929354"/>
          </a:xfrm>
        </p:spPr>
        <p:txBody>
          <a:bodyPr>
            <a:normAutofit/>
          </a:bodyPr>
          <a:lstStyle/>
          <a:p>
            <a:pPr marL="0" indent="0" algn="just">
              <a:buNone/>
              <a:defRPr/>
            </a:pPr>
            <a:r>
              <a:rPr lang="en-IN" sz="3200" dirty="0"/>
              <a:t>Link-state protocols work best in situations where:</a:t>
            </a:r>
          </a:p>
          <a:p>
            <a:pPr algn="just">
              <a:defRPr/>
            </a:pPr>
            <a:r>
              <a:rPr lang="en-IN" sz="3200" dirty="0"/>
              <a:t>The network design is hierarchical, usually occurring in large networks.</a:t>
            </a:r>
          </a:p>
          <a:p>
            <a:pPr algn="just">
              <a:defRPr/>
            </a:pPr>
            <a:r>
              <a:rPr lang="en-IN" sz="3200" dirty="0"/>
              <a:t>Fast convergence of the network is crucial.</a:t>
            </a:r>
          </a:p>
          <a:p>
            <a:pPr algn="just">
              <a:defRPr/>
            </a:pPr>
            <a:r>
              <a:rPr lang="en-IN" sz="3200" dirty="0"/>
              <a:t>The administrators have good knowledge of the implemented link-state routing protocol</a:t>
            </a:r>
          </a:p>
          <a:p>
            <a:pPr marL="0" indent="0" algn="just">
              <a:buNone/>
              <a:defRPr/>
            </a:pPr>
            <a:endParaRPr lang="en-IN" sz="3200" dirty="0"/>
          </a:p>
          <a:p>
            <a:pPr marL="0" indent="0" algn="just">
              <a:buNone/>
              <a:defRPr/>
            </a:pPr>
            <a:r>
              <a:rPr lang="en-IN" sz="3200" dirty="0"/>
              <a:t>There are two link-state IPv4 IGPs:</a:t>
            </a:r>
          </a:p>
          <a:p>
            <a:pPr algn="just">
              <a:defRPr/>
            </a:pPr>
            <a:r>
              <a:rPr lang="en-IN" sz="3200" b="1" dirty="0"/>
              <a:t>OSPF</a:t>
            </a:r>
            <a:r>
              <a:rPr lang="en-IN" sz="3200" dirty="0"/>
              <a:t>: Popular standards-based routing protocol</a:t>
            </a:r>
          </a:p>
          <a:p>
            <a:pPr algn="just">
              <a:defRPr/>
            </a:pPr>
            <a:r>
              <a:rPr lang="en-IN" sz="3200" b="1" dirty="0"/>
              <a:t>IS-IS</a:t>
            </a:r>
            <a:r>
              <a:rPr lang="en-IN" sz="3200" dirty="0"/>
              <a:t>: Popular in provider networks</a:t>
            </a:r>
          </a:p>
          <a:p>
            <a:pPr algn="just">
              <a:buNone/>
            </a:pPr>
            <a:endParaRPr lang="en-IN" sz="3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274638"/>
            <a:ext cx="8115328" cy="725470"/>
          </a:xfrm>
        </p:spPr>
        <p:txBody>
          <a:bodyPr>
            <a:normAutofit fontScale="90000"/>
          </a:bodyPr>
          <a:lstStyle/>
          <a:p>
            <a:r>
              <a:rPr lang="en-IN" b="1" dirty="0">
                <a:solidFill>
                  <a:schemeClr val="tx1"/>
                </a:solidFill>
              </a:rPr>
              <a:t>Open Shortest Path First (OSPF)</a:t>
            </a:r>
          </a:p>
        </p:txBody>
      </p:sp>
      <p:sp>
        <p:nvSpPr>
          <p:cNvPr id="3" name="Content Placeholder 2"/>
          <p:cNvSpPr>
            <a:spLocks noGrp="1"/>
          </p:cNvSpPr>
          <p:nvPr>
            <p:ph sz="quarter" idx="1"/>
          </p:nvPr>
        </p:nvSpPr>
        <p:spPr>
          <a:xfrm>
            <a:off x="285720" y="1000108"/>
            <a:ext cx="8643998" cy="5643602"/>
          </a:xfrm>
        </p:spPr>
        <p:txBody>
          <a:bodyPr>
            <a:normAutofit lnSpcReduction="10000"/>
          </a:bodyPr>
          <a:lstStyle/>
          <a:p>
            <a:pPr algn="just"/>
            <a:r>
              <a:rPr lang="en-IN" dirty="0"/>
              <a:t>Open Shortest Path First (OSPF) is another Interior Gateway Protocol. OSPF was created because the Routing Information Protocol (RIP) was increasingly incapable of serving large inter-networks. </a:t>
            </a:r>
          </a:p>
          <a:p>
            <a:pPr algn="just"/>
            <a:r>
              <a:rPr lang="en-IN" dirty="0"/>
              <a:t>OSPF is based on the Shortest Path First algorithm, which is also referred to as the </a:t>
            </a:r>
            <a:r>
              <a:rPr lang="en-IN" dirty="0" err="1"/>
              <a:t>Dijkstra’s</a:t>
            </a:r>
            <a:r>
              <a:rPr lang="en-IN" dirty="0"/>
              <a:t> algorithm. </a:t>
            </a:r>
          </a:p>
          <a:p>
            <a:pPr algn="just"/>
            <a:r>
              <a:rPr lang="en-IN" dirty="0"/>
              <a:t>OSPF is a link-state routing protocol as it sends state of all other routers. </a:t>
            </a:r>
          </a:p>
          <a:p>
            <a:pPr algn="just"/>
            <a:r>
              <a:rPr lang="en-IN" dirty="0"/>
              <a:t>This protocol is open, which means anyone can implement it without paying license fees. </a:t>
            </a:r>
          </a:p>
          <a:p>
            <a:pPr algn="just"/>
            <a:r>
              <a:rPr lang="en-IN" dirty="0"/>
              <a:t>It supports both IPv4 and IPv6 routed protocols. </a:t>
            </a:r>
          </a:p>
          <a:p>
            <a:pPr algn="just"/>
            <a:r>
              <a:rPr lang="en-IN" dirty="0"/>
              <a:t>There are certain disadvantages of OSPF also, it requires extra CPU process to run SPF algorithm, it requires more RAM and is more complex to setup and hard to troubleshoot.</a:t>
            </a:r>
          </a:p>
          <a:p>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00034" y="500042"/>
            <a:ext cx="8429684" cy="5357850"/>
          </a:xfrm>
        </p:spPr>
        <p:txBody>
          <a:bodyPr>
            <a:normAutofit/>
          </a:bodyPr>
          <a:lstStyle/>
          <a:p>
            <a:pPr>
              <a:buNone/>
            </a:pPr>
            <a:r>
              <a:rPr lang="en-IN" sz="2800" b="1" dirty="0"/>
              <a:t>Link State of can be measured using following metrics:</a:t>
            </a:r>
          </a:p>
          <a:p>
            <a:r>
              <a:rPr lang="en-IN" dirty="0"/>
              <a:t>Measuring link utilization</a:t>
            </a:r>
          </a:p>
          <a:p>
            <a:r>
              <a:rPr lang="en-IN" dirty="0"/>
              <a:t>Number of hops (hop count)</a:t>
            </a:r>
          </a:p>
          <a:p>
            <a:r>
              <a:rPr lang="en-IN" dirty="0"/>
              <a:t>Speed of the path</a:t>
            </a:r>
          </a:p>
          <a:p>
            <a:r>
              <a:rPr lang="en-IN" dirty="0"/>
              <a:t>Packet loss (router congestion/conditions)</a:t>
            </a:r>
          </a:p>
          <a:p>
            <a:r>
              <a:rPr lang="en-IN" dirty="0"/>
              <a:t>Latency (delay)</a:t>
            </a:r>
          </a:p>
          <a:p>
            <a:r>
              <a:rPr lang="en-IN" dirty="0"/>
              <a:t>Path reliability</a:t>
            </a:r>
          </a:p>
          <a:p>
            <a:r>
              <a:rPr lang="en-IN" dirty="0"/>
              <a:t>Path bandwidth</a:t>
            </a:r>
          </a:p>
          <a:p>
            <a:r>
              <a:rPr lang="en-IN" dirty="0"/>
              <a:t>Throughput</a:t>
            </a:r>
          </a:p>
          <a:p>
            <a:r>
              <a:rPr lang="en-IN" dirty="0"/>
              <a:t>Load on link</a:t>
            </a:r>
          </a:p>
          <a:p>
            <a:r>
              <a:rPr lang="en-IN" dirty="0"/>
              <a:t>MTU maximum transmission unit</a:t>
            </a:r>
          </a:p>
          <a:p>
            <a:endParaRPr lang="en-IN"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199</TotalTime>
  <Words>1420</Words>
  <Application>Microsoft Office PowerPoint</Application>
  <PresentationFormat>On-screen Show (4:3)</PresentationFormat>
  <Paragraphs>107</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Franklin Gothic Book</vt:lpstr>
      <vt:lpstr>Perpetua</vt:lpstr>
      <vt:lpstr>Wingdings 2</vt:lpstr>
      <vt:lpstr>Equity</vt:lpstr>
      <vt:lpstr>CAP476: Data Communication and Networking Unit-4: Network-Layer - Routing</vt:lpstr>
      <vt:lpstr>Network Layer</vt:lpstr>
      <vt:lpstr>Functions of Network Layer</vt:lpstr>
      <vt:lpstr>Network Layer Design Issues</vt:lpstr>
      <vt:lpstr>PowerPoint Presentation</vt:lpstr>
      <vt:lpstr>Routing</vt:lpstr>
      <vt:lpstr>PowerPoint Presentation</vt:lpstr>
      <vt:lpstr>PowerPoint Presentation</vt:lpstr>
      <vt:lpstr>PowerPoint Presentation</vt:lpstr>
      <vt:lpstr>Static Routing Protocols</vt:lpstr>
      <vt:lpstr>Dynamic Routing Protocols</vt:lpstr>
      <vt:lpstr>Distance Vector Routing Protocols</vt:lpstr>
      <vt:lpstr>PowerPoint Presentation</vt:lpstr>
      <vt:lpstr>PowerPoint Presentation</vt:lpstr>
      <vt:lpstr>PowerPoint Presentation</vt:lpstr>
      <vt:lpstr>PowerPoint Presentation</vt:lpstr>
      <vt:lpstr>PowerPoint Presentation</vt:lpstr>
      <vt:lpstr>Link-State Routing Protocols</vt:lpstr>
      <vt:lpstr>PowerPoint Presentation</vt:lpstr>
      <vt:lpstr>Open Shortest Path First (OSPF)</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Unit-IV Switching and Routing</dc:title>
  <dc:creator>HP-PC</dc:creator>
  <cp:lastModifiedBy>Rishabh Garg</cp:lastModifiedBy>
  <cp:revision>31</cp:revision>
  <dcterms:created xsi:type="dcterms:W3CDTF">2019-04-02T05:43:03Z</dcterms:created>
  <dcterms:modified xsi:type="dcterms:W3CDTF">2024-10-09T04:29:39Z</dcterms:modified>
</cp:coreProperties>
</file>