
<file path=[Content_Types].xml><?xml version="1.0" encoding="utf-8"?>
<Types xmlns="http://schemas.openxmlformats.org/package/2006/content-types">
  <Default Extension="png" ContentType="image/png"/>
  <Default Extension="jpeg" ContentType="image/jpeg"/>
  <Default Extension="emf" ContentType="image/x-emf"/>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80"/>
  </p:notesMasterIdLst>
  <p:sldIdLst>
    <p:sldId id="256" r:id="rId2"/>
    <p:sldId id="257" r:id="rId3"/>
    <p:sldId id="258" r:id="rId4"/>
    <p:sldId id="259" r:id="rId5"/>
    <p:sldId id="260" r:id="rId6"/>
    <p:sldId id="261" r:id="rId7"/>
    <p:sldId id="262" r:id="rId8"/>
    <p:sldId id="263" r:id="rId9"/>
    <p:sldId id="266" r:id="rId10"/>
    <p:sldId id="264" r:id="rId11"/>
    <p:sldId id="265" r:id="rId12"/>
    <p:sldId id="267" r:id="rId13"/>
    <p:sldId id="268" r:id="rId14"/>
    <p:sldId id="269" r:id="rId15"/>
    <p:sldId id="270" r:id="rId16"/>
    <p:sldId id="271" r:id="rId17"/>
    <p:sldId id="272" r:id="rId18"/>
    <p:sldId id="273" r:id="rId19"/>
    <p:sldId id="275" r:id="rId20"/>
    <p:sldId id="274" r:id="rId21"/>
    <p:sldId id="276" r:id="rId22"/>
    <p:sldId id="277" r:id="rId23"/>
    <p:sldId id="278" r:id="rId24"/>
    <p:sldId id="279" r:id="rId25"/>
    <p:sldId id="280" r:id="rId26"/>
    <p:sldId id="283" r:id="rId27"/>
    <p:sldId id="284" r:id="rId28"/>
    <p:sldId id="285" r:id="rId29"/>
    <p:sldId id="286" r:id="rId30"/>
    <p:sldId id="291" r:id="rId31"/>
    <p:sldId id="292" r:id="rId32"/>
    <p:sldId id="294" r:id="rId33"/>
    <p:sldId id="293" r:id="rId34"/>
    <p:sldId id="290" r:id="rId35"/>
    <p:sldId id="287" r:id="rId36"/>
    <p:sldId id="288" r:id="rId37"/>
    <p:sldId id="289" r:id="rId38"/>
    <p:sldId id="295" r:id="rId39"/>
    <p:sldId id="296" r:id="rId40"/>
    <p:sldId id="297" r:id="rId41"/>
    <p:sldId id="298" r:id="rId42"/>
    <p:sldId id="299" r:id="rId43"/>
    <p:sldId id="300" r:id="rId44"/>
    <p:sldId id="301" r:id="rId45"/>
    <p:sldId id="302" r:id="rId46"/>
    <p:sldId id="303" r:id="rId47"/>
    <p:sldId id="304" r:id="rId48"/>
    <p:sldId id="305" r:id="rId49"/>
    <p:sldId id="306" r:id="rId50"/>
    <p:sldId id="307" r:id="rId51"/>
    <p:sldId id="310" r:id="rId52"/>
    <p:sldId id="308" r:id="rId53"/>
    <p:sldId id="311" r:id="rId54"/>
    <p:sldId id="313" r:id="rId55"/>
    <p:sldId id="314" r:id="rId56"/>
    <p:sldId id="315" r:id="rId57"/>
    <p:sldId id="322" r:id="rId58"/>
    <p:sldId id="316" r:id="rId59"/>
    <p:sldId id="317" r:id="rId60"/>
    <p:sldId id="318" r:id="rId61"/>
    <p:sldId id="321" r:id="rId62"/>
    <p:sldId id="320" r:id="rId63"/>
    <p:sldId id="323" r:id="rId64"/>
    <p:sldId id="324" r:id="rId65"/>
    <p:sldId id="326" r:id="rId66"/>
    <p:sldId id="327" r:id="rId67"/>
    <p:sldId id="328" r:id="rId68"/>
    <p:sldId id="329" r:id="rId69"/>
    <p:sldId id="330" r:id="rId70"/>
    <p:sldId id="331" r:id="rId71"/>
    <p:sldId id="325" r:id="rId72"/>
    <p:sldId id="332" r:id="rId73"/>
    <p:sldId id="333" r:id="rId74"/>
    <p:sldId id="335" r:id="rId75"/>
    <p:sldId id="336" r:id="rId76"/>
    <p:sldId id="341" r:id="rId77"/>
    <p:sldId id="342" r:id="rId78"/>
    <p:sldId id="344" r:id="rId7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368" autoAdjust="0"/>
    <p:restoredTop sz="99821" autoAdjust="0"/>
  </p:normalViewPr>
  <p:slideViewPr>
    <p:cSldViewPr>
      <p:cViewPr varScale="1">
        <p:scale>
          <a:sx n="70" d="100"/>
          <a:sy n="70" d="100"/>
        </p:scale>
        <p:origin x="1356" y="5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B3879FB-7509-48C6-A696-5893DCDE10E4}" type="datetimeFigureOut">
              <a:rPr lang="en-US" smtClean="0"/>
              <a:pPr/>
              <a:t>10/28/2025</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A3F3BDA-F025-4390-AF2A-F63FCCF7C25D}" type="slidenum">
              <a:rPr lang="en-IN" smtClean="0"/>
              <a:pPr/>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p:cNvSpPr>
            <a:spLocks noGrp="1" noRot="1" noChangeAspect="1" noTextEdit="1"/>
          </p:cNvSpPr>
          <p:nvPr>
            <p:ph type="sldImg"/>
          </p:nvPr>
        </p:nvSpPr>
        <p:spPr>
          <a:ln/>
        </p:spPr>
      </p:sp>
      <p:sp>
        <p:nvSpPr>
          <p:cNvPr id="19459" name="Notes Placeholder 2"/>
          <p:cNvSpPr>
            <a:spLocks noGrp="1"/>
          </p:cNvSpPr>
          <p:nvPr>
            <p:ph type="body" idx="1"/>
          </p:nvPr>
        </p:nvSpPr>
        <p:spPr>
          <a:noFill/>
        </p:spPr>
        <p:txBody>
          <a:bodyPr/>
          <a:lstStyle/>
          <a:p>
            <a:endParaRPr lang="en-IN"/>
          </a:p>
        </p:txBody>
      </p:sp>
      <p:sp>
        <p:nvSpPr>
          <p:cNvPr id="19460" name="Slide Number Placeholder 3"/>
          <p:cNvSpPr>
            <a:spLocks noGrp="1"/>
          </p:cNvSpPr>
          <p:nvPr>
            <p:ph type="sldNum" sz="quarter" idx="5"/>
          </p:nvPr>
        </p:nvSpPr>
        <p:spPr>
          <a:noFill/>
          <a:ln>
            <a:miter lim="800000"/>
            <a:headEnd/>
            <a:tailEnd/>
          </a:ln>
        </p:spPr>
        <p:txBody>
          <a:bodyPr/>
          <a:lstStyle/>
          <a:p>
            <a:fld id="{E47BCF8A-463C-49D6-9A09-D995E7218E6F}" type="slidenum">
              <a:rPr lang="en-US" smtClean="0"/>
              <a:pPr/>
              <a:t>74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p:txBody>
          <a:bodyPr/>
          <a:lstStyle/>
          <a:p>
            <a:fld id="{AE0E4E8B-37B3-454C-9E57-D5CEDE852E2A}" type="datetimeFigureOut">
              <a:rPr lang="en-US" smtClean="0"/>
              <a:pPr/>
              <a:t>10/28/2025</a:t>
            </a:fld>
            <a:endParaRPr lang="en-IN"/>
          </a:p>
        </p:txBody>
      </p:sp>
      <p:sp>
        <p:nvSpPr>
          <p:cNvPr id="17" name="Footer Placeholder 16"/>
          <p:cNvSpPr>
            <a:spLocks noGrp="1"/>
          </p:cNvSpPr>
          <p:nvPr>
            <p:ph type="ftr" sz="quarter" idx="11"/>
          </p:nvPr>
        </p:nvSpPr>
        <p:spPr/>
        <p:txBody>
          <a:bodyPr/>
          <a:lstStyle/>
          <a:p>
            <a:endParaRPr lang="en-IN"/>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D9CD7ED1-694E-4BE5-BD56-B19D7E3C45B2}" type="slidenum">
              <a:rPr lang="en-IN" smtClean="0"/>
              <a:pPr/>
              <a:t>‹#›</a:t>
            </a:fld>
            <a:endParaRPr lang="en-IN"/>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AE0E4E8B-37B3-454C-9E57-D5CEDE852E2A}" type="datetimeFigureOut">
              <a:rPr lang="en-US" smtClean="0"/>
              <a:pPr/>
              <a:t>10/28/2025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9CD7ED1-694E-4BE5-BD56-B19D7E3C45B2}" type="slidenum">
              <a:rPr lang="en-IN" smtClean="0"/>
              <a:pPr/>
              <a:t>‹#›</a:t>
            </a:fld>
            <a:endParaRPr lang="en-IN"/>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a:t>Click to edit Master title style</a:t>
            </a:r>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AE0E4E8B-37B3-454C-9E57-D5CEDE852E2A}" type="datetimeFigureOut">
              <a:rPr lang="en-US" smtClean="0"/>
              <a:pPr/>
              <a:t>10/28/2025</a:t>
            </a:fld>
            <a:endParaRPr lang="en-IN"/>
          </a:p>
        </p:txBody>
      </p:sp>
      <p:sp>
        <p:nvSpPr>
          <p:cNvPr id="5" name="Footer Placeholder 4"/>
          <p:cNvSpPr>
            <a:spLocks noGrp="1"/>
          </p:cNvSpPr>
          <p:nvPr>
            <p:ph type="ftr" sz="quarter" idx="11"/>
          </p:nvPr>
        </p:nvSpPr>
        <p:spPr>
          <a:xfrm>
            <a:off x="800100" y="6172200"/>
            <a:ext cx="4000500" cy="457200"/>
          </a:xfrm>
        </p:spPr>
        <p:txBody>
          <a:bodyPr/>
          <a:lstStyle/>
          <a:p>
            <a:endParaRPr lang="en-IN"/>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D9CD7ED1-694E-4BE5-BD56-B19D7E3C45B2}" type="slidenum">
              <a:rPr lang="en-IN" smtClean="0"/>
              <a:pPr/>
              <a:t>‹#›</a:t>
            </a:fld>
            <a:endParaRPr lang="en-IN"/>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AE0E4E8B-37B3-454C-9E57-D5CEDE852E2A}" type="datetimeFigureOut">
              <a:rPr lang="en-US" smtClean="0"/>
              <a:pPr/>
              <a:t>10/28/2025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9CD7ED1-694E-4BE5-BD56-B19D7E3C45B2}" type="slidenum">
              <a:rPr lang="en-IN" smtClean="0"/>
              <a:pPr/>
              <a:t>‹#›</a:t>
            </a:fld>
            <a:endParaRPr lang="en-IN"/>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a:t>Click to edit Master title style</a:t>
            </a:r>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AE0E4E8B-37B3-454C-9E57-D5CEDE852E2A}" type="datetimeFigureOut">
              <a:rPr lang="en-US" smtClean="0"/>
              <a:pPr/>
              <a:t>10/28/2025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9CD7ED1-694E-4BE5-BD56-B19D7E3C45B2}" type="slidenum">
              <a:rPr lang="en-IN" smtClean="0"/>
              <a:pPr/>
              <a:t>‹#›</a:t>
            </a:fld>
            <a:endParaRPr lang="en-IN"/>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AE0E4E8B-37B3-454C-9E57-D5CEDE852E2A}" type="datetimeFigureOut">
              <a:rPr lang="en-US" smtClean="0"/>
              <a:pPr/>
              <a:t>10/28/2025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9CD7ED1-694E-4BE5-BD56-B19D7E3C45B2}"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E0E4E8B-37B3-454C-9E57-D5CEDE852E2A}" type="datetimeFigureOut">
              <a:rPr lang="en-US" smtClean="0"/>
              <a:pPr/>
              <a:t>10/28/2025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9CD7ED1-694E-4BE5-BD56-B19D7E3C45B2}"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a:t>Click to edit Master title style</a:t>
            </a:r>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AE0E4E8B-37B3-454C-9E57-D5CEDE852E2A}" type="datetimeFigureOut">
              <a:rPr lang="en-US" smtClean="0"/>
              <a:pPr/>
              <a:t>10/28/2025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9CD7ED1-694E-4BE5-BD56-B19D7E3C45B2}" type="slidenum">
              <a:rPr lang="en-IN" smtClean="0"/>
              <a:pPr/>
              <a:t>‹#›</a:t>
            </a:fld>
            <a:endParaRPr lang="en-IN"/>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a:t>Click to edit Master title style</a:t>
            </a:r>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AE0E4E8B-37B3-454C-9E57-D5CEDE852E2A}" type="datetimeFigureOut">
              <a:rPr lang="en-US" smtClean="0"/>
              <a:pPr/>
              <a:t>10/28/2025</a:t>
            </a:fld>
            <a:endParaRPr lang="en-IN"/>
          </a:p>
        </p:txBody>
      </p:sp>
      <p:sp>
        <p:nvSpPr>
          <p:cNvPr id="6" name="Footer Placeholder 5"/>
          <p:cNvSpPr>
            <a:spLocks noGrp="1"/>
          </p:cNvSpPr>
          <p:nvPr>
            <p:ph type="ftr" sz="quarter" idx="11"/>
          </p:nvPr>
        </p:nvSpPr>
        <p:spPr>
          <a:xfrm>
            <a:off x="914400" y="6172200"/>
            <a:ext cx="3886200" cy="457200"/>
          </a:xfrm>
        </p:spPr>
        <p:txBody>
          <a:bodyPr/>
          <a:lstStyle/>
          <a:p>
            <a:endParaRPr lang="en-IN"/>
          </a:p>
        </p:txBody>
      </p:sp>
      <p:sp>
        <p:nvSpPr>
          <p:cNvPr id="7" name="Slide Number Placeholder 6"/>
          <p:cNvSpPr>
            <a:spLocks noGrp="1"/>
          </p:cNvSpPr>
          <p:nvPr>
            <p:ph type="sldNum" sz="quarter" idx="12"/>
          </p:nvPr>
        </p:nvSpPr>
        <p:spPr>
          <a:xfrm>
            <a:off x="146304" y="6208776"/>
            <a:ext cx="457200" cy="457200"/>
          </a:xfrm>
        </p:spPr>
        <p:txBody>
          <a:bodyPr/>
          <a:lstStyle/>
          <a:p>
            <a:fld id="{D9CD7ED1-694E-4BE5-BD56-B19D7E3C45B2}" type="slidenum">
              <a:rPr lang="en-IN" smtClean="0"/>
              <a:pPr/>
              <a:t>‹#›</a:t>
            </a:fld>
            <a:endParaRPr lang="en-IN"/>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AE0E4E8B-37B3-454C-9E57-D5CEDE852E2A}" type="datetimeFigureOut">
              <a:rPr lang="en-US" smtClean="0"/>
              <a:pPr/>
              <a:t>10/28/2025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9CD7ED1-694E-4BE5-BD56-B19D7E3C45B2}"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AE0E4E8B-37B3-454C-9E57-D5CEDE852E2A}" type="datetimeFigureOut">
              <a:rPr lang="en-US" smtClean="0"/>
              <a:pPr/>
              <a:t>10/28/2025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9CD7ED1-694E-4BE5-BD56-B19D7E3C45B2}"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a:t>Click to edit Master title style</a:t>
            </a:r>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AE0E4E8B-37B3-454C-9E57-D5CEDE852E2A}" type="datetimeFigureOut">
              <a:rPr lang="en-US" smtClean="0"/>
              <a:pPr/>
              <a:t>10/28/2025</a:t>
            </a:fld>
            <a:endParaRPr lang="en-IN"/>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n-IN"/>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D9CD7ED1-694E-4BE5-BD56-B19D7E3C45B2}"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hyperlink" Target="https://meet.google.com/tsv-qyux-ppi" TargetMode="Externa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9.emf"/></Relationships>
</file>

<file path=ppt/slides/_rels/slide5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14282" y="1505930"/>
            <a:ext cx="8715436" cy="1470025"/>
          </a:xfrm>
        </p:spPr>
        <p:txBody>
          <a:bodyPr>
            <a:normAutofit fontScale="90000"/>
          </a:bodyPr>
          <a:lstStyle/>
          <a:p>
            <a:r>
              <a:rPr lang="en-IN" b="1" dirty="0"/>
              <a:t>Unit-6</a:t>
            </a:r>
            <a:br>
              <a:rPr lang="en-IN" b="1" dirty="0"/>
            </a:br>
            <a:r>
              <a:rPr lang="en-IN" b="1" dirty="0"/>
              <a:t>Application Layer Protocols and Services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Contents</a:t>
            </a:r>
          </a:p>
        </p:txBody>
      </p:sp>
      <p:sp>
        <p:nvSpPr>
          <p:cNvPr id="3" name="Content Placeholder 2"/>
          <p:cNvSpPr>
            <a:spLocks noGrp="1"/>
          </p:cNvSpPr>
          <p:nvPr>
            <p:ph sz="quarter" idx="1"/>
          </p:nvPr>
        </p:nvSpPr>
        <p:spPr/>
        <p:txBody>
          <a:bodyPr>
            <a:normAutofit lnSpcReduction="10000"/>
          </a:bodyPr>
          <a:lstStyle/>
          <a:p>
            <a:r>
              <a:rPr lang="en-IN" dirty="0"/>
              <a:t>Domain Name System (DNS)</a:t>
            </a:r>
          </a:p>
          <a:p>
            <a:r>
              <a:rPr lang="en-IN" dirty="0"/>
              <a:t>Remote Logging (TELNET)</a:t>
            </a:r>
          </a:p>
          <a:p>
            <a:r>
              <a:rPr lang="en-IN" dirty="0"/>
              <a:t>Electronic Mail (e-mail)</a:t>
            </a:r>
          </a:p>
          <a:p>
            <a:r>
              <a:rPr lang="en-IN" dirty="0"/>
              <a:t>File Transfer Protocol (FTP)</a:t>
            </a:r>
          </a:p>
          <a:p>
            <a:r>
              <a:rPr lang="en-IN" dirty="0"/>
              <a:t>WWW</a:t>
            </a:r>
          </a:p>
          <a:p>
            <a:r>
              <a:rPr lang="en-IN" dirty="0"/>
              <a:t>HTTP</a:t>
            </a:r>
          </a:p>
          <a:p>
            <a:r>
              <a:rPr lang="en-IN" dirty="0"/>
              <a:t>Network Management (SNMP)</a:t>
            </a:r>
          </a:p>
          <a:p>
            <a:r>
              <a:rPr lang="en-IN" dirty="0"/>
              <a:t>Cryptography</a:t>
            </a:r>
          </a:p>
          <a:p>
            <a:r>
              <a:rPr lang="en-IN" dirty="0"/>
              <a:t>Network Security</a:t>
            </a:r>
          </a:p>
          <a:p>
            <a:r>
              <a:rPr lang="en-IN" dirty="0"/>
              <a:t>Internet Security- IPSec, VPN, Firewalls</a:t>
            </a:r>
          </a:p>
          <a:p>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214298"/>
            <a:ext cx="8115328" cy="1143000"/>
          </a:xfrm>
        </p:spPr>
        <p:txBody>
          <a:bodyPr/>
          <a:lstStyle/>
          <a:p>
            <a:r>
              <a:rPr lang="en-IN" b="1" dirty="0">
                <a:solidFill>
                  <a:schemeClr val="tx1"/>
                </a:solidFill>
              </a:rPr>
              <a:t>Domain Name System (DNS)</a:t>
            </a:r>
          </a:p>
        </p:txBody>
      </p:sp>
      <p:sp>
        <p:nvSpPr>
          <p:cNvPr id="3" name="Content Placeholder 2"/>
          <p:cNvSpPr>
            <a:spLocks noGrp="1"/>
          </p:cNvSpPr>
          <p:nvPr>
            <p:ph sz="quarter" idx="1"/>
          </p:nvPr>
        </p:nvSpPr>
        <p:spPr>
          <a:xfrm>
            <a:off x="428596" y="1643050"/>
            <a:ext cx="8429684" cy="4624406"/>
          </a:xfrm>
        </p:spPr>
        <p:txBody>
          <a:bodyPr>
            <a:normAutofit/>
          </a:bodyPr>
          <a:lstStyle/>
          <a:p>
            <a:pPr marL="3175" indent="-3175">
              <a:buNone/>
            </a:pPr>
            <a:r>
              <a:rPr lang="en-IN" sz="2800" dirty="0"/>
              <a:t>There are several applications in the application layer of the Internet model that follow the client/server paradigm. The client/server programs can be divided into two categories:</a:t>
            </a:r>
            <a:endParaRPr lang="en-IN" altLang="en-US" sz="2800" dirty="0">
              <a:solidFill>
                <a:srgbClr val="FF0000"/>
              </a:solidFill>
              <a:latin typeface="Times New Roman" pitchFamily="18" charset="0"/>
            </a:endParaRPr>
          </a:p>
          <a:p>
            <a:pPr algn="just"/>
            <a:r>
              <a:rPr lang="en-IN" altLang="en-US" sz="2800" dirty="0">
                <a:solidFill>
                  <a:srgbClr val="FF0000"/>
                </a:solidFill>
                <a:latin typeface="Times New Roman" pitchFamily="18" charset="0"/>
              </a:rPr>
              <a:t>Programs that can be directly used by the user, such as e-mail. </a:t>
            </a:r>
          </a:p>
          <a:p>
            <a:pPr algn="just"/>
            <a:r>
              <a:rPr lang="en-IN" altLang="en-US" sz="2800" dirty="0">
                <a:latin typeface="Times New Roman" pitchFamily="18" charset="0"/>
              </a:rPr>
              <a:t>Programs that support other application programs. The Domain Name System (DNS) is a supporting program that is used by other programs such as e-mail.</a:t>
            </a:r>
          </a:p>
          <a:p>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a:srcRect/>
          <a:stretch>
            <a:fillRect/>
          </a:stretch>
        </p:blipFill>
        <p:spPr bwMode="auto">
          <a:xfrm>
            <a:off x="193117" y="214290"/>
            <a:ext cx="8766581" cy="4071966"/>
          </a:xfrm>
          <a:prstGeom prst="rect">
            <a:avLst/>
          </a:prstGeom>
          <a:noFill/>
          <a:ln w="9525">
            <a:noFill/>
            <a:miter lim="800000"/>
            <a:headEnd/>
            <a:tailEnd/>
          </a:ln>
          <a:effectLst/>
        </p:spPr>
      </p:pic>
      <p:sp>
        <p:nvSpPr>
          <p:cNvPr id="5" name="TextBox 4"/>
          <p:cNvSpPr txBox="1"/>
          <p:nvPr/>
        </p:nvSpPr>
        <p:spPr>
          <a:xfrm>
            <a:off x="142844" y="4429132"/>
            <a:ext cx="8858280" cy="2246769"/>
          </a:xfrm>
          <a:prstGeom prst="rect">
            <a:avLst/>
          </a:prstGeom>
          <a:noFill/>
        </p:spPr>
        <p:txBody>
          <a:bodyPr wrap="square" rtlCol="0">
            <a:spAutoFit/>
          </a:bodyPr>
          <a:lstStyle/>
          <a:p>
            <a:pPr algn="just"/>
            <a:r>
              <a:rPr lang="en-IN" sz="2800" dirty="0"/>
              <a:t>To identify an entity, TCP/IP protocols use the IP address, which uniquely identifies the connection of a host to the Internet. However, people prefer to use names instead of numeric addresses. Therefore, we need a system that can map a name to an address or an address to a name.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14282" y="357166"/>
            <a:ext cx="8643998" cy="6215106"/>
          </a:xfrm>
        </p:spPr>
        <p:txBody>
          <a:bodyPr>
            <a:normAutofit/>
          </a:bodyPr>
          <a:lstStyle/>
          <a:p>
            <a:pPr marL="3175" indent="-3175" algn="just">
              <a:buNone/>
            </a:pPr>
            <a:r>
              <a:rPr lang="en-IN" b="1" dirty="0"/>
              <a:t>When the Internet was small, mapping was done by using a host file. </a:t>
            </a:r>
          </a:p>
          <a:p>
            <a:pPr algn="just"/>
            <a:r>
              <a:rPr lang="en-IN" dirty="0"/>
              <a:t>The host file had only two columns: name and address. </a:t>
            </a:r>
          </a:p>
          <a:p>
            <a:pPr algn="just"/>
            <a:r>
              <a:rPr lang="en-IN" dirty="0"/>
              <a:t>Every host could store the host file on its disk and update it periodically from a master host file. </a:t>
            </a:r>
          </a:p>
          <a:p>
            <a:pPr algn="just"/>
            <a:r>
              <a:rPr lang="en-IN" dirty="0"/>
              <a:t>When a program or a user wanted to map a name to an address, the host consulted the host file and found the mapping.</a:t>
            </a:r>
          </a:p>
          <a:p>
            <a:pPr marL="3175" indent="-3175" algn="just">
              <a:buNone/>
            </a:pPr>
            <a:endParaRPr lang="en-IN" b="1" dirty="0"/>
          </a:p>
          <a:p>
            <a:pPr marL="3175" indent="-3175" algn="just">
              <a:buNone/>
            </a:pPr>
            <a:r>
              <a:rPr lang="en-IN" b="1" dirty="0"/>
              <a:t>But in today’s scenario it is impossible to have one single host file to relate every address with a name and vice versa.</a:t>
            </a:r>
          </a:p>
          <a:p>
            <a:pPr algn="just"/>
            <a:r>
              <a:rPr lang="en-IN" dirty="0"/>
              <a:t>The host file would be too large to store in every host. </a:t>
            </a:r>
          </a:p>
          <a:p>
            <a:pPr algn="just"/>
            <a:r>
              <a:rPr lang="en-IN" dirty="0"/>
              <a:t>It would also be impossible to update all the host files every time there was a change.</a:t>
            </a:r>
          </a:p>
          <a:p>
            <a:pPr algn="just"/>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85720" y="500042"/>
            <a:ext cx="8643998" cy="6000792"/>
          </a:xfrm>
        </p:spPr>
        <p:txBody>
          <a:bodyPr>
            <a:normAutofit/>
          </a:bodyPr>
          <a:lstStyle/>
          <a:p>
            <a:pPr algn="just"/>
            <a:r>
              <a:rPr lang="en-IN" sz="2800" b="1" dirty="0"/>
              <a:t>Solution-1: </a:t>
            </a:r>
            <a:r>
              <a:rPr lang="en-IN" sz="2800" dirty="0"/>
              <a:t>Store the entire host file in a single computer and allow access to this centralized information to every computer that needs mapping.</a:t>
            </a:r>
          </a:p>
          <a:p>
            <a:pPr lvl="1" algn="just"/>
            <a:r>
              <a:rPr lang="en-IN" sz="2800" dirty="0"/>
              <a:t>This would create a huge amount of traffic on the Internet and this solution is not a feasible solution.</a:t>
            </a:r>
          </a:p>
          <a:p>
            <a:pPr algn="just"/>
            <a:endParaRPr lang="en-IN" sz="2800" b="1" dirty="0"/>
          </a:p>
          <a:p>
            <a:pPr algn="just"/>
            <a:r>
              <a:rPr lang="en-IN" sz="2800" b="1" dirty="0"/>
              <a:t>Solution-2: </a:t>
            </a:r>
            <a:r>
              <a:rPr lang="en-IN" sz="2800" dirty="0"/>
              <a:t>Divide this huge amount of information into smaller parts and store each part on a different computer.</a:t>
            </a:r>
          </a:p>
          <a:p>
            <a:pPr lvl="1" algn="just"/>
            <a:r>
              <a:rPr lang="en-IN" sz="2800" dirty="0"/>
              <a:t>The host that needs mapping can contact the closest computer holding the needed information.</a:t>
            </a:r>
          </a:p>
          <a:p>
            <a:pPr lvl="1" algn="just"/>
            <a:r>
              <a:rPr lang="en-IN" sz="2800" dirty="0"/>
              <a:t>This method is used by Domain Name System (DNS). </a:t>
            </a:r>
          </a:p>
          <a:p>
            <a:pPr algn="just"/>
            <a:endParaRPr lang="en-IN" sz="2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1472" y="285728"/>
            <a:ext cx="7772400" cy="1143000"/>
          </a:xfrm>
        </p:spPr>
        <p:txBody>
          <a:bodyPr/>
          <a:lstStyle/>
          <a:p>
            <a:r>
              <a:rPr lang="en-IN" b="1" dirty="0">
                <a:solidFill>
                  <a:schemeClr val="tx1"/>
                </a:solidFill>
              </a:rPr>
              <a:t>NAME SPACE</a:t>
            </a:r>
          </a:p>
        </p:txBody>
      </p:sp>
      <p:sp>
        <p:nvSpPr>
          <p:cNvPr id="3" name="Content Placeholder 2"/>
          <p:cNvSpPr>
            <a:spLocks noGrp="1"/>
          </p:cNvSpPr>
          <p:nvPr>
            <p:ph sz="quarter" idx="1"/>
          </p:nvPr>
        </p:nvSpPr>
        <p:spPr>
          <a:xfrm>
            <a:off x="571472" y="1571612"/>
            <a:ext cx="8286808" cy="5072098"/>
          </a:xfrm>
        </p:spPr>
        <p:txBody>
          <a:bodyPr>
            <a:noAutofit/>
          </a:bodyPr>
          <a:lstStyle/>
          <a:p>
            <a:pPr algn="just"/>
            <a:r>
              <a:rPr lang="en-IN" sz="3200" dirty="0"/>
              <a:t>The names assigned to machines must be carefully selected from a name space with complete control over the binding between the names and IP addresses.</a:t>
            </a:r>
          </a:p>
          <a:p>
            <a:pPr algn="just"/>
            <a:r>
              <a:rPr lang="en-IN" sz="3200" dirty="0"/>
              <a:t>The names must be unique because the addresses are unique. </a:t>
            </a:r>
          </a:p>
          <a:p>
            <a:pPr algn="just"/>
            <a:r>
              <a:rPr lang="en-IN" sz="3200" dirty="0"/>
              <a:t>A name space that maps each address to a unique name can be organized in two ways: flat or hierarchical.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14282" y="285728"/>
            <a:ext cx="8715436" cy="6357982"/>
          </a:xfrm>
        </p:spPr>
        <p:txBody>
          <a:bodyPr>
            <a:normAutofit/>
          </a:bodyPr>
          <a:lstStyle/>
          <a:p>
            <a:pPr algn="just"/>
            <a:r>
              <a:rPr lang="en-IN" sz="3200" b="1" dirty="0"/>
              <a:t>Flat Name Space: </a:t>
            </a:r>
          </a:p>
          <a:p>
            <a:pPr lvl="1" algn="just"/>
            <a:r>
              <a:rPr lang="en-IN" sz="3200" dirty="0"/>
              <a:t>In a flat name space, a name is assigned to an address. </a:t>
            </a:r>
          </a:p>
          <a:p>
            <a:pPr lvl="1" algn="just"/>
            <a:r>
              <a:rPr lang="en-IN" sz="3200" dirty="0"/>
              <a:t>A name in this space is a sequence of characters without structure. </a:t>
            </a:r>
          </a:p>
          <a:p>
            <a:pPr lvl="1" algn="just"/>
            <a:r>
              <a:rPr lang="en-IN" sz="3200" dirty="0"/>
              <a:t>The names may or may not have a common section; if they do, it has no meaning. </a:t>
            </a:r>
          </a:p>
          <a:p>
            <a:pPr lvl="1" algn="just"/>
            <a:r>
              <a:rPr lang="en-IN" sz="3200" dirty="0"/>
              <a:t>The main disadvantage of a flat name space is that it cannot be used in a large system such as the Internet because it must be centrally controlled to avoid ambiguity and duplication.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14282" y="285728"/>
            <a:ext cx="8715436" cy="6357982"/>
          </a:xfrm>
        </p:spPr>
        <p:txBody>
          <a:bodyPr>
            <a:noAutofit/>
          </a:bodyPr>
          <a:lstStyle/>
          <a:p>
            <a:pPr algn="just"/>
            <a:r>
              <a:rPr lang="en-IN" sz="2800" b="1" dirty="0"/>
              <a:t>Hierarchical Name Space</a:t>
            </a:r>
          </a:p>
          <a:p>
            <a:pPr lvl="1" algn="just"/>
            <a:r>
              <a:rPr lang="en-IN" sz="2800" dirty="0"/>
              <a:t>In a hierarchical name space, each name is made of several parts. </a:t>
            </a:r>
          </a:p>
          <a:p>
            <a:pPr lvl="2" algn="just"/>
            <a:r>
              <a:rPr lang="en-IN" dirty="0"/>
              <a:t>The first part can define the nature of the organization, </a:t>
            </a:r>
          </a:p>
          <a:p>
            <a:pPr lvl="2" algn="just"/>
            <a:r>
              <a:rPr lang="en-IN" dirty="0"/>
              <a:t>The second part can define the name of an organization, </a:t>
            </a:r>
          </a:p>
          <a:p>
            <a:pPr lvl="2" algn="just"/>
            <a:r>
              <a:rPr lang="en-IN" dirty="0"/>
              <a:t>The third part can define departments in the organization, and so on</a:t>
            </a:r>
          </a:p>
          <a:p>
            <a:pPr lvl="1" algn="just"/>
            <a:r>
              <a:rPr lang="en-IN" sz="2800" dirty="0"/>
              <a:t>In this case, the authority to assign and control the name spaces can be decentralized. </a:t>
            </a:r>
          </a:p>
          <a:p>
            <a:pPr lvl="1" algn="just"/>
            <a:r>
              <a:rPr lang="en-IN" sz="2800" dirty="0"/>
              <a:t>A central authority can assign the part of the name that defines the nature of the organization and the name of the organization. </a:t>
            </a:r>
          </a:p>
          <a:p>
            <a:pPr lvl="1" algn="just"/>
            <a:r>
              <a:rPr lang="en-IN" sz="2800" dirty="0"/>
              <a:t>The responsibility of the rest of the name can be given to the organization itself. </a:t>
            </a:r>
          </a:p>
          <a:p>
            <a:pPr lvl="2" algn="just"/>
            <a:r>
              <a:rPr lang="en-IN" dirty="0"/>
              <a:t>The organization can add suffixes (or prefixes) to the name to define its host or resources.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7"/>
          <p:cNvPicPr>
            <a:picLocks noChangeAspect="1" noChangeArrowheads="1"/>
          </p:cNvPicPr>
          <p:nvPr/>
        </p:nvPicPr>
        <p:blipFill>
          <a:blip r:embed="rId2"/>
          <a:srcRect/>
          <a:stretch>
            <a:fillRect/>
          </a:stretch>
        </p:blipFill>
        <p:spPr bwMode="auto">
          <a:xfrm>
            <a:off x="576881" y="1000108"/>
            <a:ext cx="8138523" cy="5214974"/>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7"/>
          <p:cNvPicPr>
            <a:picLocks noChangeAspect="1" noChangeArrowheads="1"/>
          </p:cNvPicPr>
          <p:nvPr/>
        </p:nvPicPr>
        <p:blipFill>
          <a:blip r:embed="rId2"/>
          <a:srcRect/>
          <a:stretch>
            <a:fillRect/>
          </a:stretch>
        </p:blipFill>
        <p:spPr bwMode="auto">
          <a:xfrm>
            <a:off x="562004" y="2147900"/>
            <a:ext cx="8153400" cy="3924306"/>
          </a:xfrm>
          <a:prstGeom prst="rect">
            <a:avLst/>
          </a:prstGeom>
          <a:noFill/>
          <a:ln w="9525">
            <a:noFill/>
            <a:miter lim="800000"/>
            <a:headEnd/>
            <a:tailEnd/>
          </a:ln>
        </p:spPr>
      </p:pic>
      <p:sp>
        <p:nvSpPr>
          <p:cNvPr id="5" name="Rectangle 1"/>
          <p:cNvSpPr>
            <a:spLocks noChangeArrowheads="1"/>
          </p:cNvSpPr>
          <p:nvPr/>
        </p:nvSpPr>
        <p:spPr bwMode="auto">
          <a:xfrm>
            <a:off x="500034" y="785794"/>
            <a:ext cx="7981976" cy="954107"/>
          </a:xfrm>
          <a:prstGeom prst="rect">
            <a:avLst/>
          </a:prstGeom>
          <a:noFill/>
          <a:ln w="9525">
            <a:noFill/>
            <a:miter lim="800000"/>
            <a:headEnd/>
            <a:tailEnd/>
          </a:ln>
        </p:spPr>
        <p:txBody>
          <a:bodyPr wrap="square">
            <a:spAutoFit/>
          </a:bodyPr>
          <a:lstStyle/>
          <a:p>
            <a:pPr algn="just"/>
            <a:r>
              <a:rPr lang="en-IN" altLang="en-US" sz="2800" b="0" dirty="0">
                <a:latin typeface="Times" pitchFamily="18" charset="0"/>
              </a:rPr>
              <a:t>the Internet is divided into over </a:t>
            </a:r>
            <a:r>
              <a:rPr lang="en-IN" altLang="en-US" sz="2800" b="0" dirty="0">
                <a:solidFill>
                  <a:srgbClr val="FF0000"/>
                </a:solidFill>
                <a:latin typeface="Times" pitchFamily="18" charset="0"/>
              </a:rPr>
              <a:t>200 top-level </a:t>
            </a:r>
            <a:r>
              <a:rPr lang="en-IN" altLang="en-US" sz="2800" dirty="0">
                <a:solidFill>
                  <a:srgbClr val="FF0000"/>
                </a:solidFill>
                <a:latin typeface="Times" pitchFamily="18" charset="0"/>
              </a:rPr>
              <a:t>domains</a:t>
            </a:r>
            <a:r>
              <a:rPr lang="en-IN" altLang="en-US" sz="2800" b="0" dirty="0">
                <a:latin typeface="Times" pitchFamily="18" charset="0"/>
              </a:rPr>
              <a:t>, where each domain covers many hosts. </a:t>
            </a:r>
            <a:endParaRPr lang="en-IN" altLang="en-US" sz="2800" dirty="0">
              <a:latin typeface="Times"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solidFill>
                  <a:schemeClr val="tx1"/>
                </a:solidFill>
              </a:rPr>
              <a:t>Domain Name Space</a:t>
            </a:r>
          </a:p>
        </p:txBody>
      </p:sp>
      <p:sp>
        <p:nvSpPr>
          <p:cNvPr id="3" name="Content Placeholder 2"/>
          <p:cNvSpPr>
            <a:spLocks noGrp="1"/>
          </p:cNvSpPr>
          <p:nvPr>
            <p:ph sz="quarter" idx="1"/>
          </p:nvPr>
        </p:nvSpPr>
        <p:spPr>
          <a:xfrm>
            <a:off x="785786" y="1714488"/>
            <a:ext cx="7901014" cy="4305312"/>
          </a:xfrm>
        </p:spPr>
        <p:txBody>
          <a:bodyPr>
            <a:normAutofit/>
          </a:bodyPr>
          <a:lstStyle/>
          <a:p>
            <a:pPr algn="just"/>
            <a:r>
              <a:rPr lang="en-IN" sz="3200" dirty="0"/>
              <a:t>To have a hierarchical name space, a domain name space was designed. </a:t>
            </a:r>
          </a:p>
          <a:p>
            <a:pPr algn="just"/>
            <a:r>
              <a:rPr lang="en-IN" sz="3200" dirty="0"/>
              <a:t>In this design the names are defined in an inverted-tree structure with the root at the top. </a:t>
            </a:r>
          </a:p>
          <a:p>
            <a:pPr algn="just"/>
            <a:r>
              <a:rPr lang="en-IN" sz="3200" dirty="0"/>
              <a:t>The tree can have only 128 levels: level 0 (root) to level 127.</a:t>
            </a:r>
          </a:p>
          <a:p>
            <a:pPr algn="just"/>
            <a:endParaRPr lang="en-IN" sz="3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14282" y="285728"/>
            <a:ext cx="8715436" cy="6286544"/>
          </a:xfrm>
        </p:spPr>
        <p:txBody>
          <a:bodyPr>
            <a:normAutofit fontScale="92500" lnSpcReduction="10000"/>
          </a:bodyPr>
          <a:lstStyle/>
          <a:p>
            <a:pPr algn="just">
              <a:defRPr/>
            </a:pPr>
            <a:r>
              <a:rPr lang="en-US" sz="3200" dirty="0">
                <a:solidFill>
                  <a:srgbClr val="0033CC"/>
                </a:solidFill>
                <a:latin typeface="Times New Roman" pitchFamily="18" charset="0"/>
              </a:rPr>
              <a:t>Label: </a:t>
            </a:r>
          </a:p>
          <a:p>
            <a:pPr marL="342900" indent="-342900" algn="just">
              <a:buFont typeface="Arial" pitchFamily="34" charset="0"/>
              <a:buChar char="•"/>
              <a:defRPr/>
            </a:pPr>
            <a:r>
              <a:rPr lang="en-IN" sz="2800" dirty="0"/>
              <a:t>Each node in the tree has a label, which is a string with a maximum of 63 characters. </a:t>
            </a:r>
          </a:p>
          <a:p>
            <a:pPr marL="342900" indent="-342900" algn="just">
              <a:buFont typeface="Arial" pitchFamily="34" charset="0"/>
              <a:buChar char="•"/>
              <a:defRPr/>
            </a:pPr>
            <a:r>
              <a:rPr lang="en-IN" sz="2800" dirty="0"/>
              <a:t>The root label is a null string (empty string). </a:t>
            </a:r>
          </a:p>
          <a:p>
            <a:pPr marL="342900" indent="-342900" algn="just">
              <a:buFont typeface="Arial" pitchFamily="34" charset="0"/>
              <a:buChar char="•"/>
              <a:defRPr/>
            </a:pPr>
            <a:r>
              <a:rPr lang="en-IN" sz="2800" dirty="0"/>
              <a:t>DNS requires that children of a node have different labels, which guarantees the uniqueness of the domain names.</a:t>
            </a:r>
          </a:p>
          <a:p>
            <a:pPr algn="just">
              <a:defRPr/>
            </a:pPr>
            <a:endParaRPr lang="fr-FR" sz="3200" dirty="0">
              <a:solidFill>
                <a:srgbClr val="0033CC"/>
              </a:solidFill>
              <a:latin typeface="Times New Roman" pitchFamily="18" charset="0"/>
            </a:endParaRPr>
          </a:p>
          <a:p>
            <a:pPr algn="just">
              <a:defRPr/>
            </a:pPr>
            <a:r>
              <a:rPr lang="fr-FR" sz="3200" dirty="0">
                <a:solidFill>
                  <a:srgbClr val="0033CC"/>
                </a:solidFill>
                <a:latin typeface="Times New Roman" pitchFamily="18" charset="0"/>
              </a:rPr>
              <a:t>Domain Name: </a:t>
            </a:r>
          </a:p>
          <a:p>
            <a:pPr marL="342900" indent="-342900" algn="just">
              <a:buFont typeface="Arial" pitchFamily="34" charset="0"/>
              <a:buChar char="•"/>
              <a:defRPr/>
            </a:pPr>
            <a:r>
              <a:rPr lang="en-IN" sz="2800" dirty="0"/>
              <a:t>Each node in the tree has a domain name. </a:t>
            </a:r>
          </a:p>
          <a:p>
            <a:pPr marL="342900" indent="-342900" algn="just">
              <a:buFont typeface="Arial" pitchFamily="34" charset="0"/>
              <a:buChar char="•"/>
              <a:defRPr/>
            </a:pPr>
            <a:r>
              <a:rPr lang="en-IN" sz="2800" dirty="0"/>
              <a:t>A full domain name is a sequence of labels separated by dots (.). </a:t>
            </a:r>
          </a:p>
          <a:p>
            <a:pPr marL="342900" indent="-342900" algn="just">
              <a:buFont typeface="Arial" pitchFamily="34" charset="0"/>
              <a:buChar char="•"/>
              <a:defRPr/>
            </a:pPr>
            <a:r>
              <a:rPr lang="en-IN" sz="2800" dirty="0"/>
              <a:t>The domain names are always read from the node up to the root. </a:t>
            </a:r>
          </a:p>
          <a:p>
            <a:pPr marL="342900" indent="-342900" algn="just">
              <a:buFont typeface="Arial" pitchFamily="34" charset="0"/>
              <a:buChar char="•"/>
              <a:defRPr/>
            </a:pPr>
            <a:r>
              <a:rPr lang="en-IN" sz="2800" dirty="0"/>
              <a:t>The last label is the label of the root (null). This means that a full domain name always ends in a null label, which means the last character is a dot because the null string is nothing.</a:t>
            </a:r>
            <a:endParaRPr lang="fr-FR" sz="2800" dirty="0">
              <a:solidFill>
                <a:srgbClr val="0033CC"/>
              </a:solidFill>
              <a:latin typeface="Times New Roman"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6"/>
          <p:cNvPicPr>
            <a:picLocks noChangeAspect="1" noChangeArrowheads="1"/>
          </p:cNvPicPr>
          <p:nvPr/>
        </p:nvPicPr>
        <p:blipFill>
          <a:blip r:embed="rId2"/>
          <a:srcRect/>
          <a:stretch>
            <a:fillRect/>
          </a:stretch>
        </p:blipFill>
        <p:spPr bwMode="auto">
          <a:xfrm>
            <a:off x="905253" y="623886"/>
            <a:ext cx="7452961" cy="5448320"/>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i="1" dirty="0">
                <a:solidFill>
                  <a:schemeClr val="tx1"/>
                </a:solidFill>
              </a:rPr>
              <a:t>Fully Qualified Domain Name</a:t>
            </a:r>
            <a:endParaRPr lang="en-IN" b="1" dirty="0">
              <a:solidFill>
                <a:schemeClr val="tx1"/>
              </a:solidFill>
            </a:endParaRPr>
          </a:p>
        </p:txBody>
      </p:sp>
      <p:sp>
        <p:nvSpPr>
          <p:cNvPr id="3" name="Content Placeholder 2"/>
          <p:cNvSpPr>
            <a:spLocks noGrp="1"/>
          </p:cNvSpPr>
          <p:nvPr>
            <p:ph sz="quarter" idx="1"/>
          </p:nvPr>
        </p:nvSpPr>
        <p:spPr>
          <a:xfrm>
            <a:off x="785786" y="1643050"/>
            <a:ext cx="8072494" cy="4572032"/>
          </a:xfrm>
        </p:spPr>
        <p:txBody>
          <a:bodyPr>
            <a:noAutofit/>
          </a:bodyPr>
          <a:lstStyle/>
          <a:p>
            <a:r>
              <a:rPr lang="en-IN" sz="2800" dirty="0"/>
              <a:t>If a label is terminated by a null string, it is called a fully qualified domain name (FQDN). </a:t>
            </a:r>
          </a:p>
          <a:p>
            <a:r>
              <a:rPr lang="en-IN" sz="2800" dirty="0"/>
              <a:t>An FQDN is a domain name that contains the full name of a host. </a:t>
            </a:r>
          </a:p>
          <a:p>
            <a:r>
              <a:rPr lang="en-IN" sz="2800" dirty="0"/>
              <a:t>It contains all labels, from the most specific to the most general, that uniquely define the name of the host. </a:t>
            </a:r>
          </a:p>
          <a:p>
            <a:r>
              <a:rPr lang="en-IN" sz="2800" dirty="0"/>
              <a:t>For example, the domain name  </a:t>
            </a:r>
            <a:r>
              <a:rPr lang="en-IN" sz="2800" i="1" dirty="0"/>
              <a:t>challenger.ate.tbda.edu.</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274638"/>
            <a:ext cx="8186766" cy="939784"/>
          </a:xfrm>
        </p:spPr>
        <p:txBody>
          <a:bodyPr/>
          <a:lstStyle/>
          <a:p>
            <a:r>
              <a:rPr lang="en-IN" b="1" i="1" dirty="0">
                <a:solidFill>
                  <a:schemeClr val="tx1"/>
                </a:solidFill>
              </a:rPr>
              <a:t>Partially Qualified Domain Name</a:t>
            </a:r>
            <a:endParaRPr lang="en-IN" b="1" dirty="0">
              <a:solidFill>
                <a:schemeClr val="tx1"/>
              </a:solidFill>
            </a:endParaRPr>
          </a:p>
        </p:txBody>
      </p:sp>
      <p:sp>
        <p:nvSpPr>
          <p:cNvPr id="3" name="Content Placeholder 2"/>
          <p:cNvSpPr>
            <a:spLocks noGrp="1"/>
          </p:cNvSpPr>
          <p:nvPr>
            <p:ph sz="quarter" idx="1"/>
          </p:nvPr>
        </p:nvSpPr>
        <p:spPr>
          <a:xfrm>
            <a:off x="428596" y="1285860"/>
            <a:ext cx="8358246" cy="5357850"/>
          </a:xfrm>
        </p:spPr>
        <p:txBody>
          <a:bodyPr>
            <a:noAutofit/>
          </a:bodyPr>
          <a:lstStyle/>
          <a:p>
            <a:pPr algn="just"/>
            <a:r>
              <a:rPr lang="en-IN" sz="2800" dirty="0"/>
              <a:t>If a label is not terminated by a null string, it is called a partially qualified domain name (PQDN). </a:t>
            </a:r>
          </a:p>
          <a:p>
            <a:pPr algn="just"/>
            <a:r>
              <a:rPr lang="en-IN" sz="2800" dirty="0"/>
              <a:t>A PQDN starts from a node, but it does not reach the root. </a:t>
            </a:r>
          </a:p>
          <a:p>
            <a:pPr algn="just"/>
            <a:r>
              <a:rPr lang="en-IN" sz="2800" dirty="0"/>
              <a:t>It is used when the name to be resolved belongs to the same site as the client.</a:t>
            </a:r>
          </a:p>
          <a:p>
            <a:pPr algn="just"/>
            <a:r>
              <a:rPr lang="en-IN" sz="2800" dirty="0"/>
              <a:t>For example, if a user at the jhda.edu. site wants to get the IP address of the challenger computer, he or she can define the partial name </a:t>
            </a:r>
            <a:r>
              <a:rPr lang="en-IN" sz="2800" i="1" dirty="0"/>
              <a:t>challenger</a:t>
            </a:r>
          </a:p>
          <a:p>
            <a:pPr algn="just"/>
            <a:r>
              <a:rPr lang="en-IN" sz="2800" dirty="0"/>
              <a:t>The DNS client adds the suffix  </a:t>
            </a:r>
            <a:r>
              <a:rPr lang="en-IN" sz="2800" i="1" dirty="0"/>
              <a:t>atc.jhda.edu.  </a:t>
            </a:r>
            <a:r>
              <a:rPr lang="en-IN" sz="2800" dirty="0"/>
              <a:t>before passing the address to the DNS server.</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20" y="274638"/>
            <a:ext cx="8401080" cy="868346"/>
          </a:xfrm>
        </p:spPr>
        <p:txBody>
          <a:bodyPr>
            <a:normAutofit/>
          </a:bodyPr>
          <a:lstStyle/>
          <a:p>
            <a:r>
              <a:rPr lang="en-IN" b="1" dirty="0">
                <a:solidFill>
                  <a:schemeClr val="tx1"/>
                </a:solidFill>
              </a:rPr>
              <a:t>RESOLUTION</a:t>
            </a:r>
          </a:p>
        </p:txBody>
      </p:sp>
      <p:sp>
        <p:nvSpPr>
          <p:cNvPr id="3" name="Content Placeholder 2"/>
          <p:cNvSpPr>
            <a:spLocks noGrp="1"/>
          </p:cNvSpPr>
          <p:nvPr>
            <p:ph sz="quarter" idx="1"/>
          </p:nvPr>
        </p:nvSpPr>
        <p:spPr>
          <a:xfrm>
            <a:off x="285720" y="1142984"/>
            <a:ext cx="8572560" cy="5500726"/>
          </a:xfrm>
        </p:spPr>
        <p:txBody>
          <a:bodyPr>
            <a:normAutofit lnSpcReduction="10000"/>
          </a:bodyPr>
          <a:lstStyle/>
          <a:p>
            <a:pPr algn="just"/>
            <a:r>
              <a:rPr lang="en-IN" sz="2800" dirty="0"/>
              <a:t>Mapping a name to an address or an address to a name is called </a:t>
            </a:r>
            <a:r>
              <a:rPr lang="en-IN" sz="2800" i="1" dirty="0"/>
              <a:t>name-address resolution.</a:t>
            </a:r>
          </a:p>
          <a:p>
            <a:pPr lvl="1" algn="just"/>
            <a:r>
              <a:rPr lang="en-IN" dirty="0"/>
              <a:t>DNS is designed as a client/server application. </a:t>
            </a:r>
          </a:p>
          <a:p>
            <a:pPr algn="just"/>
            <a:r>
              <a:rPr lang="en-IN" sz="2800" dirty="0"/>
              <a:t>A host that needs to map an address to a name or a name to an address calls a DNS client called a resolver. </a:t>
            </a:r>
          </a:p>
          <a:p>
            <a:pPr lvl="1" algn="just"/>
            <a:r>
              <a:rPr lang="en-IN" dirty="0"/>
              <a:t>The resolver accesses the closest DNS server with a mapping request. </a:t>
            </a:r>
          </a:p>
          <a:p>
            <a:pPr lvl="1" algn="just"/>
            <a:r>
              <a:rPr lang="en-IN" dirty="0"/>
              <a:t>If the server has the information, it satisfies the resolver; </a:t>
            </a:r>
          </a:p>
          <a:p>
            <a:pPr lvl="1" algn="just"/>
            <a:r>
              <a:rPr lang="en-IN" dirty="0"/>
              <a:t>otherwise, it either refers the resolver to other servers or asks other servers to provide the information.</a:t>
            </a:r>
          </a:p>
          <a:p>
            <a:pPr algn="just"/>
            <a:r>
              <a:rPr lang="en-IN" sz="2800" dirty="0"/>
              <a:t>There are three methods of resolution:</a:t>
            </a:r>
          </a:p>
          <a:p>
            <a:pPr lvl="1" algn="just"/>
            <a:r>
              <a:rPr lang="en-IN" dirty="0"/>
              <a:t>Recursive</a:t>
            </a:r>
          </a:p>
          <a:p>
            <a:pPr lvl="1" algn="just"/>
            <a:r>
              <a:rPr lang="en-IN" dirty="0"/>
              <a:t>Iterative</a:t>
            </a:r>
          </a:p>
          <a:p>
            <a:pPr lvl="1" algn="just"/>
            <a:r>
              <a:rPr lang="en-IN" dirty="0"/>
              <a:t>Caching</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158" y="214290"/>
            <a:ext cx="8329642" cy="928694"/>
          </a:xfrm>
        </p:spPr>
        <p:txBody>
          <a:bodyPr/>
          <a:lstStyle/>
          <a:p>
            <a:r>
              <a:rPr lang="en-IN" b="1" dirty="0">
                <a:solidFill>
                  <a:schemeClr val="tx1"/>
                </a:solidFill>
              </a:rPr>
              <a:t>Types of Resolution</a:t>
            </a:r>
          </a:p>
        </p:txBody>
      </p:sp>
      <p:sp>
        <p:nvSpPr>
          <p:cNvPr id="3" name="Content Placeholder 2"/>
          <p:cNvSpPr>
            <a:spLocks noGrp="1"/>
          </p:cNvSpPr>
          <p:nvPr>
            <p:ph sz="quarter" idx="1"/>
          </p:nvPr>
        </p:nvSpPr>
        <p:spPr>
          <a:xfrm>
            <a:off x="357158" y="1214422"/>
            <a:ext cx="8501122" cy="5214974"/>
          </a:xfrm>
        </p:spPr>
        <p:txBody>
          <a:bodyPr>
            <a:normAutofit fontScale="70000" lnSpcReduction="20000"/>
          </a:bodyPr>
          <a:lstStyle/>
          <a:p>
            <a:pPr algn="just"/>
            <a:r>
              <a:rPr lang="en-IN" sz="4600" b="1" dirty="0"/>
              <a:t>Recursive Resolution</a:t>
            </a:r>
          </a:p>
          <a:p>
            <a:pPr lvl="1" algn="just"/>
            <a:r>
              <a:rPr lang="en-IN" sz="3800" dirty="0"/>
              <a:t>The client (resolver) can ask for a recursive answer from a name server. This means that the resolver expects the server to supply the final answer. </a:t>
            </a:r>
          </a:p>
          <a:p>
            <a:pPr lvl="1" algn="just"/>
            <a:r>
              <a:rPr lang="en-IN" sz="3800" dirty="0"/>
              <a:t>If the server is the authority for the domain name, it checks its database and responds. </a:t>
            </a:r>
          </a:p>
          <a:p>
            <a:pPr lvl="1" algn="just"/>
            <a:r>
              <a:rPr lang="en-IN" sz="3800" dirty="0"/>
              <a:t>If the server is not the authority, it sends the request to another server (the parent usually) and waits for the response. </a:t>
            </a:r>
          </a:p>
          <a:p>
            <a:pPr lvl="1" algn="just"/>
            <a:r>
              <a:rPr lang="en-IN" sz="3800" dirty="0"/>
              <a:t>If the parent is the authority, it responds; </a:t>
            </a:r>
          </a:p>
          <a:p>
            <a:pPr lvl="1" algn="just"/>
            <a:r>
              <a:rPr lang="en-IN" sz="3800" dirty="0"/>
              <a:t>otherwise, it sends the query to yet another server. </a:t>
            </a:r>
          </a:p>
          <a:p>
            <a:pPr lvl="1" algn="just"/>
            <a:r>
              <a:rPr lang="en-IN" sz="3800" dirty="0"/>
              <a:t>When the query is finally resolved, the response travels back until it finally reaches the requesting client. </a:t>
            </a:r>
          </a:p>
          <a:p>
            <a:pPr lvl="1" algn="just"/>
            <a:r>
              <a:rPr lang="en-IN" sz="3800" dirty="0"/>
              <a:t>This is called recursive resolution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285720" y="1051214"/>
            <a:ext cx="8624831" cy="4949553"/>
          </a:xfrm>
          <a:prstGeom prst="rect">
            <a:avLst/>
          </a:prstGeom>
          <a:noFill/>
          <a:ln w="9525">
            <a:noFill/>
            <a:miter lim="800000"/>
            <a:headEnd/>
            <a:tailEnd/>
          </a:ln>
          <a:effectLst/>
        </p:spPr>
      </p:pic>
      <p:sp>
        <p:nvSpPr>
          <p:cNvPr id="5" name="TextBox 4"/>
          <p:cNvSpPr txBox="1"/>
          <p:nvPr/>
        </p:nvSpPr>
        <p:spPr>
          <a:xfrm>
            <a:off x="3071802" y="6000768"/>
            <a:ext cx="2500330" cy="369332"/>
          </a:xfrm>
          <a:prstGeom prst="rect">
            <a:avLst/>
          </a:prstGeom>
          <a:noFill/>
        </p:spPr>
        <p:txBody>
          <a:bodyPr wrap="square" rtlCol="0">
            <a:spAutoFit/>
          </a:bodyPr>
          <a:lstStyle/>
          <a:p>
            <a:pPr algn="ctr"/>
            <a:r>
              <a:rPr lang="en-IN" b="1" dirty="0"/>
              <a:t>Recursive Resolution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274638"/>
            <a:ext cx="8186766" cy="796908"/>
          </a:xfrm>
        </p:spPr>
        <p:txBody>
          <a:bodyPr>
            <a:normAutofit/>
          </a:bodyPr>
          <a:lstStyle/>
          <a:p>
            <a:r>
              <a:rPr lang="en-IN" b="1" dirty="0">
                <a:solidFill>
                  <a:schemeClr val="tx1"/>
                </a:solidFill>
              </a:rPr>
              <a:t>Iterative Resolution</a:t>
            </a:r>
          </a:p>
        </p:txBody>
      </p:sp>
      <p:sp>
        <p:nvSpPr>
          <p:cNvPr id="3" name="Content Placeholder 2"/>
          <p:cNvSpPr>
            <a:spLocks noGrp="1"/>
          </p:cNvSpPr>
          <p:nvPr>
            <p:ph sz="quarter" idx="1"/>
          </p:nvPr>
        </p:nvSpPr>
        <p:spPr>
          <a:xfrm>
            <a:off x="428596" y="1142984"/>
            <a:ext cx="8358246" cy="5429288"/>
          </a:xfrm>
        </p:spPr>
        <p:txBody>
          <a:bodyPr>
            <a:normAutofit/>
          </a:bodyPr>
          <a:lstStyle/>
          <a:p>
            <a:pPr algn="just"/>
            <a:r>
              <a:rPr lang="en-IN" dirty="0"/>
              <a:t>If the client does not ask for a recursive answer, the mapping can be done iteratively. </a:t>
            </a:r>
          </a:p>
          <a:p>
            <a:pPr algn="just"/>
            <a:r>
              <a:rPr lang="en-IN" dirty="0"/>
              <a:t>If the server is an authority for the name, it sends the answer. If it is not, it returns (to the client) the IP address of the server that it thinks can resolve the query. </a:t>
            </a:r>
          </a:p>
          <a:p>
            <a:pPr algn="just"/>
            <a:r>
              <a:rPr lang="en-IN" dirty="0"/>
              <a:t>The client is responsible for repeating the query to this second server. If the newly addressed server can resolve the problem, it answers the query with the IP address; </a:t>
            </a:r>
          </a:p>
          <a:p>
            <a:pPr algn="just"/>
            <a:r>
              <a:rPr lang="en-IN" dirty="0"/>
              <a:t>otherwise, it returns the IP address of a new server to the client. </a:t>
            </a:r>
          </a:p>
          <a:p>
            <a:pPr algn="just"/>
            <a:r>
              <a:rPr lang="en-IN" dirty="0"/>
              <a:t>Now the client must repeat the query to the third server. </a:t>
            </a:r>
          </a:p>
          <a:p>
            <a:pPr algn="just"/>
            <a:r>
              <a:rPr lang="en-IN" dirty="0"/>
              <a:t>This process is called iterative resolution because the client repeats the same query to multiple servers.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srcRect/>
          <a:stretch>
            <a:fillRect/>
          </a:stretch>
        </p:blipFill>
        <p:spPr bwMode="auto">
          <a:xfrm>
            <a:off x="355756" y="642918"/>
            <a:ext cx="8384277" cy="4972071"/>
          </a:xfrm>
          <a:prstGeom prst="rect">
            <a:avLst/>
          </a:prstGeom>
          <a:noFill/>
          <a:ln w="9525">
            <a:noFill/>
            <a:miter lim="800000"/>
            <a:headEnd/>
            <a:tailEnd/>
          </a:ln>
          <a:effectLst/>
        </p:spPr>
      </p:pic>
      <p:sp>
        <p:nvSpPr>
          <p:cNvPr id="5" name="TextBox 4"/>
          <p:cNvSpPr txBox="1"/>
          <p:nvPr/>
        </p:nvSpPr>
        <p:spPr>
          <a:xfrm>
            <a:off x="2857488" y="6000768"/>
            <a:ext cx="2714644" cy="369332"/>
          </a:xfrm>
          <a:prstGeom prst="rect">
            <a:avLst/>
          </a:prstGeom>
          <a:noFill/>
        </p:spPr>
        <p:txBody>
          <a:bodyPr wrap="square" rtlCol="0">
            <a:spAutoFit/>
          </a:bodyPr>
          <a:lstStyle/>
          <a:p>
            <a:pPr algn="ctr"/>
            <a:r>
              <a:rPr lang="en-IN" b="1" dirty="0"/>
              <a:t>Iterative Resolution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274638"/>
            <a:ext cx="8258204" cy="868346"/>
          </a:xfrm>
        </p:spPr>
        <p:txBody>
          <a:bodyPr/>
          <a:lstStyle/>
          <a:p>
            <a:pPr algn="just"/>
            <a:r>
              <a:rPr lang="en-IN" b="1" dirty="0">
                <a:solidFill>
                  <a:schemeClr val="tx1"/>
                </a:solidFill>
              </a:rPr>
              <a:t>CACHING</a:t>
            </a:r>
          </a:p>
        </p:txBody>
      </p:sp>
      <p:sp>
        <p:nvSpPr>
          <p:cNvPr id="3" name="Content Placeholder 2"/>
          <p:cNvSpPr>
            <a:spLocks noGrp="1"/>
          </p:cNvSpPr>
          <p:nvPr>
            <p:ph sz="quarter" idx="1"/>
          </p:nvPr>
        </p:nvSpPr>
        <p:spPr>
          <a:xfrm>
            <a:off x="428596" y="1214422"/>
            <a:ext cx="8429684" cy="5357850"/>
          </a:xfrm>
        </p:spPr>
        <p:txBody>
          <a:bodyPr>
            <a:normAutofit fontScale="92500"/>
          </a:bodyPr>
          <a:lstStyle/>
          <a:p>
            <a:pPr algn="just"/>
            <a:r>
              <a:rPr lang="en-IN" sz="3200" dirty="0"/>
              <a:t>Each time a server receives a query for a name that is not in its domain, it needs to search its database for a server IP address. </a:t>
            </a:r>
          </a:p>
          <a:p>
            <a:pPr algn="just"/>
            <a:r>
              <a:rPr lang="en-IN" sz="3200" dirty="0"/>
              <a:t>Reduction of this search time would increase efficiency. </a:t>
            </a:r>
          </a:p>
          <a:p>
            <a:pPr algn="just"/>
            <a:r>
              <a:rPr lang="en-IN" sz="3200" dirty="0"/>
              <a:t>DNS handles this with a mechanism called caching.</a:t>
            </a:r>
          </a:p>
          <a:p>
            <a:r>
              <a:rPr lang="en-IN" sz="3200" dirty="0"/>
              <a:t>When a server asks for a mapping from another server and receives the response, it stores this information in its cache memory before sending it to the client. </a:t>
            </a:r>
          </a:p>
          <a:p>
            <a:pPr algn="just"/>
            <a:r>
              <a:rPr lang="en-IN" sz="3200" dirty="0"/>
              <a:t>If the same or another client asks for the same mapping, it can check its cache memory and solve the problem.</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4348" y="274638"/>
            <a:ext cx="7972452" cy="1143000"/>
          </a:xfrm>
        </p:spPr>
        <p:txBody>
          <a:bodyPr/>
          <a:lstStyle/>
          <a:p>
            <a:r>
              <a:rPr lang="en-IN" b="1" dirty="0">
                <a:solidFill>
                  <a:schemeClr val="tx1"/>
                </a:solidFill>
              </a:rPr>
              <a:t>REMOTE LOGGING</a:t>
            </a:r>
          </a:p>
        </p:txBody>
      </p:sp>
      <p:sp>
        <p:nvSpPr>
          <p:cNvPr id="3" name="Content Placeholder 2"/>
          <p:cNvSpPr>
            <a:spLocks noGrp="1"/>
          </p:cNvSpPr>
          <p:nvPr>
            <p:ph sz="quarter" idx="1"/>
          </p:nvPr>
        </p:nvSpPr>
        <p:spPr>
          <a:xfrm>
            <a:off x="714348" y="1500174"/>
            <a:ext cx="8072494" cy="4929222"/>
          </a:xfrm>
        </p:spPr>
        <p:txBody>
          <a:bodyPr>
            <a:normAutofit/>
          </a:bodyPr>
          <a:lstStyle/>
          <a:p>
            <a:pPr algn="just"/>
            <a:r>
              <a:rPr lang="en-IN" dirty="0"/>
              <a:t>In the Internet, users may want to run application programs at a remote site and create results that can be transferred to their local site.</a:t>
            </a:r>
          </a:p>
          <a:p>
            <a:pPr algn="just"/>
            <a:r>
              <a:rPr lang="en-IN" dirty="0"/>
              <a:t>One way to satisfy that demand is to create a client/server application program such as (FTPs), e-mail (SMTP) for each desired service.</a:t>
            </a:r>
          </a:p>
          <a:p>
            <a:pPr algn="just"/>
            <a:r>
              <a:rPr lang="en-IN" dirty="0"/>
              <a:t>The better solution is a general-purpose client/server program that lets a user access any application program on a remote computer; in other words, allow the user to log on to a remote computer.</a:t>
            </a:r>
          </a:p>
          <a:p>
            <a:pPr algn="just"/>
            <a:r>
              <a:rPr lang="en-IN" dirty="0"/>
              <a:t>One of such a client/server application program is TELNET.</a:t>
            </a:r>
          </a:p>
          <a:p>
            <a:pPr algn="just"/>
            <a:endParaRPr lang="en-IN" dirty="0"/>
          </a:p>
          <a:p>
            <a:pPr algn="just"/>
            <a:endParaRPr lang="en-IN"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solidFill>
                  <a:schemeClr val="tx1"/>
                </a:solidFill>
              </a:rPr>
              <a:t>TELNET</a:t>
            </a:r>
          </a:p>
        </p:txBody>
      </p:sp>
      <p:sp>
        <p:nvSpPr>
          <p:cNvPr id="3" name="Content Placeholder 2"/>
          <p:cNvSpPr>
            <a:spLocks noGrp="1"/>
          </p:cNvSpPr>
          <p:nvPr>
            <p:ph sz="quarter" idx="1"/>
          </p:nvPr>
        </p:nvSpPr>
        <p:spPr>
          <a:xfrm>
            <a:off x="914400" y="1447800"/>
            <a:ext cx="7658128" cy="766754"/>
          </a:xfrm>
        </p:spPr>
        <p:txBody>
          <a:bodyPr/>
          <a:lstStyle/>
          <a:p>
            <a:r>
              <a:rPr lang="en-IN" sz="2800" dirty="0"/>
              <a:t>TELNET is an abbreviation for </a:t>
            </a:r>
            <a:r>
              <a:rPr lang="en-IN" sz="2800" i="1" dirty="0" err="1"/>
              <a:t>TErminaL</a:t>
            </a:r>
            <a:r>
              <a:rPr lang="en-IN" sz="2800" i="1" dirty="0"/>
              <a:t> </a:t>
            </a:r>
            <a:r>
              <a:rPr lang="en-IN" sz="2800" i="1" dirty="0" err="1"/>
              <a:t>NETwork</a:t>
            </a:r>
            <a:r>
              <a:rPr lang="en-IN" sz="2800" i="1" dirty="0"/>
              <a:t>.</a:t>
            </a:r>
            <a:endParaRPr lang="en-IN" dirty="0"/>
          </a:p>
        </p:txBody>
      </p:sp>
      <p:pic>
        <p:nvPicPr>
          <p:cNvPr id="4" name="Picture 3"/>
          <p:cNvPicPr>
            <a:picLocks noChangeAspect="1" noChangeArrowheads="1"/>
          </p:cNvPicPr>
          <p:nvPr/>
        </p:nvPicPr>
        <p:blipFill>
          <a:blip r:embed="rId2"/>
          <a:srcRect/>
          <a:stretch>
            <a:fillRect/>
          </a:stretch>
        </p:blipFill>
        <p:spPr bwMode="auto">
          <a:xfrm>
            <a:off x="428596" y="2143116"/>
            <a:ext cx="8412162" cy="3381375"/>
          </a:xfrm>
          <a:prstGeom prst="rect">
            <a:avLst/>
          </a:prstGeom>
          <a:noFill/>
          <a:ln w="9525">
            <a:noFill/>
            <a:miter lim="800000"/>
            <a:headEnd/>
            <a:tailEnd/>
          </a:ln>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4348" y="274638"/>
            <a:ext cx="7972452" cy="1143000"/>
          </a:xfrm>
        </p:spPr>
        <p:txBody>
          <a:bodyPr bIns="91440" anchor="b" anchorCtr="0">
            <a:normAutofit/>
          </a:bodyPr>
          <a:lstStyle/>
          <a:p>
            <a:pPr lvl="1" algn="l" rtl="0">
              <a:spcBef>
                <a:spcPct val="0"/>
              </a:spcBef>
            </a:pPr>
            <a:r>
              <a:rPr lang="en-US" sz="4000" b="1" kern="1200" dirty="0">
                <a:solidFill>
                  <a:schemeClr val="tx1"/>
                </a:solidFill>
                <a:latin typeface="+mj-lt"/>
                <a:ea typeface="+mj-ea"/>
                <a:cs typeface="+mj-cs"/>
              </a:rPr>
              <a:t>Characteristics of TELNET</a:t>
            </a:r>
            <a:endParaRPr lang="en-IN" sz="4000" b="1" kern="1200" dirty="0">
              <a:solidFill>
                <a:schemeClr val="tx1"/>
              </a:solidFill>
              <a:latin typeface="+mj-lt"/>
              <a:ea typeface="+mj-ea"/>
              <a:cs typeface="+mj-cs"/>
            </a:endParaRPr>
          </a:p>
        </p:txBody>
      </p:sp>
      <p:sp>
        <p:nvSpPr>
          <p:cNvPr id="3" name="Content Placeholder 2"/>
          <p:cNvSpPr>
            <a:spLocks noGrp="1"/>
          </p:cNvSpPr>
          <p:nvPr>
            <p:ph sz="quarter" idx="1"/>
          </p:nvPr>
        </p:nvSpPr>
        <p:spPr>
          <a:xfrm>
            <a:off x="357158" y="1428736"/>
            <a:ext cx="8329642" cy="4591064"/>
          </a:xfrm>
        </p:spPr>
        <p:txBody>
          <a:bodyPr>
            <a:normAutofit/>
          </a:bodyPr>
          <a:lstStyle/>
          <a:p>
            <a:pPr marL="800100" lvl="1" indent="-342900">
              <a:buFont typeface="Arial" pitchFamily="34" charset="0"/>
              <a:buChar char="•"/>
              <a:defRPr/>
            </a:pPr>
            <a:r>
              <a:rPr lang="en-IN" sz="3600" dirty="0"/>
              <a:t>Timesharing Environment</a:t>
            </a:r>
          </a:p>
          <a:p>
            <a:pPr marL="800100" lvl="1" indent="-342900">
              <a:buFont typeface="Arial" pitchFamily="34" charset="0"/>
              <a:buChar char="•"/>
              <a:defRPr/>
            </a:pPr>
            <a:r>
              <a:rPr lang="en-US" sz="3600" dirty="0"/>
              <a:t>Logging</a:t>
            </a:r>
          </a:p>
          <a:p>
            <a:pPr marL="1714500" lvl="3" indent="-342900">
              <a:buFont typeface="Arial" pitchFamily="34" charset="0"/>
              <a:buChar char="•"/>
              <a:defRPr/>
            </a:pPr>
            <a:r>
              <a:rPr lang="en-US" sz="3600" dirty="0"/>
              <a:t>Local Logging</a:t>
            </a:r>
          </a:p>
          <a:p>
            <a:pPr marL="1714500" lvl="3" indent="-342900">
              <a:buFont typeface="Arial" pitchFamily="34" charset="0"/>
              <a:buChar char="•"/>
              <a:defRPr/>
            </a:pPr>
            <a:r>
              <a:rPr lang="en-US" sz="3600" dirty="0"/>
              <a:t>Remote Logging </a:t>
            </a:r>
          </a:p>
          <a:p>
            <a:pPr marL="800100" lvl="1" indent="-342900">
              <a:buFont typeface="Arial" pitchFamily="34" charset="0"/>
              <a:buChar char="•"/>
              <a:defRPr/>
            </a:pPr>
            <a:r>
              <a:rPr lang="en-US" sz="3600" dirty="0"/>
              <a:t>Network Virtual Terminal</a:t>
            </a:r>
          </a:p>
          <a:p>
            <a:pPr marL="800100" lvl="1" indent="-342900">
              <a:buFont typeface="Arial" pitchFamily="34" charset="0"/>
              <a:buChar char="•"/>
              <a:defRPr/>
            </a:pPr>
            <a:r>
              <a:rPr lang="en-US" sz="3600" dirty="0"/>
              <a:t>Embedding</a:t>
            </a:r>
          </a:p>
          <a:p>
            <a:pPr marL="800100" lvl="1" indent="-342900">
              <a:buFont typeface="Arial" pitchFamily="34" charset="0"/>
              <a:buChar char="•"/>
              <a:defRPr/>
            </a:pPr>
            <a:r>
              <a:rPr lang="en-US" sz="3600" dirty="0"/>
              <a:t>Options</a:t>
            </a:r>
            <a:endParaRPr lang="en-IN" sz="3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158" y="214290"/>
            <a:ext cx="7772400" cy="857256"/>
          </a:xfrm>
        </p:spPr>
        <p:txBody>
          <a:bodyPr/>
          <a:lstStyle/>
          <a:p>
            <a:r>
              <a:rPr lang="en-IN" b="1" dirty="0">
                <a:solidFill>
                  <a:schemeClr val="tx1"/>
                </a:solidFill>
              </a:rPr>
              <a:t>Network Virtual Terminal</a:t>
            </a:r>
          </a:p>
        </p:txBody>
      </p:sp>
      <p:pic>
        <p:nvPicPr>
          <p:cNvPr id="4" name="Picture 2"/>
          <p:cNvPicPr>
            <a:picLocks noGrp="1" noChangeAspect="1" noChangeArrowheads="1"/>
          </p:cNvPicPr>
          <p:nvPr>
            <p:ph sz="quarter" idx="1"/>
          </p:nvPr>
        </p:nvPicPr>
        <p:blipFill>
          <a:blip r:embed="rId2"/>
          <a:srcRect/>
          <a:stretch>
            <a:fillRect/>
          </a:stretch>
        </p:blipFill>
        <p:spPr bwMode="auto">
          <a:xfrm>
            <a:off x="1357290" y="3786190"/>
            <a:ext cx="6643734" cy="2928349"/>
          </a:xfrm>
          <a:prstGeom prst="rect">
            <a:avLst/>
          </a:prstGeom>
          <a:noFill/>
          <a:ln w="9525">
            <a:noFill/>
            <a:miter lim="800000"/>
            <a:headEnd/>
            <a:tailEnd/>
          </a:ln>
          <a:effectLst/>
        </p:spPr>
      </p:pic>
      <p:sp>
        <p:nvSpPr>
          <p:cNvPr id="5" name="TextBox 2"/>
          <p:cNvSpPr txBox="1">
            <a:spLocks noChangeArrowheads="1"/>
          </p:cNvSpPr>
          <p:nvPr/>
        </p:nvSpPr>
        <p:spPr bwMode="auto">
          <a:xfrm>
            <a:off x="357158" y="928669"/>
            <a:ext cx="8634442"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a:solidFill>
                  <a:schemeClr val="tx1"/>
                </a:solidFill>
                <a:latin typeface="Arial" charset="0"/>
              </a:defRPr>
            </a:lvl1pPr>
            <a:lvl2pPr marL="800100" indent="-342900">
              <a:defRPr sz="3200" b="1">
                <a:solidFill>
                  <a:schemeClr val="tx1"/>
                </a:solidFill>
                <a:latin typeface="Arial" charset="0"/>
              </a:defRPr>
            </a:lvl2pPr>
            <a:lvl3pPr marL="1143000" indent="-228600">
              <a:defRPr sz="3200" b="1">
                <a:solidFill>
                  <a:schemeClr val="tx1"/>
                </a:solidFill>
                <a:latin typeface="Arial" charset="0"/>
              </a:defRPr>
            </a:lvl3pPr>
            <a:lvl4pPr marL="1600200" indent="-228600">
              <a:defRPr sz="3200" b="1">
                <a:solidFill>
                  <a:schemeClr val="tx1"/>
                </a:solidFill>
                <a:latin typeface="Arial" charset="0"/>
              </a:defRPr>
            </a:lvl4pPr>
            <a:lvl5pPr marL="2057400" indent="-228600">
              <a:defRPr sz="3200" b="1">
                <a:solidFill>
                  <a:schemeClr val="tx1"/>
                </a:solidFill>
                <a:latin typeface="Arial" charset="0"/>
              </a:defRPr>
            </a:lvl5pPr>
            <a:lvl6pPr marL="2514600" indent="-228600" eaLnBrk="0" fontAlgn="base" hangingPunct="0">
              <a:spcBef>
                <a:spcPct val="0"/>
              </a:spcBef>
              <a:spcAft>
                <a:spcPct val="0"/>
              </a:spcAft>
              <a:defRPr sz="3200" b="1">
                <a:solidFill>
                  <a:schemeClr val="tx1"/>
                </a:solidFill>
                <a:latin typeface="Arial" charset="0"/>
              </a:defRPr>
            </a:lvl6pPr>
            <a:lvl7pPr marL="2971800" indent="-228600" eaLnBrk="0" fontAlgn="base" hangingPunct="0">
              <a:spcBef>
                <a:spcPct val="0"/>
              </a:spcBef>
              <a:spcAft>
                <a:spcPct val="0"/>
              </a:spcAft>
              <a:defRPr sz="3200" b="1">
                <a:solidFill>
                  <a:schemeClr val="tx1"/>
                </a:solidFill>
                <a:latin typeface="Arial" charset="0"/>
              </a:defRPr>
            </a:lvl7pPr>
            <a:lvl8pPr marL="3429000" indent="-228600" eaLnBrk="0" fontAlgn="base" hangingPunct="0">
              <a:spcBef>
                <a:spcPct val="0"/>
              </a:spcBef>
              <a:spcAft>
                <a:spcPct val="0"/>
              </a:spcAft>
              <a:defRPr sz="3200" b="1">
                <a:solidFill>
                  <a:schemeClr val="tx1"/>
                </a:solidFill>
                <a:latin typeface="Arial" charset="0"/>
              </a:defRPr>
            </a:lvl8pPr>
            <a:lvl9pPr marL="3886200" indent="-228600" eaLnBrk="0" fontAlgn="base" hangingPunct="0">
              <a:spcBef>
                <a:spcPct val="0"/>
              </a:spcBef>
              <a:spcAft>
                <a:spcPct val="0"/>
              </a:spcAft>
              <a:defRPr sz="3200" b="1">
                <a:solidFill>
                  <a:schemeClr val="tx1"/>
                </a:solidFill>
                <a:latin typeface="Arial" charset="0"/>
              </a:defRPr>
            </a:lvl9pPr>
          </a:lstStyle>
          <a:p>
            <a:pPr algn="just">
              <a:defRPr/>
            </a:pPr>
            <a:r>
              <a:rPr lang="en-IN" sz="1800" b="0" dirty="0"/>
              <a:t>We are dealing with heterogeneous systems. </a:t>
            </a:r>
          </a:p>
          <a:p>
            <a:pPr marL="285750" indent="-285750" algn="just">
              <a:buFont typeface="Arial" pitchFamily="34" charset="0"/>
              <a:buChar char="•"/>
              <a:defRPr/>
            </a:pPr>
            <a:r>
              <a:rPr lang="en-IN" sz="1800" b="0" dirty="0"/>
              <a:t>If we want to access any remote computer in the world, we must first know what type of computer we will be connected to, and we must also install the specific terminal emulator used by that computer. </a:t>
            </a:r>
          </a:p>
          <a:p>
            <a:pPr marL="285750" indent="-285750" algn="just">
              <a:buFont typeface="Arial" pitchFamily="34" charset="0"/>
              <a:buChar char="•"/>
              <a:defRPr/>
            </a:pPr>
            <a:r>
              <a:rPr lang="en-IN" sz="1800" b="0" dirty="0"/>
              <a:t>TELNET solves this problem by defining a universal interface called the </a:t>
            </a:r>
            <a:r>
              <a:rPr lang="en-IN" sz="1800" b="0" dirty="0">
                <a:solidFill>
                  <a:srgbClr val="FF0000"/>
                </a:solidFill>
              </a:rPr>
              <a:t>network virtual terminal (NVT) character set. </a:t>
            </a:r>
            <a:r>
              <a:rPr lang="en-IN" sz="1800" b="0" dirty="0"/>
              <a:t>Via this interface, the client TELNET translates characters (data or commands) that come from the local terminal into NVT form and delivers them to the network. </a:t>
            </a:r>
          </a:p>
          <a:p>
            <a:pPr marL="285750" indent="-285750" algn="just">
              <a:buFont typeface="Arial" pitchFamily="34" charset="0"/>
              <a:buChar char="•"/>
              <a:defRPr/>
            </a:pPr>
            <a:r>
              <a:rPr lang="en-IN" sz="1800" b="0" dirty="0"/>
              <a:t>The server TELNET, on the other hand, translates data and commands from NVT form into the form acceptable by the remote computer.</a:t>
            </a:r>
            <a:endParaRPr lang="en-US" sz="2400" b="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solidFill>
                  <a:schemeClr val="tx1"/>
                </a:solidFill>
              </a:rPr>
              <a:t>ELECTRONIC MAIL</a:t>
            </a:r>
          </a:p>
        </p:txBody>
      </p:sp>
      <p:sp>
        <p:nvSpPr>
          <p:cNvPr id="3" name="Content Placeholder 2"/>
          <p:cNvSpPr>
            <a:spLocks noGrp="1"/>
          </p:cNvSpPr>
          <p:nvPr>
            <p:ph sz="quarter" idx="1"/>
          </p:nvPr>
        </p:nvSpPr>
        <p:spPr/>
        <p:txBody>
          <a:bodyPr>
            <a:normAutofit/>
          </a:bodyPr>
          <a:lstStyle/>
          <a:p>
            <a:pPr algn="just">
              <a:defRPr/>
            </a:pPr>
            <a:r>
              <a:rPr lang="en-IN" sz="2800" dirty="0"/>
              <a:t>One of the most popular Internet services is electronic mail (e-mail).</a:t>
            </a:r>
          </a:p>
          <a:p>
            <a:pPr algn="just">
              <a:defRPr/>
            </a:pPr>
            <a:r>
              <a:rPr lang="en-IN" sz="2800" dirty="0"/>
              <a:t>At the beginning of the Internet era, the messages sent by electronic mail were short and consisted of text only.</a:t>
            </a:r>
          </a:p>
          <a:p>
            <a:pPr algn="just">
              <a:defRPr/>
            </a:pPr>
            <a:r>
              <a:rPr lang="en-IN" sz="2800" dirty="0"/>
              <a:t>Today, electronic mail is much more complex. It allows a message to include text, audio, and video. </a:t>
            </a:r>
          </a:p>
          <a:p>
            <a:pPr algn="just">
              <a:defRPr/>
            </a:pPr>
            <a:r>
              <a:rPr lang="en-IN" sz="2800" dirty="0"/>
              <a:t>It also allows one message to be sent to one or more recipients.</a:t>
            </a:r>
          </a:p>
          <a:p>
            <a:pPr algn="just"/>
            <a:endParaRPr lang="en-IN" sz="2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p:cNvPicPr>
            <a:picLocks noChangeAspect="1" noChangeArrowheads="1"/>
          </p:cNvPicPr>
          <p:nvPr/>
        </p:nvPicPr>
        <p:blipFill>
          <a:blip r:embed="rId2"/>
          <a:srcRect/>
          <a:stretch>
            <a:fillRect/>
          </a:stretch>
        </p:blipFill>
        <p:spPr bwMode="auto">
          <a:xfrm>
            <a:off x="530712" y="357166"/>
            <a:ext cx="8256130" cy="4784768"/>
          </a:xfrm>
          <a:prstGeom prst="rect">
            <a:avLst/>
          </a:prstGeom>
          <a:noFill/>
          <a:ln w="9525">
            <a:noFill/>
            <a:miter lim="800000"/>
            <a:headEnd/>
            <a:tailEnd/>
          </a:ln>
        </p:spPr>
      </p:pic>
      <p:pic>
        <p:nvPicPr>
          <p:cNvPr id="5" name="Picture 5"/>
          <p:cNvPicPr>
            <a:picLocks noChangeAspect="1" noChangeArrowheads="1"/>
          </p:cNvPicPr>
          <p:nvPr/>
        </p:nvPicPr>
        <p:blipFill>
          <a:blip r:embed="rId3"/>
          <a:srcRect/>
          <a:stretch>
            <a:fillRect/>
          </a:stretch>
        </p:blipFill>
        <p:spPr bwMode="auto">
          <a:xfrm>
            <a:off x="302810" y="5072073"/>
            <a:ext cx="8484032" cy="1601797"/>
          </a:xfrm>
          <a:prstGeom prst="rect">
            <a:avLst/>
          </a:prstGeom>
          <a:noFill/>
          <a:ln w="9525">
            <a:noFill/>
            <a:miter lim="800000"/>
            <a:headEnd/>
            <a:tailEnd/>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158" y="785794"/>
            <a:ext cx="8329642" cy="796908"/>
          </a:xfrm>
        </p:spPr>
        <p:txBody>
          <a:bodyPr>
            <a:normAutofit/>
          </a:bodyPr>
          <a:lstStyle/>
          <a:p>
            <a:r>
              <a:rPr lang="en-US" altLang="en-US" b="1" dirty="0">
                <a:solidFill>
                  <a:schemeClr val="tx1"/>
                </a:solidFill>
              </a:rPr>
              <a:t>Components of e-mail</a:t>
            </a:r>
            <a:endParaRPr lang="en-IN" b="1" dirty="0">
              <a:solidFill>
                <a:schemeClr val="tx1"/>
              </a:solidFill>
            </a:endParaRPr>
          </a:p>
        </p:txBody>
      </p:sp>
      <p:sp>
        <p:nvSpPr>
          <p:cNvPr id="3" name="Content Placeholder 2"/>
          <p:cNvSpPr>
            <a:spLocks noGrp="1"/>
          </p:cNvSpPr>
          <p:nvPr>
            <p:ph sz="quarter" idx="1"/>
          </p:nvPr>
        </p:nvSpPr>
        <p:spPr>
          <a:xfrm>
            <a:off x="428596" y="1857364"/>
            <a:ext cx="8429684" cy="2928958"/>
          </a:xfrm>
        </p:spPr>
        <p:txBody>
          <a:bodyPr>
            <a:normAutofit/>
          </a:bodyPr>
          <a:lstStyle/>
          <a:p>
            <a:r>
              <a:rPr lang="en-IN" sz="2800" dirty="0"/>
              <a:t>An e-mail system is based on the three main components: </a:t>
            </a:r>
          </a:p>
          <a:p>
            <a:pPr lvl="1"/>
            <a:r>
              <a:rPr lang="en-IN" sz="2800" dirty="0"/>
              <a:t>User Agent (UA) </a:t>
            </a:r>
          </a:p>
          <a:p>
            <a:pPr lvl="1"/>
            <a:r>
              <a:rPr lang="en-IN" sz="2800" dirty="0"/>
              <a:t>Message Transfer Agent (MTA) </a:t>
            </a:r>
          </a:p>
          <a:p>
            <a:pPr lvl="1"/>
            <a:r>
              <a:rPr lang="en-IN" sz="2800" dirty="0"/>
              <a:t>Message Access Agent (MAA).</a:t>
            </a:r>
            <a:endParaRPr lang="en-US" sz="2800" dirty="0"/>
          </a:p>
          <a:p>
            <a:endParaRPr lang="en-IN" sz="2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chemeClr val="tx1"/>
                </a:solidFill>
              </a:rPr>
              <a:t>User Agents(UA)</a:t>
            </a:r>
            <a:endParaRPr lang="en-IN" b="1" dirty="0">
              <a:solidFill>
                <a:schemeClr val="tx1"/>
              </a:solidFill>
            </a:endParaRPr>
          </a:p>
        </p:txBody>
      </p:sp>
      <p:sp>
        <p:nvSpPr>
          <p:cNvPr id="3" name="Content Placeholder 2"/>
          <p:cNvSpPr>
            <a:spLocks noGrp="1"/>
          </p:cNvSpPr>
          <p:nvPr>
            <p:ph sz="quarter" idx="1"/>
          </p:nvPr>
        </p:nvSpPr>
        <p:spPr/>
        <p:txBody>
          <a:bodyPr/>
          <a:lstStyle/>
          <a:p>
            <a:pPr algn="just"/>
            <a:r>
              <a:rPr lang="en-IN" dirty="0"/>
              <a:t>The user agent </a:t>
            </a:r>
            <a:r>
              <a:rPr lang="en-IN" i="1" dirty="0"/>
              <a:t>(UA) provides </a:t>
            </a:r>
            <a:r>
              <a:rPr lang="en-IN" dirty="0"/>
              <a:t>services to the user to make the process of sending and receiving a message easier.</a:t>
            </a:r>
          </a:p>
          <a:p>
            <a:pPr algn="just"/>
            <a:r>
              <a:rPr lang="en-US" dirty="0"/>
              <a:t>User agent is software (a software agent) that is acting on behalf of a user. </a:t>
            </a:r>
          </a:p>
          <a:p>
            <a:pPr algn="just"/>
            <a:r>
              <a:rPr lang="en-IN" dirty="0"/>
              <a:t>There are two types of user agents: command-driven and GUI-based.</a:t>
            </a:r>
            <a:endParaRPr lang="en-US" dirty="0"/>
          </a:p>
          <a:p>
            <a:pPr algn="just"/>
            <a:endParaRPr lang="en-IN" dirty="0"/>
          </a:p>
        </p:txBody>
      </p:sp>
      <p:pic>
        <p:nvPicPr>
          <p:cNvPr id="4" name="Picture 2"/>
          <p:cNvPicPr>
            <a:picLocks noChangeAspect="1" noChangeArrowheads="1"/>
          </p:cNvPicPr>
          <p:nvPr/>
        </p:nvPicPr>
        <p:blipFill>
          <a:blip r:embed="rId2"/>
          <a:srcRect/>
          <a:stretch>
            <a:fillRect/>
          </a:stretch>
        </p:blipFill>
        <p:spPr bwMode="auto">
          <a:xfrm>
            <a:off x="928662" y="4143380"/>
            <a:ext cx="7929618" cy="2161434"/>
          </a:xfrm>
          <a:prstGeom prst="rect">
            <a:avLst/>
          </a:prstGeom>
          <a:noFill/>
          <a:ln w="9525">
            <a:noFill/>
            <a:miter lim="800000"/>
            <a:headEnd/>
            <a:tailEnd/>
          </a:ln>
          <a:effec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274638"/>
            <a:ext cx="8186766" cy="868346"/>
          </a:xfrm>
        </p:spPr>
        <p:txBody>
          <a:bodyPr>
            <a:normAutofit/>
          </a:bodyPr>
          <a:lstStyle/>
          <a:p>
            <a:r>
              <a:rPr lang="en-IN" altLang="en-US" b="1" dirty="0">
                <a:solidFill>
                  <a:schemeClr val="tx1"/>
                </a:solidFill>
              </a:rPr>
              <a:t>Message Transfer Agent (MTA): SMTP</a:t>
            </a:r>
            <a:endParaRPr lang="en-IN" b="1" dirty="0">
              <a:solidFill>
                <a:schemeClr val="tx1"/>
              </a:solidFill>
            </a:endParaRPr>
          </a:p>
        </p:txBody>
      </p:sp>
      <p:sp>
        <p:nvSpPr>
          <p:cNvPr id="3" name="Content Placeholder 2"/>
          <p:cNvSpPr>
            <a:spLocks noGrp="1"/>
          </p:cNvSpPr>
          <p:nvPr>
            <p:ph sz="quarter" idx="1"/>
          </p:nvPr>
        </p:nvSpPr>
        <p:spPr>
          <a:xfrm>
            <a:off x="428596" y="1142984"/>
            <a:ext cx="8429684" cy="2286016"/>
          </a:xfrm>
        </p:spPr>
        <p:txBody>
          <a:bodyPr/>
          <a:lstStyle/>
          <a:p>
            <a:r>
              <a:rPr lang="en-IN" dirty="0"/>
              <a:t>The actual mail transfer is done through message transfer agents. </a:t>
            </a:r>
          </a:p>
          <a:p>
            <a:r>
              <a:rPr lang="en-IN" dirty="0"/>
              <a:t>To send mail, a system must have the client MTA, and to receive mail, a system must have a server MTA. </a:t>
            </a:r>
          </a:p>
          <a:p>
            <a:r>
              <a:rPr lang="en-IN" dirty="0"/>
              <a:t>The formal protocol that defines the MTA client and server in the Internet is called the Simple Mail Transfer Protocol (SMTP).</a:t>
            </a:r>
          </a:p>
        </p:txBody>
      </p:sp>
      <p:pic>
        <p:nvPicPr>
          <p:cNvPr id="3074" name="Picture 2"/>
          <p:cNvPicPr>
            <a:picLocks noChangeAspect="1" noChangeArrowheads="1"/>
          </p:cNvPicPr>
          <p:nvPr/>
        </p:nvPicPr>
        <p:blipFill>
          <a:blip r:embed="rId2"/>
          <a:srcRect/>
          <a:stretch>
            <a:fillRect/>
          </a:stretch>
        </p:blipFill>
        <p:spPr bwMode="auto">
          <a:xfrm>
            <a:off x="714348" y="3468753"/>
            <a:ext cx="7708334" cy="3103519"/>
          </a:xfrm>
          <a:prstGeom prst="rect">
            <a:avLst/>
          </a:prstGeom>
          <a:noFill/>
          <a:ln w="9525">
            <a:noFill/>
            <a:miter lim="800000"/>
            <a:headEnd/>
            <a:tailEnd/>
          </a:ln>
          <a:effec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214290"/>
            <a:ext cx="8258204" cy="785818"/>
          </a:xfrm>
        </p:spPr>
        <p:txBody>
          <a:bodyPr>
            <a:normAutofit/>
          </a:bodyPr>
          <a:lstStyle/>
          <a:p>
            <a:r>
              <a:rPr lang="en-IN" altLang="en-US" b="1" dirty="0">
                <a:solidFill>
                  <a:schemeClr val="tx1"/>
                </a:solidFill>
              </a:rPr>
              <a:t>Message Access Agent (MAA)</a:t>
            </a:r>
            <a:endParaRPr lang="en-IN" b="1" dirty="0">
              <a:solidFill>
                <a:schemeClr val="tx1"/>
              </a:solidFill>
            </a:endParaRPr>
          </a:p>
        </p:txBody>
      </p:sp>
      <p:sp>
        <p:nvSpPr>
          <p:cNvPr id="3" name="Content Placeholder 2"/>
          <p:cNvSpPr>
            <a:spLocks noGrp="1"/>
          </p:cNvSpPr>
          <p:nvPr>
            <p:ph sz="quarter" idx="1"/>
          </p:nvPr>
        </p:nvSpPr>
        <p:spPr>
          <a:xfrm>
            <a:off x="285720" y="1000108"/>
            <a:ext cx="8572560" cy="3071834"/>
          </a:xfrm>
        </p:spPr>
        <p:txBody>
          <a:bodyPr/>
          <a:lstStyle/>
          <a:p>
            <a:pPr algn="just"/>
            <a:r>
              <a:rPr lang="en-US" altLang="en-US" dirty="0"/>
              <a:t>SMTP is not involved in the third stage because SMTP is a push protocol; it pushes the message from the client to the server. </a:t>
            </a:r>
          </a:p>
          <a:p>
            <a:pPr algn="just"/>
            <a:r>
              <a:rPr lang="en-US" altLang="en-US" dirty="0"/>
              <a:t>On the other hand, the third stage needs a pull protocol; the client must pull messages from the server</a:t>
            </a:r>
          </a:p>
          <a:p>
            <a:pPr algn="just"/>
            <a:r>
              <a:rPr lang="en-US" altLang="en-US" dirty="0"/>
              <a:t>Currently two message access protocols are available: Post Office Protocol, version 3 (POP3) and Internet Mail Access Protocol, version 4 (IMAP4).</a:t>
            </a:r>
          </a:p>
          <a:p>
            <a:endParaRPr lang="en-IN" dirty="0"/>
          </a:p>
        </p:txBody>
      </p:sp>
      <p:pic>
        <p:nvPicPr>
          <p:cNvPr id="4" name="Picture 2"/>
          <p:cNvPicPr>
            <a:picLocks noChangeAspect="1" noChangeArrowheads="1"/>
          </p:cNvPicPr>
          <p:nvPr/>
        </p:nvPicPr>
        <p:blipFill>
          <a:blip r:embed="rId2"/>
          <a:srcRect/>
          <a:stretch>
            <a:fillRect/>
          </a:stretch>
        </p:blipFill>
        <p:spPr bwMode="auto">
          <a:xfrm>
            <a:off x="2071670" y="4071941"/>
            <a:ext cx="6143668" cy="2604719"/>
          </a:xfrm>
          <a:prstGeom prst="rect">
            <a:avLst/>
          </a:prstGeom>
          <a:noFill/>
          <a:ln w="9525">
            <a:noFill/>
            <a:miter lim="800000"/>
            <a:headEnd/>
            <a:tailEnd/>
          </a:ln>
          <a:effec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solidFill>
                  <a:schemeClr val="tx1"/>
                </a:solidFill>
              </a:rPr>
              <a:t>Architecture of e-mail</a:t>
            </a:r>
          </a:p>
        </p:txBody>
      </p:sp>
      <p:sp>
        <p:nvSpPr>
          <p:cNvPr id="3" name="Content Placeholder 2"/>
          <p:cNvSpPr>
            <a:spLocks noGrp="1"/>
          </p:cNvSpPr>
          <p:nvPr>
            <p:ph sz="quarter" idx="1"/>
          </p:nvPr>
        </p:nvSpPr>
        <p:spPr>
          <a:xfrm>
            <a:off x="914400" y="1857364"/>
            <a:ext cx="7772400" cy="4162436"/>
          </a:xfrm>
        </p:spPr>
        <p:txBody>
          <a:bodyPr>
            <a:normAutofit/>
          </a:bodyPr>
          <a:lstStyle/>
          <a:p>
            <a:pPr algn="just"/>
            <a:r>
              <a:rPr lang="en-IN" sz="2800" dirty="0"/>
              <a:t>Architecture of e-mail can be described using four scenarios</a:t>
            </a:r>
          </a:p>
          <a:p>
            <a:pPr algn="just"/>
            <a:r>
              <a:rPr lang="en-IN" sz="2800" dirty="0"/>
              <a:t>We begin with the simplest situation and add complexity as we proceed. </a:t>
            </a:r>
          </a:p>
          <a:p>
            <a:pPr algn="just"/>
            <a:r>
              <a:rPr lang="en-IN" sz="2800" dirty="0"/>
              <a:t>The fourth scenario is the most common in the exchange of email.</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85720" y="285728"/>
            <a:ext cx="8401080" cy="5734072"/>
          </a:xfrm>
        </p:spPr>
        <p:txBody>
          <a:bodyPr/>
          <a:lstStyle/>
          <a:p>
            <a:pPr algn="just"/>
            <a:r>
              <a:rPr lang="en-US" sz="2800" b="1" dirty="0"/>
              <a:t>First Scenario:</a:t>
            </a:r>
          </a:p>
          <a:p>
            <a:pPr lvl="1" algn="just"/>
            <a:r>
              <a:rPr lang="en-IN" dirty="0"/>
              <a:t>When the sender and the receiver of an e-mail are on the same system, we need only two user agents. </a:t>
            </a:r>
            <a:r>
              <a:rPr lang="en-US" dirty="0"/>
              <a:t>A mailbox is part of a local hard drive, a special file with permission restrictions. Only the owner of the mailbox has access to it.</a:t>
            </a:r>
            <a:endParaRPr lang="en-IN" dirty="0"/>
          </a:p>
        </p:txBody>
      </p:sp>
      <p:pic>
        <p:nvPicPr>
          <p:cNvPr id="4" name="Picture 4"/>
          <p:cNvPicPr>
            <a:picLocks noChangeAspect="1" noChangeArrowheads="1"/>
          </p:cNvPicPr>
          <p:nvPr/>
        </p:nvPicPr>
        <p:blipFill>
          <a:blip r:embed="rId2"/>
          <a:srcRect/>
          <a:stretch>
            <a:fillRect/>
          </a:stretch>
        </p:blipFill>
        <p:spPr bwMode="auto">
          <a:xfrm>
            <a:off x="1214414" y="2786058"/>
            <a:ext cx="6957079" cy="3348038"/>
          </a:xfrm>
          <a:prstGeom prst="rect">
            <a:avLst/>
          </a:prstGeom>
          <a:noFill/>
          <a:ln w="9525">
            <a:noFill/>
            <a:miter lim="800000"/>
            <a:headEnd/>
            <a:tailEnd/>
          </a:ln>
          <a:effec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57158" y="428604"/>
            <a:ext cx="8329642" cy="5591196"/>
          </a:xfrm>
        </p:spPr>
        <p:txBody>
          <a:bodyPr/>
          <a:lstStyle/>
          <a:p>
            <a:pPr marL="342900" indent="-342900" algn="just"/>
            <a:r>
              <a:rPr lang="en-US" altLang="en-US" sz="2800" b="1" dirty="0"/>
              <a:t>Second Scenario</a:t>
            </a:r>
          </a:p>
          <a:p>
            <a:pPr marL="617220" lvl="1" indent="-342900" algn="just"/>
            <a:r>
              <a:rPr lang="en-IN" altLang="en-US" dirty="0"/>
              <a:t>When the sender and the receiver of an e-mail are on different systems, we need two UAs and a pair of MTAs (client and server).</a:t>
            </a:r>
            <a:endParaRPr lang="en-US" altLang="en-US" dirty="0"/>
          </a:p>
          <a:p>
            <a:endParaRPr lang="en-IN" dirty="0"/>
          </a:p>
        </p:txBody>
      </p:sp>
      <p:pic>
        <p:nvPicPr>
          <p:cNvPr id="4" name="Picture 3"/>
          <p:cNvPicPr>
            <a:picLocks noChangeAspect="1" noChangeArrowheads="1"/>
          </p:cNvPicPr>
          <p:nvPr/>
        </p:nvPicPr>
        <p:blipFill>
          <a:blip r:embed="rId2"/>
          <a:srcRect/>
          <a:stretch>
            <a:fillRect/>
          </a:stretch>
        </p:blipFill>
        <p:spPr bwMode="auto">
          <a:xfrm>
            <a:off x="642910" y="2500306"/>
            <a:ext cx="8077200" cy="3279775"/>
          </a:xfrm>
          <a:prstGeom prst="rect">
            <a:avLst/>
          </a:prstGeom>
          <a:noFill/>
          <a:ln w="9525">
            <a:noFill/>
            <a:miter lim="800000"/>
            <a:headEnd/>
            <a:tailEnd/>
          </a:ln>
          <a:effec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85720" y="357166"/>
            <a:ext cx="8401080" cy="5662634"/>
          </a:xfrm>
        </p:spPr>
        <p:txBody>
          <a:bodyPr/>
          <a:lstStyle/>
          <a:p>
            <a:pPr marL="342900" indent="-342900" algn="just"/>
            <a:r>
              <a:rPr lang="en-US" altLang="en-US" sz="2800" b="1" dirty="0"/>
              <a:t>Third Scenario</a:t>
            </a:r>
          </a:p>
          <a:p>
            <a:pPr marL="617220" lvl="1" indent="-342900" algn="just"/>
            <a:r>
              <a:rPr lang="en-IN" altLang="en-US" dirty="0"/>
              <a:t>When the sender is connected to the mail server via a LAN or a WAN, we need two UAs</a:t>
            </a:r>
            <a:r>
              <a:rPr lang="en-IN" altLang="en-US" i="1" dirty="0"/>
              <a:t> </a:t>
            </a:r>
            <a:r>
              <a:rPr lang="en-IN" altLang="en-US" dirty="0"/>
              <a:t>and two pairs of MTAs (client and server).</a:t>
            </a:r>
            <a:endParaRPr lang="en-US" altLang="en-US" dirty="0"/>
          </a:p>
          <a:p>
            <a:endParaRPr lang="en-IN" dirty="0"/>
          </a:p>
        </p:txBody>
      </p:sp>
      <p:pic>
        <p:nvPicPr>
          <p:cNvPr id="4" name="Picture 3"/>
          <p:cNvPicPr>
            <a:picLocks noChangeAspect="1" noChangeArrowheads="1"/>
          </p:cNvPicPr>
          <p:nvPr/>
        </p:nvPicPr>
        <p:blipFill>
          <a:blip r:embed="rId2"/>
          <a:srcRect/>
          <a:stretch>
            <a:fillRect/>
          </a:stretch>
        </p:blipFill>
        <p:spPr bwMode="auto">
          <a:xfrm>
            <a:off x="714348" y="1752600"/>
            <a:ext cx="8072494" cy="4725988"/>
          </a:xfrm>
          <a:prstGeom prst="rect">
            <a:avLst/>
          </a:prstGeom>
          <a:noFill/>
          <a:ln w="9525">
            <a:noFill/>
            <a:miter lim="800000"/>
            <a:headEnd/>
            <a:tailEnd/>
          </a:ln>
          <a:effec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57158" y="357166"/>
            <a:ext cx="8329642" cy="5662634"/>
          </a:xfrm>
        </p:spPr>
        <p:txBody>
          <a:bodyPr/>
          <a:lstStyle/>
          <a:p>
            <a:pPr marL="342900" indent="-342900" algn="just">
              <a:defRPr/>
            </a:pPr>
            <a:r>
              <a:rPr lang="en-US" sz="2800" b="1" dirty="0"/>
              <a:t>Fourth Scenario</a:t>
            </a:r>
          </a:p>
          <a:p>
            <a:pPr marL="617220" lvl="1" indent="-342900" algn="just">
              <a:defRPr/>
            </a:pPr>
            <a:r>
              <a:rPr lang="en-IN" dirty="0"/>
              <a:t>When both sender and receiver are connected to the mail server via a LAN or a WAN, we need two UAs, two pairs of MTAs (client and server), and a pair of MAAs (client and server). This is the most common situation today.</a:t>
            </a:r>
          </a:p>
          <a:p>
            <a:endParaRPr lang="en-IN" dirty="0"/>
          </a:p>
        </p:txBody>
      </p:sp>
      <p:pic>
        <p:nvPicPr>
          <p:cNvPr id="4" name="Picture 3"/>
          <p:cNvPicPr>
            <a:picLocks noChangeAspect="1" noChangeArrowheads="1"/>
          </p:cNvPicPr>
          <p:nvPr/>
        </p:nvPicPr>
        <p:blipFill>
          <a:blip r:embed="rId2"/>
          <a:srcRect/>
          <a:stretch>
            <a:fillRect/>
          </a:stretch>
        </p:blipFill>
        <p:spPr bwMode="auto">
          <a:xfrm>
            <a:off x="1071538" y="2428868"/>
            <a:ext cx="7456002" cy="4276732"/>
          </a:xfrm>
          <a:prstGeom prst="rect">
            <a:avLst/>
          </a:prstGeom>
          <a:noFill/>
          <a:ln w="9525">
            <a:noFill/>
            <a:miter lim="800000"/>
            <a:headEnd/>
            <a:tailEnd/>
          </a:ln>
          <a:effec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158" y="274638"/>
            <a:ext cx="8329642" cy="1143000"/>
          </a:xfrm>
        </p:spPr>
        <p:txBody>
          <a:bodyPr>
            <a:normAutofit/>
          </a:bodyPr>
          <a:lstStyle/>
          <a:p>
            <a:r>
              <a:rPr lang="en-US" altLang="en-US" b="1" dirty="0">
                <a:solidFill>
                  <a:schemeClr val="tx1"/>
                </a:solidFill>
              </a:rPr>
              <a:t>File Transfer Protocol (FTP)</a:t>
            </a:r>
            <a:endParaRPr lang="en-IN" b="1" dirty="0">
              <a:solidFill>
                <a:schemeClr val="tx1"/>
              </a:solidFill>
            </a:endParaRPr>
          </a:p>
        </p:txBody>
      </p:sp>
      <p:sp>
        <p:nvSpPr>
          <p:cNvPr id="3" name="Content Placeholder 2"/>
          <p:cNvSpPr>
            <a:spLocks noGrp="1"/>
          </p:cNvSpPr>
          <p:nvPr>
            <p:ph sz="quarter" idx="1"/>
          </p:nvPr>
        </p:nvSpPr>
        <p:spPr>
          <a:xfrm>
            <a:off x="428596" y="1447800"/>
            <a:ext cx="8258204" cy="4572000"/>
          </a:xfrm>
        </p:spPr>
        <p:txBody>
          <a:bodyPr/>
          <a:lstStyle/>
          <a:p>
            <a:pPr algn="just"/>
            <a:r>
              <a:rPr lang="en-IN" altLang="en-US" dirty="0"/>
              <a:t>File Transfer Protocol (FTP) is the standard mechanism provided by </a:t>
            </a:r>
            <a:r>
              <a:rPr lang="en-IN" altLang="en-US" i="1" dirty="0"/>
              <a:t>TCP/IP </a:t>
            </a:r>
            <a:r>
              <a:rPr lang="en-IN" altLang="en-US" dirty="0"/>
              <a:t>for copying a file from one host to another.</a:t>
            </a:r>
          </a:p>
          <a:p>
            <a:pPr algn="just"/>
            <a:r>
              <a:rPr lang="en-IN" dirty="0"/>
              <a:t>FTP differs from other client/server applications in that it establishes two connections between the hosts. </a:t>
            </a:r>
          </a:p>
          <a:p>
            <a:pPr lvl="1" algn="just"/>
            <a:r>
              <a:rPr lang="en-IN" dirty="0"/>
              <a:t>One connection is used for data transfer, </a:t>
            </a:r>
          </a:p>
          <a:p>
            <a:pPr lvl="1" algn="just"/>
            <a:r>
              <a:rPr lang="en-IN" dirty="0"/>
              <a:t>the other for control information (commands and responses).</a:t>
            </a:r>
          </a:p>
          <a:p>
            <a:r>
              <a:rPr lang="en-IN" dirty="0"/>
              <a:t>FTP uses two well-known TCP ports: </a:t>
            </a:r>
          </a:p>
          <a:p>
            <a:pPr lvl="1"/>
            <a:r>
              <a:rPr lang="en-IN" dirty="0"/>
              <a:t>Port 21 is used for the control connection, and </a:t>
            </a:r>
          </a:p>
          <a:p>
            <a:pPr lvl="1"/>
            <a:r>
              <a:rPr lang="en-IN" dirty="0"/>
              <a:t>port 20 is used for the data connection.</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85720" y="285728"/>
            <a:ext cx="8534752" cy="3503312"/>
          </a:xfrm>
        </p:spPr>
        <p:txBody>
          <a:bodyPr>
            <a:normAutofit fontScale="92500" lnSpcReduction="10000"/>
          </a:bodyPr>
          <a:lstStyle/>
          <a:p>
            <a:pPr marL="179388" indent="-179388" algn="just"/>
            <a:r>
              <a:rPr lang="en-IN" altLang="en-US" sz="2400" dirty="0"/>
              <a:t>The client has three components: </a:t>
            </a:r>
          </a:p>
          <a:p>
            <a:pPr marL="453708" lvl="1" indent="-179388" algn="just"/>
            <a:r>
              <a:rPr lang="en-IN" altLang="en-US" dirty="0"/>
              <a:t>user interface</a:t>
            </a:r>
          </a:p>
          <a:p>
            <a:pPr marL="453708" lvl="1" indent="-179388" algn="just"/>
            <a:r>
              <a:rPr lang="en-IN" altLang="en-US" dirty="0"/>
              <a:t>client control process</a:t>
            </a:r>
          </a:p>
          <a:p>
            <a:pPr marL="453708" lvl="1" indent="-179388" algn="just"/>
            <a:r>
              <a:rPr lang="en-IN" altLang="en-US" dirty="0"/>
              <a:t>client data transfer process </a:t>
            </a:r>
          </a:p>
          <a:p>
            <a:pPr marL="179388" indent="-179388" algn="just"/>
            <a:r>
              <a:rPr lang="en-IN" altLang="en-US" sz="2400" dirty="0"/>
              <a:t>The server has two components: </a:t>
            </a:r>
          </a:p>
          <a:p>
            <a:pPr marL="453708" lvl="1" indent="-179388" algn="just"/>
            <a:r>
              <a:rPr lang="en-IN" altLang="en-US" dirty="0"/>
              <a:t>server control process </a:t>
            </a:r>
          </a:p>
          <a:p>
            <a:pPr marL="453708" lvl="1" indent="-179388" algn="just"/>
            <a:r>
              <a:rPr lang="en-IN" altLang="en-US" dirty="0"/>
              <a:t>server data transfer process </a:t>
            </a:r>
          </a:p>
          <a:p>
            <a:pPr marL="179388" indent="-179388" algn="just"/>
            <a:r>
              <a:rPr lang="en-IN" altLang="en-US" sz="2400" dirty="0"/>
              <a:t>The control connection is made between the control processes. </a:t>
            </a:r>
          </a:p>
          <a:p>
            <a:pPr marL="179388" indent="-179388" algn="just"/>
            <a:r>
              <a:rPr lang="en-IN" altLang="en-US" sz="2400" dirty="0"/>
              <a:t>The data connection is made between the data transfer processes.</a:t>
            </a:r>
          </a:p>
        </p:txBody>
      </p:sp>
      <p:pic>
        <p:nvPicPr>
          <p:cNvPr id="4" name="Picture 2"/>
          <p:cNvPicPr>
            <a:picLocks noChangeAspect="1" noChangeArrowheads="1"/>
          </p:cNvPicPr>
          <p:nvPr/>
        </p:nvPicPr>
        <p:blipFill>
          <a:blip r:embed="rId2"/>
          <a:srcRect/>
          <a:stretch>
            <a:fillRect/>
          </a:stretch>
        </p:blipFill>
        <p:spPr bwMode="auto">
          <a:xfrm>
            <a:off x="540826" y="3652207"/>
            <a:ext cx="8247199" cy="2926108"/>
          </a:xfrm>
          <a:prstGeom prst="rect">
            <a:avLst/>
          </a:prstGeom>
          <a:noFill/>
          <a:ln w="9525">
            <a:noFill/>
            <a:miter lim="800000"/>
            <a:headEnd/>
            <a:tailEnd/>
          </a:ln>
          <a:effec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14282" y="285728"/>
            <a:ext cx="8763000" cy="1384995"/>
          </a:xfrm>
          <a:prstGeom prst="rect">
            <a:avLst/>
          </a:prstGeom>
          <a:noFill/>
        </p:spPr>
        <p:txBody>
          <a:bodyPr>
            <a:spAutoFit/>
          </a:bodyPr>
          <a:lstStyle/>
          <a:p>
            <a:pPr>
              <a:defRPr/>
            </a:pPr>
            <a:r>
              <a:rPr lang="en-IN" sz="2800" b="0" dirty="0"/>
              <a:t>FTP uses the services of TCP. It needs two TCP connections. </a:t>
            </a:r>
          </a:p>
          <a:p>
            <a:pPr marL="457200" indent="-457200" algn="just">
              <a:buFont typeface="Arial" pitchFamily="34" charset="0"/>
              <a:buChar char="•"/>
              <a:defRPr/>
            </a:pPr>
            <a:r>
              <a:rPr lang="en-IN" sz="2800" b="0" dirty="0"/>
              <a:t>The well-known port 21 is used for the control connection</a:t>
            </a:r>
          </a:p>
          <a:p>
            <a:pPr marL="457200" indent="-457200" algn="just">
              <a:buFont typeface="Arial" pitchFamily="34" charset="0"/>
              <a:buChar char="•"/>
              <a:defRPr/>
            </a:pPr>
            <a:r>
              <a:rPr lang="en-IN" sz="2800" b="0" dirty="0"/>
              <a:t>The well-known port 20 is used for the data connection.</a:t>
            </a:r>
            <a:endParaRPr lang="en-IN" sz="2800" dirty="0"/>
          </a:p>
        </p:txBody>
      </p:sp>
      <p:sp>
        <p:nvSpPr>
          <p:cNvPr id="5" name="Text Box 4"/>
          <p:cNvSpPr txBox="1">
            <a:spLocks noChangeArrowheads="1"/>
          </p:cNvSpPr>
          <p:nvPr/>
        </p:nvSpPr>
        <p:spPr bwMode="auto">
          <a:xfrm>
            <a:off x="152400" y="1743066"/>
            <a:ext cx="3251200" cy="400050"/>
          </a:xfrm>
          <a:prstGeom prst="rect">
            <a:avLst/>
          </a:prstGeom>
          <a:noFill/>
          <a:ln w="9525">
            <a:noFill/>
            <a:miter lim="800000"/>
            <a:headEnd/>
            <a:tailEnd/>
          </a:ln>
          <a:effectLst/>
        </p:spPr>
        <p:txBody>
          <a:bodyPr wrap="none">
            <a:spAutoFit/>
          </a:bodyPr>
          <a:lstStyle/>
          <a:p>
            <a:r>
              <a:rPr lang="en-US" altLang="en-US" sz="2000" b="1" i="1" dirty="0">
                <a:latin typeface="Times New Roman" pitchFamily="18" charset="0"/>
              </a:rPr>
              <a:t>Using the control connection</a:t>
            </a:r>
          </a:p>
        </p:txBody>
      </p:sp>
      <p:pic>
        <p:nvPicPr>
          <p:cNvPr id="6" name="Picture 4"/>
          <p:cNvPicPr>
            <a:picLocks noChangeAspect="1" noChangeArrowheads="1"/>
          </p:cNvPicPr>
          <p:nvPr/>
        </p:nvPicPr>
        <p:blipFill>
          <a:blip r:embed="rId2"/>
          <a:srcRect/>
          <a:stretch>
            <a:fillRect/>
          </a:stretch>
        </p:blipFill>
        <p:spPr bwMode="auto">
          <a:xfrm>
            <a:off x="231775" y="2217741"/>
            <a:ext cx="8504238" cy="1711325"/>
          </a:xfrm>
          <a:prstGeom prst="rect">
            <a:avLst/>
          </a:prstGeom>
          <a:noFill/>
          <a:ln w="9525">
            <a:noFill/>
            <a:miter lim="800000"/>
            <a:headEnd/>
            <a:tailEnd/>
          </a:ln>
          <a:effectLst/>
        </p:spPr>
      </p:pic>
      <p:pic>
        <p:nvPicPr>
          <p:cNvPr id="7" name="Picture 5"/>
          <p:cNvPicPr>
            <a:picLocks noChangeAspect="1" noChangeArrowheads="1"/>
          </p:cNvPicPr>
          <p:nvPr/>
        </p:nvPicPr>
        <p:blipFill>
          <a:blip r:embed="rId3"/>
          <a:srcRect/>
          <a:stretch>
            <a:fillRect/>
          </a:stretch>
        </p:blipFill>
        <p:spPr bwMode="auto">
          <a:xfrm>
            <a:off x="434975" y="4633934"/>
            <a:ext cx="8272463" cy="1866900"/>
          </a:xfrm>
          <a:prstGeom prst="rect">
            <a:avLst/>
          </a:prstGeom>
          <a:noFill/>
          <a:ln w="9525">
            <a:noFill/>
            <a:miter lim="800000"/>
            <a:headEnd/>
            <a:tailEnd/>
          </a:ln>
          <a:effectLst/>
        </p:spPr>
      </p:pic>
      <p:sp>
        <p:nvSpPr>
          <p:cNvPr id="8" name="Text Box 4"/>
          <p:cNvSpPr txBox="1">
            <a:spLocks noChangeArrowheads="1"/>
          </p:cNvSpPr>
          <p:nvPr/>
        </p:nvSpPr>
        <p:spPr bwMode="auto">
          <a:xfrm>
            <a:off x="214282" y="4243336"/>
            <a:ext cx="3043571" cy="400110"/>
          </a:xfrm>
          <a:prstGeom prst="rect">
            <a:avLst/>
          </a:prstGeom>
          <a:noFill/>
          <a:ln w="9525">
            <a:noFill/>
            <a:miter lim="800000"/>
            <a:headEnd/>
            <a:tailEnd/>
          </a:ln>
          <a:effectLst/>
        </p:spPr>
        <p:txBody>
          <a:bodyPr wrap="square">
            <a:spAutoFit/>
          </a:bodyPr>
          <a:lstStyle/>
          <a:p>
            <a:r>
              <a:rPr lang="en-US" altLang="en-US" sz="2000" b="1" i="1" dirty="0">
                <a:latin typeface="Times New Roman" pitchFamily="18" charset="0"/>
              </a:rPr>
              <a:t>Using the data connection</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274638"/>
            <a:ext cx="8186766" cy="725470"/>
          </a:xfrm>
        </p:spPr>
        <p:txBody>
          <a:bodyPr>
            <a:noAutofit/>
          </a:bodyPr>
          <a:lstStyle/>
          <a:p>
            <a:r>
              <a:rPr lang="en-IN" b="1" dirty="0">
                <a:solidFill>
                  <a:schemeClr val="tx1"/>
                </a:solidFill>
              </a:rPr>
              <a:t>World Wide Web (www)</a:t>
            </a:r>
          </a:p>
        </p:txBody>
      </p:sp>
      <p:sp>
        <p:nvSpPr>
          <p:cNvPr id="3" name="Content Placeholder 2"/>
          <p:cNvSpPr>
            <a:spLocks noGrp="1"/>
          </p:cNvSpPr>
          <p:nvPr>
            <p:ph sz="quarter" idx="1"/>
          </p:nvPr>
        </p:nvSpPr>
        <p:spPr>
          <a:xfrm>
            <a:off x="500034" y="1214422"/>
            <a:ext cx="8358246" cy="4805378"/>
          </a:xfrm>
        </p:spPr>
        <p:txBody>
          <a:bodyPr/>
          <a:lstStyle/>
          <a:p>
            <a:pPr algn="just"/>
            <a:r>
              <a:rPr lang="en-IN" altLang="en-US" dirty="0"/>
              <a:t>The World Wide Web (WWW) is a repository of information linked together from points all over the world. </a:t>
            </a:r>
          </a:p>
          <a:p>
            <a:pPr algn="just"/>
            <a:r>
              <a:rPr lang="en-IN" altLang="en-US" dirty="0"/>
              <a:t>The WWW has a unique combination of flexibility, portability, and user-friendly features that distinguish it from other services provided by the Internet.</a:t>
            </a:r>
          </a:p>
          <a:p>
            <a:endParaRPr lang="en-IN" dirty="0"/>
          </a:p>
        </p:txBody>
      </p:sp>
      <p:pic>
        <p:nvPicPr>
          <p:cNvPr id="4" name="Picture 1"/>
          <p:cNvPicPr>
            <a:picLocks noChangeAspect="1"/>
          </p:cNvPicPr>
          <p:nvPr/>
        </p:nvPicPr>
        <p:blipFill>
          <a:blip r:embed="rId2"/>
          <a:srcRect b="12276"/>
          <a:stretch>
            <a:fillRect/>
          </a:stretch>
        </p:blipFill>
        <p:spPr bwMode="auto">
          <a:xfrm>
            <a:off x="576293" y="3565545"/>
            <a:ext cx="8353425" cy="2649537"/>
          </a:xfrm>
          <a:prstGeom prst="rect">
            <a:avLst/>
          </a:prstGeom>
          <a:noFill/>
          <a:ln w="9525">
            <a:noFill/>
            <a:miter lim="800000"/>
            <a:headEnd/>
            <a:tailEnd/>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714348" y="1071546"/>
            <a:ext cx="7786742" cy="4643470"/>
          </a:xfrm>
        </p:spPr>
        <p:txBody>
          <a:bodyPr>
            <a:normAutofit/>
          </a:bodyPr>
          <a:lstStyle/>
          <a:p>
            <a:pPr algn="just">
              <a:lnSpc>
                <a:spcPct val="90000"/>
              </a:lnSpc>
              <a:spcBef>
                <a:spcPct val="20000"/>
              </a:spcBef>
              <a:buClr>
                <a:schemeClr val="folHlink"/>
              </a:buClr>
              <a:buSzPct val="60000"/>
            </a:pPr>
            <a:r>
              <a:rPr lang="en-US" altLang="en-US" sz="3200" b="1" dirty="0">
                <a:latin typeface="Times New Roman" pitchFamily="18" charset="0"/>
                <a:ea typeface="ＭＳ Ｐゴシック" pitchFamily="34" charset="-128"/>
              </a:rPr>
              <a:t>Website:</a:t>
            </a:r>
            <a:r>
              <a:rPr lang="en-US" altLang="en-US" sz="3200" dirty="0">
                <a:latin typeface="Times New Roman" pitchFamily="18" charset="0"/>
                <a:ea typeface="ＭＳ Ｐゴシック" pitchFamily="34" charset="-128"/>
              </a:rPr>
              <a:t>  </a:t>
            </a:r>
            <a:r>
              <a:rPr lang="en-US" altLang="en-US" sz="2800" dirty="0">
                <a:latin typeface="Times New Roman" pitchFamily="18" charset="0"/>
                <a:ea typeface="ＭＳ Ｐゴシック" pitchFamily="34" charset="-128"/>
              </a:rPr>
              <a:t>A collection of related web pages</a:t>
            </a:r>
            <a:endParaRPr lang="en-US" altLang="en-US" sz="3200" dirty="0">
              <a:latin typeface="Times New Roman" pitchFamily="18" charset="0"/>
              <a:ea typeface="ＭＳ Ｐゴシック" pitchFamily="34" charset="-128"/>
            </a:endParaRPr>
          </a:p>
          <a:p>
            <a:pPr algn="just">
              <a:lnSpc>
                <a:spcPct val="90000"/>
              </a:lnSpc>
              <a:spcBef>
                <a:spcPct val="20000"/>
              </a:spcBef>
              <a:buClr>
                <a:schemeClr val="folHlink"/>
              </a:buClr>
              <a:buSzPct val="60000"/>
            </a:pPr>
            <a:r>
              <a:rPr lang="en-US" altLang="en-US" sz="3200" b="1" dirty="0">
                <a:latin typeface="Times New Roman" pitchFamily="18" charset="0"/>
                <a:ea typeface="ＭＳ Ｐゴシック" pitchFamily="34" charset="-128"/>
              </a:rPr>
              <a:t>Web browser: </a:t>
            </a:r>
            <a:r>
              <a:rPr lang="en-US" altLang="en-US" sz="2800" dirty="0">
                <a:latin typeface="Times New Roman" pitchFamily="18" charset="0"/>
                <a:ea typeface="ＭＳ Ｐゴシック" pitchFamily="34" charset="-128"/>
              </a:rPr>
              <a:t>A software tool that retrieves and displays web pages</a:t>
            </a:r>
          </a:p>
          <a:p>
            <a:pPr algn="just">
              <a:lnSpc>
                <a:spcPct val="90000"/>
              </a:lnSpc>
              <a:spcBef>
                <a:spcPct val="20000"/>
              </a:spcBef>
              <a:buClr>
                <a:schemeClr val="folHlink"/>
              </a:buClr>
              <a:buSzPct val="60000"/>
            </a:pPr>
            <a:r>
              <a:rPr lang="en-US" altLang="en-US" sz="3200" b="1" dirty="0">
                <a:latin typeface="Times New Roman" pitchFamily="18" charset="0"/>
                <a:ea typeface="ＭＳ Ｐゴシック" pitchFamily="34" charset="-128"/>
              </a:rPr>
              <a:t>Web server: </a:t>
            </a:r>
            <a:r>
              <a:rPr lang="en-US" altLang="en-US" sz="2800" dirty="0">
                <a:latin typeface="Times New Roman" pitchFamily="18" charset="0"/>
                <a:ea typeface="ＭＳ Ｐゴシック" pitchFamily="34" charset="-128"/>
              </a:rPr>
              <a:t>A computer set up to respond to requests for web pages</a:t>
            </a:r>
          </a:p>
          <a:p>
            <a:pPr algn="just">
              <a:lnSpc>
                <a:spcPct val="90000"/>
              </a:lnSpc>
              <a:spcBef>
                <a:spcPct val="20000"/>
              </a:spcBef>
              <a:buClr>
                <a:schemeClr val="folHlink"/>
              </a:buClr>
              <a:buSzPct val="60000"/>
            </a:pPr>
            <a:r>
              <a:rPr lang="en-US" altLang="en-US" sz="3200" b="1" dirty="0">
                <a:latin typeface="Times New Roman" pitchFamily="18" charset="0"/>
                <a:ea typeface="ＭＳ Ｐゴシック" pitchFamily="34" charset="-128"/>
              </a:rPr>
              <a:t>Uniform Resource Locator (URL): </a:t>
            </a:r>
            <a:r>
              <a:rPr lang="en-US" altLang="en-US" sz="2800" dirty="0">
                <a:latin typeface="Times New Roman" pitchFamily="18" charset="0"/>
                <a:ea typeface="ＭＳ Ｐゴシック" pitchFamily="34" charset="-128"/>
              </a:rPr>
              <a:t>A standard way of specifying the location of a Web page, containing the hostname, "/", and a file</a:t>
            </a:r>
          </a:p>
          <a:p>
            <a:pPr algn="just"/>
            <a:endParaRPr lang="en-IN"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274638"/>
            <a:ext cx="8186766" cy="868346"/>
          </a:xfrm>
        </p:spPr>
        <p:txBody>
          <a:bodyPr>
            <a:normAutofit/>
          </a:bodyPr>
          <a:lstStyle/>
          <a:p>
            <a:r>
              <a:rPr lang="en-US" altLang="en-US" b="1" dirty="0">
                <a:solidFill>
                  <a:schemeClr val="tx1"/>
                </a:solidFill>
              </a:rPr>
              <a:t>Architecture of WWW</a:t>
            </a:r>
            <a:endParaRPr lang="en-IN" b="1" dirty="0">
              <a:solidFill>
                <a:schemeClr val="tx1"/>
              </a:solidFill>
            </a:endParaRPr>
          </a:p>
        </p:txBody>
      </p:sp>
      <p:sp>
        <p:nvSpPr>
          <p:cNvPr id="3" name="Content Placeholder 2"/>
          <p:cNvSpPr>
            <a:spLocks noGrp="1"/>
          </p:cNvSpPr>
          <p:nvPr>
            <p:ph sz="quarter" idx="1"/>
          </p:nvPr>
        </p:nvSpPr>
        <p:spPr>
          <a:xfrm>
            <a:off x="357158" y="1214422"/>
            <a:ext cx="8501122" cy="1785950"/>
          </a:xfrm>
        </p:spPr>
        <p:txBody>
          <a:bodyPr/>
          <a:lstStyle/>
          <a:p>
            <a:pPr algn="just"/>
            <a:r>
              <a:rPr lang="en-IN" dirty="0"/>
              <a:t>The WWW today is a distributed client/server service, in which a client using a browser can access a service using a server. </a:t>
            </a:r>
          </a:p>
          <a:p>
            <a:pPr algn="just"/>
            <a:r>
              <a:rPr lang="en-IN" dirty="0"/>
              <a:t>The service provided is distributed over many locations called </a:t>
            </a:r>
            <a:r>
              <a:rPr lang="en-IN" i="1" dirty="0"/>
              <a:t>sites</a:t>
            </a:r>
            <a:endParaRPr lang="en-IN" dirty="0"/>
          </a:p>
        </p:txBody>
      </p:sp>
      <p:pic>
        <p:nvPicPr>
          <p:cNvPr id="4" name="Picture 4"/>
          <p:cNvPicPr>
            <a:picLocks noChangeAspect="1" noChangeArrowheads="1"/>
          </p:cNvPicPr>
          <p:nvPr/>
        </p:nvPicPr>
        <p:blipFill>
          <a:blip r:embed="rId2"/>
          <a:srcRect/>
          <a:stretch>
            <a:fillRect/>
          </a:stretch>
        </p:blipFill>
        <p:spPr bwMode="auto">
          <a:xfrm>
            <a:off x="1524000" y="2649559"/>
            <a:ext cx="6526213" cy="3922713"/>
          </a:xfrm>
          <a:prstGeom prst="rect">
            <a:avLst/>
          </a:prstGeom>
          <a:noFill/>
          <a:ln w="9525">
            <a:noFill/>
            <a:miter lim="800000"/>
            <a:headEnd/>
            <a:tailEnd/>
          </a:ln>
          <a:effec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85720" y="357166"/>
            <a:ext cx="8572560" cy="3714776"/>
          </a:xfrm>
        </p:spPr>
        <p:txBody>
          <a:bodyPr>
            <a:noAutofit/>
          </a:bodyPr>
          <a:lstStyle/>
          <a:p>
            <a:pPr>
              <a:buNone/>
            </a:pPr>
            <a:r>
              <a:rPr lang="en-US" sz="3200" dirty="0">
                <a:solidFill>
                  <a:srgbClr val="0033CC"/>
                </a:solidFill>
                <a:latin typeface="Times New Roman" pitchFamily="18" charset="0"/>
              </a:rPr>
              <a:t>Client (Browser)</a:t>
            </a:r>
          </a:p>
          <a:p>
            <a:pPr algn="just">
              <a:spcBef>
                <a:spcPts val="0"/>
              </a:spcBef>
              <a:defRPr/>
            </a:pPr>
            <a:r>
              <a:rPr lang="en-IN" sz="2800" dirty="0"/>
              <a:t>Each browser usually consists of three parts: </a:t>
            </a:r>
          </a:p>
          <a:p>
            <a:pPr lvl="1" algn="just">
              <a:spcBef>
                <a:spcPts val="0"/>
              </a:spcBef>
              <a:defRPr/>
            </a:pPr>
            <a:r>
              <a:rPr lang="en-IN" dirty="0"/>
              <a:t>a controller, </a:t>
            </a:r>
          </a:p>
          <a:p>
            <a:pPr lvl="1" algn="just">
              <a:spcBef>
                <a:spcPts val="0"/>
              </a:spcBef>
              <a:defRPr/>
            </a:pPr>
            <a:r>
              <a:rPr lang="en-IN" dirty="0"/>
              <a:t>client protocol, and </a:t>
            </a:r>
          </a:p>
          <a:p>
            <a:pPr lvl="1" algn="just">
              <a:spcBef>
                <a:spcPts val="0"/>
              </a:spcBef>
              <a:defRPr/>
            </a:pPr>
            <a:r>
              <a:rPr lang="en-IN" dirty="0"/>
              <a:t>interpreters</a:t>
            </a:r>
          </a:p>
          <a:p>
            <a:pPr algn="just">
              <a:spcBef>
                <a:spcPts val="0"/>
              </a:spcBef>
              <a:defRPr/>
            </a:pPr>
            <a:r>
              <a:rPr lang="en-IN" sz="2800" dirty="0"/>
              <a:t>The controller receives input from the keyboard or the mouse and uses the client protocols to access the document. </a:t>
            </a:r>
          </a:p>
          <a:p>
            <a:pPr algn="just">
              <a:spcBef>
                <a:spcPts val="0"/>
              </a:spcBef>
              <a:defRPr/>
            </a:pPr>
            <a:r>
              <a:rPr lang="en-IN" sz="2800" dirty="0"/>
              <a:t>After the document has been accessed, the controller uses one of the interpreters to display the document on the screen.</a:t>
            </a:r>
            <a:endParaRPr lang="en-US" sz="2800" dirty="0">
              <a:solidFill>
                <a:srgbClr val="0033CC"/>
              </a:solidFill>
              <a:latin typeface="Times New Roman" pitchFamily="18" charset="0"/>
            </a:endParaRPr>
          </a:p>
          <a:p>
            <a:pPr>
              <a:spcBef>
                <a:spcPts val="0"/>
              </a:spcBef>
            </a:pPr>
            <a:endParaRPr lang="en-IN" sz="2800" dirty="0"/>
          </a:p>
        </p:txBody>
      </p:sp>
      <p:pic>
        <p:nvPicPr>
          <p:cNvPr id="4" name="Picture 3"/>
          <p:cNvPicPr>
            <a:picLocks noChangeAspect="1" noChangeArrowheads="1"/>
          </p:cNvPicPr>
          <p:nvPr/>
        </p:nvPicPr>
        <p:blipFill>
          <a:blip r:embed="rId2"/>
          <a:srcRect/>
          <a:stretch>
            <a:fillRect/>
          </a:stretch>
        </p:blipFill>
        <p:spPr bwMode="auto">
          <a:xfrm>
            <a:off x="1000100" y="4214163"/>
            <a:ext cx="7572428" cy="2500985"/>
          </a:xfrm>
          <a:prstGeom prst="rect">
            <a:avLst/>
          </a:prstGeom>
          <a:noFill/>
          <a:ln w="9525">
            <a:noFill/>
            <a:miter lim="800000"/>
            <a:headEnd/>
            <a:tailEnd/>
          </a:ln>
          <a:effec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14282" y="214290"/>
            <a:ext cx="8715436" cy="5000660"/>
          </a:xfrm>
        </p:spPr>
        <p:txBody>
          <a:bodyPr>
            <a:noAutofit/>
          </a:bodyPr>
          <a:lstStyle/>
          <a:p>
            <a:pPr>
              <a:buClr>
                <a:schemeClr val="tx1"/>
              </a:buClr>
              <a:buSzPct val="117000"/>
              <a:buFont typeface="Wingdings" pitchFamily="2" charset="2"/>
              <a:buNone/>
              <a:defRPr/>
            </a:pPr>
            <a:r>
              <a:rPr lang="fr-FR" sz="3600" b="1" dirty="0">
                <a:solidFill>
                  <a:srgbClr val="0033CC"/>
                </a:solidFill>
                <a:latin typeface="Times New Roman" pitchFamily="18" charset="0"/>
              </a:rPr>
              <a:t>Server</a:t>
            </a:r>
          </a:p>
          <a:p>
            <a:pPr marL="342900" indent="-342900" algn="just">
              <a:spcBef>
                <a:spcPts val="0"/>
              </a:spcBef>
              <a:buClr>
                <a:schemeClr val="tx1"/>
              </a:buClr>
              <a:buSzPct val="117000"/>
              <a:defRPr/>
            </a:pPr>
            <a:r>
              <a:rPr lang="en-IN" sz="2400" dirty="0"/>
              <a:t>The Web page is stored at the server. Each time a client request arrives, the corresponding document is sent to the client. </a:t>
            </a:r>
          </a:p>
          <a:p>
            <a:pPr marL="617220" lvl="1" indent="-342900" algn="just">
              <a:spcBef>
                <a:spcPts val="0"/>
              </a:spcBef>
              <a:buClr>
                <a:schemeClr val="tx1"/>
              </a:buClr>
              <a:buSzPct val="117000"/>
              <a:defRPr/>
            </a:pPr>
            <a:r>
              <a:rPr lang="en-IN" dirty="0"/>
              <a:t>To improve efficiency, servers normally store requested files in a cache in memory; memory is faster to access than disk. </a:t>
            </a:r>
          </a:p>
          <a:p>
            <a:pPr marL="617220" lvl="1" indent="-342900" algn="just">
              <a:spcBef>
                <a:spcPts val="0"/>
              </a:spcBef>
              <a:buClr>
                <a:schemeClr val="tx1"/>
              </a:buClr>
              <a:buSzPct val="117000"/>
              <a:defRPr/>
            </a:pPr>
            <a:r>
              <a:rPr lang="en-IN" dirty="0"/>
              <a:t>A server can also become more efficient through multithreading or multiprocessing. In this case, a server can answer more than one request at a time.</a:t>
            </a:r>
          </a:p>
          <a:p>
            <a:pPr>
              <a:buClr>
                <a:schemeClr val="tx1"/>
              </a:buClr>
              <a:buSzPct val="117000"/>
              <a:buFont typeface="Wingdings" pitchFamily="2" charset="2"/>
              <a:buNone/>
              <a:defRPr/>
            </a:pPr>
            <a:r>
              <a:rPr lang="fr-FR" sz="2800" b="1" dirty="0">
                <a:solidFill>
                  <a:srgbClr val="0033CC"/>
                </a:solidFill>
                <a:latin typeface="Times New Roman" pitchFamily="18" charset="0"/>
              </a:rPr>
              <a:t>Uniform Resource Locator</a:t>
            </a:r>
          </a:p>
          <a:p>
            <a:r>
              <a:rPr lang="en-IN" altLang="en-US" sz="2400" dirty="0"/>
              <a:t>A URL is defined as any character string that identifies a resource</a:t>
            </a:r>
          </a:p>
          <a:p>
            <a:r>
              <a:rPr lang="en-IN" sz="2400" dirty="0"/>
              <a:t>The URL defines four things: protocol, host computer, port, and path</a:t>
            </a:r>
          </a:p>
          <a:p>
            <a:r>
              <a:rPr lang="en-IN" sz="2400" dirty="0">
                <a:hlinkClick r:id="rId2"/>
              </a:rPr>
              <a:t>https://meet.google.com/tsv-qyux-ppi</a:t>
            </a:r>
            <a:endParaRPr lang="en-IN" sz="2400" dirty="0"/>
          </a:p>
          <a:p>
            <a:endParaRPr lang="en-IN" sz="2400" dirty="0"/>
          </a:p>
        </p:txBody>
      </p:sp>
      <p:pic>
        <p:nvPicPr>
          <p:cNvPr id="4" name="Picture 3"/>
          <p:cNvPicPr>
            <a:picLocks noChangeAspect="1" noChangeArrowheads="1"/>
          </p:cNvPicPr>
          <p:nvPr/>
        </p:nvPicPr>
        <p:blipFill>
          <a:blip r:embed="rId3"/>
          <a:srcRect/>
          <a:stretch>
            <a:fillRect/>
          </a:stretch>
        </p:blipFill>
        <p:spPr bwMode="auto">
          <a:xfrm>
            <a:off x="928662" y="5286388"/>
            <a:ext cx="7550150" cy="736600"/>
          </a:xfrm>
          <a:prstGeom prst="rect">
            <a:avLst/>
          </a:prstGeom>
          <a:noFill/>
          <a:ln w="9525">
            <a:noFill/>
            <a:miter lim="800000"/>
            <a:headEnd/>
            <a:tailEnd/>
          </a:ln>
          <a:effec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85720" y="285728"/>
            <a:ext cx="8643998" cy="6357982"/>
          </a:xfrm>
        </p:spPr>
        <p:txBody>
          <a:bodyPr>
            <a:noAutofit/>
          </a:bodyPr>
          <a:lstStyle/>
          <a:p>
            <a:pPr algn="just"/>
            <a:r>
              <a:rPr lang="en-IN" sz="2800" dirty="0"/>
              <a:t>The </a:t>
            </a:r>
            <a:r>
              <a:rPr lang="en-IN" sz="2800" b="1" dirty="0"/>
              <a:t>protocol</a:t>
            </a:r>
            <a:r>
              <a:rPr lang="en-IN" sz="2800" dirty="0"/>
              <a:t> is the client/server program used to retrieve the document. </a:t>
            </a:r>
          </a:p>
          <a:p>
            <a:pPr lvl="1" algn="just"/>
            <a:r>
              <a:rPr lang="en-IN" dirty="0">
                <a:solidFill>
                  <a:srgbClr val="FF0000"/>
                </a:solidFill>
              </a:rPr>
              <a:t>Many different protocols can retrieve a document; among them are FTP or HTTP. The most common today is HTTP.</a:t>
            </a:r>
          </a:p>
          <a:p>
            <a:pPr algn="just"/>
            <a:r>
              <a:rPr lang="en-IN" sz="2800" dirty="0"/>
              <a:t>The </a:t>
            </a:r>
            <a:r>
              <a:rPr lang="en-IN" sz="2800" b="1" dirty="0"/>
              <a:t>host</a:t>
            </a:r>
            <a:r>
              <a:rPr lang="en-IN" sz="2800" dirty="0"/>
              <a:t> is the computer on which the information is located. </a:t>
            </a:r>
          </a:p>
          <a:p>
            <a:pPr lvl="1" algn="just"/>
            <a:r>
              <a:rPr lang="en-IN" dirty="0">
                <a:solidFill>
                  <a:srgbClr val="FF0000"/>
                </a:solidFill>
              </a:rPr>
              <a:t>Web pages are usually stored in computers, and computers are given alias names that usually begin with the characters "www". This is not mandatory.</a:t>
            </a:r>
          </a:p>
          <a:p>
            <a:pPr algn="just"/>
            <a:r>
              <a:rPr lang="en-IN" sz="2800" dirty="0"/>
              <a:t>The URL can optionally contain the </a:t>
            </a:r>
            <a:r>
              <a:rPr lang="en-IN" sz="2800" b="1" dirty="0"/>
              <a:t>port number </a:t>
            </a:r>
            <a:r>
              <a:rPr lang="en-IN" sz="2800" dirty="0"/>
              <a:t>of the server. </a:t>
            </a:r>
          </a:p>
          <a:p>
            <a:pPr lvl="1" algn="just"/>
            <a:r>
              <a:rPr lang="en-IN" dirty="0">
                <a:solidFill>
                  <a:srgbClr val="FF0000"/>
                </a:solidFill>
              </a:rPr>
              <a:t>If the port is included, it is inserted between the host and the path, and it is separated from the host by a colon.</a:t>
            </a:r>
          </a:p>
          <a:p>
            <a:pPr algn="just"/>
            <a:r>
              <a:rPr lang="en-IN" sz="2800" b="1" dirty="0"/>
              <a:t>Path</a:t>
            </a:r>
            <a:r>
              <a:rPr lang="en-IN" sz="2800" dirty="0"/>
              <a:t> is the pathname of the file where the information is located. </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20" y="274638"/>
            <a:ext cx="8401080" cy="725470"/>
          </a:xfrm>
        </p:spPr>
        <p:txBody>
          <a:bodyPr>
            <a:normAutofit fontScale="90000"/>
          </a:bodyPr>
          <a:lstStyle/>
          <a:p>
            <a:r>
              <a:rPr lang="en-US" altLang="en-US" b="1" dirty="0">
                <a:solidFill>
                  <a:schemeClr val="tx1"/>
                </a:solidFill>
              </a:rPr>
              <a:t>Hypertext Transfer Protocol (HTTP)</a:t>
            </a:r>
            <a:endParaRPr lang="en-IN" b="1" dirty="0">
              <a:solidFill>
                <a:schemeClr val="tx1"/>
              </a:solidFill>
            </a:endParaRPr>
          </a:p>
        </p:txBody>
      </p:sp>
      <p:sp>
        <p:nvSpPr>
          <p:cNvPr id="3" name="Content Placeholder 2"/>
          <p:cNvSpPr>
            <a:spLocks noGrp="1"/>
          </p:cNvSpPr>
          <p:nvPr>
            <p:ph sz="quarter" idx="1"/>
          </p:nvPr>
        </p:nvSpPr>
        <p:spPr>
          <a:xfrm>
            <a:off x="285720" y="1142984"/>
            <a:ext cx="8401080" cy="4876816"/>
          </a:xfrm>
        </p:spPr>
        <p:txBody>
          <a:bodyPr/>
          <a:lstStyle/>
          <a:p>
            <a:pPr algn="just"/>
            <a:r>
              <a:rPr lang="en-US" sz="2800" dirty="0"/>
              <a:t>The Hypertext Transfer Protocol (HTTP) is a protocol used mainly to access data on the World Wide Web. HTTP functions as a combination of FTP and SMTP. </a:t>
            </a:r>
          </a:p>
          <a:p>
            <a:pPr algn="just"/>
            <a:r>
              <a:rPr lang="en-US" altLang="en-US" sz="2800" dirty="0"/>
              <a:t>HTTP uses the services of TCP on well-kn</a:t>
            </a:r>
            <a:r>
              <a:rPr lang="en-US" altLang="en-US" dirty="0"/>
              <a:t>own port 80.</a:t>
            </a:r>
          </a:p>
          <a:p>
            <a:pPr algn="just"/>
            <a:r>
              <a:rPr lang="en-IN" sz="2800" dirty="0"/>
              <a:t>It is similar to FTP because it transfers files and uses the services of TCP. </a:t>
            </a:r>
          </a:p>
          <a:p>
            <a:pPr algn="just"/>
            <a:r>
              <a:rPr lang="en-IN" sz="2800" dirty="0"/>
              <a:t>Unlike FTP there is no separate control connection; only data are transferred between the client and the server.</a:t>
            </a:r>
          </a:p>
          <a:p>
            <a:pPr algn="just"/>
            <a:endParaRPr lang="en-IN"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158" y="274638"/>
            <a:ext cx="8329642" cy="939784"/>
          </a:xfrm>
        </p:spPr>
        <p:txBody>
          <a:bodyPr/>
          <a:lstStyle/>
          <a:p>
            <a:r>
              <a:rPr lang="en-IN" b="1" dirty="0">
                <a:solidFill>
                  <a:schemeClr val="tx1"/>
                </a:solidFill>
              </a:rPr>
              <a:t>HTTP Transaction</a:t>
            </a:r>
          </a:p>
        </p:txBody>
      </p:sp>
      <p:sp>
        <p:nvSpPr>
          <p:cNvPr id="3" name="Content Placeholder 2"/>
          <p:cNvSpPr>
            <a:spLocks noGrp="1"/>
          </p:cNvSpPr>
          <p:nvPr>
            <p:ph sz="quarter" idx="1"/>
          </p:nvPr>
        </p:nvSpPr>
        <p:spPr>
          <a:xfrm>
            <a:off x="285720" y="1285860"/>
            <a:ext cx="8643998" cy="4733940"/>
          </a:xfrm>
        </p:spPr>
        <p:txBody>
          <a:bodyPr/>
          <a:lstStyle/>
          <a:p>
            <a:pPr algn="just"/>
            <a:r>
              <a:rPr lang="en-IN" altLang="en-US" dirty="0"/>
              <a:t>HTTP uses the services of TCP, however HTTP itself is a stateless protocol. </a:t>
            </a:r>
          </a:p>
          <a:p>
            <a:pPr algn="just"/>
            <a:r>
              <a:rPr lang="en-IN" altLang="en-US" dirty="0"/>
              <a:t>The client initializes the transaction by sending a request message. </a:t>
            </a:r>
          </a:p>
          <a:p>
            <a:pPr algn="just"/>
            <a:r>
              <a:rPr lang="en-IN" altLang="en-US" dirty="0"/>
              <a:t>The server replies by sending a response message.</a:t>
            </a:r>
            <a:endParaRPr lang="en-IN" dirty="0"/>
          </a:p>
        </p:txBody>
      </p:sp>
      <p:pic>
        <p:nvPicPr>
          <p:cNvPr id="4" name="Picture 3"/>
          <p:cNvPicPr>
            <a:picLocks noChangeAspect="1" noChangeArrowheads="1"/>
          </p:cNvPicPr>
          <p:nvPr/>
        </p:nvPicPr>
        <p:blipFill>
          <a:blip r:embed="rId2"/>
          <a:srcRect/>
          <a:stretch>
            <a:fillRect/>
          </a:stretch>
        </p:blipFill>
        <p:spPr bwMode="auto">
          <a:xfrm>
            <a:off x="1428728" y="3429000"/>
            <a:ext cx="6554788" cy="2700338"/>
          </a:xfrm>
          <a:prstGeom prst="rect">
            <a:avLst/>
          </a:prstGeom>
          <a:noFill/>
          <a:ln w="9525">
            <a:noFill/>
            <a:miter lim="800000"/>
            <a:headEnd/>
            <a:tailEnd/>
          </a:ln>
          <a:effec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158" y="274638"/>
            <a:ext cx="8329642" cy="868346"/>
          </a:xfrm>
        </p:spPr>
        <p:txBody>
          <a:bodyPr>
            <a:normAutofit/>
          </a:bodyPr>
          <a:lstStyle/>
          <a:p>
            <a:r>
              <a:rPr lang="en-US" altLang="en-US" b="1" dirty="0">
                <a:solidFill>
                  <a:schemeClr val="tx1"/>
                </a:solidFill>
              </a:rPr>
              <a:t>Messages in HTTP</a:t>
            </a:r>
            <a:endParaRPr lang="en-IN" b="1" dirty="0">
              <a:solidFill>
                <a:schemeClr val="tx1"/>
              </a:solidFill>
            </a:endParaRPr>
          </a:p>
        </p:txBody>
      </p:sp>
      <p:sp>
        <p:nvSpPr>
          <p:cNvPr id="3" name="Content Placeholder 2"/>
          <p:cNvSpPr>
            <a:spLocks noGrp="1"/>
          </p:cNvSpPr>
          <p:nvPr>
            <p:ph sz="quarter" idx="1"/>
          </p:nvPr>
        </p:nvSpPr>
        <p:spPr>
          <a:xfrm>
            <a:off x="357158" y="1214422"/>
            <a:ext cx="8329642" cy="4805378"/>
          </a:xfrm>
        </p:spPr>
        <p:txBody>
          <a:bodyPr/>
          <a:lstStyle/>
          <a:p>
            <a:pPr algn="just"/>
            <a:r>
              <a:rPr lang="en-IN" altLang="en-US" sz="2800" dirty="0"/>
              <a:t>A </a:t>
            </a:r>
            <a:r>
              <a:rPr lang="en-IN" altLang="en-US" sz="2800" b="1" dirty="0"/>
              <a:t>request message </a:t>
            </a:r>
            <a:r>
              <a:rPr lang="en-IN" altLang="en-US" sz="2800" dirty="0"/>
              <a:t>consists of a request line, a header, and sometimes a body.</a:t>
            </a:r>
          </a:p>
          <a:p>
            <a:pPr algn="just"/>
            <a:r>
              <a:rPr lang="en-IN" altLang="en-US" sz="2800" dirty="0"/>
              <a:t>A </a:t>
            </a:r>
            <a:r>
              <a:rPr lang="en-IN" altLang="en-US" sz="2800" b="1" dirty="0"/>
              <a:t>response message </a:t>
            </a:r>
            <a:r>
              <a:rPr lang="en-IN" altLang="en-US" sz="2800" dirty="0"/>
              <a:t>consists of a status line, a header, and sometimes a body.</a:t>
            </a:r>
          </a:p>
          <a:p>
            <a:endParaRPr lang="en-IN" dirty="0"/>
          </a:p>
        </p:txBody>
      </p:sp>
      <p:grpSp>
        <p:nvGrpSpPr>
          <p:cNvPr id="11" name="Group 10"/>
          <p:cNvGrpSpPr/>
          <p:nvPr/>
        </p:nvGrpSpPr>
        <p:grpSpPr>
          <a:xfrm>
            <a:off x="1571604" y="3286124"/>
            <a:ext cx="5824550" cy="3214710"/>
            <a:chOff x="533400" y="2214554"/>
            <a:chExt cx="7751763" cy="4583112"/>
          </a:xfrm>
        </p:grpSpPr>
        <p:pic>
          <p:nvPicPr>
            <p:cNvPr id="8" name="Picture 11"/>
            <p:cNvPicPr>
              <a:picLocks noChangeAspect="1" noChangeArrowheads="1"/>
            </p:cNvPicPr>
            <p:nvPr/>
          </p:nvPicPr>
          <p:blipFill>
            <a:blip r:embed="rId2"/>
            <a:srcRect/>
            <a:stretch>
              <a:fillRect/>
            </a:stretch>
          </p:blipFill>
          <p:spPr bwMode="auto">
            <a:xfrm>
              <a:off x="533400" y="2214554"/>
              <a:ext cx="7751763" cy="3662362"/>
            </a:xfrm>
            <a:prstGeom prst="rect">
              <a:avLst/>
            </a:prstGeom>
            <a:noFill/>
            <a:ln w="9525">
              <a:noFill/>
              <a:miter lim="800000"/>
              <a:headEnd/>
              <a:tailEnd/>
            </a:ln>
            <a:effectLst/>
          </p:spPr>
        </p:pic>
        <p:pic>
          <p:nvPicPr>
            <p:cNvPr id="9" name="Picture 12"/>
            <p:cNvPicPr>
              <a:picLocks noChangeAspect="1" noChangeArrowheads="1"/>
            </p:cNvPicPr>
            <p:nvPr/>
          </p:nvPicPr>
          <p:blipFill>
            <a:blip r:embed="rId3"/>
            <a:srcRect/>
            <a:stretch>
              <a:fillRect/>
            </a:stretch>
          </p:blipFill>
          <p:spPr bwMode="auto">
            <a:xfrm>
              <a:off x="762000" y="2773354"/>
              <a:ext cx="7085013" cy="2024062"/>
            </a:xfrm>
            <a:prstGeom prst="rect">
              <a:avLst/>
            </a:prstGeom>
            <a:noFill/>
            <a:ln w="9525">
              <a:noFill/>
              <a:miter lim="800000"/>
              <a:headEnd/>
              <a:tailEnd/>
            </a:ln>
            <a:effectLst/>
          </p:spPr>
        </p:pic>
        <p:pic>
          <p:nvPicPr>
            <p:cNvPr id="10" name="Picture 13"/>
            <p:cNvPicPr>
              <a:picLocks noChangeAspect="1" noChangeArrowheads="1"/>
            </p:cNvPicPr>
            <p:nvPr/>
          </p:nvPicPr>
          <p:blipFill>
            <a:blip r:embed="rId4"/>
            <a:srcRect/>
            <a:stretch>
              <a:fillRect/>
            </a:stretch>
          </p:blipFill>
          <p:spPr bwMode="auto">
            <a:xfrm>
              <a:off x="1031875" y="4749791"/>
              <a:ext cx="7121525" cy="2047875"/>
            </a:xfrm>
            <a:prstGeom prst="rect">
              <a:avLst/>
            </a:prstGeom>
            <a:noFill/>
            <a:ln w="9525">
              <a:noFill/>
              <a:miter lim="800000"/>
              <a:headEnd/>
              <a:tailEnd/>
            </a:ln>
            <a:effectLst/>
          </p:spPr>
        </p:pic>
      </p:gr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85720" y="642918"/>
            <a:ext cx="8643998" cy="5376882"/>
          </a:xfrm>
        </p:spPr>
        <p:txBody>
          <a:bodyPr/>
          <a:lstStyle/>
          <a:p>
            <a:pPr>
              <a:buNone/>
            </a:pPr>
            <a:r>
              <a:rPr lang="en-IN" altLang="en-US" sz="3200" b="1" dirty="0"/>
              <a:t>Request and Status Lines: </a:t>
            </a:r>
          </a:p>
          <a:p>
            <a:r>
              <a:rPr lang="en-IN" altLang="en-US" sz="2800" dirty="0"/>
              <a:t>The first line in a request message is called a </a:t>
            </a:r>
            <a:r>
              <a:rPr lang="en-IN" altLang="en-US" sz="2800" b="1" dirty="0"/>
              <a:t>request line</a:t>
            </a:r>
            <a:r>
              <a:rPr lang="en-IN" altLang="en-US" sz="2800" dirty="0"/>
              <a:t>.</a:t>
            </a:r>
          </a:p>
          <a:p>
            <a:r>
              <a:rPr lang="en-IN" altLang="en-US" sz="2800" dirty="0"/>
              <a:t>The first line in the response message is called the </a:t>
            </a:r>
            <a:r>
              <a:rPr lang="en-IN" altLang="en-US" sz="2800" b="1" dirty="0"/>
              <a:t>status line</a:t>
            </a:r>
            <a:r>
              <a:rPr lang="en-IN" altLang="en-US" sz="2800" dirty="0"/>
              <a:t>.</a:t>
            </a:r>
          </a:p>
          <a:p>
            <a:endParaRPr lang="en-IN" dirty="0"/>
          </a:p>
        </p:txBody>
      </p:sp>
      <p:pic>
        <p:nvPicPr>
          <p:cNvPr id="4" name="Picture 3"/>
          <p:cNvPicPr>
            <a:picLocks noChangeAspect="1" noChangeArrowheads="1"/>
          </p:cNvPicPr>
          <p:nvPr/>
        </p:nvPicPr>
        <p:blipFill>
          <a:blip r:embed="rId2"/>
          <a:srcRect/>
          <a:stretch>
            <a:fillRect/>
          </a:stretch>
        </p:blipFill>
        <p:spPr bwMode="auto">
          <a:xfrm>
            <a:off x="469930" y="2714620"/>
            <a:ext cx="8388350" cy="3124200"/>
          </a:xfrm>
          <a:prstGeom prst="rect">
            <a:avLst/>
          </a:prstGeom>
          <a:noFill/>
          <a:ln w="9525">
            <a:noFill/>
            <a:miter lim="800000"/>
            <a:headEnd/>
            <a:tailEnd/>
          </a:ln>
          <a:effec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4282" y="274638"/>
            <a:ext cx="8472518" cy="654032"/>
          </a:xfrm>
        </p:spPr>
        <p:txBody>
          <a:bodyPr>
            <a:normAutofit fontScale="90000"/>
          </a:bodyPr>
          <a:lstStyle/>
          <a:p>
            <a:r>
              <a:rPr lang="en-US" altLang="en-US" b="1" i="1" dirty="0">
                <a:solidFill>
                  <a:schemeClr val="tx1"/>
                </a:solidFill>
                <a:latin typeface="Times New Roman" pitchFamily="18" charset="0"/>
              </a:rPr>
              <a:t>Format of the request message</a:t>
            </a:r>
            <a:endParaRPr lang="en-IN" b="1" dirty="0">
              <a:solidFill>
                <a:schemeClr val="tx1"/>
              </a:solidFill>
            </a:endParaRPr>
          </a:p>
        </p:txBody>
      </p:sp>
      <p:pic>
        <p:nvPicPr>
          <p:cNvPr id="4" name="Picture 10"/>
          <p:cNvPicPr>
            <a:picLocks noGrp="1" noChangeAspect="1" noChangeArrowheads="1"/>
          </p:cNvPicPr>
          <p:nvPr>
            <p:ph sz="quarter" idx="1"/>
          </p:nvPr>
        </p:nvPicPr>
        <p:blipFill>
          <a:blip r:embed="rId2"/>
          <a:srcRect/>
          <a:stretch>
            <a:fillRect/>
          </a:stretch>
        </p:blipFill>
        <p:spPr bwMode="auto">
          <a:xfrm>
            <a:off x="558561" y="1000108"/>
            <a:ext cx="8424962" cy="5429288"/>
          </a:xfrm>
          <a:prstGeom prst="rect">
            <a:avLst/>
          </a:prstGeom>
          <a:noFill/>
          <a:ln w="9525">
            <a:noFill/>
            <a:miter lim="800000"/>
            <a:headEnd/>
            <a:tailEnd/>
          </a:ln>
          <a:effectLst/>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5"/>
          <p:cNvPicPr>
            <a:picLocks noChangeAspect="1" noChangeArrowheads="1"/>
          </p:cNvPicPr>
          <p:nvPr/>
        </p:nvPicPr>
        <p:blipFill>
          <a:blip r:embed="rId2"/>
          <a:srcRect/>
          <a:stretch>
            <a:fillRect/>
          </a:stretch>
        </p:blipFill>
        <p:spPr bwMode="auto">
          <a:xfrm>
            <a:off x="857224" y="214290"/>
            <a:ext cx="7358114" cy="2682646"/>
          </a:xfrm>
          <a:prstGeom prst="rect">
            <a:avLst/>
          </a:prstGeom>
          <a:noFill/>
          <a:ln w="9525">
            <a:noFill/>
            <a:miter lim="800000"/>
            <a:headEnd/>
            <a:tailEnd/>
          </a:ln>
          <a:effectLst/>
        </p:spPr>
      </p:pic>
      <p:pic>
        <p:nvPicPr>
          <p:cNvPr id="7" name="Picture 26"/>
          <p:cNvPicPr>
            <a:picLocks noChangeAspect="1" noChangeArrowheads="1"/>
          </p:cNvPicPr>
          <p:nvPr/>
        </p:nvPicPr>
        <p:blipFill>
          <a:blip r:embed="rId3"/>
          <a:srcRect/>
          <a:stretch>
            <a:fillRect/>
          </a:stretch>
        </p:blipFill>
        <p:spPr bwMode="auto">
          <a:xfrm>
            <a:off x="1714480" y="3071810"/>
            <a:ext cx="5786478" cy="3395674"/>
          </a:xfrm>
          <a:prstGeom prst="rect">
            <a:avLst/>
          </a:prstGeom>
          <a:noFill/>
          <a:ln w="9525">
            <a:noFill/>
            <a:miter lim="800000"/>
            <a:headEnd/>
            <a:tailEnd/>
          </a:ln>
          <a:effectLst/>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1472" y="274638"/>
            <a:ext cx="8115328" cy="725470"/>
          </a:xfrm>
        </p:spPr>
        <p:txBody>
          <a:bodyPr>
            <a:normAutofit fontScale="90000"/>
          </a:bodyPr>
          <a:lstStyle/>
          <a:p>
            <a:r>
              <a:rPr lang="en-US" altLang="en-US" b="1" i="1" dirty="0">
                <a:solidFill>
                  <a:schemeClr val="tx1"/>
                </a:solidFill>
                <a:latin typeface="Times New Roman" pitchFamily="18" charset="0"/>
              </a:rPr>
              <a:t>Format of the response message</a:t>
            </a:r>
            <a:endParaRPr lang="en-IN" b="1" dirty="0">
              <a:solidFill>
                <a:schemeClr val="tx1"/>
              </a:solidFill>
            </a:endParaRPr>
          </a:p>
        </p:txBody>
      </p:sp>
      <p:pic>
        <p:nvPicPr>
          <p:cNvPr id="4" name="Picture 10"/>
          <p:cNvPicPr>
            <a:picLocks noGrp="1" noChangeAspect="1" noChangeArrowheads="1"/>
          </p:cNvPicPr>
          <p:nvPr>
            <p:ph sz="quarter" idx="1"/>
          </p:nvPr>
        </p:nvPicPr>
        <p:blipFill>
          <a:blip r:embed="rId2"/>
          <a:srcRect/>
          <a:stretch>
            <a:fillRect/>
          </a:stretch>
        </p:blipFill>
        <p:spPr bwMode="auto">
          <a:xfrm>
            <a:off x="500034" y="1142984"/>
            <a:ext cx="8398916" cy="5286412"/>
          </a:xfrm>
          <a:prstGeom prst="rect">
            <a:avLst/>
          </a:prstGeom>
          <a:noFill/>
          <a:ln w="9525">
            <a:noFill/>
            <a:miter lim="800000"/>
            <a:headEnd/>
            <a:tailEnd/>
          </a:ln>
          <a:effec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20" y="500042"/>
            <a:ext cx="8401080" cy="725470"/>
          </a:xfrm>
        </p:spPr>
        <p:txBody>
          <a:bodyPr>
            <a:normAutofit fontScale="90000"/>
          </a:bodyPr>
          <a:lstStyle/>
          <a:p>
            <a:r>
              <a:rPr lang="en-IN" b="1" dirty="0">
                <a:solidFill>
                  <a:schemeClr val="tx1"/>
                </a:solidFill>
              </a:rPr>
              <a:t>Network Management: SNMP</a:t>
            </a:r>
          </a:p>
        </p:txBody>
      </p:sp>
      <p:sp>
        <p:nvSpPr>
          <p:cNvPr id="3" name="Content Placeholder 2"/>
          <p:cNvSpPr>
            <a:spLocks noGrp="1"/>
          </p:cNvSpPr>
          <p:nvPr>
            <p:ph sz="quarter" idx="1"/>
          </p:nvPr>
        </p:nvSpPr>
        <p:spPr>
          <a:xfrm>
            <a:off x="285720" y="1357298"/>
            <a:ext cx="8401080" cy="4662502"/>
          </a:xfrm>
        </p:spPr>
        <p:txBody>
          <a:bodyPr>
            <a:normAutofit/>
          </a:bodyPr>
          <a:lstStyle/>
          <a:p>
            <a:pPr algn="just"/>
            <a:r>
              <a:rPr lang="en-IN" b="1" dirty="0"/>
              <a:t>Network management can be defined as monitoring, testing, configuring, and troubleshooting </a:t>
            </a:r>
            <a:r>
              <a:rPr lang="en-IN" dirty="0"/>
              <a:t>network components to meet a set of requirements defined by an organization.</a:t>
            </a:r>
          </a:p>
          <a:p>
            <a:pPr algn="just"/>
            <a:r>
              <a:rPr lang="en-IN" dirty="0"/>
              <a:t>These requirements include the smooth, efficient operation of the network that provides the predefined quality of service for users.</a:t>
            </a:r>
          </a:p>
          <a:p>
            <a:pPr algn="just"/>
            <a:r>
              <a:rPr lang="en-IN" dirty="0"/>
              <a:t>To accomplish this task, a network management system uses hardware, software, and humans.</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2"/>
          <a:srcRect/>
          <a:stretch>
            <a:fillRect/>
          </a:stretch>
        </p:blipFill>
        <p:spPr bwMode="auto">
          <a:xfrm>
            <a:off x="1048733" y="3500438"/>
            <a:ext cx="7952423" cy="3143272"/>
          </a:xfrm>
          <a:prstGeom prst="rect">
            <a:avLst/>
          </a:prstGeom>
          <a:noFill/>
          <a:ln w="9525">
            <a:noFill/>
            <a:miter lim="800000"/>
            <a:headEnd/>
            <a:tailEnd/>
          </a:ln>
          <a:effectLst/>
        </p:spPr>
      </p:pic>
      <p:sp>
        <p:nvSpPr>
          <p:cNvPr id="2" name="Title 1"/>
          <p:cNvSpPr>
            <a:spLocks noGrp="1"/>
          </p:cNvSpPr>
          <p:nvPr>
            <p:ph type="title"/>
          </p:nvPr>
        </p:nvSpPr>
        <p:spPr>
          <a:xfrm>
            <a:off x="285720" y="274638"/>
            <a:ext cx="8401080" cy="939784"/>
          </a:xfrm>
        </p:spPr>
        <p:txBody>
          <a:bodyPr/>
          <a:lstStyle/>
          <a:p>
            <a:r>
              <a:rPr lang="en-IN" b="1" dirty="0">
                <a:solidFill>
                  <a:schemeClr val="tx1"/>
                </a:solidFill>
              </a:rPr>
              <a:t>Functions of Network Management </a:t>
            </a:r>
          </a:p>
        </p:txBody>
      </p:sp>
      <p:sp>
        <p:nvSpPr>
          <p:cNvPr id="3" name="Content Placeholder 2"/>
          <p:cNvSpPr>
            <a:spLocks noGrp="1"/>
          </p:cNvSpPr>
          <p:nvPr>
            <p:ph sz="quarter" idx="1"/>
          </p:nvPr>
        </p:nvSpPr>
        <p:spPr>
          <a:xfrm>
            <a:off x="357158" y="1214422"/>
            <a:ext cx="8329642" cy="4805378"/>
          </a:xfrm>
        </p:spPr>
        <p:txBody>
          <a:bodyPr/>
          <a:lstStyle/>
          <a:p>
            <a:r>
              <a:rPr lang="en-IN" dirty="0"/>
              <a:t>The functions performed by a network management system can be divided into five broad categories: </a:t>
            </a:r>
          </a:p>
          <a:p>
            <a:pPr lvl="1"/>
            <a:r>
              <a:rPr lang="en-IN" dirty="0"/>
              <a:t>Configuration management</a:t>
            </a:r>
          </a:p>
          <a:p>
            <a:pPr lvl="1"/>
            <a:r>
              <a:rPr lang="en-IN" dirty="0"/>
              <a:t>Fault management</a:t>
            </a:r>
          </a:p>
          <a:p>
            <a:pPr lvl="1"/>
            <a:r>
              <a:rPr lang="en-IN" dirty="0"/>
              <a:t>Performance management</a:t>
            </a:r>
          </a:p>
          <a:p>
            <a:pPr lvl="1"/>
            <a:r>
              <a:rPr lang="en-IN" dirty="0"/>
              <a:t>Security management </a:t>
            </a:r>
          </a:p>
          <a:p>
            <a:pPr lvl="1"/>
            <a:r>
              <a:rPr lang="en-IN" dirty="0"/>
              <a:t>Accounting management</a:t>
            </a:r>
          </a:p>
          <a:p>
            <a:endParaRPr lang="en-IN"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20" y="274638"/>
            <a:ext cx="8401080" cy="725470"/>
          </a:xfrm>
        </p:spPr>
        <p:txBody>
          <a:bodyPr>
            <a:normAutofit fontScale="90000"/>
          </a:bodyPr>
          <a:lstStyle/>
          <a:p>
            <a:r>
              <a:rPr lang="en-IN" b="1" dirty="0">
                <a:solidFill>
                  <a:schemeClr val="tx1"/>
                </a:solidFill>
              </a:rPr>
              <a:t>Network Security</a:t>
            </a:r>
          </a:p>
        </p:txBody>
      </p:sp>
      <p:sp>
        <p:nvSpPr>
          <p:cNvPr id="3" name="Content Placeholder 2"/>
          <p:cNvSpPr>
            <a:spLocks noGrp="1"/>
          </p:cNvSpPr>
          <p:nvPr>
            <p:ph sz="quarter" idx="1"/>
          </p:nvPr>
        </p:nvSpPr>
        <p:spPr>
          <a:xfrm>
            <a:off x="285720" y="1071546"/>
            <a:ext cx="8429684" cy="5286412"/>
          </a:xfrm>
        </p:spPr>
        <p:txBody>
          <a:bodyPr>
            <a:normAutofit/>
          </a:bodyPr>
          <a:lstStyle/>
          <a:p>
            <a:r>
              <a:rPr lang="en-IN" dirty="0"/>
              <a:t>Security is one of the important aspects in data communications and networking.</a:t>
            </a:r>
          </a:p>
          <a:p>
            <a:r>
              <a:rPr lang="en-IN" dirty="0"/>
              <a:t>Security in networking is based on cryptography, the science and art of transforming messages to make them secure and immune to attack. </a:t>
            </a:r>
          </a:p>
          <a:p>
            <a:r>
              <a:rPr lang="en-IN" dirty="0"/>
              <a:t>Cryptography can provide several aspects of security related to the interchange of messages through networks. </a:t>
            </a:r>
          </a:p>
          <a:p>
            <a:r>
              <a:rPr lang="en-IN" dirty="0"/>
              <a:t>These aspects are </a:t>
            </a:r>
          </a:p>
          <a:p>
            <a:pPr lvl="1"/>
            <a:r>
              <a:rPr lang="en-IN" dirty="0"/>
              <a:t>confidentiality, </a:t>
            </a:r>
          </a:p>
          <a:p>
            <a:pPr lvl="1"/>
            <a:r>
              <a:rPr lang="en-IN" dirty="0"/>
              <a:t>integrity, </a:t>
            </a:r>
          </a:p>
          <a:p>
            <a:pPr lvl="1"/>
            <a:r>
              <a:rPr lang="en-IN" dirty="0"/>
              <a:t>authentication, and </a:t>
            </a:r>
          </a:p>
          <a:p>
            <a:pPr lvl="1"/>
            <a:r>
              <a:rPr lang="en-IN" dirty="0" err="1"/>
              <a:t>nonrepudiation</a:t>
            </a:r>
            <a:r>
              <a:rPr lang="en-IN" dirty="0"/>
              <a:t>.</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85720" y="285728"/>
            <a:ext cx="8643998" cy="6357982"/>
          </a:xfrm>
        </p:spPr>
        <p:txBody>
          <a:bodyPr>
            <a:normAutofit fontScale="92500"/>
          </a:bodyPr>
          <a:lstStyle/>
          <a:p>
            <a:pPr algn="just"/>
            <a:r>
              <a:rPr lang="en-IN" b="1" dirty="0"/>
              <a:t>Message Confidentiality: </a:t>
            </a:r>
            <a:r>
              <a:rPr lang="en-IN" dirty="0"/>
              <a:t>Message confidentiality or privacy means that the sender and the receiver expect confidentiality. The transmitted message must make sense to only the intended receiver. To all others, the message must be garbage.</a:t>
            </a:r>
          </a:p>
          <a:p>
            <a:pPr algn="just"/>
            <a:r>
              <a:rPr lang="en-IN" b="1" dirty="0"/>
              <a:t>Message Integrity: </a:t>
            </a:r>
            <a:r>
              <a:rPr lang="en-IN" dirty="0"/>
              <a:t>Message integrity means that the data must arrive at the receiver exactly as they were sent. There must be no changes during the transmission, neither accidentally nor maliciously.</a:t>
            </a:r>
          </a:p>
          <a:p>
            <a:pPr algn="just"/>
            <a:r>
              <a:rPr lang="en-IN" b="1" dirty="0"/>
              <a:t>Message Authentication: </a:t>
            </a:r>
            <a:r>
              <a:rPr lang="en-IN" dirty="0"/>
              <a:t>In message authentication the receiver needs to be sure of the sender's identity and that an imposter has not sent the message.</a:t>
            </a:r>
          </a:p>
          <a:p>
            <a:pPr algn="just"/>
            <a:r>
              <a:rPr lang="en-IN" b="1" dirty="0"/>
              <a:t>Message </a:t>
            </a:r>
            <a:r>
              <a:rPr lang="en-IN" b="1" dirty="0" err="1"/>
              <a:t>Nonrepudiation</a:t>
            </a:r>
            <a:r>
              <a:rPr lang="en-IN" b="1" dirty="0"/>
              <a:t>: </a:t>
            </a:r>
            <a:r>
              <a:rPr lang="en-IN" dirty="0"/>
              <a:t>Message </a:t>
            </a:r>
            <a:r>
              <a:rPr lang="en-IN" dirty="0" err="1"/>
              <a:t>nonrepudiation</a:t>
            </a:r>
            <a:r>
              <a:rPr lang="en-IN" dirty="0"/>
              <a:t> means that a sender must not be able to deny sending a message that he or she, in fact, did send.</a:t>
            </a:r>
          </a:p>
          <a:p>
            <a:pPr algn="just"/>
            <a:r>
              <a:rPr lang="en-IN" b="1" dirty="0"/>
              <a:t>Entity Authentication: </a:t>
            </a:r>
            <a:r>
              <a:rPr lang="en-IN" dirty="0"/>
              <a:t>In entity authentication (or user identification) the entity or user is verified prior to access to the system resources (files, for example).</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solidFill>
                  <a:schemeClr val="tx1"/>
                </a:solidFill>
              </a:rPr>
              <a:t>Cryptography</a:t>
            </a:r>
          </a:p>
        </p:txBody>
      </p:sp>
      <p:sp>
        <p:nvSpPr>
          <p:cNvPr id="3" name="Content Placeholder 2"/>
          <p:cNvSpPr>
            <a:spLocks noGrp="1"/>
          </p:cNvSpPr>
          <p:nvPr>
            <p:ph sz="quarter" idx="1"/>
          </p:nvPr>
        </p:nvSpPr>
        <p:spPr/>
        <p:txBody>
          <a:bodyPr/>
          <a:lstStyle/>
          <a:p>
            <a:pPr algn="just"/>
            <a:r>
              <a:rPr lang="en-IN" b="1" dirty="0"/>
              <a:t>Cryptography, a word with Greek origins, means "secret writing." </a:t>
            </a:r>
          </a:p>
          <a:p>
            <a:pPr algn="just"/>
            <a:r>
              <a:rPr lang="en-IN" b="1" dirty="0"/>
              <a:t>However, we use the </a:t>
            </a:r>
            <a:r>
              <a:rPr lang="en-IN" dirty="0"/>
              <a:t>term to refer to the science and art of transforming messages to make them secure and immune to attacks.</a:t>
            </a:r>
          </a:p>
          <a:p>
            <a:pPr algn="just"/>
            <a:endParaRPr lang="en-IN" dirty="0"/>
          </a:p>
          <a:p>
            <a:pPr algn="just"/>
            <a:endParaRPr lang="en-IN" dirty="0"/>
          </a:p>
        </p:txBody>
      </p:sp>
      <p:pic>
        <p:nvPicPr>
          <p:cNvPr id="4" name="Picture 2"/>
          <p:cNvPicPr>
            <a:picLocks noChangeAspect="1" noChangeArrowheads="1"/>
          </p:cNvPicPr>
          <p:nvPr/>
        </p:nvPicPr>
        <p:blipFill>
          <a:blip r:embed="rId2"/>
          <a:srcRect/>
          <a:stretch>
            <a:fillRect/>
          </a:stretch>
        </p:blipFill>
        <p:spPr bwMode="auto">
          <a:xfrm>
            <a:off x="851787" y="4000504"/>
            <a:ext cx="8077931" cy="2228855"/>
          </a:xfrm>
          <a:prstGeom prst="rect">
            <a:avLst/>
          </a:prstGeom>
          <a:noFill/>
          <a:ln w="9525">
            <a:noFill/>
            <a:miter lim="800000"/>
            <a:headEnd/>
            <a:tailEnd/>
          </a:ln>
          <a:effectLst/>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solidFill>
                  <a:schemeClr val="tx1"/>
                </a:solidFill>
              </a:rPr>
              <a:t>Some Basic Terminology</a:t>
            </a:r>
            <a:endParaRPr lang="en-IN" b="1" dirty="0">
              <a:solidFill>
                <a:schemeClr val="tx1"/>
              </a:solidFill>
            </a:endParaRPr>
          </a:p>
        </p:txBody>
      </p:sp>
      <p:sp>
        <p:nvSpPr>
          <p:cNvPr id="5" name="Content Placeholder 4"/>
          <p:cNvSpPr>
            <a:spLocks noGrp="1"/>
          </p:cNvSpPr>
          <p:nvPr>
            <p:ph sz="quarter" idx="1"/>
          </p:nvPr>
        </p:nvSpPr>
        <p:spPr/>
        <p:txBody>
          <a:bodyPr>
            <a:normAutofit fontScale="92500" lnSpcReduction="10000"/>
          </a:bodyPr>
          <a:lstStyle/>
          <a:p>
            <a:pPr algn="just">
              <a:lnSpc>
                <a:spcPct val="80000"/>
              </a:lnSpc>
              <a:spcAft>
                <a:spcPts val="1200"/>
              </a:spcAft>
              <a:defRPr/>
            </a:pPr>
            <a:r>
              <a:rPr lang="en-AU" altLang="en-US" sz="2800" b="1" dirty="0">
                <a:ea typeface="ＭＳ Ｐゴシック" panose="020B0600070205080204" pitchFamily="34" charset="-128"/>
              </a:rPr>
              <a:t>plaintext</a:t>
            </a:r>
            <a:r>
              <a:rPr lang="en-AU" altLang="en-US" sz="2800" dirty="0">
                <a:ea typeface="ＭＳ Ｐゴシック" panose="020B0600070205080204" pitchFamily="34" charset="-128"/>
              </a:rPr>
              <a:t> - original message </a:t>
            </a:r>
          </a:p>
          <a:p>
            <a:pPr algn="just">
              <a:lnSpc>
                <a:spcPct val="80000"/>
              </a:lnSpc>
              <a:spcAft>
                <a:spcPts val="1200"/>
              </a:spcAft>
              <a:defRPr/>
            </a:pPr>
            <a:r>
              <a:rPr lang="en-AU" altLang="en-US" sz="2800" b="1" dirty="0" err="1">
                <a:ea typeface="ＭＳ Ｐゴシック" panose="020B0600070205080204" pitchFamily="34" charset="-128"/>
              </a:rPr>
              <a:t>ciphertext</a:t>
            </a:r>
            <a:r>
              <a:rPr lang="en-AU" altLang="en-US" sz="2800" dirty="0">
                <a:ea typeface="ＭＳ Ｐゴシック" panose="020B0600070205080204" pitchFamily="34" charset="-128"/>
              </a:rPr>
              <a:t> - coded message </a:t>
            </a:r>
          </a:p>
          <a:p>
            <a:pPr algn="just">
              <a:lnSpc>
                <a:spcPct val="80000"/>
              </a:lnSpc>
              <a:spcAft>
                <a:spcPts val="1200"/>
              </a:spcAft>
              <a:defRPr/>
            </a:pPr>
            <a:r>
              <a:rPr lang="en-AU" altLang="en-US" sz="2800" b="1" dirty="0">
                <a:ea typeface="ＭＳ Ｐゴシック" panose="020B0600070205080204" pitchFamily="34" charset="-128"/>
              </a:rPr>
              <a:t>key</a:t>
            </a:r>
            <a:r>
              <a:rPr lang="en-AU" altLang="en-US" sz="2800" dirty="0">
                <a:ea typeface="ＭＳ Ｐゴシック" panose="020B0600070205080204" pitchFamily="34" charset="-128"/>
              </a:rPr>
              <a:t> - info used in cipher known only to sender/receiver </a:t>
            </a:r>
          </a:p>
          <a:p>
            <a:pPr algn="just">
              <a:lnSpc>
                <a:spcPct val="80000"/>
              </a:lnSpc>
              <a:spcAft>
                <a:spcPts val="1200"/>
              </a:spcAft>
              <a:defRPr/>
            </a:pPr>
            <a:r>
              <a:rPr lang="en-AU" altLang="en-US" sz="2800" b="1" dirty="0">
                <a:ea typeface="ＭＳ Ｐゴシック" panose="020B0600070205080204" pitchFamily="34" charset="-128"/>
              </a:rPr>
              <a:t>encipher (encrypt)</a:t>
            </a:r>
            <a:r>
              <a:rPr lang="en-AU" altLang="en-US" sz="2800" dirty="0">
                <a:ea typeface="ＭＳ Ｐゴシック" panose="020B0600070205080204" pitchFamily="34" charset="-128"/>
              </a:rPr>
              <a:t> - converting plaintext to </a:t>
            </a:r>
            <a:r>
              <a:rPr lang="en-AU" altLang="en-US" sz="2800" dirty="0" err="1">
                <a:ea typeface="ＭＳ Ｐゴシック" panose="020B0600070205080204" pitchFamily="34" charset="-128"/>
              </a:rPr>
              <a:t>ciphertext</a:t>
            </a:r>
            <a:r>
              <a:rPr lang="en-AU" altLang="en-US" sz="2800" dirty="0">
                <a:ea typeface="ＭＳ Ｐゴシック" panose="020B0600070205080204" pitchFamily="34" charset="-128"/>
              </a:rPr>
              <a:t> </a:t>
            </a:r>
          </a:p>
          <a:p>
            <a:pPr algn="just">
              <a:lnSpc>
                <a:spcPct val="80000"/>
              </a:lnSpc>
              <a:spcAft>
                <a:spcPts val="1200"/>
              </a:spcAft>
              <a:defRPr/>
            </a:pPr>
            <a:r>
              <a:rPr lang="en-AU" altLang="en-US" sz="2800" b="1" dirty="0">
                <a:ea typeface="ＭＳ Ｐゴシック" panose="020B0600070205080204" pitchFamily="34" charset="-128"/>
              </a:rPr>
              <a:t>decipher (decrypt)</a:t>
            </a:r>
            <a:r>
              <a:rPr lang="en-AU" altLang="en-US" sz="2800" dirty="0">
                <a:ea typeface="ＭＳ Ｐゴシック" panose="020B0600070205080204" pitchFamily="34" charset="-128"/>
              </a:rPr>
              <a:t> - recovering plaintext from </a:t>
            </a:r>
            <a:r>
              <a:rPr lang="en-AU" altLang="en-US" sz="2800" dirty="0" err="1">
                <a:ea typeface="ＭＳ Ｐゴシック" panose="020B0600070205080204" pitchFamily="34" charset="-128"/>
              </a:rPr>
              <a:t>ciphertext</a:t>
            </a:r>
            <a:endParaRPr lang="en-AU" altLang="en-US" sz="2800" dirty="0">
              <a:ea typeface="ＭＳ Ｐゴシック" panose="020B0600070205080204" pitchFamily="34" charset="-128"/>
            </a:endParaRPr>
          </a:p>
          <a:p>
            <a:pPr algn="just">
              <a:lnSpc>
                <a:spcPct val="80000"/>
              </a:lnSpc>
              <a:spcAft>
                <a:spcPts val="1200"/>
              </a:spcAft>
              <a:defRPr/>
            </a:pPr>
            <a:r>
              <a:rPr lang="en-AU" altLang="en-US" sz="2800" b="1" dirty="0">
                <a:ea typeface="ＭＳ Ｐゴシック" panose="020B0600070205080204" pitchFamily="34" charset="-128"/>
              </a:rPr>
              <a:t>cryptography</a:t>
            </a:r>
            <a:r>
              <a:rPr lang="en-AU" altLang="en-US" sz="2800" dirty="0">
                <a:ea typeface="ＭＳ Ｐゴシック" panose="020B0600070205080204" pitchFamily="34" charset="-128"/>
              </a:rPr>
              <a:t> - study of encryption principles/methods</a:t>
            </a:r>
          </a:p>
          <a:p>
            <a:pPr algn="just">
              <a:lnSpc>
                <a:spcPct val="120000"/>
              </a:lnSpc>
              <a:spcAft>
                <a:spcPts val="1200"/>
              </a:spcAft>
              <a:defRPr/>
            </a:pPr>
            <a:r>
              <a:rPr lang="en-AU" altLang="en-US" sz="2800" b="1" dirty="0">
                <a:ea typeface="ＭＳ Ｐゴシック" panose="020B0600070205080204" pitchFamily="34" charset="-128"/>
              </a:rPr>
              <a:t>cryptanalysis (</a:t>
            </a:r>
            <a:r>
              <a:rPr lang="en-AU" altLang="en-US" sz="2800" b="1" dirty="0" err="1">
                <a:ea typeface="ＭＳ Ｐゴシック" panose="020B0600070205080204" pitchFamily="34" charset="-128"/>
              </a:rPr>
              <a:t>codebreaking</a:t>
            </a:r>
            <a:r>
              <a:rPr lang="en-AU" altLang="en-US" sz="2800" b="1" dirty="0">
                <a:ea typeface="ＭＳ Ｐゴシック" panose="020B0600070205080204" pitchFamily="34" charset="-128"/>
              </a:rPr>
              <a:t>)</a:t>
            </a:r>
            <a:r>
              <a:rPr lang="en-AU" altLang="en-US" sz="2800" dirty="0">
                <a:ea typeface="ＭＳ Ｐゴシック" panose="020B0600070205080204" pitchFamily="34" charset="-128"/>
              </a:rPr>
              <a:t> - study of principles/ methods of deciphering </a:t>
            </a:r>
            <a:r>
              <a:rPr lang="en-AU" altLang="en-US" sz="2800" dirty="0" err="1">
                <a:ea typeface="ＭＳ Ｐゴシック" panose="020B0600070205080204" pitchFamily="34" charset="-128"/>
              </a:rPr>
              <a:t>ciphertext</a:t>
            </a:r>
            <a:r>
              <a:rPr lang="en-AU" altLang="en-US" sz="2800" dirty="0">
                <a:ea typeface="ＭＳ Ｐゴシック" panose="020B0600070205080204" pitchFamily="34" charset="-128"/>
              </a:rPr>
              <a:t> </a:t>
            </a:r>
            <a:r>
              <a:rPr lang="en-AU" altLang="en-US" sz="2800" i="1" dirty="0">
                <a:ea typeface="ＭＳ Ｐゴシック" panose="020B0600070205080204" pitchFamily="34" charset="-128"/>
              </a:rPr>
              <a:t>without</a:t>
            </a:r>
            <a:r>
              <a:rPr lang="en-AU" altLang="en-US" sz="2800" dirty="0">
                <a:ea typeface="ＭＳ Ｐゴシック" panose="020B0600070205080204" pitchFamily="34" charset="-128"/>
              </a:rPr>
              <a:t> knowing key</a:t>
            </a:r>
          </a:p>
          <a:p>
            <a:pPr algn="just">
              <a:lnSpc>
                <a:spcPct val="80000"/>
              </a:lnSpc>
              <a:spcAft>
                <a:spcPts val="1200"/>
              </a:spcAft>
              <a:defRPr/>
            </a:pPr>
            <a:r>
              <a:rPr lang="en-AU" altLang="en-US" sz="2800" b="1" dirty="0">
                <a:ea typeface="ＭＳ Ｐゴシック" panose="020B0600070205080204" pitchFamily="34" charset="-128"/>
              </a:rPr>
              <a:t>cryptology</a:t>
            </a:r>
            <a:r>
              <a:rPr lang="en-AU" altLang="en-US" sz="2800" dirty="0">
                <a:ea typeface="ＭＳ Ｐゴシック" panose="020B0600070205080204" pitchFamily="34" charset="-128"/>
              </a:rPr>
              <a:t> - field of both cryptography and cryptanalysis</a:t>
            </a:r>
            <a:endParaRPr lang="en-AU" altLang="en-US" sz="2400" dirty="0">
              <a:ea typeface="ＭＳ Ｐゴシック" panose="020B0600070205080204" pitchFamily="34" charset="-128"/>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20" y="274638"/>
            <a:ext cx="8401080" cy="796908"/>
          </a:xfrm>
        </p:spPr>
        <p:txBody>
          <a:bodyPr>
            <a:normAutofit/>
          </a:bodyPr>
          <a:lstStyle/>
          <a:p>
            <a:r>
              <a:rPr lang="en-US" b="1" dirty="0">
                <a:solidFill>
                  <a:schemeClr val="tx1"/>
                </a:solidFill>
                <a:latin typeface="Arial" pitchFamily="34" charset="0"/>
              </a:rPr>
              <a:t>Categories of Ciphers</a:t>
            </a:r>
            <a:endParaRPr lang="en-IN" dirty="0">
              <a:solidFill>
                <a:schemeClr val="tx1"/>
              </a:solidFill>
            </a:endParaRPr>
          </a:p>
        </p:txBody>
      </p:sp>
      <p:sp>
        <p:nvSpPr>
          <p:cNvPr id="3" name="Content Placeholder 2"/>
          <p:cNvSpPr>
            <a:spLocks noGrp="1"/>
          </p:cNvSpPr>
          <p:nvPr>
            <p:ph sz="quarter" idx="1"/>
          </p:nvPr>
        </p:nvSpPr>
        <p:spPr>
          <a:xfrm>
            <a:off x="285720" y="1071546"/>
            <a:ext cx="8572560" cy="5500726"/>
          </a:xfrm>
        </p:spPr>
        <p:txBody>
          <a:bodyPr>
            <a:noAutofit/>
          </a:bodyPr>
          <a:lstStyle/>
          <a:p>
            <a:pPr algn="just" fontAlgn="auto">
              <a:spcBef>
                <a:spcPts val="0"/>
              </a:spcBef>
              <a:spcAft>
                <a:spcPts val="0"/>
              </a:spcAft>
              <a:defRPr/>
            </a:pPr>
            <a:r>
              <a:rPr lang="en-IN" sz="2800" dirty="0"/>
              <a:t>All the cryptography algorithms (ciphers) divided into two groups: </a:t>
            </a:r>
          </a:p>
          <a:p>
            <a:endParaRPr lang="en-IN" sz="2800" dirty="0"/>
          </a:p>
        </p:txBody>
      </p:sp>
      <p:pic>
        <p:nvPicPr>
          <p:cNvPr id="4" name="Picture 2"/>
          <p:cNvPicPr>
            <a:picLocks noChangeAspect="1" noChangeArrowheads="1"/>
          </p:cNvPicPr>
          <p:nvPr/>
        </p:nvPicPr>
        <p:blipFill>
          <a:blip r:embed="rId2"/>
          <a:srcRect/>
          <a:stretch>
            <a:fillRect/>
          </a:stretch>
        </p:blipFill>
        <p:spPr bwMode="auto">
          <a:xfrm>
            <a:off x="285720" y="2571744"/>
            <a:ext cx="8643998" cy="2881333"/>
          </a:xfrm>
          <a:prstGeom prst="rect">
            <a:avLst/>
          </a:prstGeom>
          <a:noFill/>
          <a:ln w="9525">
            <a:noFill/>
            <a:miter lim="800000"/>
            <a:headEnd/>
            <a:tailEnd/>
          </a:ln>
          <a:effectLst/>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20" y="274638"/>
            <a:ext cx="8643998" cy="1143000"/>
          </a:xfrm>
        </p:spPr>
        <p:txBody>
          <a:bodyPr>
            <a:normAutofit fontScale="90000"/>
          </a:bodyPr>
          <a:lstStyle/>
          <a:p>
            <a:r>
              <a:rPr lang="en-IN" b="1" dirty="0">
                <a:solidFill>
                  <a:schemeClr val="tx1"/>
                </a:solidFill>
              </a:rPr>
              <a:t>Symmetric key (also called secret-key) Ciphers:</a:t>
            </a:r>
            <a:endParaRPr lang="en-IN" dirty="0">
              <a:solidFill>
                <a:schemeClr val="tx1"/>
              </a:solidFill>
            </a:endParaRPr>
          </a:p>
        </p:txBody>
      </p:sp>
      <p:sp>
        <p:nvSpPr>
          <p:cNvPr id="3" name="Content Placeholder 2"/>
          <p:cNvSpPr>
            <a:spLocks noGrp="1"/>
          </p:cNvSpPr>
          <p:nvPr>
            <p:ph sz="quarter" idx="1"/>
          </p:nvPr>
        </p:nvSpPr>
        <p:spPr>
          <a:xfrm>
            <a:off x="357158" y="1447800"/>
            <a:ext cx="8329642" cy="1981200"/>
          </a:xfrm>
        </p:spPr>
        <p:txBody>
          <a:bodyPr/>
          <a:lstStyle/>
          <a:p>
            <a:pPr marL="274320" lvl="2" indent="-274320" algn="just">
              <a:spcBef>
                <a:spcPts val="580"/>
              </a:spcBef>
              <a:buClr>
                <a:schemeClr val="accent1"/>
              </a:buClr>
            </a:pPr>
            <a:r>
              <a:rPr lang="en-IN" sz="2800" dirty="0"/>
              <a:t>In symmetric-key cryptography, the same key is used by both parties. The sender uses this key and an encryption algorithm to encrypt data; the receiver uses the same key and the corresponding decryption algorithm to decrypt the data</a:t>
            </a:r>
          </a:p>
          <a:p>
            <a:pPr algn="just"/>
            <a:endParaRPr lang="en-IN" dirty="0"/>
          </a:p>
        </p:txBody>
      </p:sp>
      <p:pic>
        <p:nvPicPr>
          <p:cNvPr id="3074" name="Picture 2"/>
          <p:cNvPicPr>
            <a:picLocks noChangeAspect="1" noChangeArrowheads="1"/>
          </p:cNvPicPr>
          <p:nvPr/>
        </p:nvPicPr>
        <p:blipFill>
          <a:blip r:embed="rId2"/>
          <a:srcRect/>
          <a:stretch>
            <a:fillRect/>
          </a:stretch>
        </p:blipFill>
        <p:spPr bwMode="auto">
          <a:xfrm>
            <a:off x="219088" y="3571876"/>
            <a:ext cx="8782068" cy="2552707"/>
          </a:xfrm>
          <a:prstGeom prst="rect">
            <a:avLst/>
          </a:prstGeom>
          <a:noFill/>
          <a:ln w="9525">
            <a:noFill/>
            <a:miter lim="800000"/>
            <a:headEnd/>
            <a:tailEnd/>
          </a:ln>
          <a:effectLst/>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158" y="285728"/>
            <a:ext cx="8501122" cy="1131910"/>
          </a:xfrm>
        </p:spPr>
        <p:txBody>
          <a:bodyPr>
            <a:normAutofit fontScale="90000"/>
          </a:bodyPr>
          <a:lstStyle/>
          <a:p>
            <a:r>
              <a:rPr lang="en-IN" b="1" dirty="0">
                <a:solidFill>
                  <a:schemeClr val="tx1"/>
                </a:solidFill>
              </a:rPr>
              <a:t>Asymmetric key (also called public-key) Ciphers:</a:t>
            </a:r>
            <a:endParaRPr lang="en-IN" dirty="0">
              <a:solidFill>
                <a:schemeClr val="tx1"/>
              </a:solidFill>
            </a:endParaRPr>
          </a:p>
        </p:txBody>
      </p:sp>
      <p:sp>
        <p:nvSpPr>
          <p:cNvPr id="3" name="Content Placeholder 2"/>
          <p:cNvSpPr>
            <a:spLocks noGrp="1"/>
          </p:cNvSpPr>
          <p:nvPr>
            <p:ph sz="quarter" idx="1"/>
          </p:nvPr>
        </p:nvSpPr>
        <p:spPr>
          <a:xfrm>
            <a:off x="357158" y="1357298"/>
            <a:ext cx="8329642" cy="1571636"/>
          </a:xfrm>
        </p:spPr>
        <p:txBody>
          <a:bodyPr>
            <a:normAutofit/>
          </a:bodyPr>
          <a:lstStyle/>
          <a:p>
            <a:pPr marL="228600" lvl="2" algn="just">
              <a:spcBef>
                <a:spcPts val="0"/>
              </a:spcBef>
              <a:defRPr/>
            </a:pPr>
            <a:r>
              <a:rPr lang="en-IN" sz="2800" dirty="0"/>
              <a:t>In asymmetric or public-key cryptography, there are two keys: a </a:t>
            </a:r>
            <a:r>
              <a:rPr lang="en-IN" sz="2800" i="1" dirty="0"/>
              <a:t>private key</a:t>
            </a:r>
            <a:r>
              <a:rPr lang="en-IN" sz="2800" dirty="0"/>
              <a:t> and a </a:t>
            </a:r>
            <a:r>
              <a:rPr lang="en-IN" sz="2800" i="1" dirty="0"/>
              <a:t>public key</a:t>
            </a:r>
            <a:r>
              <a:rPr lang="en-IN" sz="2800" dirty="0"/>
              <a:t>. The private key is kept by the receiver. The public key is announced to the public.</a:t>
            </a:r>
          </a:p>
          <a:p>
            <a:pPr marL="228600" lvl="2" algn="just">
              <a:spcBef>
                <a:spcPts val="0"/>
              </a:spcBef>
              <a:defRPr/>
            </a:pPr>
            <a:endParaRPr lang="en-IN" sz="2800" dirty="0"/>
          </a:p>
          <a:p>
            <a:endParaRPr lang="en-IN" dirty="0"/>
          </a:p>
        </p:txBody>
      </p:sp>
      <p:pic>
        <p:nvPicPr>
          <p:cNvPr id="4098" name="Picture 2"/>
          <p:cNvPicPr>
            <a:picLocks noChangeAspect="1" noChangeArrowheads="1"/>
          </p:cNvPicPr>
          <p:nvPr/>
        </p:nvPicPr>
        <p:blipFill>
          <a:blip r:embed="rId2"/>
          <a:srcRect/>
          <a:stretch>
            <a:fillRect/>
          </a:stretch>
        </p:blipFill>
        <p:spPr bwMode="auto">
          <a:xfrm>
            <a:off x="318851" y="2928934"/>
            <a:ext cx="8618221" cy="3271842"/>
          </a:xfrm>
          <a:prstGeom prst="rect">
            <a:avLst/>
          </a:prstGeom>
          <a:noFill/>
          <a:ln w="9525">
            <a:noFill/>
            <a:miter lim="800000"/>
            <a:headEnd/>
            <a:tailEnd/>
          </a:ln>
          <a:effectLst/>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4414" y="285728"/>
            <a:ext cx="7472386" cy="1131910"/>
          </a:xfrm>
        </p:spPr>
        <p:txBody>
          <a:bodyPr/>
          <a:lstStyle/>
          <a:p>
            <a:r>
              <a:rPr lang="en-IN" b="1" dirty="0">
                <a:solidFill>
                  <a:schemeClr val="tx1"/>
                </a:solidFill>
              </a:rPr>
              <a:t>Internet Security</a:t>
            </a:r>
          </a:p>
        </p:txBody>
      </p:sp>
      <p:sp>
        <p:nvSpPr>
          <p:cNvPr id="3" name="Content Placeholder 2"/>
          <p:cNvSpPr>
            <a:spLocks noGrp="1"/>
          </p:cNvSpPr>
          <p:nvPr>
            <p:ph sz="quarter" idx="1"/>
          </p:nvPr>
        </p:nvSpPr>
        <p:spPr>
          <a:xfrm>
            <a:off x="1071538" y="1714488"/>
            <a:ext cx="7615262" cy="4305312"/>
          </a:xfrm>
        </p:spPr>
        <p:txBody>
          <a:bodyPr/>
          <a:lstStyle/>
          <a:p>
            <a:r>
              <a:rPr lang="en-IN" sz="3200" dirty="0"/>
              <a:t>IPSec protocol</a:t>
            </a:r>
          </a:p>
          <a:p>
            <a:r>
              <a:rPr lang="en-IN" sz="3200" dirty="0"/>
              <a:t>Virtual Private Network (VPN)</a:t>
            </a:r>
          </a:p>
          <a:p>
            <a:r>
              <a:rPr lang="en-IN" sz="3200" dirty="0"/>
              <a:t>Firewalls</a:t>
            </a:r>
          </a:p>
          <a:p>
            <a:endParaRPr lang="en-IN"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274638"/>
            <a:ext cx="8258204" cy="868346"/>
          </a:xfrm>
        </p:spPr>
        <p:txBody>
          <a:bodyPr>
            <a:normAutofit/>
          </a:bodyPr>
          <a:lstStyle/>
          <a:p>
            <a:r>
              <a:rPr lang="en-IN" b="1" dirty="0">
                <a:solidFill>
                  <a:schemeClr val="tx1"/>
                </a:solidFill>
              </a:rPr>
              <a:t>IPSec Protocol</a:t>
            </a:r>
          </a:p>
        </p:txBody>
      </p:sp>
      <p:sp>
        <p:nvSpPr>
          <p:cNvPr id="3" name="Content Placeholder 2"/>
          <p:cNvSpPr>
            <a:spLocks noGrp="1"/>
          </p:cNvSpPr>
          <p:nvPr>
            <p:ph sz="quarter" idx="1"/>
          </p:nvPr>
        </p:nvSpPr>
        <p:spPr>
          <a:xfrm>
            <a:off x="428596" y="1428736"/>
            <a:ext cx="8258204" cy="4591064"/>
          </a:xfrm>
        </p:spPr>
        <p:txBody>
          <a:bodyPr/>
          <a:lstStyle/>
          <a:p>
            <a:pPr algn="just"/>
            <a:r>
              <a:rPr lang="en-IN" dirty="0" err="1"/>
              <a:t>IPSecurity</a:t>
            </a:r>
            <a:r>
              <a:rPr lang="en-IN" dirty="0"/>
              <a:t> (IPSec) is a collection of protocols designed by the Internet Engineering Task Force (IETF) to provide security for a packet at the network level. </a:t>
            </a:r>
          </a:p>
          <a:p>
            <a:pPr algn="just"/>
            <a:r>
              <a:rPr lang="en-IN" dirty="0"/>
              <a:t>IPSec helps to create authenticated and confidential packets for the IP layer</a:t>
            </a:r>
          </a:p>
        </p:txBody>
      </p:sp>
      <p:pic>
        <p:nvPicPr>
          <p:cNvPr id="5122" name="Picture 2"/>
          <p:cNvPicPr>
            <a:picLocks noChangeAspect="1" noChangeArrowheads="1"/>
          </p:cNvPicPr>
          <p:nvPr/>
        </p:nvPicPr>
        <p:blipFill>
          <a:blip r:embed="rId2"/>
          <a:srcRect/>
          <a:stretch>
            <a:fillRect/>
          </a:stretch>
        </p:blipFill>
        <p:spPr bwMode="auto">
          <a:xfrm>
            <a:off x="2071670" y="4071942"/>
            <a:ext cx="5010150" cy="2085975"/>
          </a:xfrm>
          <a:prstGeom prst="rect">
            <a:avLst/>
          </a:prstGeom>
          <a:noFill/>
          <a:ln w="9525">
            <a:noFill/>
            <a:miter lim="800000"/>
            <a:headEnd/>
            <a:tailEnd/>
          </a:ln>
          <a:effectLst/>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158" y="274638"/>
            <a:ext cx="8329642" cy="796908"/>
          </a:xfrm>
        </p:spPr>
        <p:txBody>
          <a:bodyPr>
            <a:normAutofit/>
          </a:bodyPr>
          <a:lstStyle/>
          <a:p>
            <a:r>
              <a:rPr lang="en-US" b="1" dirty="0">
                <a:solidFill>
                  <a:schemeClr val="tx1"/>
                </a:solidFill>
                <a:latin typeface="Calibri" pitchFamily="34" charset="0"/>
              </a:rPr>
              <a:t>Transport and Tunnel Mode</a:t>
            </a:r>
            <a:endParaRPr lang="en-IN" b="1" dirty="0">
              <a:solidFill>
                <a:schemeClr val="tx1"/>
              </a:solidFill>
            </a:endParaRPr>
          </a:p>
        </p:txBody>
      </p:sp>
      <p:sp>
        <p:nvSpPr>
          <p:cNvPr id="3" name="Content Placeholder 2"/>
          <p:cNvSpPr>
            <a:spLocks noGrp="1"/>
          </p:cNvSpPr>
          <p:nvPr>
            <p:ph sz="quarter" idx="1"/>
          </p:nvPr>
        </p:nvSpPr>
        <p:spPr>
          <a:xfrm>
            <a:off x="285720" y="1071546"/>
            <a:ext cx="8572560" cy="5500726"/>
          </a:xfrm>
        </p:spPr>
        <p:txBody>
          <a:bodyPr>
            <a:normAutofit/>
          </a:bodyPr>
          <a:lstStyle/>
          <a:p>
            <a:pPr algn="just">
              <a:buFont typeface="Arial" pitchFamily="34" charset="0"/>
              <a:buChar char="•"/>
            </a:pPr>
            <a:r>
              <a:rPr lang="en-US" sz="2800" dirty="0">
                <a:latin typeface="Calibri" pitchFamily="34" charset="0"/>
              </a:rPr>
              <a:t>Another important concept reused:</a:t>
            </a:r>
          </a:p>
          <a:p>
            <a:pPr lvl="1" algn="just">
              <a:buFont typeface="Arial" pitchFamily="34" charset="0"/>
              <a:buChar char="•"/>
            </a:pPr>
            <a:r>
              <a:rPr lang="en-US" sz="2800" dirty="0">
                <a:latin typeface="Calibri" pitchFamily="34" charset="0"/>
              </a:rPr>
              <a:t> </a:t>
            </a:r>
            <a:r>
              <a:rPr lang="en-US" sz="2800" b="1" i="1" dirty="0">
                <a:latin typeface="Calibri" pitchFamily="34" charset="0"/>
              </a:rPr>
              <a:t>Transport mode: </a:t>
            </a:r>
            <a:r>
              <a:rPr lang="en-US" sz="2800" dirty="0">
                <a:latin typeface="Calibri" pitchFamily="34" charset="0"/>
              </a:rPr>
              <a:t>Protection of packet payload</a:t>
            </a:r>
          </a:p>
          <a:p>
            <a:pPr lvl="1" algn="just">
              <a:buFont typeface="Arial" pitchFamily="34" charset="0"/>
              <a:buChar char="•"/>
            </a:pPr>
            <a:r>
              <a:rPr lang="en-US" sz="2800" dirty="0">
                <a:latin typeface="Calibri" pitchFamily="34" charset="0"/>
              </a:rPr>
              <a:t> </a:t>
            </a:r>
            <a:r>
              <a:rPr lang="en-US" sz="2800" b="1" i="1" dirty="0">
                <a:latin typeface="Calibri" pitchFamily="34" charset="0"/>
              </a:rPr>
              <a:t>Tunnel mode: </a:t>
            </a:r>
            <a:r>
              <a:rPr lang="en-US" sz="2800" dirty="0">
                <a:latin typeface="Calibri" pitchFamily="34" charset="0"/>
              </a:rPr>
              <a:t>Protection of entire packet</a:t>
            </a:r>
          </a:p>
          <a:p>
            <a:pPr algn="just">
              <a:buFont typeface="Arial" pitchFamily="34" charset="0"/>
              <a:buChar char="•"/>
            </a:pPr>
            <a:r>
              <a:rPr lang="en-US" sz="2800" b="1" dirty="0">
                <a:latin typeface="Calibri" pitchFamily="34" charset="0"/>
              </a:rPr>
              <a:t>Transport mode used in end to end communication between hosts.</a:t>
            </a:r>
          </a:p>
          <a:p>
            <a:pPr lvl="1" algn="just">
              <a:buFont typeface="Arial" pitchFamily="34" charset="0"/>
              <a:buChar char="•"/>
            </a:pPr>
            <a:r>
              <a:rPr lang="en-US" sz="2800" b="1" dirty="0">
                <a:latin typeface="Calibri" pitchFamily="34" charset="0"/>
              </a:rPr>
              <a:t> </a:t>
            </a:r>
            <a:r>
              <a:rPr lang="en-US" sz="2800" b="1" i="1" dirty="0">
                <a:latin typeface="Calibri" pitchFamily="34" charset="0"/>
              </a:rPr>
              <a:t>ESP: </a:t>
            </a:r>
            <a:r>
              <a:rPr lang="en-US" sz="2800" dirty="0">
                <a:latin typeface="Calibri" pitchFamily="34" charset="0"/>
              </a:rPr>
              <a:t>encrypts (+ authenticate) payload, not header</a:t>
            </a:r>
          </a:p>
          <a:p>
            <a:pPr lvl="1" algn="just">
              <a:buFont typeface="Arial" pitchFamily="34" charset="0"/>
              <a:buChar char="•"/>
            </a:pPr>
            <a:r>
              <a:rPr lang="en-US" sz="2800" dirty="0">
                <a:latin typeface="Calibri" pitchFamily="34" charset="0"/>
              </a:rPr>
              <a:t> </a:t>
            </a:r>
            <a:r>
              <a:rPr lang="en-US" sz="2800" b="1" i="1" dirty="0">
                <a:latin typeface="Calibri" pitchFamily="34" charset="0"/>
              </a:rPr>
              <a:t>AH: </a:t>
            </a:r>
            <a:r>
              <a:rPr lang="en-US" sz="2800" dirty="0">
                <a:latin typeface="Calibri" pitchFamily="34" charset="0"/>
              </a:rPr>
              <a:t>Authenticates payload, selected header bits</a:t>
            </a:r>
          </a:p>
          <a:p>
            <a:pPr algn="just">
              <a:buFont typeface="Arial" pitchFamily="34" charset="0"/>
              <a:buChar char="•"/>
            </a:pPr>
            <a:r>
              <a:rPr lang="en-US" sz="2800" b="1" dirty="0">
                <a:latin typeface="Calibri" pitchFamily="34" charset="0"/>
              </a:rPr>
              <a:t>Tunnel mode: new routing info added</a:t>
            </a:r>
          </a:p>
          <a:p>
            <a:pPr lvl="1" algn="just">
              <a:buFont typeface="Arial" pitchFamily="34" charset="0"/>
              <a:buChar char="•"/>
            </a:pPr>
            <a:r>
              <a:rPr lang="en-US" sz="2800" dirty="0">
                <a:latin typeface="Calibri" pitchFamily="34" charset="0"/>
              </a:rPr>
              <a:t> </a:t>
            </a:r>
            <a:r>
              <a:rPr lang="en-US" sz="2800" b="1" i="1" dirty="0">
                <a:latin typeface="Calibri" pitchFamily="34" charset="0"/>
              </a:rPr>
              <a:t>ESP: </a:t>
            </a:r>
            <a:r>
              <a:rPr lang="en-US" sz="2800" dirty="0">
                <a:latin typeface="Calibri" pitchFamily="34" charset="0"/>
              </a:rPr>
              <a:t>encrypts (+ authenticate) packet (not outer header)</a:t>
            </a:r>
          </a:p>
          <a:p>
            <a:pPr lvl="1" algn="just">
              <a:buFont typeface="Arial" pitchFamily="34" charset="0"/>
              <a:buChar char="•"/>
            </a:pPr>
            <a:r>
              <a:rPr lang="en-US" sz="2800" dirty="0">
                <a:latin typeface="Calibri" pitchFamily="34" charset="0"/>
              </a:rPr>
              <a:t> </a:t>
            </a:r>
            <a:r>
              <a:rPr lang="en-US" sz="2800" b="1" i="1" dirty="0">
                <a:latin typeface="Calibri" pitchFamily="34" charset="0"/>
              </a:rPr>
              <a:t>AH</a:t>
            </a:r>
            <a:r>
              <a:rPr lang="en-US" sz="2800" dirty="0">
                <a:latin typeface="Calibri" pitchFamily="34" charset="0"/>
              </a:rPr>
              <a:t>: authenticates entire packet, selected outer bits.</a:t>
            </a:r>
          </a:p>
          <a:p>
            <a:pPr algn="just"/>
            <a:endParaRPr lang="en-IN"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2910" y="274638"/>
            <a:ext cx="8043890" cy="1143000"/>
          </a:xfrm>
        </p:spPr>
        <p:txBody>
          <a:bodyPr/>
          <a:lstStyle/>
          <a:p>
            <a:r>
              <a:rPr lang="en-IN" b="1" dirty="0">
                <a:solidFill>
                  <a:schemeClr val="tx1"/>
                </a:solidFill>
              </a:rPr>
              <a:t>Virtual Private Networks </a:t>
            </a:r>
          </a:p>
        </p:txBody>
      </p:sp>
      <p:sp>
        <p:nvSpPr>
          <p:cNvPr id="3" name="Content Placeholder 2"/>
          <p:cNvSpPr>
            <a:spLocks noGrp="1"/>
          </p:cNvSpPr>
          <p:nvPr>
            <p:ph sz="quarter" idx="1"/>
          </p:nvPr>
        </p:nvSpPr>
        <p:spPr>
          <a:xfrm>
            <a:off x="428596" y="1500174"/>
            <a:ext cx="8258204" cy="4519626"/>
          </a:xfrm>
        </p:spPr>
        <p:txBody>
          <a:bodyPr>
            <a:normAutofit/>
          </a:bodyPr>
          <a:lstStyle/>
          <a:p>
            <a:pPr algn="just"/>
            <a:r>
              <a:rPr lang="en-IN" sz="3200" dirty="0"/>
              <a:t>Organizations requires privacy in both intra and inter organization communication.</a:t>
            </a:r>
          </a:p>
          <a:p>
            <a:pPr algn="just"/>
            <a:r>
              <a:rPr lang="en-IN" sz="3200" dirty="0"/>
              <a:t>Privacy can be achieved in the internal communications of an organisation by using one of the three strategies:</a:t>
            </a:r>
          </a:p>
          <a:p>
            <a:pPr marL="731520" lvl="1" indent="-457200" algn="just">
              <a:buFont typeface="Arial" pitchFamily="34" charset="0"/>
              <a:buChar char="•"/>
              <a:defRPr/>
            </a:pPr>
            <a:r>
              <a:rPr lang="en-IN" sz="3000" dirty="0"/>
              <a:t>Private networks</a:t>
            </a:r>
          </a:p>
          <a:p>
            <a:pPr marL="731520" lvl="1" indent="-457200" algn="just">
              <a:buFont typeface="Arial" pitchFamily="34" charset="0"/>
              <a:buChar char="•"/>
              <a:defRPr/>
            </a:pPr>
            <a:r>
              <a:rPr lang="en-IN" sz="3000" dirty="0"/>
              <a:t>Hybrid networks </a:t>
            </a:r>
          </a:p>
          <a:p>
            <a:pPr marL="731520" lvl="1" indent="-457200" algn="just">
              <a:buFont typeface="Arial" pitchFamily="34" charset="0"/>
              <a:buChar char="•"/>
              <a:defRPr/>
            </a:pPr>
            <a:r>
              <a:rPr lang="en-IN" sz="3000" dirty="0"/>
              <a:t>Virtual private networks</a:t>
            </a:r>
          </a:p>
          <a:p>
            <a:pPr algn="just"/>
            <a:endParaRPr lang="en-IN" sz="3200" dirty="0"/>
          </a:p>
          <a:p>
            <a:pPr algn="just"/>
            <a:endParaRPr lang="en-IN" sz="3200" dirty="0"/>
          </a:p>
          <a:p>
            <a:pPr algn="just">
              <a:buNone/>
            </a:pPr>
            <a:endParaRPr lang="en-IN" sz="32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85720" y="785794"/>
            <a:ext cx="8572560" cy="5572164"/>
          </a:xfrm>
        </p:spPr>
        <p:txBody>
          <a:bodyPr>
            <a:noAutofit/>
          </a:bodyPr>
          <a:lstStyle/>
          <a:p>
            <a:pPr algn="just"/>
            <a:r>
              <a:rPr lang="en-IN" sz="3200" b="1" dirty="0"/>
              <a:t>Intranet: </a:t>
            </a:r>
            <a:r>
              <a:rPr lang="en-IN" sz="3200" dirty="0"/>
              <a:t>An intranet is a private network (LAN) that uses the Internet model. However, access to the network is limited to the users inside the organization. The network uses application programs defined for the global Internet, such as HTTP, and may have Web servers, print servers, file servers, and so on.</a:t>
            </a:r>
          </a:p>
          <a:p>
            <a:pPr algn="just"/>
            <a:r>
              <a:rPr lang="en-IN" sz="3200" b="1" dirty="0"/>
              <a:t>Extranet: </a:t>
            </a:r>
            <a:r>
              <a:rPr lang="en-IN" sz="3200" dirty="0"/>
              <a:t>An extranet is the same as an intranet with one major difference: Some resources may be accessed by specific groups of users outside the organization under the control of the network administrator.</a:t>
            </a:r>
          </a:p>
          <a:p>
            <a:pPr algn="just"/>
            <a:endParaRPr lang="en-IN" sz="32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20" y="274638"/>
            <a:ext cx="8401080" cy="654032"/>
          </a:xfrm>
        </p:spPr>
        <p:txBody>
          <a:bodyPr>
            <a:normAutofit fontScale="90000"/>
          </a:bodyPr>
          <a:lstStyle/>
          <a:p>
            <a:r>
              <a:rPr lang="en-IN" b="1" dirty="0">
                <a:solidFill>
                  <a:schemeClr val="tx1"/>
                </a:solidFill>
              </a:rPr>
              <a:t>Private Networks</a:t>
            </a:r>
          </a:p>
        </p:txBody>
      </p:sp>
      <p:sp>
        <p:nvSpPr>
          <p:cNvPr id="3" name="Content Placeholder 2"/>
          <p:cNvSpPr>
            <a:spLocks noGrp="1"/>
          </p:cNvSpPr>
          <p:nvPr>
            <p:ph sz="quarter" idx="1"/>
          </p:nvPr>
        </p:nvSpPr>
        <p:spPr>
          <a:xfrm>
            <a:off x="285720" y="857232"/>
            <a:ext cx="8643998" cy="3643338"/>
          </a:xfrm>
        </p:spPr>
        <p:txBody>
          <a:bodyPr>
            <a:normAutofit/>
          </a:bodyPr>
          <a:lstStyle/>
          <a:p>
            <a:pPr algn="just"/>
            <a:r>
              <a:rPr lang="en-IN" dirty="0"/>
              <a:t>A small organization with one single site can use an isolated LAN. </a:t>
            </a:r>
          </a:p>
          <a:p>
            <a:pPr lvl="1" algn="just"/>
            <a:r>
              <a:rPr lang="en-IN" dirty="0"/>
              <a:t>People inside the organization can send data to one another that totally remain inside the organization, secure from outsiders.</a:t>
            </a:r>
          </a:p>
          <a:p>
            <a:pPr algn="just"/>
            <a:r>
              <a:rPr lang="en-IN" dirty="0"/>
              <a:t>A larger organization with several sites can create a private internet.</a:t>
            </a:r>
          </a:p>
          <a:p>
            <a:pPr lvl="1" algn="just"/>
            <a:r>
              <a:rPr lang="en-IN" dirty="0"/>
              <a:t>The LANs at different sites can be connected to each other by using routers and leased lines. In other words, an internet can be made out of private LANs and private WANs.</a:t>
            </a:r>
          </a:p>
          <a:p>
            <a:pPr algn="just"/>
            <a:r>
              <a:rPr lang="en-IN" dirty="0"/>
              <a:t>These private networks are totally isolated from the global internet.</a:t>
            </a:r>
          </a:p>
          <a:p>
            <a:pPr lvl="1" algn="just">
              <a:buNone/>
            </a:pPr>
            <a:endParaRPr lang="en-IN" dirty="0"/>
          </a:p>
        </p:txBody>
      </p:sp>
      <p:pic>
        <p:nvPicPr>
          <p:cNvPr id="6146" name="Picture 2"/>
          <p:cNvPicPr>
            <a:picLocks noChangeAspect="1" noChangeArrowheads="1"/>
          </p:cNvPicPr>
          <p:nvPr/>
        </p:nvPicPr>
        <p:blipFill>
          <a:blip r:embed="rId2"/>
          <a:srcRect/>
          <a:stretch>
            <a:fillRect/>
          </a:stretch>
        </p:blipFill>
        <p:spPr bwMode="auto">
          <a:xfrm>
            <a:off x="2000232" y="4410098"/>
            <a:ext cx="5610225" cy="2305050"/>
          </a:xfrm>
          <a:prstGeom prst="rect">
            <a:avLst/>
          </a:prstGeom>
          <a:noFill/>
          <a:ln w="9525">
            <a:noFill/>
            <a:miter lim="800000"/>
            <a:headEnd/>
            <a:tailEnd/>
          </a:ln>
          <a:effectLst/>
        </p:spPr>
      </p:pic>
      <p:pic>
        <p:nvPicPr>
          <p:cNvPr id="5" name="Picture 2"/>
          <p:cNvPicPr>
            <a:picLocks noChangeAspect="1" noChangeArrowheads="1"/>
          </p:cNvPicPr>
          <p:nvPr/>
        </p:nvPicPr>
        <p:blipFill>
          <a:blip r:embed="rId3"/>
          <a:srcRect/>
          <a:stretch>
            <a:fillRect/>
          </a:stretch>
        </p:blipFill>
        <p:spPr bwMode="auto">
          <a:xfrm>
            <a:off x="1766910" y="4357694"/>
            <a:ext cx="6019800" cy="2279650"/>
          </a:xfrm>
          <a:prstGeom prst="rect">
            <a:avLst/>
          </a:prstGeom>
          <a:noFill/>
          <a:ln w="9525">
            <a:noFill/>
            <a:miter lim="800000"/>
            <a:headEnd/>
            <a:tailEnd/>
          </a:ln>
          <a:effectLst/>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20" y="274638"/>
            <a:ext cx="8401080" cy="725470"/>
          </a:xfrm>
        </p:spPr>
        <p:txBody>
          <a:bodyPr>
            <a:normAutofit fontScale="90000"/>
          </a:bodyPr>
          <a:lstStyle/>
          <a:p>
            <a:r>
              <a:rPr lang="en-IN" b="1" dirty="0">
                <a:solidFill>
                  <a:schemeClr val="tx1"/>
                </a:solidFill>
              </a:rPr>
              <a:t>Hybrid Networks</a:t>
            </a:r>
          </a:p>
        </p:txBody>
      </p:sp>
      <p:sp>
        <p:nvSpPr>
          <p:cNvPr id="3" name="Content Placeholder 2"/>
          <p:cNvSpPr>
            <a:spLocks noGrp="1"/>
          </p:cNvSpPr>
          <p:nvPr>
            <p:ph sz="quarter" idx="1"/>
          </p:nvPr>
        </p:nvSpPr>
        <p:spPr>
          <a:xfrm>
            <a:off x="285720" y="1000108"/>
            <a:ext cx="8401080" cy="5019692"/>
          </a:xfrm>
        </p:spPr>
        <p:txBody>
          <a:bodyPr/>
          <a:lstStyle/>
          <a:p>
            <a:pPr algn="just"/>
            <a:r>
              <a:rPr lang="en-IN" dirty="0"/>
              <a:t>A hybrid network allows an organization to have its own private internet and, at the same time, access to the global Internet. </a:t>
            </a:r>
            <a:r>
              <a:rPr lang="en-IN" dirty="0" err="1"/>
              <a:t>Intraorganization</a:t>
            </a:r>
            <a:r>
              <a:rPr lang="en-IN" dirty="0"/>
              <a:t> data are routed through the private internet; </a:t>
            </a:r>
            <a:r>
              <a:rPr lang="en-IN" dirty="0" err="1"/>
              <a:t>interorganization</a:t>
            </a:r>
            <a:r>
              <a:rPr lang="en-IN" dirty="0"/>
              <a:t> data are routed through the global Internet.</a:t>
            </a:r>
          </a:p>
        </p:txBody>
      </p:sp>
      <p:pic>
        <p:nvPicPr>
          <p:cNvPr id="5" name="Picture 3"/>
          <p:cNvPicPr>
            <a:picLocks noChangeAspect="1" noChangeArrowheads="1"/>
          </p:cNvPicPr>
          <p:nvPr/>
        </p:nvPicPr>
        <p:blipFill>
          <a:blip r:embed="rId2"/>
          <a:srcRect/>
          <a:stretch>
            <a:fillRect/>
          </a:stretch>
        </p:blipFill>
        <p:spPr bwMode="auto">
          <a:xfrm>
            <a:off x="1285852" y="3000372"/>
            <a:ext cx="6781800" cy="3397250"/>
          </a:xfrm>
          <a:prstGeom prst="rect">
            <a:avLst/>
          </a:prstGeom>
          <a:noFill/>
          <a:ln w="9525">
            <a:noFill/>
            <a:miter lim="800000"/>
            <a:headEnd/>
            <a:tailEnd/>
          </a:ln>
          <a:effectLst/>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20" y="274638"/>
            <a:ext cx="8401080" cy="654032"/>
          </a:xfrm>
        </p:spPr>
        <p:txBody>
          <a:bodyPr>
            <a:normAutofit fontScale="90000"/>
          </a:bodyPr>
          <a:lstStyle/>
          <a:p>
            <a:r>
              <a:rPr lang="en-IN" b="1" dirty="0">
                <a:solidFill>
                  <a:schemeClr val="tx1"/>
                </a:solidFill>
              </a:rPr>
              <a:t>Virtual Private Networks</a:t>
            </a:r>
          </a:p>
        </p:txBody>
      </p:sp>
      <p:sp>
        <p:nvSpPr>
          <p:cNvPr id="3" name="Content Placeholder 2"/>
          <p:cNvSpPr>
            <a:spLocks noGrp="1"/>
          </p:cNvSpPr>
          <p:nvPr>
            <p:ph sz="quarter" idx="1"/>
          </p:nvPr>
        </p:nvSpPr>
        <p:spPr>
          <a:xfrm>
            <a:off x="428596" y="1000108"/>
            <a:ext cx="8501122" cy="2714644"/>
          </a:xfrm>
        </p:spPr>
        <p:txBody>
          <a:bodyPr/>
          <a:lstStyle/>
          <a:p>
            <a:pPr algn="just"/>
            <a:r>
              <a:rPr lang="en-IN" dirty="0"/>
              <a:t>Virtual private network allows organizations to use the global Internet for both purposes.</a:t>
            </a:r>
          </a:p>
          <a:p>
            <a:pPr algn="just"/>
            <a:r>
              <a:rPr lang="en-IN" dirty="0"/>
              <a:t>VPN creates a network that is private but virtual. </a:t>
            </a:r>
          </a:p>
          <a:p>
            <a:pPr algn="just"/>
            <a:r>
              <a:rPr lang="en-IN" dirty="0"/>
              <a:t>It is private because it guarantees privacy inside the organization. </a:t>
            </a:r>
          </a:p>
          <a:p>
            <a:pPr algn="just"/>
            <a:r>
              <a:rPr lang="en-IN" dirty="0"/>
              <a:t>It is virtual because it does not use real private WANs; the network is physically public but virtually private.</a:t>
            </a:r>
          </a:p>
        </p:txBody>
      </p:sp>
      <p:pic>
        <p:nvPicPr>
          <p:cNvPr id="5" name="Picture 2"/>
          <p:cNvPicPr>
            <a:picLocks noChangeAspect="1" noChangeArrowheads="1"/>
          </p:cNvPicPr>
          <p:nvPr/>
        </p:nvPicPr>
        <p:blipFill>
          <a:blip r:embed="rId2"/>
          <a:srcRect/>
          <a:stretch>
            <a:fillRect/>
          </a:stretch>
        </p:blipFill>
        <p:spPr bwMode="auto">
          <a:xfrm>
            <a:off x="1038225" y="3786190"/>
            <a:ext cx="7496175" cy="2898775"/>
          </a:xfrm>
          <a:prstGeom prst="rect">
            <a:avLst/>
          </a:prstGeom>
          <a:noFill/>
          <a:ln w="9525">
            <a:noFill/>
            <a:miter lim="800000"/>
            <a:headEnd/>
            <a:tailEnd/>
          </a:ln>
          <a:effectLst/>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noChangeArrowheads="1"/>
          </p:cNvPicPr>
          <p:nvPr/>
        </p:nvPicPr>
        <p:blipFill>
          <a:blip r:embed="rId2"/>
          <a:srcRect/>
          <a:stretch>
            <a:fillRect/>
          </a:stretch>
        </p:blipFill>
        <p:spPr>
          <a:xfrm>
            <a:off x="357190" y="1643050"/>
            <a:ext cx="8572528" cy="4537517"/>
          </a:xfrm>
          <a:prstGeom prst="rect">
            <a:avLst/>
          </a:prstGeom>
        </p:spPr>
      </p:pic>
      <p:sp>
        <p:nvSpPr>
          <p:cNvPr id="5" name="Title 1"/>
          <p:cNvSpPr>
            <a:spLocks noGrp="1"/>
          </p:cNvSpPr>
          <p:nvPr>
            <p:ph type="title"/>
          </p:nvPr>
        </p:nvSpPr>
        <p:spPr>
          <a:xfrm>
            <a:off x="285720" y="274638"/>
            <a:ext cx="8501122" cy="1011222"/>
          </a:xfrm>
        </p:spPr>
        <p:txBody>
          <a:bodyPr>
            <a:normAutofit/>
          </a:bodyPr>
          <a:lstStyle/>
          <a:p>
            <a:r>
              <a:rPr lang="en-IN" b="1" dirty="0">
                <a:solidFill>
                  <a:schemeClr val="tx1"/>
                </a:solidFill>
              </a:rPr>
              <a:t>Virtual Private Network Technology</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57158" y="571480"/>
            <a:ext cx="8501122" cy="5929354"/>
          </a:xfrm>
        </p:spPr>
        <p:txBody>
          <a:bodyPr>
            <a:noAutofit/>
          </a:bodyPr>
          <a:lstStyle/>
          <a:p>
            <a:pPr algn="just"/>
            <a:r>
              <a:rPr lang="en-IN" sz="3200" dirty="0"/>
              <a:t>VPN technology uses IPSec in the tunnel mode to provide authentication, integrity, and privacy.</a:t>
            </a:r>
          </a:p>
          <a:p>
            <a:pPr algn="just"/>
            <a:r>
              <a:rPr lang="en-IN" sz="3200" dirty="0" err="1"/>
              <a:t>Tunneling</a:t>
            </a:r>
            <a:r>
              <a:rPr lang="en-IN" sz="3200" dirty="0"/>
              <a:t> guarantee privacy and other security measures for an organization,</a:t>
            </a:r>
          </a:p>
          <a:p>
            <a:pPr algn="just"/>
            <a:r>
              <a:rPr lang="en-IN" sz="3200" dirty="0"/>
              <a:t>VPN can use the IPSec in the tunnel mode. In this mode, each IP datagram destined for private use in the organization is encapsulated in another datagram. </a:t>
            </a:r>
          </a:p>
          <a:p>
            <a:pPr algn="just"/>
            <a:r>
              <a:rPr lang="en-IN" sz="3200" dirty="0"/>
              <a:t>To use IPSec in </a:t>
            </a:r>
            <a:r>
              <a:rPr lang="en-IN" sz="3200" dirty="0" err="1"/>
              <a:t>tunneling</a:t>
            </a:r>
            <a:r>
              <a:rPr lang="en-IN" sz="3200" dirty="0"/>
              <a:t>, the VPNs need to use two sets of addressing:</a:t>
            </a:r>
          </a:p>
          <a:p>
            <a:pPr lvl="1" algn="just"/>
            <a:r>
              <a:rPr lang="en-IN" sz="3200" dirty="0"/>
              <a:t>Private Addresses</a:t>
            </a:r>
          </a:p>
          <a:p>
            <a:pPr lvl="1" algn="just"/>
            <a:r>
              <a:rPr lang="en-IN" sz="3200" dirty="0"/>
              <a:t>Public Addresses</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158" y="274638"/>
            <a:ext cx="8329642" cy="868346"/>
          </a:xfrm>
        </p:spPr>
        <p:txBody>
          <a:bodyPr/>
          <a:lstStyle/>
          <a:p>
            <a:r>
              <a:rPr lang="en-IN" b="1" dirty="0">
                <a:solidFill>
                  <a:schemeClr val="tx1"/>
                </a:solidFill>
              </a:rPr>
              <a:t>Firewalls</a:t>
            </a:r>
          </a:p>
        </p:txBody>
      </p:sp>
      <p:sp>
        <p:nvSpPr>
          <p:cNvPr id="3" name="Content Placeholder 2"/>
          <p:cNvSpPr>
            <a:spLocks noGrp="1"/>
          </p:cNvSpPr>
          <p:nvPr>
            <p:ph sz="quarter" idx="1"/>
          </p:nvPr>
        </p:nvSpPr>
        <p:spPr>
          <a:xfrm>
            <a:off x="357158" y="1142984"/>
            <a:ext cx="8572560" cy="3214710"/>
          </a:xfrm>
        </p:spPr>
        <p:txBody>
          <a:bodyPr>
            <a:noAutofit/>
          </a:bodyPr>
          <a:lstStyle/>
          <a:p>
            <a:pPr algn="just"/>
            <a:r>
              <a:rPr lang="en-US" dirty="0">
                <a:effectLst>
                  <a:outerShdw blurRad="38100" dist="38100" dir="2700000" algn="tl">
                    <a:srgbClr val="C0C0C0"/>
                  </a:outerShdw>
                </a:effectLst>
                <a:latin typeface="Times New Roman" pitchFamily="18" charset="0"/>
              </a:rPr>
              <a:t>A firewall is a device installed between the internal network of an organization and the rest of the Internet. </a:t>
            </a:r>
          </a:p>
          <a:p>
            <a:pPr algn="just"/>
            <a:r>
              <a:rPr lang="en-US" dirty="0">
                <a:effectLst>
                  <a:outerShdw blurRad="38100" dist="38100" dir="2700000" algn="tl">
                    <a:srgbClr val="C0C0C0"/>
                  </a:outerShdw>
                </a:effectLst>
                <a:latin typeface="Times New Roman" pitchFamily="18" charset="0"/>
              </a:rPr>
              <a:t>It is designed to forward some packets and filter (block) others.</a:t>
            </a:r>
          </a:p>
          <a:p>
            <a:pPr algn="just">
              <a:defRPr/>
            </a:pPr>
            <a:r>
              <a:rPr lang="en-IN" dirty="0">
                <a:effectLst>
                  <a:outerShdw blurRad="38100" dist="38100" dir="2700000" algn="tl">
                    <a:srgbClr val="C0C0C0"/>
                  </a:outerShdw>
                </a:effectLst>
                <a:latin typeface="Times New Roman" pitchFamily="18" charset="0"/>
              </a:rPr>
              <a:t>A firewall is usually classified as:</a:t>
            </a:r>
          </a:p>
          <a:p>
            <a:pPr marL="914400" lvl="1" indent="-457200" algn="just">
              <a:buFont typeface="Wingdings" pitchFamily="2" charset="2"/>
              <a:buChar char="ü"/>
              <a:defRPr/>
            </a:pPr>
            <a:r>
              <a:rPr lang="en-IN" sz="2600" dirty="0">
                <a:effectLst>
                  <a:outerShdw blurRad="38100" dist="38100" dir="2700000" algn="tl">
                    <a:srgbClr val="C0C0C0"/>
                  </a:outerShdw>
                </a:effectLst>
                <a:latin typeface="Times New Roman" pitchFamily="18" charset="0"/>
              </a:rPr>
              <a:t> packet-filter firewall </a:t>
            </a:r>
          </a:p>
          <a:p>
            <a:pPr marL="914400" lvl="1" indent="-457200" algn="just">
              <a:buFont typeface="Wingdings" pitchFamily="2" charset="2"/>
              <a:buChar char="ü"/>
              <a:defRPr/>
            </a:pPr>
            <a:r>
              <a:rPr lang="en-IN" sz="2600" dirty="0">
                <a:effectLst>
                  <a:outerShdw blurRad="38100" dist="38100" dir="2700000" algn="tl">
                    <a:srgbClr val="C0C0C0"/>
                  </a:outerShdw>
                </a:effectLst>
                <a:latin typeface="Times New Roman" pitchFamily="18" charset="0"/>
              </a:rPr>
              <a:t> proxy-based firewall.</a:t>
            </a:r>
          </a:p>
          <a:p>
            <a:pPr algn="just"/>
            <a:endParaRPr lang="en-US" dirty="0">
              <a:effectLst>
                <a:outerShdw blurRad="38100" dist="38100" dir="2700000" algn="tl">
                  <a:srgbClr val="C0C0C0"/>
                </a:outerShdw>
              </a:effectLst>
              <a:latin typeface="Times New Roman" pitchFamily="18" charset="0"/>
            </a:endParaRPr>
          </a:p>
          <a:p>
            <a:pPr algn="just"/>
            <a:endParaRPr lang="en-IN" dirty="0"/>
          </a:p>
        </p:txBody>
      </p:sp>
      <p:pic>
        <p:nvPicPr>
          <p:cNvPr id="4" name="Picture 5"/>
          <p:cNvPicPr>
            <a:picLocks noChangeAspect="1" noChangeArrowheads="1"/>
          </p:cNvPicPr>
          <p:nvPr/>
        </p:nvPicPr>
        <p:blipFill>
          <a:blip r:embed="rId2"/>
          <a:srcRect/>
          <a:stretch>
            <a:fillRect/>
          </a:stretch>
        </p:blipFill>
        <p:spPr bwMode="auto">
          <a:xfrm>
            <a:off x="644138" y="4524404"/>
            <a:ext cx="8071266" cy="2119306"/>
          </a:xfrm>
          <a:prstGeom prst="rect">
            <a:avLst/>
          </a:prstGeom>
          <a:noFill/>
          <a:ln w="9525">
            <a:noFill/>
            <a:miter lim="800000"/>
            <a:headEnd/>
            <a:tailEnd/>
          </a:ln>
          <a:effectLst/>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14282" y="1357298"/>
            <a:ext cx="8777318" cy="4832092"/>
          </a:xfrm>
          <a:prstGeom prst="rect">
            <a:avLst/>
          </a:prstGeom>
          <a:noFill/>
        </p:spPr>
        <p:txBody>
          <a:bodyPr wrap="square">
            <a:spAutoFit/>
          </a:bodyPr>
          <a:lstStyle/>
          <a:p>
            <a:pPr algn="just">
              <a:defRPr/>
            </a:pPr>
            <a:r>
              <a:rPr lang="en-IN" sz="2800" dirty="0">
                <a:latin typeface="+mj-lt"/>
                <a:ea typeface="+mj-ea"/>
                <a:cs typeface="+mj-cs"/>
              </a:rPr>
              <a:t>A firewall can be used as a packet filter to forward or block packets based on the information in the:</a:t>
            </a:r>
          </a:p>
          <a:p>
            <a:pPr marL="1257300" lvl="2" indent="-342900" algn="just">
              <a:buFont typeface="Wingdings" pitchFamily="2" charset="2"/>
              <a:buChar char="q"/>
              <a:defRPr/>
            </a:pPr>
            <a:r>
              <a:rPr lang="en-IN" sz="2800" dirty="0">
                <a:latin typeface="+mj-lt"/>
                <a:ea typeface="+mj-ea"/>
                <a:cs typeface="+mj-cs"/>
              </a:rPr>
              <a:t>network layer headers</a:t>
            </a:r>
          </a:p>
          <a:p>
            <a:pPr marL="1257300" lvl="2" indent="-342900" algn="just">
              <a:buFont typeface="Wingdings" pitchFamily="2" charset="2"/>
              <a:buChar char="q"/>
              <a:defRPr/>
            </a:pPr>
            <a:r>
              <a:rPr lang="en-IN" sz="2800" dirty="0">
                <a:latin typeface="+mj-lt"/>
                <a:ea typeface="+mj-ea"/>
                <a:cs typeface="+mj-cs"/>
              </a:rPr>
              <a:t>transport layer headers</a:t>
            </a:r>
          </a:p>
          <a:p>
            <a:pPr lvl="2" algn="just">
              <a:defRPr/>
            </a:pPr>
            <a:endParaRPr lang="en-US" sz="2800" dirty="0">
              <a:latin typeface="+mj-lt"/>
              <a:ea typeface="+mj-ea"/>
              <a:cs typeface="+mj-cs"/>
            </a:endParaRPr>
          </a:p>
          <a:p>
            <a:pPr marL="342900" indent="-342900" algn="just">
              <a:buFont typeface="Wingdings" pitchFamily="2" charset="2"/>
              <a:buChar char="q"/>
              <a:defRPr/>
            </a:pPr>
            <a:r>
              <a:rPr lang="en-US" sz="2800" b="1" dirty="0">
                <a:latin typeface="+mj-lt"/>
                <a:ea typeface="+mj-ea"/>
                <a:cs typeface="+mj-cs"/>
              </a:rPr>
              <a:t>Network Layer</a:t>
            </a:r>
          </a:p>
          <a:p>
            <a:pPr marL="1257300" lvl="2" indent="-342900" algn="just">
              <a:buFont typeface="Wingdings" pitchFamily="2" charset="2"/>
              <a:buChar char="ü"/>
              <a:defRPr/>
            </a:pPr>
            <a:r>
              <a:rPr lang="en-IN" sz="2800" dirty="0">
                <a:latin typeface="+mj-lt"/>
                <a:ea typeface="+mj-ea"/>
                <a:cs typeface="+mj-cs"/>
              </a:rPr>
              <a:t>source and destination IP addresses,</a:t>
            </a:r>
          </a:p>
          <a:p>
            <a:pPr marL="342900" indent="-342900" algn="just">
              <a:buFont typeface="Wingdings" pitchFamily="2" charset="2"/>
              <a:buChar char="q"/>
              <a:defRPr/>
            </a:pPr>
            <a:endParaRPr lang="en-US" sz="2800" dirty="0">
              <a:latin typeface="+mj-lt"/>
              <a:ea typeface="+mj-ea"/>
              <a:cs typeface="+mj-cs"/>
            </a:endParaRPr>
          </a:p>
          <a:p>
            <a:pPr marL="342900" indent="-342900" algn="just">
              <a:buFont typeface="Wingdings" pitchFamily="2" charset="2"/>
              <a:buChar char="q"/>
              <a:defRPr/>
            </a:pPr>
            <a:r>
              <a:rPr lang="en-US" sz="2800" b="1" dirty="0">
                <a:latin typeface="+mj-lt"/>
                <a:ea typeface="+mj-ea"/>
                <a:cs typeface="+mj-cs"/>
              </a:rPr>
              <a:t>Transport Layer</a:t>
            </a:r>
            <a:endParaRPr lang="en-IN" sz="2800" b="1" dirty="0">
              <a:latin typeface="+mj-lt"/>
              <a:ea typeface="+mj-ea"/>
              <a:cs typeface="+mj-cs"/>
            </a:endParaRPr>
          </a:p>
          <a:p>
            <a:pPr marL="1257300" lvl="2" indent="-342900" algn="just">
              <a:buFont typeface="Wingdings" pitchFamily="2" charset="2"/>
              <a:buChar char="ü"/>
              <a:defRPr/>
            </a:pPr>
            <a:r>
              <a:rPr lang="en-IN" sz="2800" dirty="0">
                <a:latin typeface="+mj-lt"/>
                <a:ea typeface="+mj-ea"/>
                <a:cs typeface="+mj-cs"/>
              </a:rPr>
              <a:t>source and destination port addresses</a:t>
            </a:r>
          </a:p>
          <a:p>
            <a:pPr marL="1257300" lvl="2" indent="-342900" algn="just">
              <a:buFont typeface="Wingdings" pitchFamily="2" charset="2"/>
              <a:buChar char="ü"/>
              <a:defRPr/>
            </a:pPr>
            <a:r>
              <a:rPr lang="en-US" sz="2800" dirty="0">
                <a:latin typeface="+mj-lt"/>
                <a:ea typeface="+mj-ea"/>
                <a:cs typeface="+mj-cs"/>
              </a:rPr>
              <a:t>Type of protocol TCP or UDP</a:t>
            </a:r>
          </a:p>
        </p:txBody>
      </p:sp>
      <p:sp>
        <p:nvSpPr>
          <p:cNvPr id="4" name="Title 1"/>
          <p:cNvSpPr txBox="1">
            <a:spLocks/>
          </p:cNvSpPr>
          <p:nvPr/>
        </p:nvSpPr>
        <p:spPr>
          <a:xfrm>
            <a:off x="214282" y="500042"/>
            <a:ext cx="8643998" cy="857256"/>
          </a:xfrm>
          <a:prstGeom prst="rect">
            <a:avLst/>
          </a:prstGeom>
        </p:spPr>
        <p:txBody>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IN" sz="4000" b="1" i="0" u="none" strike="noStrike" kern="1200" cap="none" spc="0" normalizeH="0" baseline="0" noProof="0" dirty="0">
                <a:ln>
                  <a:noFill/>
                </a:ln>
                <a:solidFill>
                  <a:schemeClr val="tx1"/>
                </a:solidFill>
                <a:effectLst/>
                <a:uLnTx/>
                <a:uFillTx/>
                <a:latin typeface="+mj-lt"/>
                <a:ea typeface="+mj-ea"/>
                <a:cs typeface="+mj-cs"/>
              </a:rPr>
              <a:t>Packet Filter Firewalls</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3"/>
          <p:cNvSpPr>
            <a:spLocks noChangeArrowheads="1"/>
          </p:cNvSpPr>
          <p:nvPr/>
        </p:nvSpPr>
        <p:spPr bwMode="auto">
          <a:xfrm>
            <a:off x="857224" y="2120808"/>
            <a:ext cx="7643866" cy="2308324"/>
          </a:xfrm>
          <a:prstGeom prst="rect">
            <a:avLst/>
          </a:prstGeom>
          <a:solidFill>
            <a:srgbClr val="99FF33"/>
          </a:solidFill>
          <a:ln w="76200" algn="ctr">
            <a:noFill/>
            <a:miter lim="800000"/>
            <a:headEnd/>
            <a:tailEnd/>
          </a:ln>
          <a:effectLst/>
        </p:spPr>
        <p:txBody>
          <a:bodyPr wrap="square">
            <a:spAutoFit/>
          </a:bodyPr>
          <a:lstStyle/>
          <a:p>
            <a:pPr algn="ctr"/>
            <a:r>
              <a:rPr lang="en-US" sz="4800" b="1"/>
              <a:t>A packet-filter firewall filters packets at the network or transport layer.</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28596" y="1357298"/>
            <a:ext cx="8429684" cy="4278094"/>
          </a:xfrm>
          <a:prstGeom prst="rect">
            <a:avLst/>
          </a:prstGeom>
          <a:noFill/>
        </p:spPr>
        <p:txBody>
          <a:bodyPr wrap="square">
            <a:spAutoFit/>
          </a:bodyPr>
          <a:lstStyle/>
          <a:p>
            <a:pPr algn="just">
              <a:defRPr/>
            </a:pPr>
            <a:r>
              <a:rPr lang="en-IN" sz="2800" dirty="0">
                <a:latin typeface="Arial" charset="0"/>
              </a:rPr>
              <a:t>S</a:t>
            </a:r>
            <a:r>
              <a:rPr lang="en-IN" sz="2800" b="0" dirty="0">
                <a:latin typeface="Arial" charset="0"/>
              </a:rPr>
              <a:t>ometimes we need to filter a message based on the information available in the message itself. </a:t>
            </a:r>
          </a:p>
          <a:p>
            <a:pPr marL="342900" indent="-342900" algn="just">
              <a:buFont typeface="Wingdings" pitchFamily="2" charset="2"/>
              <a:buChar char="§"/>
              <a:defRPr/>
            </a:pPr>
            <a:r>
              <a:rPr lang="en-IN" sz="2400" b="0" dirty="0">
                <a:latin typeface="Arial" charset="0"/>
              </a:rPr>
              <a:t>For example, assume that an organization wants to implement the following policies regarding its Web pages: </a:t>
            </a:r>
          </a:p>
          <a:p>
            <a:pPr marL="800100" lvl="1" indent="-342900" algn="just">
              <a:buFont typeface="Wingdings" pitchFamily="2" charset="2"/>
              <a:buChar char="§"/>
              <a:defRPr/>
            </a:pPr>
            <a:r>
              <a:rPr lang="en-IN" sz="2400" b="0" i="1" dirty="0">
                <a:latin typeface="Arial" charset="0"/>
              </a:rPr>
              <a:t>Only those Internet users who have previously established business relations with the company can have access; access to other users must be blocked. </a:t>
            </a:r>
          </a:p>
          <a:p>
            <a:pPr marL="800100" lvl="1" indent="-342900" algn="just">
              <a:buFont typeface="Wingdings" pitchFamily="2" charset="2"/>
              <a:buChar char="§"/>
              <a:defRPr/>
            </a:pPr>
            <a:r>
              <a:rPr lang="en-IN" sz="2400" b="0" dirty="0">
                <a:latin typeface="Arial" charset="0"/>
              </a:rPr>
              <a:t>In this case, a packet-filter firewall is not feasible because it cannot distinguish between different packets arriving at TCP port 80 (HTTP). Testing must be done at the application level (using URLs).</a:t>
            </a:r>
            <a:endParaRPr lang="en-IN" sz="2800" dirty="0">
              <a:latin typeface="Arial" charset="0"/>
            </a:endParaRPr>
          </a:p>
        </p:txBody>
      </p:sp>
      <p:sp>
        <p:nvSpPr>
          <p:cNvPr id="4" name="Title 1"/>
          <p:cNvSpPr txBox="1">
            <a:spLocks/>
          </p:cNvSpPr>
          <p:nvPr/>
        </p:nvSpPr>
        <p:spPr>
          <a:xfrm>
            <a:off x="214282" y="500042"/>
            <a:ext cx="8643998" cy="857256"/>
          </a:xfrm>
          <a:prstGeom prst="rect">
            <a:avLst/>
          </a:prstGeom>
        </p:spPr>
        <p:txBody>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IN" sz="4000" b="1" i="0" u="none" strike="noStrike" kern="1200" cap="none" spc="0" normalizeH="0" baseline="0" noProof="0" dirty="0">
                <a:ln>
                  <a:noFill/>
                </a:ln>
                <a:solidFill>
                  <a:schemeClr val="tx1"/>
                </a:solidFill>
                <a:effectLst/>
                <a:uLnTx/>
                <a:uFillTx/>
                <a:latin typeface="+mj-lt"/>
                <a:ea typeface="+mj-ea"/>
                <a:cs typeface="+mj-cs"/>
              </a:rPr>
              <a:t>Proxy Firewalls</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Box 1"/>
          <p:cNvSpPr txBox="1">
            <a:spLocks noChangeArrowheads="1"/>
          </p:cNvSpPr>
          <p:nvPr/>
        </p:nvSpPr>
        <p:spPr bwMode="auto">
          <a:xfrm>
            <a:off x="285720" y="3668160"/>
            <a:ext cx="8548718" cy="3046988"/>
          </a:xfrm>
          <a:prstGeom prst="rect">
            <a:avLst/>
          </a:prstGeom>
          <a:noFill/>
          <a:ln w="9525">
            <a:noFill/>
            <a:miter lim="800000"/>
            <a:headEnd/>
            <a:tailEnd/>
          </a:ln>
        </p:spPr>
        <p:txBody>
          <a:bodyPr wrap="square">
            <a:spAutoFit/>
          </a:bodyPr>
          <a:lstStyle/>
          <a:p>
            <a:pPr marL="342900" indent="-342900" algn="just">
              <a:buFont typeface="Wingdings" pitchFamily="2" charset="2"/>
              <a:buChar char="§"/>
            </a:pPr>
            <a:r>
              <a:rPr lang="en-IN" sz="2400" b="0" dirty="0"/>
              <a:t>When the user client process sends a message, the proxy firewall runs a server process to receive the request. </a:t>
            </a:r>
          </a:p>
          <a:p>
            <a:pPr marL="342900" indent="-342900" algn="just">
              <a:buFont typeface="Wingdings" pitchFamily="2" charset="2"/>
              <a:buChar char="§"/>
            </a:pPr>
            <a:r>
              <a:rPr lang="en-IN" sz="2400" b="0" dirty="0"/>
              <a:t>The server opens the packet at the application level and finds out if the request is legitimate. </a:t>
            </a:r>
            <a:endParaRPr lang="en-IN" sz="2400" dirty="0"/>
          </a:p>
          <a:p>
            <a:pPr marL="342900" indent="-342900" algn="just">
              <a:buFont typeface="Wingdings" pitchFamily="2" charset="2"/>
              <a:buChar char="§"/>
            </a:pPr>
            <a:r>
              <a:rPr lang="en-IN" sz="2400" dirty="0"/>
              <a:t>If it is </a:t>
            </a:r>
            <a:r>
              <a:rPr lang="en-IN" sz="2400" dirty="0">
                <a:solidFill>
                  <a:srgbClr val="FF0000"/>
                </a:solidFill>
              </a:rPr>
              <a:t>legitimate</a:t>
            </a:r>
            <a:r>
              <a:rPr lang="en-IN" sz="2400" dirty="0"/>
              <a:t>, the server acts as a client process and sends the message to the real server.</a:t>
            </a:r>
          </a:p>
          <a:p>
            <a:pPr marL="342900" indent="-342900" algn="just">
              <a:buFont typeface="Wingdings" pitchFamily="2" charset="2"/>
              <a:buChar char="§"/>
            </a:pPr>
            <a:r>
              <a:rPr lang="en-IN" sz="2400" dirty="0"/>
              <a:t>If it is not </a:t>
            </a:r>
            <a:r>
              <a:rPr lang="en-IN" sz="2400" dirty="0">
                <a:solidFill>
                  <a:srgbClr val="FF0000"/>
                </a:solidFill>
              </a:rPr>
              <a:t>legitimate,</a:t>
            </a:r>
            <a:r>
              <a:rPr lang="en-IN" sz="2400" dirty="0"/>
              <a:t> the message is dropped and an error message is sent to the external user.</a:t>
            </a:r>
          </a:p>
        </p:txBody>
      </p:sp>
      <p:pic>
        <p:nvPicPr>
          <p:cNvPr id="5" name="Picture 2"/>
          <p:cNvPicPr>
            <a:picLocks noChangeAspect="1" noChangeArrowheads="1"/>
          </p:cNvPicPr>
          <p:nvPr/>
        </p:nvPicPr>
        <p:blipFill>
          <a:blip r:embed="rId2"/>
          <a:srcRect/>
          <a:stretch>
            <a:fillRect/>
          </a:stretch>
        </p:blipFill>
        <p:spPr bwMode="auto">
          <a:xfrm>
            <a:off x="785786" y="212847"/>
            <a:ext cx="7572428" cy="3430467"/>
          </a:xfrm>
          <a:prstGeom prst="rect">
            <a:avLst/>
          </a:prstGeom>
          <a:noFill/>
          <a:ln w="9525">
            <a:noFill/>
            <a:miter lim="800000"/>
            <a:headEnd/>
            <a:tailEnd/>
          </a:ln>
          <a:effectLst/>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3"/>
          <p:cNvSpPr>
            <a:spLocks noChangeArrowheads="1"/>
          </p:cNvSpPr>
          <p:nvPr/>
        </p:nvSpPr>
        <p:spPr bwMode="auto">
          <a:xfrm>
            <a:off x="785786" y="2317616"/>
            <a:ext cx="7786742" cy="1754326"/>
          </a:xfrm>
          <a:prstGeom prst="rect">
            <a:avLst/>
          </a:prstGeom>
          <a:solidFill>
            <a:srgbClr val="99FF33"/>
          </a:solidFill>
          <a:ln w="76200" algn="ctr">
            <a:noFill/>
            <a:miter lim="800000"/>
            <a:headEnd/>
            <a:tailEnd/>
          </a:ln>
          <a:effectLst/>
        </p:spPr>
        <p:txBody>
          <a:bodyPr wrap="square">
            <a:spAutoFit/>
          </a:bodyPr>
          <a:lstStyle/>
          <a:p>
            <a:pPr algn="ctr"/>
            <a:r>
              <a:rPr lang="en-US" sz="5400" dirty="0"/>
              <a:t>A proxy firewall filters at the </a:t>
            </a:r>
            <a:br>
              <a:rPr lang="en-US" sz="5400" dirty="0"/>
            </a:br>
            <a:r>
              <a:rPr lang="en-US" sz="5400" dirty="0"/>
              <a:t>application layer.</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1732</TotalTime>
  <Words>4482</Words>
  <Application>Microsoft Office PowerPoint</Application>
  <PresentationFormat>On-screen Show (4:3)</PresentationFormat>
  <Paragraphs>353</Paragraphs>
  <Slides>78</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78</vt:i4>
      </vt:variant>
    </vt:vector>
  </HeadingPairs>
  <TitlesOfParts>
    <vt:vector size="88" baseType="lpstr">
      <vt:lpstr>ＭＳ Ｐゴシック</vt:lpstr>
      <vt:lpstr>Arial</vt:lpstr>
      <vt:lpstr>Calibri</vt:lpstr>
      <vt:lpstr>Franklin Gothic Book</vt:lpstr>
      <vt:lpstr>Perpetua</vt:lpstr>
      <vt:lpstr>Times</vt:lpstr>
      <vt:lpstr>Times New Roman</vt:lpstr>
      <vt:lpstr>Wingdings</vt:lpstr>
      <vt:lpstr>Wingdings 2</vt:lpstr>
      <vt:lpstr>Equity</vt:lpstr>
      <vt:lpstr>Unit-6 Application Layer Protocols and Services</vt:lpstr>
      <vt:lpstr>Contents</vt:lpstr>
      <vt:lpstr>Domain Name System (DNS)</vt:lpstr>
      <vt:lpstr>PowerPoint Presentation</vt:lpstr>
      <vt:lpstr>PowerPoint Presentation</vt:lpstr>
      <vt:lpstr>PowerPoint Presentation</vt:lpstr>
      <vt:lpstr>NAME SPACE</vt:lpstr>
      <vt:lpstr>PowerPoint Presentation</vt:lpstr>
      <vt:lpstr>PowerPoint Presentation</vt:lpstr>
      <vt:lpstr>PowerPoint Presentation</vt:lpstr>
      <vt:lpstr>PowerPoint Presentation</vt:lpstr>
      <vt:lpstr>Domain Name Space</vt:lpstr>
      <vt:lpstr>PowerPoint Presentation</vt:lpstr>
      <vt:lpstr>PowerPoint Presentation</vt:lpstr>
      <vt:lpstr>Fully Qualified Domain Name</vt:lpstr>
      <vt:lpstr>Partially Qualified Domain Name</vt:lpstr>
      <vt:lpstr>RESOLUTION</vt:lpstr>
      <vt:lpstr>Types of Resolution</vt:lpstr>
      <vt:lpstr>PowerPoint Presentation</vt:lpstr>
      <vt:lpstr>Iterative Resolution</vt:lpstr>
      <vt:lpstr>PowerPoint Presentation</vt:lpstr>
      <vt:lpstr>CACHING</vt:lpstr>
      <vt:lpstr>REMOTE LOGGING</vt:lpstr>
      <vt:lpstr>TELNET</vt:lpstr>
      <vt:lpstr>Characteristics of TELNET</vt:lpstr>
      <vt:lpstr>Network Virtual Terminal</vt:lpstr>
      <vt:lpstr>ELECTRONIC MAIL</vt:lpstr>
      <vt:lpstr>PowerPoint Presentation</vt:lpstr>
      <vt:lpstr>Components of e-mail</vt:lpstr>
      <vt:lpstr>User Agents(UA)</vt:lpstr>
      <vt:lpstr>Message Transfer Agent (MTA): SMTP</vt:lpstr>
      <vt:lpstr>Message Access Agent (MAA)</vt:lpstr>
      <vt:lpstr>Architecture of e-mail</vt:lpstr>
      <vt:lpstr>PowerPoint Presentation</vt:lpstr>
      <vt:lpstr>PowerPoint Presentation</vt:lpstr>
      <vt:lpstr>PowerPoint Presentation</vt:lpstr>
      <vt:lpstr>PowerPoint Presentation</vt:lpstr>
      <vt:lpstr>File Transfer Protocol (FTP)</vt:lpstr>
      <vt:lpstr>PowerPoint Presentation</vt:lpstr>
      <vt:lpstr>PowerPoint Presentation</vt:lpstr>
      <vt:lpstr>World Wide Web (www)</vt:lpstr>
      <vt:lpstr>PowerPoint Presentation</vt:lpstr>
      <vt:lpstr>Architecture of WWW</vt:lpstr>
      <vt:lpstr>PowerPoint Presentation</vt:lpstr>
      <vt:lpstr>PowerPoint Presentation</vt:lpstr>
      <vt:lpstr>PowerPoint Presentation</vt:lpstr>
      <vt:lpstr>Hypertext Transfer Protocol (HTTP)</vt:lpstr>
      <vt:lpstr>HTTP Transaction</vt:lpstr>
      <vt:lpstr>Messages in HTTP</vt:lpstr>
      <vt:lpstr>PowerPoint Presentation</vt:lpstr>
      <vt:lpstr>Format of the request message</vt:lpstr>
      <vt:lpstr>PowerPoint Presentation</vt:lpstr>
      <vt:lpstr>Format of the response message</vt:lpstr>
      <vt:lpstr>Network Management: SNMP</vt:lpstr>
      <vt:lpstr>Functions of Network Management </vt:lpstr>
      <vt:lpstr>Network Security</vt:lpstr>
      <vt:lpstr>PowerPoint Presentation</vt:lpstr>
      <vt:lpstr>Cryptography</vt:lpstr>
      <vt:lpstr>Some Basic Terminology</vt:lpstr>
      <vt:lpstr>Categories of Ciphers</vt:lpstr>
      <vt:lpstr>Symmetric key (also called secret-key) Ciphers:</vt:lpstr>
      <vt:lpstr>Asymmetric key (also called public-key) Ciphers:</vt:lpstr>
      <vt:lpstr>Internet Security</vt:lpstr>
      <vt:lpstr>IPSec Protocol</vt:lpstr>
      <vt:lpstr>Transport and Tunnel Mode</vt:lpstr>
      <vt:lpstr>Virtual Private Networks </vt:lpstr>
      <vt:lpstr>PowerPoint Presentation</vt:lpstr>
      <vt:lpstr>Private Networks</vt:lpstr>
      <vt:lpstr>Hybrid Networks</vt:lpstr>
      <vt:lpstr>Virtual Private Networks</vt:lpstr>
      <vt:lpstr>Virtual Private Network Technology</vt:lpstr>
      <vt:lpstr>PowerPoint Presentation</vt:lpstr>
      <vt:lpstr>Firewalls</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Unit-6 Application Layer Protocols and Services</dc:title>
  <dc:creator>HP-PC</dc:creator>
  <cp:lastModifiedBy>DELL</cp:lastModifiedBy>
  <cp:revision>60</cp:revision>
  <dcterms:created xsi:type="dcterms:W3CDTF">2019-04-17T10:40:57Z</dcterms:created>
  <dcterms:modified xsi:type="dcterms:W3CDTF">2025-10-28T04:44:03Z</dcterms:modified>
</cp:coreProperties>
</file>